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3"/>
  </p:notesMasterIdLst>
  <p:handoutMasterIdLst>
    <p:handoutMasterId r:id="rId104"/>
  </p:handoutMasterIdLst>
  <p:sldIdLst>
    <p:sldId id="416" r:id="rId3"/>
    <p:sldId id="367" r:id="rId4"/>
    <p:sldId id="438" r:id="rId5"/>
    <p:sldId id="432" r:id="rId6"/>
    <p:sldId id="439" r:id="rId7"/>
    <p:sldId id="441" r:id="rId8"/>
    <p:sldId id="440" r:id="rId9"/>
    <p:sldId id="442" r:id="rId10"/>
    <p:sldId id="443" r:id="rId11"/>
    <p:sldId id="444" r:id="rId12"/>
    <p:sldId id="445" r:id="rId13"/>
    <p:sldId id="446" r:id="rId14"/>
    <p:sldId id="447" r:id="rId15"/>
    <p:sldId id="448" r:id="rId16"/>
    <p:sldId id="449" r:id="rId17"/>
    <p:sldId id="433" r:id="rId18"/>
    <p:sldId id="450" r:id="rId19"/>
    <p:sldId id="451" r:id="rId20"/>
    <p:sldId id="434" r:id="rId21"/>
    <p:sldId id="435" r:id="rId22"/>
    <p:sldId id="452" r:id="rId23"/>
    <p:sldId id="453" r:id="rId24"/>
    <p:sldId id="455" r:id="rId25"/>
    <p:sldId id="457" r:id="rId26"/>
    <p:sldId id="458" r:id="rId27"/>
    <p:sldId id="461" r:id="rId28"/>
    <p:sldId id="459" r:id="rId29"/>
    <p:sldId id="460" r:id="rId30"/>
    <p:sldId id="462" r:id="rId31"/>
    <p:sldId id="456" r:id="rId32"/>
    <p:sldId id="463" r:id="rId33"/>
    <p:sldId id="464" r:id="rId34"/>
    <p:sldId id="465" r:id="rId35"/>
    <p:sldId id="466" r:id="rId36"/>
    <p:sldId id="467" r:id="rId37"/>
    <p:sldId id="468" r:id="rId38"/>
    <p:sldId id="469" r:id="rId39"/>
    <p:sldId id="470" r:id="rId40"/>
    <p:sldId id="471" r:id="rId41"/>
    <p:sldId id="472" r:id="rId42"/>
    <p:sldId id="473" r:id="rId43"/>
    <p:sldId id="474" r:id="rId44"/>
    <p:sldId id="475" r:id="rId45"/>
    <p:sldId id="476" r:id="rId46"/>
    <p:sldId id="477" r:id="rId47"/>
    <p:sldId id="478" r:id="rId48"/>
    <p:sldId id="479" r:id="rId49"/>
    <p:sldId id="481" r:id="rId50"/>
    <p:sldId id="436" r:id="rId51"/>
    <p:sldId id="483" r:id="rId52"/>
    <p:sldId id="484" r:id="rId53"/>
    <p:sldId id="485" r:id="rId54"/>
    <p:sldId id="486" r:id="rId55"/>
    <p:sldId id="487" r:id="rId56"/>
    <p:sldId id="488" r:id="rId57"/>
    <p:sldId id="489" r:id="rId58"/>
    <p:sldId id="482" r:id="rId59"/>
    <p:sldId id="491" r:id="rId60"/>
    <p:sldId id="510" r:id="rId61"/>
    <p:sldId id="511" r:id="rId62"/>
    <p:sldId id="512" r:id="rId63"/>
    <p:sldId id="514" r:id="rId64"/>
    <p:sldId id="515" r:id="rId65"/>
    <p:sldId id="516" r:id="rId66"/>
    <p:sldId id="517" r:id="rId67"/>
    <p:sldId id="518" r:id="rId68"/>
    <p:sldId id="519" r:id="rId69"/>
    <p:sldId id="520" r:id="rId70"/>
    <p:sldId id="521" r:id="rId71"/>
    <p:sldId id="522" r:id="rId72"/>
    <p:sldId id="523" r:id="rId73"/>
    <p:sldId id="524" r:id="rId74"/>
    <p:sldId id="525" r:id="rId75"/>
    <p:sldId id="526" r:id="rId76"/>
    <p:sldId id="490" r:id="rId77"/>
    <p:sldId id="527" r:id="rId78"/>
    <p:sldId id="528" r:id="rId79"/>
    <p:sldId id="529" r:id="rId80"/>
    <p:sldId id="532" r:id="rId81"/>
    <p:sldId id="533" r:id="rId82"/>
    <p:sldId id="531" r:id="rId83"/>
    <p:sldId id="530" r:id="rId84"/>
    <p:sldId id="534" r:id="rId85"/>
    <p:sldId id="437" r:id="rId86"/>
    <p:sldId id="535" r:id="rId87"/>
    <p:sldId id="536" r:id="rId88"/>
    <p:sldId id="537" r:id="rId89"/>
    <p:sldId id="538" r:id="rId90"/>
    <p:sldId id="539" r:id="rId91"/>
    <p:sldId id="540" r:id="rId92"/>
    <p:sldId id="541" r:id="rId93"/>
    <p:sldId id="542" r:id="rId94"/>
    <p:sldId id="543" r:id="rId95"/>
    <p:sldId id="544" r:id="rId96"/>
    <p:sldId id="545" r:id="rId97"/>
    <p:sldId id="546" r:id="rId98"/>
    <p:sldId id="547" r:id="rId99"/>
    <p:sldId id="548" r:id="rId100"/>
    <p:sldId id="549" r:id="rId101"/>
    <p:sldId id="550" r:id="rId102"/>
  </p:sldIdLst>
  <p:sldSz cx="9144000" cy="6858000" type="screen4x3"/>
  <p:notesSz cx="6858000" cy="9144000"/>
  <p:custShowLst>
    <p:custShow name="D和uA的关系图" id="0">
      <p:sldLst/>
    </p:custShow>
    <p:custShow name="舍尾方法" id="1">
      <p:sldLst/>
    </p:custShow>
    <p:custShow name="四舍五入方法" id="2">
      <p:sldLst/>
    </p:custShow>
    <p:custShow name="DAC转换误差" id="3">
      <p:sldLst/>
    </p:custShow>
    <p:custShow name="ADC0801的量化方案" id="4">
      <p:sldLst/>
    </p:custShow>
    <p:custShow name="采样保持电路" id="5">
      <p:sldLst/>
    </p:custShow>
    <p:custShow name="DAC输出推导过程" id="6">
      <p:sldLst/>
    </p:custShow>
  </p:custShowLst>
  <p:custDataLst>
    <p:tags r:id="rId108"/>
  </p:custDataLst>
  <p:defaultTextStyle>
    <a:defPPr>
      <a:defRPr lang="zh-CN"/>
    </a:defPPr>
    <a:lvl1pPr algn="l" rtl="0" eaLnBrk="0" fontAlgn="base" hangingPunct="0">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886" userDrawn="1">
          <p15:clr>
            <a:srgbClr val="A4A3A4"/>
          </p15:clr>
        </p15:guide>
        <p15:guide id="2" pos="29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D60093"/>
    <a:srgbClr val="009900"/>
    <a:srgbClr val="CCFFCC"/>
    <a:srgbClr val="9900CC"/>
    <a:srgbClr val="FF00FF"/>
    <a:srgbClr val="008080"/>
    <a:srgbClr val="660033"/>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44" autoAdjust="0"/>
    <p:restoredTop sz="94660"/>
  </p:normalViewPr>
  <p:slideViewPr>
    <p:cSldViewPr snapToGrid="0" showGuides="1">
      <p:cViewPr varScale="1">
        <p:scale>
          <a:sx n="113" d="100"/>
          <a:sy n="113" d="100"/>
        </p:scale>
        <p:origin x="1656" y="96"/>
      </p:cViewPr>
      <p:guideLst>
        <p:guide orient="horz" pos="3886"/>
        <p:guide pos="293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112"/>
    </p:cViewPr>
  </p:sorterViewPr>
  <p:notesViewPr>
    <p:cSldViewPr snapToGrid="0">
      <p:cViewPr varScale="1">
        <p:scale>
          <a:sx n="37" d="100"/>
          <a:sy n="37" d="100"/>
        </p:scale>
        <p:origin x="-1458" y="-84"/>
      </p:cViewPr>
      <p:guideLst>
        <p:guide orient="horz" pos="2745"/>
        <p:guide pos="2198"/>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8" Type="http://schemas.openxmlformats.org/officeDocument/2006/relationships/tags" Target="tags/tag269.xml"/><Relationship Id="rId107" Type="http://schemas.openxmlformats.org/officeDocument/2006/relationships/tableStyles" Target="tableStyles.xml"/><Relationship Id="rId106" Type="http://schemas.openxmlformats.org/officeDocument/2006/relationships/viewProps" Target="viewProps.xml"/><Relationship Id="rId105" Type="http://schemas.openxmlformats.org/officeDocument/2006/relationships/presProps" Target="presProps.xml"/><Relationship Id="rId104" Type="http://schemas.openxmlformats.org/officeDocument/2006/relationships/handoutMaster" Target="handoutMasters/handoutMaster1.xml"/><Relationship Id="rId103" Type="http://schemas.openxmlformats.org/officeDocument/2006/relationships/notesMaster" Target="notesMasters/notesMaster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2.vml.rels><?xml version="1.0" encoding="UTF-8" standalone="yes"?>
<Relationships xmlns="http://schemas.openxmlformats.org/package/2006/relationships"><Relationship Id="rId5" Type="http://schemas.openxmlformats.org/officeDocument/2006/relationships/image" Target="../media/image73.wmf"/><Relationship Id="rId4" Type="http://schemas.openxmlformats.org/officeDocument/2006/relationships/image" Target="../media/image72.wmf"/><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80.wmf"/><Relationship Id="rId1" Type="http://schemas.openxmlformats.org/officeDocument/2006/relationships/image" Target="../media/image7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spcBef>
                <a:spcPct val="50000"/>
              </a:spcBef>
              <a:defRPr sz="1200"/>
            </a:lvl1pPr>
          </a:lstStyle>
          <a:p>
            <a:pPr>
              <a:defRPr/>
            </a:pPr>
            <a:endParaRPr lang="en-US" altLang="zh-CN"/>
          </a:p>
        </p:txBody>
      </p:sp>
      <p:sp>
        <p:nvSpPr>
          <p:cNvPr id="7782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spcBef>
                <a:spcPct val="50000"/>
              </a:spcBef>
              <a:defRPr sz="1200"/>
            </a:lvl1pPr>
          </a:lstStyle>
          <a:p>
            <a:pPr>
              <a:defRPr/>
            </a:pPr>
            <a:endParaRPr lang="en-US" altLang="zh-CN"/>
          </a:p>
        </p:txBody>
      </p:sp>
      <p:sp>
        <p:nvSpPr>
          <p:cNvPr id="7782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spcBef>
                <a:spcPct val="50000"/>
              </a:spcBef>
              <a:defRPr sz="1200"/>
            </a:lvl1pPr>
          </a:lstStyle>
          <a:p>
            <a:pPr>
              <a:defRPr/>
            </a:pPr>
            <a:endParaRPr lang="en-US" altLang="zh-CN"/>
          </a:p>
        </p:txBody>
      </p:sp>
      <p:sp>
        <p:nvSpPr>
          <p:cNvPr id="7782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spcBef>
                <a:spcPct val="50000"/>
              </a:spcBef>
              <a:defRPr sz="1200" smtClean="0"/>
            </a:lvl1pPr>
          </a:lstStyle>
          <a:p>
            <a:pPr>
              <a:defRPr/>
            </a:pPr>
            <a:fld id="{5F03F6F0-8C33-43E8-9E3B-6117FDC7777E}"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spcBef>
                <a:spcPct val="0"/>
              </a:spcBef>
              <a:defRPr sz="1200"/>
            </a:lvl1pPr>
          </a:lstStyle>
          <a:p>
            <a:pPr>
              <a:defRPr/>
            </a:pPr>
            <a:endParaRPr lang="en-US" altLang="zh-CN"/>
          </a:p>
        </p:txBody>
      </p:sp>
      <p:sp>
        <p:nvSpPr>
          <p:cNvPr id="5123"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spcBef>
                <a:spcPct val="0"/>
              </a:spcBef>
              <a:defRPr sz="1200"/>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5"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5126"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spcBef>
                <a:spcPct val="0"/>
              </a:spcBef>
              <a:defRPr sz="1200"/>
            </a:lvl1pPr>
          </a:lstStyle>
          <a:p>
            <a:pPr>
              <a:defRPr/>
            </a:pPr>
            <a:endParaRPr lang="en-US" altLang="zh-CN"/>
          </a:p>
        </p:txBody>
      </p:sp>
      <p:sp>
        <p:nvSpPr>
          <p:cNvPr id="5127"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spcBef>
                <a:spcPct val="0"/>
              </a:spcBef>
              <a:defRPr sz="1200" smtClean="0"/>
            </a:lvl1pPr>
          </a:lstStyle>
          <a:p>
            <a:pPr>
              <a:defRPr/>
            </a:pPr>
            <a:fld id="{4B8A09B4-E404-438B-A407-9AEF4791C511}"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27"/>
          <p:cNvSpPr>
            <a:spLocks noGrp="1" noChangeArrowheads="1"/>
          </p:cNvSpPr>
          <p:nvPr>
            <p:ph type="dt" sz="half" idx="10"/>
          </p:nvPr>
        </p:nvSpPr>
        <p:spPr/>
        <p:txBody>
          <a:bodyPr/>
          <a:lstStyle>
            <a:lvl1pPr>
              <a:defRPr/>
            </a:lvl1pPr>
          </a:lstStyle>
          <a:p>
            <a:pPr>
              <a:defRPr/>
            </a:pPr>
            <a:fld id="{35965182-1833-4066-9DF2-4F80143450C9}" type="datetime3">
              <a:rPr lang="zh-CN" altLang="en-US"/>
            </a:fld>
            <a:endParaRPr lang="en-US" altLang="zh-CN"/>
          </a:p>
        </p:txBody>
      </p:sp>
      <p:sp>
        <p:nvSpPr>
          <p:cNvPr id="5" name="Rectangle 28"/>
          <p:cNvSpPr>
            <a:spLocks noGrp="1" noChangeArrowheads="1"/>
          </p:cNvSpPr>
          <p:nvPr>
            <p:ph type="ftr" sz="quarter" idx="11"/>
          </p:nvPr>
        </p:nvSpPr>
        <p:spPr/>
        <p:txBody>
          <a:bodyPr/>
          <a:lstStyle>
            <a:lvl1pPr>
              <a:defRPr/>
            </a:lvl1pPr>
          </a:lstStyle>
          <a:p>
            <a:pPr>
              <a:defRPr/>
            </a:pPr>
            <a:r>
              <a:rPr lang="en-US" altLang="zh-CN"/>
              <a:t>第八章 A/D和D/A变换</a:t>
            </a:r>
            <a:endParaRPr lang="en-US" altLang="zh-CN"/>
          </a:p>
        </p:txBody>
      </p:sp>
      <p:sp>
        <p:nvSpPr>
          <p:cNvPr id="6" name="Rectangle 29"/>
          <p:cNvSpPr>
            <a:spLocks noGrp="1" noChangeArrowheads="1"/>
          </p:cNvSpPr>
          <p:nvPr>
            <p:ph type="sldNum" sz="quarter" idx="12"/>
          </p:nvPr>
        </p:nvSpPr>
        <p:spPr/>
        <p:txBody>
          <a:bodyPr/>
          <a:lstStyle>
            <a:lvl1pPr>
              <a:defRPr/>
            </a:lvl1pPr>
          </a:lstStyle>
          <a:p>
            <a:pPr>
              <a:defRPr/>
            </a:pPr>
            <a:fld id="{09158B18-3106-4CE1-8116-C6AA5B922911}"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27"/>
          <p:cNvSpPr>
            <a:spLocks noGrp="1" noChangeArrowheads="1"/>
          </p:cNvSpPr>
          <p:nvPr>
            <p:ph type="dt" sz="half" idx="10"/>
          </p:nvPr>
        </p:nvSpPr>
        <p:spPr/>
        <p:txBody>
          <a:bodyPr/>
          <a:lstStyle>
            <a:lvl1pPr>
              <a:defRPr/>
            </a:lvl1pPr>
          </a:lstStyle>
          <a:p>
            <a:pPr>
              <a:defRPr/>
            </a:pPr>
            <a:fld id="{7FB29D33-FA30-4623-B1D2-F9735966EB77}" type="datetime3">
              <a:rPr lang="zh-CN" altLang="en-US"/>
            </a:fld>
            <a:endParaRPr lang="en-US" altLang="zh-CN"/>
          </a:p>
        </p:txBody>
      </p:sp>
      <p:sp>
        <p:nvSpPr>
          <p:cNvPr id="5" name="Rectangle 28"/>
          <p:cNvSpPr>
            <a:spLocks noGrp="1" noChangeArrowheads="1"/>
          </p:cNvSpPr>
          <p:nvPr>
            <p:ph type="ftr" sz="quarter" idx="11"/>
          </p:nvPr>
        </p:nvSpPr>
        <p:spPr/>
        <p:txBody>
          <a:bodyPr/>
          <a:lstStyle>
            <a:lvl1pPr>
              <a:defRPr/>
            </a:lvl1pPr>
          </a:lstStyle>
          <a:p>
            <a:pPr>
              <a:defRPr/>
            </a:pPr>
            <a:r>
              <a:rPr lang="en-US" altLang="zh-CN"/>
              <a:t>第八章 A/D和D/A变换</a:t>
            </a:r>
            <a:endParaRPr lang="en-US" altLang="zh-CN"/>
          </a:p>
        </p:txBody>
      </p:sp>
      <p:sp>
        <p:nvSpPr>
          <p:cNvPr id="6" name="Rectangle 29"/>
          <p:cNvSpPr>
            <a:spLocks noGrp="1" noChangeArrowheads="1"/>
          </p:cNvSpPr>
          <p:nvPr>
            <p:ph type="sldNum" sz="quarter" idx="12"/>
          </p:nvPr>
        </p:nvSpPr>
        <p:spPr/>
        <p:txBody>
          <a:bodyPr/>
          <a:lstStyle>
            <a:lvl1pPr>
              <a:defRPr/>
            </a:lvl1pPr>
          </a:lstStyle>
          <a:p>
            <a:pPr>
              <a:defRPr/>
            </a:pPr>
            <a:fld id="{F89E60BB-A6F1-4E5D-90E0-5BC4555860CB}"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27"/>
          <p:cNvSpPr>
            <a:spLocks noGrp="1" noChangeArrowheads="1"/>
          </p:cNvSpPr>
          <p:nvPr>
            <p:ph type="dt" sz="half" idx="10"/>
          </p:nvPr>
        </p:nvSpPr>
        <p:spPr/>
        <p:txBody>
          <a:bodyPr/>
          <a:lstStyle>
            <a:lvl1pPr>
              <a:defRPr/>
            </a:lvl1pPr>
          </a:lstStyle>
          <a:p>
            <a:pPr>
              <a:defRPr/>
            </a:pPr>
            <a:fld id="{36201FA9-1CD3-4DC1-AAA9-9635744E615F}" type="datetime3">
              <a:rPr lang="zh-CN" altLang="en-US"/>
            </a:fld>
            <a:endParaRPr lang="en-US" altLang="zh-CN"/>
          </a:p>
        </p:txBody>
      </p:sp>
      <p:sp>
        <p:nvSpPr>
          <p:cNvPr id="5" name="Rectangle 28"/>
          <p:cNvSpPr>
            <a:spLocks noGrp="1" noChangeArrowheads="1"/>
          </p:cNvSpPr>
          <p:nvPr>
            <p:ph type="ftr" sz="quarter" idx="11"/>
          </p:nvPr>
        </p:nvSpPr>
        <p:spPr/>
        <p:txBody>
          <a:bodyPr/>
          <a:lstStyle>
            <a:lvl1pPr>
              <a:defRPr/>
            </a:lvl1pPr>
          </a:lstStyle>
          <a:p>
            <a:pPr>
              <a:defRPr/>
            </a:pPr>
            <a:r>
              <a:rPr lang="en-US" altLang="zh-CN"/>
              <a:t>第八章 A/D和D/A变换</a:t>
            </a:r>
            <a:endParaRPr lang="en-US" altLang="zh-CN"/>
          </a:p>
        </p:txBody>
      </p:sp>
      <p:sp>
        <p:nvSpPr>
          <p:cNvPr id="6" name="Rectangle 29"/>
          <p:cNvSpPr>
            <a:spLocks noGrp="1" noChangeArrowheads="1"/>
          </p:cNvSpPr>
          <p:nvPr>
            <p:ph type="sldNum" sz="quarter" idx="12"/>
          </p:nvPr>
        </p:nvSpPr>
        <p:spPr/>
        <p:txBody>
          <a:bodyPr/>
          <a:lstStyle>
            <a:lvl1pPr>
              <a:defRPr/>
            </a:lvl1pPr>
          </a:lstStyle>
          <a:p>
            <a:pPr>
              <a:defRPr/>
            </a:pPr>
            <a:fld id="{A7E9DC98-B2B5-4629-90DB-160B73C25C4D}"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27"/>
          <p:cNvSpPr>
            <a:spLocks noGrp="1" noChangeArrowheads="1"/>
          </p:cNvSpPr>
          <p:nvPr>
            <p:ph type="dt" sz="half" idx="10"/>
          </p:nvPr>
        </p:nvSpPr>
        <p:spPr/>
        <p:txBody>
          <a:bodyPr/>
          <a:lstStyle>
            <a:lvl1pPr>
              <a:defRPr/>
            </a:lvl1pPr>
          </a:lstStyle>
          <a:p>
            <a:pPr>
              <a:defRPr/>
            </a:pPr>
            <a:fld id="{00C39FC7-F542-4677-A12E-9E3ECCDC28E1}" type="datetime3">
              <a:rPr lang="zh-CN" altLang="en-US"/>
            </a:fld>
            <a:endParaRPr lang="en-US" altLang="zh-CN"/>
          </a:p>
        </p:txBody>
      </p:sp>
      <p:sp>
        <p:nvSpPr>
          <p:cNvPr id="6" name="Rectangle 28"/>
          <p:cNvSpPr>
            <a:spLocks noGrp="1" noChangeArrowheads="1"/>
          </p:cNvSpPr>
          <p:nvPr>
            <p:ph type="ftr" sz="quarter" idx="11"/>
          </p:nvPr>
        </p:nvSpPr>
        <p:spPr/>
        <p:txBody>
          <a:bodyPr/>
          <a:lstStyle>
            <a:lvl1pPr>
              <a:defRPr/>
            </a:lvl1pPr>
          </a:lstStyle>
          <a:p>
            <a:pPr>
              <a:defRPr/>
            </a:pPr>
            <a:r>
              <a:rPr lang="en-US" altLang="zh-CN"/>
              <a:t>第八章 A/D和D/A变换</a:t>
            </a:r>
            <a:endParaRPr lang="en-US" altLang="zh-CN"/>
          </a:p>
        </p:txBody>
      </p:sp>
      <p:sp>
        <p:nvSpPr>
          <p:cNvPr id="7" name="Rectangle 29"/>
          <p:cNvSpPr>
            <a:spLocks noGrp="1" noChangeArrowheads="1"/>
          </p:cNvSpPr>
          <p:nvPr>
            <p:ph type="sldNum" sz="quarter" idx="12"/>
          </p:nvPr>
        </p:nvSpPr>
        <p:spPr/>
        <p:txBody>
          <a:bodyPr/>
          <a:lstStyle>
            <a:lvl1pPr>
              <a:defRPr/>
            </a:lvl1pPr>
          </a:lstStyle>
          <a:p>
            <a:pPr>
              <a:defRPr/>
            </a:pPr>
            <a:fld id="{AA1977DB-85EE-4BAD-BCF0-744FCA6F67DD}"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27"/>
          <p:cNvSpPr>
            <a:spLocks noGrp="1" noChangeArrowheads="1"/>
          </p:cNvSpPr>
          <p:nvPr>
            <p:ph type="dt" sz="half" idx="10"/>
          </p:nvPr>
        </p:nvSpPr>
        <p:spPr/>
        <p:txBody>
          <a:bodyPr/>
          <a:lstStyle>
            <a:lvl1pPr>
              <a:defRPr/>
            </a:lvl1pPr>
          </a:lstStyle>
          <a:p>
            <a:pPr>
              <a:defRPr/>
            </a:pPr>
            <a:fld id="{6F3A80E6-62CB-431B-BE6C-A3C2C2C33C33}" type="datetime3">
              <a:rPr lang="zh-CN" altLang="en-US"/>
            </a:fld>
            <a:endParaRPr lang="en-US" altLang="zh-CN"/>
          </a:p>
        </p:txBody>
      </p:sp>
      <p:sp>
        <p:nvSpPr>
          <p:cNvPr id="8" name="Rectangle 28"/>
          <p:cNvSpPr>
            <a:spLocks noGrp="1" noChangeArrowheads="1"/>
          </p:cNvSpPr>
          <p:nvPr>
            <p:ph type="ftr" sz="quarter" idx="11"/>
          </p:nvPr>
        </p:nvSpPr>
        <p:spPr/>
        <p:txBody>
          <a:bodyPr/>
          <a:lstStyle>
            <a:lvl1pPr>
              <a:defRPr/>
            </a:lvl1pPr>
          </a:lstStyle>
          <a:p>
            <a:pPr>
              <a:defRPr/>
            </a:pPr>
            <a:r>
              <a:rPr lang="en-US" altLang="zh-CN"/>
              <a:t>第八章 A/D和D/A变换</a:t>
            </a:r>
            <a:endParaRPr lang="en-US" altLang="zh-CN"/>
          </a:p>
        </p:txBody>
      </p:sp>
      <p:sp>
        <p:nvSpPr>
          <p:cNvPr id="9" name="Rectangle 29"/>
          <p:cNvSpPr>
            <a:spLocks noGrp="1" noChangeArrowheads="1"/>
          </p:cNvSpPr>
          <p:nvPr>
            <p:ph type="sldNum" sz="quarter" idx="12"/>
          </p:nvPr>
        </p:nvSpPr>
        <p:spPr/>
        <p:txBody>
          <a:bodyPr/>
          <a:lstStyle>
            <a:lvl1pPr>
              <a:defRPr/>
            </a:lvl1pPr>
          </a:lstStyle>
          <a:p>
            <a:pPr>
              <a:defRPr/>
            </a:pPr>
            <a:fld id="{25890E90-122C-42F8-A0B5-C7A90D591A92}"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Rectangle 27"/>
          <p:cNvSpPr>
            <a:spLocks noGrp="1" noChangeArrowheads="1"/>
          </p:cNvSpPr>
          <p:nvPr>
            <p:ph type="dt" sz="half" idx="10"/>
          </p:nvPr>
        </p:nvSpPr>
        <p:spPr/>
        <p:txBody>
          <a:bodyPr/>
          <a:lstStyle>
            <a:lvl1pPr>
              <a:defRPr/>
            </a:lvl1pPr>
          </a:lstStyle>
          <a:p>
            <a:pPr>
              <a:defRPr/>
            </a:pPr>
            <a:fld id="{8B97E789-6352-434E-BFB8-DF2B29DABE45}" type="datetime3">
              <a:rPr lang="zh-CN" altLang="en-US"/>
            </a:fld>
            <a:endParaRPr lang="en-US" altLang="zh-CN"/>
          </a:p>
        </p:txBody>
      </p:sp>
      <p:sp>
        <p:nvSpPr>
          <p:cNvPr id="4" name="Rectangle 28"/>
          <p:cNvSpPr>
            <a:spLocks noGrp="1" noChangeArrowheads="1"/>
          </p:cNvSpPr>
          <p:nvPr>
            <p:ph type="ftr" sz="quarter" idx="11"/>
          </p:nvPr>
        </p:nvSpPr>
        <p:spPr/>
        <p:txBody>
          <a:bodyPr/>
          <a:lstStyle>
            <a:lvl1pPr>
              <a:defRPr/>
            </a:lvl1pPr>
          </a:lstStyle>
          <a:p>
            <a:pPr>
              <a:defRPr/>
            </a:pPr>
            <a:r>
              <a:rPr lang="en-US" altLang="zh-CN"/>
              <a:t>第八章 A/D和D/A变换</a:t>
            </a:r>
            <a:endParaRPr lang="en-US" altLang="zh-CN"/>
          </a:p>
        </p:txBody>
      </p:sp>
      <p:sp>
        <p:nvSpPr>
          <p:cNvPr id="5" name="Rectangle 29"/>
          <p:cNvSpPr>
            <a:spLocks noGrp="1" noChangeArrowheads="1"/>
          </p:cNvSpPr>
          <p:nvPr>
            <p:ph type="sldNum" sz="quarter" idx="12"/>
          </p:nvPr>
        </p:nvSpPr>
        <p:spPr/>
        <p:txBody>
          <a:bodyPr/>
          <a:lstStyle>
            <a:lvl1pPr>
              <a:defRPr/>
            </a:lvl1pPr>
          </a:lstStyle>
          <a:p>
            <a:pPr>
              <a:defRPr/>
            </a:pPr>
            <a:fld id="{F1083859-1FF3-4676-A8D3-A26E8D106C4F}"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7"/>
          <p:cNvSpPr>
            <a:spLocks noGrp="1" noChangeArrowheads="1"/>
          </p:cNvSpPr>
          <p:nvPr>
            <p:ph type="dt" sz="half" idx="10"/>
          </p:nvPr>
        </p:nvSpPr>
        <p:spPr/>
        <p:txBody>
          <a:bodyPr/>
          <a:lstStyle>
            <a:lvl1pPr>
              <a:defRPr/>
            </a:lvl1pPr>
          </a:lstStyle>
          <a:p>
            <a:pPr>
              <a:defRPr/>
            </a:pPr>
            <a:fld id="{12151A39-E622-4CAB-8F23-9D7E1312046E}" type="datetime3">
              <a:rPr lang="zh-CN" altLang="en-US"/>
            </a:fld>
            <a:endParaRPr lang="en-US" altLang="zh-CN"/>
          </a:p>
        </p:txBody>
      </p:sp>
      <p:sp>
        <p:nvSpPr>
          <p:cNvPr id="3" name="Rectangle 28"/>
          <p:cNvSpPr>
            <a:spLocks noGrp="1" noChangeArrowheads="1"/>
          </p:cNvSpPr>
          <p:nvPr>
            <p:ph type="ftr" sz="quarter" idx="11"/>
          </p:nvPr>
        </p:nvSpPr>
        <p:spPr/>
        <p:txBody>
          <a:bodyPr/>
          <a:lstStyle>
            <a:lvl1pPr>
              <a:defRPr/>
            </a:lvl1pPr>
          </a:lstStyle>
          <a:p>
            <a:pPr>
              <a:defRPr/>
            </a:pPr>
            <a:r>
              <a:rPr lang="en-US" altLang="zh-CN"/>
              <a:t>第八章 A/D和D/A变换</a:t>
            </a:r>
            <a:endParaRPr lang="en-US" altLang="zh-CN"/>
          </a:p>
        </p:txBody>
      </p:sp>
      <p:sp>
        <p:nvSpPr>
          <p:cNvPr id="4" name="Rectangle 29"/>
          <p:cNvSpPr>
            <a:spLocks noGrp="1" noChangeArrowheads="1"/>
          </p:cNvSpPr>
          <p:nvPr>
            <p:ph type="sldNum" sz="quarter" idx="12"/>
          </p:nvPr>
        </p:nvSpPr>
        <p:spPr/>
        <p:txBody>
          <a:bodyPr/>
          <a:lstStyle>
            <a:lvl1pPr>
              <a:defRPr/>
            </a:lvl1pPr>
          </a:lstStyle>
          <a:p>
            <a:pPr>
              <a:defRPr/>
            </a:pPr>
            <a:fld id="{4FAC8121-3220-4895-8B08-BE6E58143BBB}"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27"/>
          <p:cNvSpPr>
            <a:spLocks noGrp="1" noChangeArrowheads="1"/>
          </p:cNvSpPr>
          <p:nvPr>
            <p:ph type="dt" sz="half" idx="10"/>
          </p:nvPr>
        </p:nvSpPr>
        <p:spPr/>
        <p:txBody>
          <a:bodyPr/>
          <a:lstStyle>
            <a:lvl1pPr>
              <a:defRPr/>
            </a:lvl1pPr>
          </a:lstStyle>
          <a:p>
            <a:pPr>
              <a:defRPr/>
            </a:pPr>
            <a:fld id="{DBFEB720-67E0-4E6F-BE0B-7278735BB635}" type="datetime3">
              <a:rPr lang="zh-CN" altLang="en-US"/>
            </a:fld>
            <a:endParaRPr lang="en-US" altLang="zh-CN"/>
          </a:p>
        </p:txBody>
      </p:sp>
      <p:sp>
        <p:nvSpPr>
          <p:cNvPr id="6" name="Rectangle 28"/>
          <p:cNvSpPr>
            <a:spLocks noGrp="1" noChangeArrowheads="1"/>
          </p:cNvSpPr>
          <p:nvPr>
            <p:ph type="ftr" sz="quarter" idx="11"/>
          </p:nvPr>
        </p:nvSpPr>
        <p:spPr/>
        <p:txBody>
          <a:bodyPr/>
          <a:lstStyle>
            <a:lvl1pPr>
              <a:defRPr/>
            </a:lvl1pPr>
          </a:lstStyle>
          <a:p>
            <a:pPr>
              <a:defRPr/>
            </a:pPr>
            <a:r>
              <a:rPr lang="en-US" altLang="zh-CN"/>
              <a:t>第八章 A/D和D/A变换</a:t>
            </a:r>
            <a:endParaRPr lang="en-US" altLang="zh-CN"/>
          </a:p>
        </p:txBody>
      </p:sp>
      <p:sp>
        <p:nvSpPr>
          <p:cNvPr id="7" name="Rectangle 29"/>
          <p:cNvSpPr>
            <a:spLocks noGrp="1" noChangeArrowheads="1"/>
          </p:cNvSpPr>
          <p:nvPr>
            <p:ph type="sldNum" sz="quarter" idx="12"/>
          </p:nvPr>
        </p:nvSpPr>
        <p:spPr/>
        <p:txBody>
          <a:bodyPr/>
          <a:lstStyle>
            <a:lvl1pPr>
              <a:defRPr/>
            </a:lvl1pPr>
          </a:lstStyle>
          <a:p>
            <a:pPr>
              <a:defRPr/>
            </a:pPr>
            <a:fld id="{A283342E-4C07-414C-AC5F-17EC0DCDD0BE}"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27"/>
          <p:cNvSpPr>
            <a:spLocks noGrp="1" noChangeArrowheads="1"/>
          </p:cNvSpPr>
          <p:nvPr>
            <p:ph type="dt" sz="half" idx="10"/>
          </p:nvPr>
        </p:nvSpPr>
        <p:spPr/>
        <p:txBody>
          <a:bodyPr/>
          <a:lstStyle>
            <a:lvl1pPr>
              <a:defRPr/>
            </a:lvl1pPr>
          </a:lstStyle>
          <a:p>
            <a:pPr>
              <a:defRPr/>
            </a:pPr>
            <a:fld id="{768745EB-8AA0-4057-AC99-182F64B189BB}" type="datetime3">
              <a:rPr lang="zh-CN" altLang="en-US"/>
            </a:fld>
            <a:endParaRPr lang="en-US" altLang="zh-CN"/>
          </a:p>
        </p:txBody>
      </p:sp>
      <p:sp>
        <p:nvSpPr>
          <p:cNvPr id="6" name="Rectangle 28"/>
          <p:cNvSpPr>
            <a:spLocks noGrp="1" noChangeArrowheads="1"/>
          </p:cNvSpPr>
          <p:nvPr>
            <p:ph type="ftr" sz="quarter" idx="11"/>
          </p:nvPr>
        </p:nvSpPr>
        <p:spPr/>
        <p:txBody>
          <a:bodyPr/>
          <a:lstStyle>
            <a:lvl1pPr>
              <a:defRPr/>
            </a:lvl1pPr>
          </a:lstStyle>
          <a:p>
            <a:pPr>
              <a:defRPr/>
            </a:pPr>
            <a:r>
              <a:rPr lang="en-US" altLang="zh-CN"/>
              <a:t>第八章 A/D和D/A变换</a:t>
            </a:r>
            <a:endParaRPr lang="en-US" altLang="zh-CN"/>
          </a:p>
        </p:txBody>
      </p:sp>
      <p:sp>
        <p:nvSpPr>
          <p:cNvPr id="7" name="Rectangle 29"/>
          <p:cNvSpPr>
            <a:spLocks noGrp="1" noChangeArrowheads="1"/>
          </p:cNvSpPr>
          <p:nvPr>
            <p:ph type="sldNum" sz="quarter" idx="12"/>
          </p:nvPr>
        </p:nvSpPr>
        <p:spPr/>
        <p:txBody>
          <a:bodyPr/>
          <a:lstStyle>
            <a:lvl1pPr>
              <a:defRPr/>
            </a:lvl1pPr>
          </a:lstStyle>
          <a:p>
            <a:pPr>
              <a:defRPr/>
            </a:pPr>
            <a:fld id="{9310DB3C-A480-44C9-986F-A979F5B22F2C}"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27"/>
          <p:cNvSpPr>
            <a:spLocks noGrp="1" noChangeArrowheads="1"/>
          </p:cNvSpPr>
          <p:nvPr>
            <p:ph type="dt" sz="half" idx="10"/>
          </p:nvPr>
        </p:nvSpPr>
        <p:spPr/>
        <p:txBody>
          <a:bodyPr/>
          <a:lstStyle>
            <a:lvl1pPr>
              <a:defRPr/>
            </a:lvl1pPr>
          </a:lstStyle>
          <a:p>
            <a:pPr>
              <a:defRPr/>
            </a:pPr>
            <a:fld id="{C52B0696-A7B5-47E7-A66E-216A242A0C9F}" type="datetime3">
              <a:rPr lang="zh-CN" altLang="en-US"/>
            </a:fld>
            <a:endParaRPr lang="en-US" altLang="zh-CN"/>
          </a:p>
        </p:txBody>
      </p:sp>
      <p:sp>
        <p:nvSpPr>
          <p:cNvPr id="5" name="Rectangle 28"/>
          <p:cNvSpPr>
            <a:spLocks noGrp="1" noChangeArrowheads="1"/>
          </p:cNvSpPr>
          <p:nvPr>
            <p:ph type="ftr" sz="quarter" idx="11"/>
          </p:nvPr>
        </p:nvSpPr>
        <p:spPr/>
        <p:txBody>
          <a:bodyPr/>
          <a:lstStyle>
            <a:lvl1pPr>
              <a:defRPr/>
            </a:lvl1pPr>
          </a:lstStyle>
          <a:p>
            <a:pPr>
              <a:defRPr/>
            </a:pPr>
            <a:r>
              <a:rPr lang="en-US" altLang="zh-CN"/>
              <a:t>第八章 A/D和D/A变换</a:t>
            </a:r>
            <a:endParaRPr lang="en-US" altLang="zh-CN"/>
          </a:p>
        </p:txBody>
      </p:sp>
      <p:sp>
        <p:nvSpPr>
          <p:cNvPr id="6" name="Rectangle 29"/>
          <p:cNvSpPr>
            <a:spLocks noGrp="1" noChangeArrowheads="1"/>
          </p:cNvSpPr>
          <p:nvPr>
            <p:ph type="sldNum" sz="quarter" idx="12"/>
          </p:nvPr>
        </p:nvSpPr>
        <p:spPr/>
        <p:txBody>
          <a:bodyPr/>
          <a:lstStyle>
            <a:lvl1pPr>
              <a:defRPr/>
            </a:lvl1pPr>
          </a:lstStyle>
          <a:p>
            <a:pPr>
              <a:defRPr/>
            </a:pPr>
            <a:fld id="{78B3208A-103D-493A-A209-AE4FC11E33C0}"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27"/>
          <p:cNvSpPr>
            <a:spLocks noGrp="1" noChangeArrowheads="1"/>
          </p:cNvSpPr>
          <p:nvPr>
            <p:ph type="dt" sz="half" idx="10"/>
          </p:nvPr>
        </p:nvSpPr>
        <p:spPr/>
        <p:txBody>
          <a:bodyPr/>
          <a:lstStyle>
            <a:lvl1pPr>
              <a:defRPr/>
            </a:lvl1pPr>
          </a:lstStyle>
          <a:p>
            <a:pPr>
              <a:defRPr/>
            </a:pPr>
            <a:fld id="{F8A0B834-9178-4BA4-890F-82137DE26105}" type="datetime3">
              <a:rPr lang="zh-CN" altLang="en-US"/>
            </a:fld>
            <a:endParaRPr lang="en-US" altLang="zh-CN"/>
          </a:p>
        </p:txBody>
      </p:sp>
      <p:sp>
        <p:nvSpPr>
          <p:cNvPr id="5" name="Rectangle 28"/>
          <p:cNvSpPr>
            <a:spLocks noGrp="1" noChangeArrowheads="1"/>
          </p:cNvSpPr>
          <p:nvPr>
            <p:ph type="ftr" sz="quarter" idx="11"/>
          </p:nvPr>
        </p:nvSpPr>
        <p:spPr/>
        <p:txBody>
          <a:bodyPr/>
          <a:lstStyle>
            <a:lvl1pPr>
              <a:defRPr/>
            </a:lvl1pPr>
          </a:lstStyle>
          <a:p>
            <a:pPr>
              <a:defRPr/>
            </a:pPr>
            <a:r>
              <a:rPr lang="en-US" altLang="zh-CN"/>
              <a:t>第八章 A/D和D/A变换</a:t>
            </a:r>
            <a:endParaRPr lang="en-US" altLang="zh-CN"/>
          </a:p>
        </p:txBody>
      </p:sp>
      <p:sp>
        <p:nvSpPr>
          <p:cNvPr id="6" name="Rectangle 29"/>
          <p:cNvSpPr>
            <a:spLocks noGrp="1" noChangeArrowheads="1"/>
          </p:cNvSpPr>
          <p:nvPr>
            <p:ph type="sldNum" sz="quarter" idx="12"/>
          </p:nvPr>
        </p:nvSpPr>
        <p:spPr/>
        <p:txBody>
          <a:bodyPr/>
          <a:lstStyle>
            <a:lvl1pPr>
              <a:defRPr/>
            </a:lvl1pPr>
          </a:lstStyle>
          <a:p>
            <a:pPr>
              <a:defRPr/>
            </a:pPr>
            <a:fld id="{904C9087-A906-48F5-93FB-895509143150}"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457200" y="1600200"/>
            <a:ext cx="4038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27"/>
          <p:cNvSpPr>
            <a:spLocks noGrp="1" noChangeArrowheads="1"/>
          </p:cNvSpPr>
          <p:nvPr>
            <p:ph type="dt" sz="half" idx="10"/>
          </p:nvPr>
        </p:nvSpPr>
        <p:spPr/>
        <p:txBody>
          <a:bodyPr/>
          <a:lstStyle>
            <a:lvl1pPr>
              <a:defRPr/>
            </a:lvl1pPr>
          </a:lstStyle>
          <a:p>
            <a:pPr>
              <a:defRPr/>
            </a:pPr>
            <a:fld id="{7C518654-C372-4BDD-B5E6-046A49253C93}" type="datetime3">
              <a:rPr lang="zh-CN" altLang="en-US"/>
            </a:fld>
            <a:endParaRPr lang="en-US" altLang="zh-CN"/>
          </a:p>
        </p:txBody>
      </p:sp>
      <p:sp>
        <p:nvSpPr>
          <p:cNvPr id="6" name="Rectangle 28"/>
          <p:cNvSpPr>
            <a:spLocks noGrp="1" noChangeArrowheads="1"/>
          </p:cNvSpPr>
          <p:nvPr>
            <p:ph type="ftr" sz="quarter" idx="11"/>
          </p:nvPr>
        </p:nvSpPr>
        <p:spPr/>
        <p:txBody>
          <a:bodyPr/>
          <a:lstStyle>
            <a:lvl1pPr>
              <a:defRPr/>
            </a:lvl1pPr>
          </a:lstStyle>
          <a:p>
            <a:pPr>
              <a:defRPr/>
            </a:pPr>
            <a:r>
              <a:rPr lang="en-US" altLang="zh-CN"/>
              <a:t>第八章 A/D和D/A变换</a:t>
            </a:r>
            <a:endParaRPr lang="en-US" altLang="zh-CN"/>
          </a:p>
        </p:txBody>
      </p:sp>
      <p:sp>
        <p:nvSpPr>
          <p:cNvPr id="7" name="Rectangle 29"/>
          <p:cNvSpPr>
            <a:spLocks noGrp="1" noChangeArrowheads="1"/>
          </p:cNvSpPr>
          <p:nvPr>
            <p:ph type="sldNum" sz="quarter" idx="12"/>
          </p:nvPr>
        </p:nvSpPr>
        <p:spPr/>
        <p:txBody>
          <a:bodyPr/>
          <a:lstStyle>
            <a:lvl1pPr>
              <a:defRPr/>
            </a:lvl1pPr>
          </a:lstStyle>
          <a:p>
            <a:pPr>
              <a:defRPr/>
            </a:pPr>
            <a:fld id="{7219F78D-168D-4908-934C-E0EC0DBB05A8}"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51" name="Rectangle 27"/>
          <p:cNvSpPr>
            <a:spLocks noGrp="1" noChangeArrowheads="1"/>
          </p:cNvSpPr>
          <p:nvPr>
            <p:ph type="dt" sz="half" idx="2"/>
          </p:nvPr>
        </p:nvSpPr>
        <p:spPr bwMode="auto">
          <a:xfrm>
            <a:off x="387350" y="6292850"/>
            <a:ext cx="2438400" cy="452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spcBef>
                <a:spcPct val="0"/>
              </a:spcBef>
              <a:defRPr sz="1400"/>
            </a:lvl1pPr>
          </a:lstStyle>
          <a:p>
            <a:pPr>
              <a:defRPr/>
            </a:pPr>
            <a:fld id="{1EAF70AC-52D3-4F3A-B3BD-006744871798}" type="datetime3">
              <a:rPr lang="zh-CN" altLang="en-US"/>
            </a:fld>
            <a:endParaRPr lang="en-US" altLang="zh-CN"/>
          </a:p>
        </p:txBody>
      </p:sp>
      <p:sp>
        <p:nvSpPr>
          <p:cNvPr id="1052" name="Rectangle 28"/>
          <p:cNvSpPr>
            <a:spLocks noGrp="1" noChangeArrowheads="1"/>
          </p:cNvSpPr>
          <p:nvPr>
            <p:ph type="ftr" sz="quarter" idx="3"/>
          </p:nvPr>
        </p:nvSpPr>
        <p:spPr bwMode="auto">
          <a:xfrm>
            <a:off x="5727700" y="6270625"/>
            <a:ext cx="2343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spcBef>
                <a:spcPct val="0"/>
              </a:spcBef>
              <a:defRPr sz="1400"/>
            </a:lvl1pPr>
          </a:lstStyle>
          <a:p>
            <a:pPr>
              <a:defRPr/>
            </a:pPr>
            <a:r>
              <a:rPr lang="en-US" altLang="zh-CN"/>
              <a:t>第八章 A/D和D/A变换</a:t>
            </a:r>
            <a:endParaRPr lang="en-US" altLang="zh-CN"/>
          </a:p>
        </p:txBody>
      </p:sp>
      <p:sp>
        <p:nvSpPr>
          <p:cNvPr id="1053" name="Rectangle 29"/>
          <p:cNvSpPr>
            <a:spLocks noGrp="1" noChangeArrowheads="1"/>
          </p:cNvSpPr>
          <p:nvPr>
            <p:ph type="sldNum" sz="quarter" idx="4"/>
          </p:nvPr>
        </p:nvSpPr>
        <p:spPr bwMode="auto">
          <a:xfrm>
            <a:off x="7802563" y="6267450"/>
            <a:ext cx="7826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spcBef>
                <a:spcPct val="0"/>
              </a:spcBef>
              <a:defRPr sz="1400" smtClean="0"/>
            </a:lvl1pPr>
          </a:lstStyle>
          <a:p>
            <a:pPr>
              <a:defRPr/>
            </a:pPr>
            <a:fld id="{6EC875CF-80FA-4B0B-A9E7-156CA211D2F6}" type="slidenum">
              <a:rPr lang="en-US" altLang="zh-CN"/>
            </a:fld>
            <a:endParaRPr lang="en-US" altLang="zh-CN"/>
          </a:p>
        </p:txBody>
      </p:sp>
      <p:sp>
        <p:nvSpPr>
          <p:cNvPr id="1029" name="Line 31"/>
          <p:cNvSpPr>
            <a:spLocks noChangeShapeType="1"/>
          </p:cNvSpPr>
          <p:nvPr userDrawn="1"/>
        </p:nvSpPr>
        <p:spPr bwMode="auto">
          <a:xfrm>
            <a:off x="395288" y="6223000"/>
            <a:ext cx="8178800" cy="0"/>
          </a:xfrm>
          <a:prstGeom prst="line">
            <a:avLst/>
          </a:prstGeom>
          <a:noFill/>
          <a:ln w="28575">
            <a:solidFill>
              <a:srgbClr val="99CC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defTabSz="1177925" rtl="0" eaLnBrk="0" fontAlgn="base" hangingPunct="0">
        <a:spcBef>
          <a:spcPct val="0"/>
        </a:spcBef>
        <a:spcAft>
          <a:spcPct val="0"/>
        </a:spcAft>
        <a:tabLst>
          <a:tab pos="377825" algn="l"/>
          <a:tab pos="3530600" algn="l"/>
          <a:tab pos="4286250" algn="l"/>
          <a:tab pos="4959350" algn="l"/>
          <a:tab pos="5994400" algn="l"/>
        </a:tabLst>
        <a:defRPr kumimoji="1" sz="4200">
          <a:solidFill>
            <a:schemeClr val="tx2"/>
          </a:solidFill>
          <a:latin typeface="+mj-lt"/>
          <a:ea typeface="+mj-ea"/>
          <a:cs typeface="+mj-cs"/>
        </a:defRPr>
      </a:lvl1pPr>
      <a:lvl2pPr algn="ctr" defTabSz="1177925" rtl="0" eaLnBrk="0" fontAlgn="base" hangingPunct="0">
        <a:spcBef>
          <a:spcPct val="0"/>
        </a:spcBef>
        <a:spcAft>
          <a:spcPct val="0"/>
        </a:spcAft>
        <a:tabLst>
          <a:tab pos="377825" algn="l"/>
          <a:tab pos="3530600" algn="l"/>
          <a:tab pos="4286250" algn="l"/>
          <a:tab pos="4959350" algn="l"/>
          <a:tab pos="5994400" algn="l"/>
        </a:tabLst>
        <a:defRPr kumimoji="1" sz="4200">
          <a:solidFill>
            <a:schemeClr val="tx2"/>
          </a:solidFill>
          <a:latin typeface="Times New Roman" panose="02020603050405020304" pitchFamily="18" charset="0"/>
          <a:ea typeface="宋体" panose="02010600030101010101" pitchFamily="2" charset="-122"/>
        </a:defRPr>
      </a:lvl2pPr>
      <a:lvl3pPr algn="ctr" defTabSz="1177925" rtl="0" eaLnBrk="0" fontAlgn="base" hangingPunct="0">
        <a:spcBef>
          <a:spcPct val="0"/>
        </a:spcBef>
        <a:spcAft>
          <a:spcPct val="0"/>
        </a:spcAft>
        <a:tabLst>
          <a:tab pos="377825" algn="l"/>
          <a:tab pos="3530600" algn="l"/>
          <a:tab pos="4286250" algn="l"/>
          <a:tab pos="4959350" algn="l"/>
          <a:tab pos="5994400" algn="l"/>
        </a:tabLst>
        <a:defRPr kumimoji="1" sz="4200">
          <a:solidFill>
            <a:schemeClr val="tx2"/>
          </a:solidFill>
          <a:latin typeface="Times New Roman" panose="02020603050405020304" pitchFamily="18" charset="0"/>
          <a:ea typeface="宋体" panose="02010600030101010101" pitchFamily="2" charset="-122"/>
        </a:defRPr>
      </a:lvl3pPr>
      <a:lvl4pPr algn="ctr" defTabSz="1177925" rtl="0" eaLnBrk="0" fontAlgn="base" hangingPunct="0">
        <a:spcBef>
          <a:spcPct val="0"/>
        </a:spcBef>
        <a:spcAft>
          <a:spcPct val="0"/>
        </a:spcAft>
        <a:tabLst>
          <a:tab pos="377825" algn="l"/>
          <a:tab pos="3530600" algn="l"/>
          <a:tab pos="4286250" algn="l"/>
          <a:tab pos="4959350" algn="l"/>
          <a:tab pos="5994400" algn="l"/>
        </a:tabLst>
        <a:defRPr kumimoji="1" sz="4200">
          <a:solidFill>
            <a:schemeClr val="tx2"/>
          </a:solidFill>
          <a:latin typeface="Times New Roman" panose="02020603050405020304" pitchFamily="18" charset="0"/>
          <a:ea typeface="宋体" panose="02010600030101010101" pitchFamily="2" charset="-122"/>
        </a:defRPr>
      </a:lvl4pPr>
      <a:lvl5pPr algn="ctr" defTabSz="1177925" rtl="0" eaLnBrk="0" fontAlgn="base" hangingPunct="0">
        <a:spcBef>
          <a:spcPct val="0"/>
        </a:spcBef>
        <a:spcAft>
          <a:spcPct val="0"/>
        </a:spcAft>
        <a:tabLst>
          <a:tab pos="377825" algn="l"/>
          <a:tab pos="3530600" algn="l"/>
          <a:tab pos="4286250" algn="l"/>
          <a:tab pos="4959350" algn="l"/>
          <a:tab pos="5994400" algn="l"/>
        </a:tabLst>
        <a:defRPr kumimoji="1" sz="4200">
          <a:solidFill>
            <a:schemeClr val="tx2"/>
          </a:solidFill>
          <a:latin typeface="Times New Roman" panose="02020603050405020304" pitchFamily="18" charset="0"/>
          <a:ea typeface="宋体" panose="02010600030101010101" pitchFamily="2" charset="-122"/>
        </a:defRPr>
      </a:lvl5pPr>
      <a:lvl6pPr marL="457200" algn="ctr" defTabSz="1177925" rtl="0" fontAlgn="base">
        <a:spcBef>
          <a:spcPct val="0"/>
        </a:spcBef>
        <a:spcAft>
          <a:spcPct val="0"/>
        </a:spcAft>
        <a:tabLst>
          <a:tab pos="377825" algn="l"/>
          <a:tab pos="3530600" algn="l"/>
          <a:tab pos="4286250" algn="l"/>
          <a:tab pos="4959350" algn="l"/>
          <a:tab pos="5994400" algn="l"/>
        </a:tabLst>
        <a:defRPr kumimoji="1" sz="4200">
          <a:solidFill>
            <a:schemeClr val="tx2"/>
          </a:solidFill>
          <a:latin typeface="Times New Roman" panose="02020603050405020304" pitchFamily="18" charset="0"/>
          <a:ea typeface="宋体" panose="02010600030101010101" pitchFamily="2" charset="-122"/>
        </a:defRPr>
      </a:lvl6pPr>
      <a:lvl7pPr marL="914400" algn="ctr" defTabSz="1177925" rtl="0" fontAlgn="base">
        <a:spcBef>
          <a:spcPct val="0"/>
        </a:spcBef>
        <a:spcAft>
          <a:spcPct val="0"/>
        </a:spcAft>
        <a:tabLst>
          <a:tab pos="377825" algn="l"/>
          <a:tab pos="3530600" algn="l"/>
          <a:tab pos="4286250" algn="l"/>
          <a:tab pos="4959350" algn="l"/>
          <a:tab pos="5994400" algn="l"/>
        </a:tabLst>
        <a:defRPr kumimoji="1" sz="4200">
          <a:solidFill>
            <a:schemeClr val="tx2"/>
          </a:solidFill>
          <a:latin typeface="Times New Roman" panose="02020603050405020304" pitchFamily="18" charset="0"/>
          <a:ea typeface="宋体" panose="02010600030101010101" pitchFamily="2" charset="-122"/>
        </a:defRPr>
      </a:lvl7pPr>
      <a:lvl8pPr marL="1371600" algn="ctr" defTabSz="1177925" rtl="0" fontAlgn="base">
        <a:spcBef>
          <a:spcPct val="0"/>
        </a:spcBef>
        <a:spcAft>
          <a:spcPct val="0"/>
        </a:spcAft>
        <a:tabLst>
          <a:tab pos="377825" algn="l"/>
          <a:tab pos="3530600" algn="l"/>
          <a:tab pos="4286250" algn="l"/>
          <a:tab pos="4959350" algn="l"/>
          <a:tab pos="5994400" algn="l"/>
        </a:tabLst>
        <a:defRPr kumimoji="1" sz="4200">
          <a:solidFill>
            <a:schemeClr val="tx2"/>
          </a:solidFill>
          <a:latin typeface="Times New Roman" panose="02020603050405020304" pitchFamily="18" charset="0"/>
          <a:ea typeface="宋体" panose="02010600030101010101" pitchFamily="2" charset="-122"/>
        </a:defRPr>
      </a:lvl8pPr>
      <a:lvl9pPr marL="1828800" algn="ctr" defTabSz="1177925" rtl="0" fontAlgn="base">
        <a:spcBef>
          <a:spcPct val="0"/>
        </a:spcBef>
        <a:spcAft>
          <a:spcPct val="0"/>
        </a:spcAft>
        <a:tabLst>
          <a:tab pos="377825" algn="l"/>
          <a:tab pos="3530600" algn="l"/>
          <a:tab pos="4286250" algn="l"/>
          <a:tab pos="4959350" algn="l"/>
          <a:tab pos="5994400" algn="l"/>
        </a:tabLst>
        <a:defRPr kumimoji="1" sz="4200">
          <a:solidFill>
            <a:schemeClr val="tx2"/>
          </a:solidFill>
          <a:latin typeface="Times New Roman" panose="02020603050405020304" pitchFamily="18" charset="0"/>
          <a:ea typeface="宋体" panose="02010600030101010101" pitchFamily="2" charset="-122"/>
        </a:defRPr>
      </a:lvl9pPr>
    </p:titleStyle>
    <p:bodyStyle>
      <a:lvl1pPr indent="377825" algn="l" rtl="0" eaLnBrk="0" fontAlgn="base" hangingPunct="0">
        <a:lnSpc>
          <a:spcPct val="120000"/>
        </a:lnSpc>
        <a:spcBef>
          <a:spcPct val="20000"/>
        </a:spcBef>
        <a:spcAft>
          <a:spcPct val="0"/>
        </a:spcAft>
        <a:buChar char="•"/>
        <a:defRPr kumimoji="1" sz="2800">
          <a:solidFill>
            <a:schemeClr val="tx1"/>
          </a:solidFill>
          <a:latin typeface="+mn-lt"/>
          <a:ea typeface="+mn-ea"/>
          <a:cs typeface="+mn-cs"/>
        </a:defRPr>
      </a:lvl1pPr>
      <a:lvl2pPr marL="568325" indent="384175" algn="l" rtl="0" eaLnBrk="0" fontAlgn="base" hangingPunct="0">
        <a:lnSpc>
          <a:spcPct val="120000"/>
        </a:lnSpc>
        <a:spcBef>
          <a:spcPct val="20000"/>
        </a:spcBef>
        <a:spcAft>
          <a:spcPct val="0"/>
        </a:spcAft>
        <a:buChar char="–"/>
        <a:defRPr kumimoji="1" sz="3200">
          <a:solidFill>
            <a:schemeClr val="tx1"/>
          </a:solidFill>
          <a:latin typeface="+mn-lt"/>
          <a:ea typeface="+mn-ea"/>
        </a:defRPr>
      </a:lvl2pPr>
      <a:lvl3pPr marL="1143000" indent="384175" algn="l" rtl="0" eaLnBrk="0" fontAlgn="base" hangingPunct="0">
        <a:lnSpc>
          <a:spcPct val="120000"/>
        </a:lnSpc>
        <a:spcBef>
          <a:spcPct val="20000"/>
        </a:spcBef>
        <a:spcAft>
          <a:spcPct val="0"/>
        </a:spcAft>
        <a:buChar char="•"/>
        <a:defRPr kumimoji="1" sz="2800">
          <a:solidFill>
            <a:schemeClr val="tx1"/>
          </a:solidFill>
          <a:latin typeface="+mn-lt"/>
          <a:ea typeface="+mn-ea"/>
        </a:defRPr>
      </a:lvl3pPr>
      <a:lvl4pPr marL="2127250" indent="-228600" algn="l" rtl="0" eaLnBrk="0" fontAlgn="base" hangingPunct="0">
        <a:spcBef>
          <a:spcPct val="20000"/>
        </a:spcBef>
        <a:spcAft>
          <a:spcPct val="0"/>
        </a:spcAft>
        <a:buChar char="–"/>
        <a:defRPr kumimoji="1" sz="2000">
          <a:solidFill>
            <a:schemeClr val="tx1"/>
          </a:solidFill>
          <a:latin typeface="+mn-lt"/>
          <a:ea typeface="+mn-ea"/>
        </a:defRPr>
      </a:lvl4pPr>
      <a:lvl5pPr marL="2546350" indent="-228600" algn="l" rtl="0" eaLnBrk="0" fontAlgn="base" hangingPunct="0">
        <a:spcBef>
          <a:spcPct val="20000"/>
        </a:spcBef>
        <a:spcAft>
          <a:spcPct val="0"/>
        </a:spcAft>
        <a:buChar char="»"/>
        <a:defRPr kumimoji="1" sz="2000">
          <a:solidFill>
            <a:schemeClr val="tx1"/>
          </a:solidFill>
          <a:latin typeface="+mn-lt"/>
          <a:ea typeface="+mn-ea"/>
        </a:defRPr>
      </a:lvl5pPr>
      <a:lvl6pPr marL="3003550" indent="-228600" algn="l" rtl="0" fontAlgn="base">
        <a:spcBef>
          <a:spcPct val="20000"/>
        </a:spcBef>
        <a:spcAft>
          <a:spcPct val="0"/>
        </a:spcAft>
        <a:buChar char="»"/>
        <a:defRPr kumimoji="1" sz="2000">
          <a:solidFill>
            <a:schemeClr val="tx1"/>
          </a:solidFill>
          <a:latin typeface="+mn-lt"/>
          <a:ea typeface="+mn-ea"/>
        </a:defRPr>
      </a:lvl6pPr>
      <a:lvl7pPr marL="3460750" indent="-228600" algn="l" rtl="0" fontAlgn="base">
        <a:spcBef>
          <a:spcPct val="20000"/>
        </a:spcBef>
        <a:spcAft>
          <a:spcPct val="0"/>
        </a:spcAft>
        <a:buChar char="»"/>
        <a:defRPr kumimoji="1" sz="2000">
          <a:solidFill>
            <a:schemeClr val="tx1"/>
          </a:solidFill>
          <a:latin typeface="+mn-lt"/>
          <a:ea typeface="+mn-ea"/>
        </a:defRPr>
      </a:lvl7pPr>
      <a:lvl8pPr marL="3917950" indent="-228600" algn="l" rtl="0" fontAlgn="base">
        <a:spcBef>
          <a:spcPct val="20000"/>
        </a:spcBef>
        <a:spcAft>
          <a:spcPct val="0"/>
        </a:spcAft>
        <a:buChar char="»"/>
        <a:defRPr kumimoji="1" sz="2000">
          <a:solidFill>
            <a:schemeClr val="tx1"/>
          </a:solidFill>
          <a:latin typeface="+mn-lt"/>
          <a:ea typeface="+mn-ea"/>
        </a:defRPr>
      </a:lvl8pPr>
      <a:lvl9pPr marL="437515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tags" Target="../tags/tag3.xml"/><Relationship Id="rId7" Type="http://schemas.openxmlformats.org/officeDocument/2006/relationships/image" Target="../media/image15.wmf"/><Relationship Id="rId6" Type="http://schemas.openxmlformats.org/officeDocument/2006/relationships/image" Target="../media/image14.png"/><Relationship Id="rId5" Type="http://schemas.openxmlformats.org/officeDocument/2006/relationships/image" Target="../media/image13.wmf"/><Relationship Id="rId4" Type="http://schemas.openxmlformats.org/officeDocument/2006/relationships/image" Target="../media/image12.png"/><Relationship Id="rId3" Type="http://schemas.openxmlformats.org/officeDocument/2006/relationships/tags" Target="../tags/tag2.xml"/><Relationship Id="rId2" Type="http://schemas.openxmlformats.org/officeDocument/2006/relationships/tags" Target="../tags/tag1.xml"/><Relationship Id="rId10" Type="http://schemas.openxmlformats.org/officeDocument/2006/relationships/slideLayout" Target="../slideLayouts/slideLayout7.xml"/><Relationship Id="rId1" Type="http://schemas.openxmlformats.org/officeDocument/2006/relationships/image" Target="../media/image11.wmf"/></Relationships>
</file>

<file path=ppt/slides/_rels/slide11.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7" Type="http://schemas.openxmlformats.org/officeDocument/2006/relationships/slideLayout" Target="../slideLayouts/slideLayout7.xml"/><Relationship Id="rId36" Type="http://schemas.openxmlformats.org/officeDocument/2006/relationships/image" Target="../media/image17.wmf"/><Relationship Id="rId35" Type="http://schemas.openxmlformats.org/officeDocument/2006/relationships/tags" Target="../tags/tag38.xml"/><Relationship Id="rId34" Type="http://schemas.openxmlformats.org/officeDocument/2006/relationships/tags" Target="../tags/tag37.xml"/><Relationship Id="rId33" Type="http://schemas.openxmlformats.org/officeDocument/2006/relationships/tags" Target="../tags/tag36.xml"/><Relationship Id="rId32" Type="http://schemas.openxmlformats.org/officeDocument/2006/relationships/tags" Target="../tags/tag35.xml"/><Relationship Id="rId31" Type="http://schemas.openxmlformats.org/officeDocument/2006/relationships/tags" Target="../tags/tag34.xml"/><Relationship Id="rId30" Type="http://schemas.openxmlformats.org/officeDocument/2006/relationships/tags" Target="../tags/tag33.xml"/><Relationship Id="rId3" Type="http://schemas.openxmlformats.org/officeDocument/2006/relationships/tags" Target="../tags/tag6.xml"/><Relationship Id="rId29" Type="http://schemas.openxmlformats.org/officeDocument/2006/relationships/tags" Target="../tags/tag32.xml"/><Relationship Id="rId28" Type="http://schemas.openxmlformats.org/officeDocument/2006/relationships/tags" Target="../tags/tag31.xml"/><Relationship Id="rId27" Type="http://schemas.openxmlformats.org/officeDocument/2006/relationships/tags" Target="../tags/tag30.xml"/><Relationship Id="rId26" Type="http://schemas.openxmlformats.org/officeDocument/2006/relationships/tags" Target="../tags/tag29.xml"/><Relationship Id="rId25" Type="http://schemas.openxmlformats.org/officeDocument/2006/relationships/tags" Target="../tags/tag28.xml"/><Relationship Id="rId24" Type="http://schemas.openxmlformats.org/officeDocument/2006/relationships/tags" Target="../tags/tag27.xml"/><Relationship Id="rId23" Type="http://schemas.openxmlformats.org/officeDocument/2006/relationships/tags" Target="../tags/tag26.xml"/><Relationship Id="rId22" Type="http://schemas.openxmlformats.org/officeDocument/2006/relationships/tags" Target="../tags/tag25.xml"/><Relationship Id="rId21" Type="http://schemas.openxmlformats.org/officeDocument/2006/relationships/tags" Target="../tags/tag24.xml"/><Relationship Id="rId20" Type="http://schemas.openxmlformats.org/officeDocument/2006/relationships/tags" Target="../tags/tag23.xml"/><Relationship Id="rId2" Type="http://schemas.openxmlformats.org/officeDocument/2006/relationships/tags" Target="../tags/tag5.xml"/><Relationship Id="rId19" Type="http://schemas.openxmlformats.org/officeDocument/2006/relationships/tags" Target="../tags/tag22.xml"/><Relationship Id="rId18" Type="http://schemas.openxmlformats.org/officeDocument/2006/relationships/tags" Target="../tags/tag21.xml"/><Relationship Id="rId17" Type="http://schemas.openxmlformats.org/officeDocument/2006/relationships/tags" Target="../tags/tag20.xml"/><Relationship Id="rId16" Type="http://schemas.openxmlformats.org/officeDocument/2006/relationships/tags" Target="../tags/tag19.xml"/><Relationship Id="rId15" Type="http://schemas.openxmlformats.org/officeDocument/2006/relationships/tags" Target="../tags/tag18.xml"/><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tags" Target="../tags/tag4.xml"/></Relationships>
</file>

<file path=ppt/slides/_rels/slide12.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0" Type="http://schemas.openxmlformats.org/officeDocument/2006/relationships/slideLayout" Target="../slideLayouts/slideLayout7.xml"/><Relationship Id="rId2" Type="http://schemas.openxmlformats.org/officeDocument/2006/relationships/tags" Target="../tags/tag40.xml"/><Relationship Id="rId19" Type="http://schemas.openxmlformats.org/officeDocument/2006/relationships/image" Target="../media/image18.wmf"/><Relationship Id="rId18" Type="http://schemas.openxmlformats.org/officeDocument/2006/relationships/tags" Target="../tags/tag56.xml"/><Relationship Id="rId17" Type="http://schemas.openxmlformats.org/officeDocument/2006/relationships/tags" Target="../tags/tag55.xml"/><Relationship Id="rId16" Type="http://schemas.openxmlformats.org/officeDocument/2006/relationships/tags" Target="../tags/tag54.xml"/><Relationship Id="rId15" Type="http://schemas.openxmlformats.org/officeDocument/2006/relationships/tags" Target="../tags/tag53.xml"/><Relationship Id="rId14" Type="http://schemas.openxmlformats.org/officeDocument/2006/relationships/tags" Target="../tags/tag52.xml"/><Relationship Id="rId13" Type="http://schemas.openxmlformats.org/officeDocument/2006/relationships/tags" Target="../tags/tag51.xml"/><Relationship Id="rId12" Type="http://schemas.openxmlformats.org/officeDocument/2006/relationships/tags" Target="../tags/tag50.xml"/><Relationship Id="rId11" Type="http://schemas.openxmlformats.org/officeDocument/2006/relationships/tags" Target="../tags/tag49.xml"/><Relationship Id="rId10" Type="http://schemas.openxmlformats.org/officeDocument/2006/relationships/tags" Target="../tags/tag48.xml"/><Relationship Id="rId1" Type="http://schemas.openxmlformats.org/officeDocument/2006/relationships/tags" Target="../tags/tag39.xml"/></Relationships>
</file>

<file path=ppt/slides/_rels/slide13.xml.rels><?xml version="1.0" encoding="UTF-8" standalone="yes"?>
<Relationships xmlns="http://schemas.openxmlformats.org/package/2006/relationships"><Relationship Id="rId9" Type="http://schemas.openxmlformats.org/officeDocument/2006/relationships/tags" Target="../tags/tag65.xml"/><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0" Type="http://schemas.openxmlformats.org/officeDocument/2006/relationships/slideLayout" Target="../slideLayouts/slideLayout7.xml"/><Relationship Id="rId2" Type="http://schemas.openxmlformats.org/officeDocument/2006/relationships/tags" Target="../tags/tag58.xml"/><Relationship Id="rId19" Type="http://schemas.openxmlformats.org/officeDocument/2006/relationships/image" Target="../media/image18.wmf"/><Relationship Id="rId18" Type="http://schemas.openxmlformats.org/officeDocument/2006/relationships/tags" Target="../tags/tag74.xml"/><Relationship Id="rId17" Type="http://schemas.openxmlformats.org/officeDocument/2006/relationships/tags" Target="../tags/tag73.xml"/><Relationship Id="rId16" Type="http://schemas.openxmlformats.org/officeDocument/2006/relationships/tags" Target="../tags/tag72.xml"/><Relationship Id="rId15" Type="http://schemas.openxmlformats.org/officeDocument/2006/relationships/tags" Target="../tags/tag71.xml"/><Relationship Id="rId14" Type="http://schemas.openxmlformats.org/officeDocument/2006/relationships/tags" Target="../tags/tag70.xml"/><Relationship Id="rId13" Type="http://schemas.openxmlformats.org/officeDocument/2006/relationships/tags" Target="../tags/tag69.xml"/><Relationship Id="rId12" Type="http://schemas.openxmlformats.org/officeDocument/2006/relationships/tags" Target="../tags/tag68.xml"/><Relationship Id="rId11" Type="http://schemas.openxmlformats.org/officeDocument/2006/relationships/tags" Target="../tags/tag67.xml"/><Relationship Id="rId10" Type="http://schemas.openxmlformats.org/officeDocument/2006/relationships/tags" Target="../tags/tag66.xml"/><Relationship Id="rId1" Type="http://schemas.openxmlformats.org/officeDocument/2006/relationships/tags" Target="../tags/tag5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1.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tags" Target="../tags/tag77.xml"/><Relationship Id="rId3" Type="http://schemas.openxmlformats.org/officeDocument/2006/relationships/image" Target="../media/image19.png"/><Relationship Id="rId2" Type="http://schemas.openxmlformats.org/officeDocument/2006/relationships/tags" Target="../tags/tag76.xml"/><Relationship Id="rId1" Type="http://schemas.openxmlformats.org/officeDocument/2006/relationships/tags" Target="../tags/tag75.xml"/></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2.xml"/></Relationships>
</file>

<file path=ppt/slides/_rels/slide21.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7.xml"/><Relationship Id="rId5" Type="http://schemas.openxmlformats.org/officeDocument/2006/relationships/image" Target="../media/image22.wmf"/><Relationship Id="rId4" Type="http://schemas.openxmlformats.org/officeDocument/2006/relationships/oleObject" Target="../embeddings/oleObject2.bin"/><Relationship Id="rId3" Type="http://schemas.openxmlformats.org/officeDocument/2006/relationships/image" Target="../media/image21.wmf"/><Relationship Id="rId2" Type="http://schemas.openxmlformats.org/officeDocument/2006/relationships/oleObject" Target="../embeddings/oleObject1.bin"/><Relationship Id="rId1" Type="http://schemas.openxmlformats.org/officeDocument/2006/relationships/tags" Target="../tags/tag83.xml"/></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tags" Target="../tags/tag85.xml"/><Relationship Id="rId1" Type="http://schemas.openxmlformats.org/officeDocument/2006/relationships/tags" Target="../tags/tag84.xml"/></Relationships>
</file>

<file path=ppt/slides/_rels/slide23.xml.rels><?xml version="1.0" encoding="UTF-8" standalone="yes"?>
<Relationships xmlns="http://schemas.openxmlformats.org/package/2006/relationships"><Relationship Id="rId9" Type="http://schemas.openxmlformats.org/officeDocument/2006/relationships/tags" Target="../tags/tag94.xml"/><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9" Type="http://schemas.openxmlformats.org/officeDocument/2006/relationships/slideLayout" Target="../slideLayouts/slideLayout7.xml"/><Relationship Id="rId18" Type="http://schemas.openxmlformats.org/officeDocument/2006/relationships/tags" Target="../tags/tag103.xml"/><Relationship Id="rId17" Type="http://schemas.openxmlformats.org/officeDocument/2006/relationships/tags" Target="../tags/tag102.xml"/><Relationship Id="rId16" Type="http://schemas.openxmlformats.org/officeDocument/2006/relationships/tags" Target="../tags/tag101.xml"/><Relationship Id="rId15" Type="http://schemas.openxmlformats.org/officeDocument/2006/relationships/tags" Target="../tags/tag100.xml"/><Relationship Id="rId14" Type="http://schemas.openxmlformats.org/officeDocument/2006/relationships/tags" Target="../tags/tag99.xml"/><Relationship Id="rId13" Type="http://schemas.openxmlformats.org/officeDocument/2006/relationships/tags" Target="../tags/tag98.xml"/><Relationship Id="rId12" Type="http://schemas.openxmlformats.org/officeDocument/2006/relationships/tags" Target="../tags/tag97.xml"/><Relationship Id="rId11" Type="http://schemas.openxmlformats.org/officeDocument/2006/relationships/tags" Target="../tags/tag96.xml"/><Relationship Id="rId10" Type="http://schemas.openxmlformats.org/officeDocument/2006/relationships/tags" Target="../tags/tag95.xml"/><Relationship Id="rId1" Type="http://schemas.openxmlformats.org/officeDocument/2006/relationships/tags" Target="../tags/tag86.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06.xml"/><Relationship Id="rId3" Type="http://schemas.openxmlformats.org/officeDocument/2006/relationships/image" Target="../media/image25.wmf"/><Relationship Id="rId2" Type="http://schemas.openxmlformats.org/officeDocument/2006/relationships/tags" Target="../tags/tag105.xml"/><Relationship Id="rId1" Type="http://schemas.openxmlformats.org/officeDocument/2006/relationships/tags" Target="../tags/tag104.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6.png"/><Relationship Id="rId2" Type="http://schemas.openxmlformats.org/officeDocument/2006/relationships/tags" Target="../tags/tag108.xml"/><Relationship Id="rId1" Type="http://schemas.openxmlformats.org/officeDocument/2006/relationships/tags" Target="../tags/tag107.xml"/></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11.xml"/><Relationship Id="rId3" Type="http://schemas.openxmlformats.org/officeDocument/2006/relationships/image" Target="../media/image27.png"/><Relationship Id="rId2" Type="http://schemas.openxmlformats.org/officeDocument/2006/relationships/tags" Target="../tags/tag110.xml"/><Relationship Id="rId1" Type="http://schemas.openxmlformats.org/officeDocument/2006/relationships/tags" Target="../tags/tag109.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18.xml"/><Relationship Id="rId3" Type="http://schemas.openxmlformats.org/officeDocument/2006/relationships/image" Target="../media/image28.png"/><Relationship Id="rId2" Type="http://schemas.openxmlformats.org/officeDocument/2006/relationships/tags" Target="../tags/tag117.xml"/><Relationship Id="rId1" Type="http://schemas.openxmlformats.org/officeDocument/2006/relationships/tags" Target="../tags/tag116.xml"/></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21.xml"/><Relationship Id="rId3" Type="http://schemas.openxmlformats.org/officeDocument/2006/relationships/image" Target="../media/image28.png"/><Relationship Id="rId2" Type="http://schemas.openxmlformats.org/officeDocument/2006/relationships/tags" Target="../tags/tag120.xml"/><Relationship Id="rId1" Type="http://schemas.openxmlformats.org/officeDocument/2006/relationships/tags" Target="../tags/tag119.xml"/></Relationships>
</file>

<file path=ppt/slides/_rels/slide30.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tags" Target="../tags/tag128.xml"/><Relationship Id="rId7" Type="http://schemas.openxmlformats.org/officeDocument/2006/relationships/tags" Target="../tags/tag127.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image" Target="../media/image29.png"/><Relationship Id="rId16" Type="http://schemas.openxmlformats.org/officeDocument/2006/relationships/slideLayout" Target="../slideLayouts/slideLayout7.xml"/><Relationship Id="rId15" Type="http://schemas.openxmlformats.org/officeDocument/2006/relationships/tags" Target="../tags/tag135.xml"/><Relationship Id="rId14" Type="http://schemas.openxmlformats.org/officeDocument/2006/relationships/tags" Target="../tags/tag134.xml"/><Relationship Id="rId13" Type="http://schemas.openxmlformats.org/officeDocument/2006/relationships/tags" Target="../tags/tag133.xml"/><Relationship Id="rId12" Type="http://schemas.openxmlformats.org/officeDocument/2006/relationships/tags" Target="../tags/tag132.xml"/><Relationship Id="rId11" Type="http://schemas.openxmlformats.org/officeDocument/2006/relationships/tags" Target="../tags/tag131.xml"/><Relationship Id="rId10" Type="http://schemas.openxmlformats.org/officeDocument/2006/relationships/tags" Target="../tags/tag130.xml"/><Relationship Id="rId1" Type="http://schemas.openxmlformats.org/officeDocument/2006/relationships/tags" Target="../tags/tag12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0.png"/><Relationship Id="rId1" Type="http://schemas.openxmlformats.org/officeDocument/2006/relationships/tags" Target="../tags/tag136.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7.xml"/><Relationship Id="rId1" Type="http://schemas.openxmlformats.org/officeDocument/2006/relationships/image" Target="../media/image31.png"/></Relationships>
</file>

<file path=ppt/slides/_rels/slide33.xml.rels><?xml version="1.0" encoding="UTF-8" standalone="yes"?>
<Relationships xmlns="http://schemas.openxmlformats.org/package/2006/relationships"><Relationship Id="rId9" Type="http://schemas.openxmlformats.org/officeDocument/2006/relationships/tags" Target="../tags/tag144.xml"/><Relationship Id="rId8" Type="http://schemas.openxmlformats.org/officeDocument/2006/relationships/tags" Target="../tags/tag143.xml"/><Relationship Id="rId7" Type="http://schemas.openxmlformats.org/officeDocument/2006/relationships/tags" Target="../tags/tag142.xml"/><Relationship Id="rId6" Type="http://schemas.openxmlformats.org/officeDocument/2006/relationships/tags" Target="../tags/tag141.xml"/><Relationship Id="rId5" Type="http://schemas.openxmlformats.org/officeDocument/2006/relationships/tags" Target="../tags/tag140.xml"/><Relationship Id="rId42" Type="http://schemas.openxmlformats.org/officeDocument/2006/relationships/slideLayout" Target="../slideLayouts/slideLayout7.xml"/><Relationship Id="rId41" Type="http://schemas.openxmlformats.org/officeDocument/2006/relationships/tags" Target="../tags/tag176.xml"/><Relationship Id="rId40" Type="http://schemas.openxmlformats.org/officeDocument/2006/relationships/tags" Target="../tags/tag175.xml"/><Relationship Id="rId4" Type="http://schemas.openxmlformats.org/officeDocument/2006/relationships/tags" Target="../tags/tag139.xml"/><Relationship Id="rId39" Type="http://schemas.openxmlformats.org/officeDocument/2006/relationships/tags" Target="../tags/tag174.xml"/><Relationship Id="rId38" Type="http://schemas.openxmlformats.org/officeDocument/2006/relationships/tags" Target="../tags/tag173.xml"/><Relationship Id="rId37" Type="http://schemas.openxmlformats.org/officeDocument/2006/relationships/tags" Target="../tags/tag172.xml"/><Relationship Id="rId36" Type="http://schemas.openxmlformats.org/officeDocument/2006/relationships/tags" Target="../tags/tag171.xml"/><Relationship Id="rId35" Type="http://schemas.openxmlformats.org/officeDocument/2006/relationships/tags" Target="../tags/tag170.xml"/><Relationship Id="rId34" Type="http://schemas.openxmlformats.org/officeDocument/2006/relationships/tags" Target="../tags/tag169.xml"/><Relationship Id="rId33" Type="http://schemas.openxmlformats.org/officeDocument/2006/relationships/tags" Target="../tags/tag168.xml"/><Relationship Id="rId32" Type="http://schemas.openxmlformats.org/officeDocument/2006/relationships/tags" Target="../tags/tag167.xml"/><Relationship Id="rId31" Type="http://schemas.openxmlformats.org/officeDocument/2006/relationships/tags" Target="../tags/tag166.xml"/><Relationship Id="rId30" Type="http://schemas.openxmlformats.org/officeDocument/2006/relationships/tags" Target="../tags/tag165.xml"/><Relationship Id="rId3" Type="http://schemas.openxmlformats.org/officeDocument/2006/relationships/image" Target="../media/image33.wmf"/><Relationship Id="rId29" Type="http://schemas.openxmlformats.org/officeDocument/2006/relationships/tags" Target="../tags/tag164.xml"/><Relationship Id="rId28" Type="http://schemas.openxmlformats.org/officeDocument/2006/relationships/tags" Target="../tags/tag163.xml"/><Relationship Id="rId27" Type="http://schemas.openxmlformats.org/officeDocument/2006/relationships/tags" Target="../tags/tag162.xml"/><Relationship Id="rId26" Type="http://schemas.openxmlformats.org/officeDocument/2006/relationships/tags" Target="../tags/tag161.xml"/><Relationship Id="rId25" Type="http://schemas.openxmlformats.org/officeDocument/2006/relationships/tags" Target="../tags/tag160.xml"/><Relationship Id="rId24" Type="http://schemas.openxmlformats.org/officeDocument/2006/relationships/tags" Target="../tags/tag159.xml"/><Relationship Id="rId23" Type="http://schemas.openxmlformats.org/officeDocument/2006/relationships/tags" Target="../tags/tag158.xml"/><Relationship Id="rId22" Type="http://schemas.openxmlformats.org/officeDocument/2006/relationships/tags" Target="../tags/tag157.xml"/><Relationship Id="rId21" Type="http://schemas.openxmlformats.org/officeDocument/2006/relationships/tags" Target="../tags/tag156.xml"/><Relationship Id="rId20" Type="http://schemas.openxmlformats.org/officeDocument/2006/relationships/tags" Target="../tags/tag155.xml"/><Relationship Id="rId2" Type="http://schemas.openxmlformats.org/officeDocument/2006/relationships/tags" Target="../tags/tag138.xml"/><Relationship Id="rId19" Type="http://schemas.openxmlformats.org/officeDocument/2006/relationships/tags" Target="../tags/tag154.xml"/><Relationship Id="rId18" Type="http://schemas.openxmlformats.org/officeDocument/2006/relationships/tags" Target="../tags/tag153.xml"/><Relationship Id="rId17" Type="http://schemas.openxmlformats.org/officeDocument/2006/relationships/tags" Target="../tags/tag152.xml"/><Relationship Id="rId16" Type="http://schemas.openxmlformats.org/officeDocument/2006/relationships/tags" Target="../tags/tag151.xml"/><Relationship Id="rId15" Type="http://schemas.openxmlformats.org/officeDocument/2006/relationships/tags" Target="../tags/tag150.xml"/><Relationship Id="rId14" Type="http://schemas.openxmlformats.org/officeDocument/2006/relationships/tags" Target="../tags/tag149.xml"/><Relationship Id="rId13" Type="http://schemas.openxmlformats.org/officeDocument/2006/relationships/tags" Target="../tags/tag148.xml"/><Relationship Id="rId12" Type="http://schemas.openxmlformats.org/officeDocument/2006/relationships/tags" Target="../tags/tag147.xml"/><Relationship Id="rId11" Type="http://schemas.openxmlformats.org/officeDocument/2006/relationships/tags" Target="../tags/tag146.xml"/><Relationship Id="rId10" Type="http://schemas.openxmlformats.org/officeDocument/2006/relationships/tags" Target="../tags/tag145.xml"/><Relationship Id="rId1" Type="http://schemas.openxmlformats.org/officeDocument/2006/relationships/image" Target="../media/image32.wmf"/></Relationships>
</file>

<file path=ppt/slides/_rels/slide34.xml.rels><?xml version="1.0" encoding="UTF-8" standalone="yes"?>
<Relationships xmlns="http://schemas.openxmlformats.org/package/2006/relationships"><Relationship Id="rId9" Type="http://schemas.openxmlformats.org/officeDocument/2006/relationships/tags" Target="../tags/tag184.xml"/><Relationship Id="rId8" Type="http://schemas.openxmlformats.org/officeDocument/2006/relationships/tags" Target="../tags/tag183.xml"/><Relationship Id="rId7" Type="http://schemas.openxmlformats.org/officeDocument/2006/relationships/tags" Target="../tags/tag182.xml"/><Relationship Id="rId6" Type="http://schemas.openxmlformats.org/officeDocument/2006/relationships/tags" Target="../tags/tag181.xml"/><Relationship Id="rId5" Type="http://schemas.openxmlformats.org/officeDocument/2006/relationships/tags" Target="../tags/tag180.xml"/><Relationship Id="rId4" Type="http://schemas.openxmlformats.org/officeDocument/2006/relationships/tags" Target="../tags/tag179.xml"/><Relationship Id="rId3" Type="http://schemas.openxmlformats.org/officeDocument/2006/relationships/image" Target="../media/image34.wmf"/><Relationship Id="rId25" Type="http://schemas.openxmlformats.org/officeDocument/2006/relationships/slideLayout" Target="../slideLayouts/slideLayout7.xml"/><Relationship Id="rId24" Type="http://schemas.openxmlformats.org/officeDocument/2006/relationships/image" Target="../media/image37.wmf"/><Relationship Id="rId23" Type="http://schemas.openxmlformats.org/officeDocument/2006/relationships/tags" Target="../tags/tag196.xml"/><Relationship Id="rId22" Type="http://schemas.openxmlformats.org/officeDocument/2006/relationships/image" Target="../media/image36.png"/><Relationship Id="rId21" Type="http://schemas.openxmlformats.org/officeDocument/2006/relationships/image" Target="../media/image35.wmf"/><Relationship Id="rId20" Type="http://schemas.openxmlformats.org/officeDocument/2006/relationships/tags" Target="../tags/tag195.xml"/><Relationship Id="rId2" Type="http://schemas.openxmlformats.org/officeDocument/2006/relationships/tags" Target="../tags/tag178.xml"/><Relationship Id="rId19" Type="http://schemas.openxmlformats.org/officeDocument/2006/relationships/tags" Target="../tags/tag194.xml"/><Relationship Id="rId18" Type="http://schemas.openxmlformats.org/officeDocument/2006/relationships/tags" Target="../tags/tag193.xml"/><Relationship Id="rId17" Type="http://schemas.openxmlformats.org/officeDocument/2006/relationships/tags" Target="../tags/tag192.xml"/><Relationship Id="rId16" Type="http://schemas.openxmlformats.org/officeDocument/2006/relationships/tags" Target="../tags/tag191.xml"/><Relationship Id="rId15" Type="http://schemas.openxmlformats.org/officeDocument/2006/relationships/tags" Target="../tags/tag190.xml"/><Relationship Id="rId14" Type="http://schemas.openxmlformats.org/officeDocument/2006/relationships/tags" Target="../tags/tag189.xml"/><Relationship Id="rId13" Type="http://schemas.openxmlformats.org/officeDocument/2006/relationships/tags" Target="../tags/tag188.xml"/><Relationship Id="rId12" Type="http://schemas.openxmlformats.org/officeDocument/2006/relationships/tags" Target="../tags/tag187.xml"/><Relationship Id="rId11" Type="http://schemas.openxmlformats.org/officeDocument/2006/relationships/tags" Target="../tags/tag186.xml"/><Relationship Id="rId10" Type="http://schemas.openxmlformats.org/officeDocument/2006/relationships/tags" Target="../tags/tag185.xml"/><Relationship Id="rId1" Type="http://schemas.openxmlformats.org/officeDocument/2006/relationships/tags" Target="../tags/tag177.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8.png"/><Relationship Id="rId1" Type="http://schemas.openxmlformats.org/officeDocument/2006/relationships/tags" Target="../tags/tag197.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9.png"/><Relationship Id="rId1" Type="http://schemas.openxmlformats.org/officeDocument/2006/relationships/tags" Target="../tags/tag198.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0.png"/><Relationship Id="rId1" Type="http://schemas.openxmlformats.org/officeDocument/2006/relationships/tags" Target="../tags/tag199.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1.wmf"/><Relationship Id="rId1" Type="http://schemas.openxmlformats.org/officeDocument/2006/relationships/tags" Target="../tags/tag200.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2.png"/><Relationship Id="rId1" Type="http://schemas.openxmlformats.org/officeDocument/2006/relationships/tags" Target="../tags/tag201.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3.png"/><Relationship Id="rId1" Type="http://schemas.openxmlformats.org/officeDocument/2006/relationships/tags" Target="../tags/tag202.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4.png"/><Relationship Id="rId1" Type="http://schemas.openxmlformats.org/officeDocument/2006/relationships/tags" Target="../tags/tag203.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5.png"/><Relationship Id="rId1" Type="http://schemas.openxmlformats.org/officeDocument/2006/relationships/tags" Target="../tags/tag204.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6.wmf"/><Relationship Id="rId1" Type="http://schemas.openxmlformats.org/officeDocument/2006/relationships/tags" Target="../tags/tag205.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7.png"/><Relationship Id="rId1" Type="http://schemas.openxmlformats.org/officeDocument/2006/relationships/tags" Target="../tags/tag206.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07.xml"/><Relationship Id="rId1" Type="http://schemas.openxmlformats.org/officeDocument/2006/relationships/image" Target="../media/image48.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9.wmf"/><Relationship Id="rId1" Type="http://schemas.openxmlformats.org/officeDocument/2006/relationships/tags" Target="../tags/tag208.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0.wmf"/><Relationship Id="rId1" Type="http://schemas.openxmlformats.org/officeDocument/2006/relationships/tags" Target="../tags/tag209.xml"/></Relationships>
</file>

<file path=ppt/slides/_rels/slide48.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215.xml"/><Relationship Id="rId6" Type="http://schemas.openxmlformats.org/officeDocument/2006/relationships/tags" Target="../tags/tag214.xml"/><Relationship Id="rId5" Type="http://schemas.openxmlformats.org/officeDocument/2006/relationships/tags" Target="../tags/tag213.xml"/><Relationship Id="rId4" Type="http://schemas.openxmlformats.org/officeDocument/2006/relationships/image" Target="../media/image51.png"/><Relationship Id="rId3" Type="http://schemas.openxmlformats.org/officeDocument/2006/relationships/tags" Target="../tags/tag212.xml"/><Relationship Id="rId2" Type="http://schemas.openxmlformats.org/officeDocument/2006/relationships/tags" Target="../tags/tag211.xml"/><Relationship Id="rId1" Type="http://schemas.openxmlformats.org/officeDocument/2006/relationships/tags" Target="../tags/tag2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16.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3.wmf"/><Relationship Id="rId1" Type="http://schemas.openxmlformats.org/officeDocument/2006/relationships/image" Target="../media/image52.wmf"/></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5.wmf"/><Relationship Id="rId1" Type="http://schemas.openxmlformats.org/officeDocument/2006/relationships/image" Target="../media/image54.w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6.w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7.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17.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8.wmf"/><Relationship Id="rId1" Type="http://schemas.openxmlformats.org/officeDocument/2006/relationships/tags" Target="../tags/tag218.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19.xml"/><Relationship Id="rId1" Type="http://schemas.openxmlformats.org/officeDocument/2006/relationships/image" Target="../media/image59.png"/></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1.wmf"/><Relationship Id="rId2" Type="http://schemas.openxmlformats.org/officeDocument/2006/relationships/tags" Target="../tags/tag220.xml"/><Relationship Id="rId1" Type="http://schemas.openxmlformats.org/officeDocument/2006/relationships/image" Target="../media/image60.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2.png"/><Relationship Id="rId1" Type="http://schemas.openxmlformats.org/officeDocument/2006/relationships/tags" Target="../tags/tag221.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3.png"/><Relationship Id="rId1" Type="http://schemas.openxmlformats.org/officeDocument/2006/relationships/tags" Target="../tags/tag222.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4.png"/><Relationship Id="rId1" Type="http://schemas.openxmlformats.org/officeDocument/2006/relationships/tags" Target="../tags/tag223.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5.png"/><Relationship Id="rId1" Type="http://schemas.openxmlformats.org/officeDocument/2006/relationships/tags" Target="../tags/tag224.xml"/></Relationships>
</file>

<file path=ppt/slides/_rels/slide6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229.xml"/><Relationship Id="rId4" Type="http://schemas.openxmlformats.org/officeDocument/2006/relationships/tags" Target="../tags/tag228.xml"/><Relationship Id="rId3" Type="http://schemas.openxmlformats.org/officeDocument/2006/relationships/tags" Target="../tags/tag227.xml"/><Relationship Id="rId2" Type="http://schemas.openxmlformats.org/officeDocument/2006/relationships/tags" Target="../tags/tag226.xml"/><Relationship Id="rId1" Type="http://schemas.openxmlformats.org/officeDocument/2006/relationships/tags" Target="../tags/tag225.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31.xml"/><Relationship Id="rId1" Type="http://schemas.openxmlformats.org/officeDocument/2006/relationships/tags" Target="../tags/tag230.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33.xml"/><Relationship Id="rId1" Type="http://schemas.openxmlformats.org/officeDocument/2006/relationships/tags" Target="../tags/tag232.xml"/></Relationships>
</file>

<file path=ppt/slides/_rels/slide6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236.xml"/><Relationship Id="rId2" Type="http://schemas.openxmlformats.org/officeDocument/2006/relationships/tags" Target="../tags/tag235.xml"/><Relationship Id="rId1" Type="http://schemas.openxmlformats.org/officeDocument/2006/relationships/tags" Target="../tags/tag234.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37.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38.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40.xml"/><Relationship Id="rId1" Type="http://schemas.openxmlformats.org/officeDocument/2006/relationships/tags" Target="../tags/tag239.xml"/></Relationships>
</file>

<file path=ppt/slides/_rels/slide7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66.png"/><Relationship Id="rId3" Type="http://schemas.openxmlformats.org/officeDocument/2006/relationships/tags" Target="../tags/tag243.xml"/><Relationship Id="rId2" Type="http://schemas.openxmlformats.org/officeDocument/2006/relationships/tags" Target="../tags/tag242.xml"/><Relationship Id="rId1" Type="http://schemas.openxmlformats.org/officeDocument/2006/relationships/tags" Target="../tags/tag24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44.xml"/><Relationship Id="rId1" Type="http://schemas.openxmlformats.org/officeDocument/2006/relationships/image" Target="../media/image67.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45.xml"/><Relationship Id="rId1" Type="http://schemas.openxmlformats.org/officeDocument/2006/relationships/image" Target="../media/image68.png"/></Relationships>
</file>

<file path=ppt/slides/_rels/slide77.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oleObject" Target="../embeddings/oleObject5.bin"/><Relationship Id="rId7" Type="http://schemas.openxmlformats.org/officeDocument/2006/relationships/tags" Target="../tags/tag248.xml"/><Relationship Id="rId6" Type="http://schemas.openxmlformats.org/officeDocument/2006/relationships/image" Target="../media/image70.wmf"/><Relationship Id="rId5" Type="http://schemas.openxmlformats.org/officeDocument/2006/relationships/oleObject" Target="../embeddings/oleObject4.bin"/><Relationship Id="rId4" Type="http://schemas.openxmlformats.org/officeDocument/2006/relationships/tags" Target="../tags/tag247.xml"/><Relationship Id="rId3" Type="http://schemas.openxmlformats.org/officeDocument/2006/relationships/image" Target="../media/image69.emf"/><Relationship Id="rId2" Type="http://schemas.openxmlformats.org/officeDocument/2006/relationships/oleObject" Target="../embeddings/oleObject3.bin"/><Relationship Id="rId16" Type="http://schemas.openxmlformats.org/officeDocument/2006/relationships/vmlDrawing" Target="../drawings/vmlDrawing2.vml"/><Relationship Id="rId15" Type="http://schemas.openxmlformats.org/officeDocument/2006/relationships/slideLayout" Target="../slideLayouts/slideLayout7.xml"/><Relationship Id="rId14" Type="http://schemas.openxmlformats.org/officeDocument/2006/relationships/image" Target="../media/image73.wmf"/><Relationship Id="rId13" Type="http://schemas.openxmlformats.org/officeDocument/2006/relationships/oleObject" Target="../embeddings/oleObject8.bin"/><Relationship Id="rId12" Type="http://schemas.openxmlformats.org/officeDocument/2006/relationships/image" Target="../media/image72.wmf"/><Relationship Id="rId11" Type="http://schemas.openxmlformats.org/officeDocument/2006/relationships/oleObject" Target="../embeddings/oleObject7.bin"/><Relationship Id="rId10" Type="http://schemas.openxmlformats.org/officeDocument/2006/relationships/image" Target="../media/image71.wmf"/><Relationship Id="rId1" Type="http://schemas.openxmlformats.org/officeDocument/2006/relationships/tags" Target="../tags/tag246.xml"/></Relationships>
</file>

<file path=ppt/slides/_rels/slide78.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74.wmf"/><Relationship Id="rId1" Type="http://schemas.openxmlformats.org/officeDocument/2006/relationships/oleObject" Target="../embeddings/oleObject9.bin"/></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5.png"/><Relationship Id="rId1" Type="http://schemas.openxmlformats.org/officeDocument/2006/relationships/tags" Target="../tags/tag249.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6.png"/><Relationship Id="rId1" Type="http://schemas.openxmlformats.org/officeDocument/2006/relationships/tags" Target="../tags/tag250.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7.png"/><Relationship Id="rId1" Type="http://schemas.openxmlformats.org/officeDocument/2006/relationships/tags" Target="../tags/tag251.xml"/></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52.xml"/><Relationship Id="rId1" Type="http://schemas.openxmlformats.org/officeDocument/2006/relationships/image" Target="../media/image78.png"/></Relationships>
</file>

<file path=ppt/slides/_rels/slide83.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7.xml"/><Relationship Id="rId6" Type="http://schemas.openxmlformats.org/officeDocument/2006/relationships/tags" Target="../tags/tag254.xml"/><Relationship Id="rId5" Type="http://schemas.openxmlformats.org/officeDocument/2006/relationships/image" Target="../media/image80.wmf"/><Relationship Id="rId4" Type="http://schemas.openxmlformats.org/officeDocument/2006/relationships/oleObject" Target="../embeddings/oleObject11.bin"/><Relationship Id="rId3" Type="http://schemas.openxmlformats.org/officeDocument/2006/relationships/image" Target="../media/image79.wmf"/><Relationship Id="rId2" Type="http://schemas.openxmlformats.org/officeDocument/2006/relationships/oleObject" Target="../embeddings/oleObject10.bin"/><Relationship Id="rId1" Type="http://schemas.openxmlformats.org/officeDocument/2006/relationships/tags" Target="../tags/tag25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1.png"/><Relationship Id="rId1" Type="http://schemas.openxmlformats.org/officeDocument/2006/relationships/tags" Target="../tags/tag255.xml"/></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2.png"/><Relationship Id="rId1" Type="http://schemas.openxmlformats.org/officeDocument/2006/relationships/tags" Target="../tags/tag256.xml"/></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3.png"/><Relationship Id="rId1" Type="http://schemas.openxmlformats.org/officeDocument/2006/relationships/tags" Target="../tags/tag257.xml"/></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4.png"/><Relationship Id="rId1" Type="http://schemas.openxmlformats.org/officeDocument/2006/relationships/tags" Target="../tags/tag258.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59.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60.xml"/></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5.png"/><Relationship Id="rId1" Type="http://schemas.openxmlformats.org/officeDocument/2006/relationships/tags" Target="../tags/tag261.xml"/></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62.xml"/><Relationship Id="rId1" Type="http://schemas.openxmlformats.org/officeDocument/2006/relationships/image" Target="../media/image86.png"/></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7.png"/><Relationship Id="rId1" Type="http://schemas.openxmlformats.org/officeDocument/2006/relationships/tags" Target="../tags/tag263.xml"/></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8.png"/><Relationship Id="rId1" Type="http://schemas.openxmlformats.org/officeDocument/2006/relationships/tags" Target="../tags/tag264.xml"/></Relationships>
</file>

<file path=ppt/slides/_rels/slide95.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89.emf"/><Relationship Id="rId1" Type="http://schemas.openxmlformats.org/officeDocument/2006/relationships/oleObject" Target="../embeddings/oleObject12.bin"/></Relationships>
</file>

<file path=ppt/slides/_rels/slide9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tags" Target="../tags/tag265.xml"/></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0.png"/><Relationship Id="rId1" Type="http://schemas.openxmlformats.org/officeDocument/2006/relationships/tags" Target="../tags/tag266.xml"/></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0.png"/><Relationship Id="rId1" Type="http://schemas.openxmlformats.org/officeDocument/2006/relationships/tags" Target="../tags/tag267.xml"/></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2.png"/><Relationship Id="rId1" Type="http://schemas.openxmlformats.org/officeDocument/2006/relationships/tags" Target="../tags/tag26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日期占位符 1"/>
          <p:cNvSpPr>
            <a:spLocks noGrp="1"/>
          </p:cNvSpPr>
          <p:nvPr>
            <p:ph type="dt" sz="quarter" idx="10"/>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C6F5651B-C759-4F1E-A990-1BAA68748BBF}" type="datetime3">
              <a:rPr lang="zh-CN" altLang="en-US" sz="1400" smtClean="0"/>
            </a:fld>
            <a:endParaRPr lang="en-US" altLang="zh-CN" sz="1400"/>
          </a:p>
        </p:txBody>
      </p:sp>
      <p:sp>
        <p:nvSpPr>
          <p:cNvPr id="4100" name="灯片编号占位符 3"/>
          <p:cNvSpPr>
            <a:spLocks noGrp="1"/>
          </p:cNvSpPr>
          <p:nvPr>
            <p:ph type="sldNum" sz="quarter" idx="12"/>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6856DFBA-C708-4270-9E7B-EA612EEC38AC}" type="slidenum">
              <a:rPr lang="en-US" altLang="zh-CN" sz="1400" smtClean="0"/>
            </a:fld>
            <a:endParaRPr lang="en-US" altLang="zh-CN" sz="1400"/>
          </a:p>
        </p:txBody>
      </p:sp>
      <p:sp>
        <p:nvSpPr>
          <p:cNvPr id="95234" name="Rectangle 1026"/>
          <p:cNvSpPr>
            <a:spLocks noChangeArrowheads="1"/>
          </p:cNvSpPr>
          <p:nvPr/>
        </p:nvSpPr>
        <p:spPr bwMode="auto">
          <a:xfrm>
            <a:off x="374650" y="1463675"/>
            <a:ext cx="8361363"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defTabSz="1177925">
              <a:tabLst>
                <a:tab pos="377825" algn="l"/>
                <a:tab pos="3530600" algn="l"/>
                <a:tab pos="4286250" algn="l"/>
                <a:tab pos="4959350" algn="l"/>
                <a:tab pos="5994400" algn="l"/>
              </a:tabLst>
              <a:defRPr kumimoji="1" sz="2800">
                <a:solidFill>
                  <a:schemeClr val="tx1"/>
                </a:solidFill>
                <a:latin typeface="Times New Roman" panose="02020603050405020304" pitchFamily="18" charset="0"/>
                <a:ea typeface="宋体" panose="02010600030101010101" pitchFamily="2" charset="-122"/>
              </a:defRPr>
            </a:lvl1pPr>
            <a:lvl2pPr marL="742950" indent="-285750" defTabSz="1177925">
              <a:tabLst>
                <a:tab pos="377825" algn="l"/>
                <a:tab pos="3530600" algn="l"/>
                <a:tab pos="4286250" algn="l"/>
                <a:tab pos="4959350" algn="l"/>
                <a:tab pos="5994400" algn="l"/>
              </a:tabLst>
              <a:defRPr kumimoji="1" sz="2800">
                <a:solidFill>
                  <a:schemeClr val="tx1"/>
                </a:solidFill>
                <a:latin typeface="Times New Roman" panose="02020603050405020304" pitchFamily="18" charset="0"/>
                <a:ea typeface="宋体" panose="02010600030101010101" pitchFamily="2" charset="-122"/>
              </a:defRPr>
            </a:lvl2pPr>
            <a:lvl3pPr marL="1143000" indent="-228600" defTabSz="1177925">
              <a:tabLst>
                <a:tab pos="377825" algn="l"/>
                <a:tab pos="3530600" algn="l"/>
                <a:tab pos="4286250" algn="l"/>
                <a:tab pos="4959350" algn="l"/>
                <a:tab pos="5994400" algn="l"/>
              </a:tabLst>
              <a:defRPr kumimoji="1" sz="2800">
                <a:solidFill>
                  <a:schemeClr val="tx1"/>
                </a:solidFill>
                <a:latin typeface="Times New Roman" panose="02020603050405020304" pitchFamily="18" charset="0"/>
                <a:ea typeface="宋体" panose="02010600030101010101" pitchFamily="2" charset="-122"/>
              </a:defRPr>
            </a:lvl3pPr>
            <a:lvl4pPr marL="1600200" indent="-228600" defTabSz="1177925">
              <a:tabLst>
                <a:tab pos="377825" algn="l"/>
                <a:tab pos="3530600" algn="l"/>
                <a:tab pos="4286250" algn="l"/>
                <a:tab pos="4959350" algn="l"/>
                <a:tab pos="5994400" algn="l"/>
              </a:tabLst>
              <a:defRPr kumimoji="1" sz="2800">
                <a:solidFill>
                  <a:schemeClr val="tx1"/>
                </a:solidFill>
                <a:latin typeface="Times New Roman" panose="02020603050405020304" pitchFamily="18" charset="0"/>
                <a:ea typeface="宋体" panose="02010600030101010101" pitchFamily="2" charset="-122"/>
              </a:defRPr>
            </a:lvl4pPr>
            <a:lvl5pPr marL="2057400" indent="-228600" defTabSz="1177925">
              <a:tabLst>
                <a:tab pos="377825" algn="l"/>
                <a:tab pos="3530600" algn="l"/>
                <a:tab pos="4286250" algn="l"/>
                <a:tab pos="4959350" algn="l"/>
                <a:tab pos="5994400" algn="l"/>
              </a:tabLst>
              <a:defRPr kumimoji="1" sz="2800">
                <a:solidFill>
                  <a:schemeClr val="tx1"/>
                </a:solidFill>
                <a:latin typeface="Times New Roman" panose="02020603050405020304" pitchFamily="18" charset="0"/>
                <a:ea typeface="宋体" panose="02010600030101010101" pitchFamily="2" charset="-122"/>
              </a:defRPr>
            </a:lvl5pPr>
            <a:lvl6pPr marL="2514600" indent="-228600" defTabSz="1177925" eaLnBrk="0" fontAlgn="base" hangingPunct="0">
              <a:spcBef>
                <a:spcPct val="0"/>
              </a:spcBef>
              <a:spcAft>
                <a:spcPct val="0"/>
              </a:spcAft>
              <a:tabLst>
                <a:tab pos="377825" algn="l"/>
                <a:tab pos="3530600" algn="l"/>
                <a:tab pos="4286250" algn="l"/>
                <a:tab pos="4959350" algn="l"/>
                <a:tab pos="5994400" algn="l"/>
              </a:tabLst>
              <a:defRPr kumimoji="1" sz="2800">
                <a:solidFill>
                  <a:schemeClr val="tx1"/>
                </a:solidFill>
                <a:latin typeface="Times New Roman" panose="02020603050405020304" pitchFamily="18" charset="0"/>
                <a:ea typeface="宋体" panose="02010600030101010101" pitchFamily="2" charset="-122"/>
              </a:defRPr>
            </a:lvl6pPr>
            <a:lvl7pPr marL="2971800" indent="-228600" defTabSz="1177925" eaLnBrk="0" fontAlgn="base" hangingPunct="0">
              <a:spcBef>
                <a:spcPct val="0"/>
              </a:spcBef>
              <a:spcAft>
                <a:spcPct val="0"/>
              </a:spcAft>
              <a:tabLst>
                <a:tab pos="377825" algn="l"/>
                <a:tab pos="3530600" algn="l"/>
                <a:tab pos="4286250" algn="l"/>
                <a:tab pos="4959350" algn="l"/>
                <a:tab pos="5994400" algn="l"/>
              </a:tabLst>
              <a:defRPr kumimoji="1" sz="2800">
                <a:solidFill>
                  <a:schemeClr val="tx1"/>
                </a:solidFill>
                <a:latin typeface="Times New Roman" panose="02020603050405020304" pitchFamily="18" charset="0"/>
                <a:ea typeface="宋体" panose="02010600030101010101" pitchFamily="2" charset="-122"/>
              </a:defRPr>
            </a:lvl7pPr>
            <a:lvl8pPr marL="3429000" indent="-228600" defTabSz="1177925" eaLnBrk="0" fontAlgn="base" hangingPunct="0">
              <a:spcBef>
                <a:spcPct val="0"/>
              </a:spcBef>
              <a:spcAft>
                <a:spcPct val="0"/>
              </a:spcAft>
              <a:tabLst>
                <a:tab pos="377825" algn="l"/>
                <a:tab pos="3530600" algn="l"/>
                <a:tab pos="4286250" algn="l"/>
                <a:tab pos="4959350" algn="l"/>
                <a:tab pos="5994400" algn="l"/>
              </a:tabLst>
              <a:defRPr kumimoji="1" sz="2800">
                <a:solidFill>
                  <a:schemeClr val="tx1"/>
                </a:solidFill>
                <a:latin typeface="Times New Roman" panose="02020603050405020304" pitchFamily="18" charset="0"/>
                <a:ea typeface="宋体" panose="02010600030101010101" pitchFamily="2" charset="-122"/>
              </a:defRPr>
            </a:lvl8pPr>
            <a:lvl9pPr marL="3886200" indent="-228600" defTabSz="1177925" eaLnBrk="0" fontAlgn="base" hangingPunct="0">
              <a:spcBef>
                <a:spcPct val="0"/>
              </a:spcBef>
              <a:spcAft>
                <a:spcPct val="0"/>
              </a:spcAft>
              <a:tabLst>
                <a:tab pos="377825" algn="l"/>
                <a:tab pos="3530600" algn="l"/>
                <a:tab pos="4286250" algn="l"/>
                <a:tab pos="4959350" algn="l"/>
                <a:tab pos="5994400" algn="l"/>
              </a:tabLs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4800" b="1" dirty="0">
                <a:solidFill>
                  <a:srgbClr val="0000FF"/>
                </a:solidFill>
                <a:ea typeface="华文新魏" panose="02010800040101010101" pitchFamily="2" charset="-122"/>
              </a:rPr>
              <a:t>数字电路与逻辑设计</a:t>
            </a:r>
            <a:r>
              <a:rPr lang="en-US" altLang="zh-CN" sz="4800" b="1" dirty="0">
                <a:solidFill>
                  <a:srgbClr val="0000FF"/>
                </a:solidFill>
                <a:ea typeface="华文新魏" panose="02010800040101010101" pitchFamily="2" charset="-122"/>
              </a:rPr>
              <a:t>B</a:t>
            </a:r>
            <a:endParaRPr lang="en-US" altLang="zh-CN" sz="4800" b="1" dirty="0">
              <a:solidFill>
                <a:srgbClr val="0000FF"/>
              </a:solidFill>
              <a:ea typeface="华文新魏" panose="02010800040101010101" pitchFamily="2" charset="-122"/>
            </a:endParaRPr>
          </a:p>
          <a:p>
            <a:pPr algn="ctr">
              <a:spcBef>
                <a:spcPct val="50000"/>
              </a:spcBef>
            </a:pPr>
            <a:r>
              <a:rPr lang="zh-CN" altLang="zh-CN" sz="4800" b="1" noProof="1">
                <a:solidFill>
                  <a:srgbClr val="0000FF"/>
                </a:solidFill>
                <a:ea typeface="华文新魏" panose="02010800040101010101" pitchFamily="2" charset="-122"/>
              </a:rPr>
              <a:t>期末</a:t>
            </a:r>
            <a:r>
              <a:rPr lang="zh-CN" altLang="zh-CN" sz="4800" b="1" noProof="1">
                <a:solidFill>
                  <a:srgbClr val="0000FF"/>
                </a:solidFill>
                <a:ea typeface="华文新魏" panose="02010800040101010101" pitchFamily="2" charset="-122"/>
              </a:rPr>
              <a:t>复习</a:t>
            </a:r>
            <a:endParaRPr lang="zh-CN" altLang="zh-CN" sz="4800" b="1" noProof="1">
              <a:solidFill>
                <a:srgbClr val="0000FF"/>
              </a:solidFill>
              <a:ea typeface="华文新魏" panose="02010800040101010101" pitchFamily="2" charset="-122"/>
            </a:endParaRPr>
          </a:p>
        </p:txBody>
      </p:sp>
      <p:sp>
        <p:nvSpPr>
          <p:cNvPr id="95235" name="Text Box 1027">
            <a:hlinkClick r:id="" action="ppaction://noaction"/>
          </p:cNvPr>
          <p:cNvSpPr txBox="1">
            <a:spLocks noChangeArrowheads="1"/>
          </p:cNvSpPr>
          <p:nvPr/>
        </p:nvSpPr>
        <p:spPr bwMode="auto">
          <a:xfrm>
            <a:off x="2500313" y="3189288"/>
            <a:ext cx="414337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600" b="1" u="sng" dirty="0">
                <a:solidFill>
                  <a:srgbClr val="FF0000"/>
                </a:solidFill>
                <a:latin typeface="隶书" panose="02010509060101010101" pitchFamily="49" charset="-122"/>
                <a:ea typeface="隶书" panose="02010509060101010101" pitchFamily="49" charset="-122"/>
              </a:rPr>
              <a:t>南京邮电大学</a:t>
            </a:r>
            <a:endParaRPr lang="zh-CN" altLang="en-US" sz="3600" b="1" u="sng" dirty="0">
              <a:solidFill>
                <a:srgbClr val="FF0000"/>
              </a:solidFill>
              <a:latin typeface="隶书" panose="02010509060101010101" pitchFamily="49" charset="-122"/>
              <a:ea typeface="隶书" panose="02010509060101010101" pitchFamily="49" charset="-122"/>
            </a:endParaRPr>
          </a:p>
        </p:txBody>
      </p:sp>
      <p:sp>
        <p:nvSpPr>
          <p:cNvPr id="231424" name="Text Box 2048">
            <a:hlinkClick r:id="" action="ppaction://noaction"/>
          </p:cNvPr>
          <p:cNvSpPr txBox="1">
            <a:spLocks noChangeArrowheads="1"/>
          </p:cNvSpPr>
          <p:nvPr/>
        </p:nvSpPr>
        <p:spPr bwMode="auto">
          <a:xfrm>
            <a:off x="940903" y="4197350"/>
            <a:ext cx="739471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600" b="1" u="sng" dirty="0">
                <a:solidFill>
                  <a:srgbClr val="FF0000"/>
                </a:solidFill>
                <a:latin typeface="隶书" panose="02010509060101010101" pitchFamily="49" charset="-122"/>
                <a:ea typeface="隶书" panose="02010509060101010101" pitchFamily="49" charset="-122"/>
              </a:rPr>
              <a:t>电子与光学工程学院</a:t>
            </a:r>
            <a:endParaRPr lang="zh-CN" altLang="en-US" sz="3600" b="1" u="sng" dirty="0">
              <a:solidFill>
                <a:srgbClr val="FF0000"/>
              </a:solidFill>
              <a:latin typeface="隶书" panose="02010509060101010101" pitchFamily="49" charset="-122"/>
              <a:ea typeface="隶书" panose="02010509060101010101" pitchFamily="49" charset="-122"/>
            </a:endParaRPr>
          </a:p>
        </p:txBody>
      </p:sp>
      <p:sp>
        <p:nvSpPr>
          <p:cNvPr id="231425" name="Text Box 2049">
            <a:hlinkClick r:id="" action="ppaction://noaction"/>
          </p:cNvPr>
          <p:cNvSpPr txBox="1">
            <a:spLocks noChangeArrowheads="1"/>
          </p:cNvSpPr>
          <p:nvPr/>
        </p:nvSpPr>
        <p:spPr bwMode="auto">
          <a:xfrm>
            <a:off x="2116773" y="4926013"/>
            <a:ext cx="485775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600" b="1" u="sng" dirty="0">
                <a:solidFill>
                  <a:srgbClr val="FF0000"/>
                </a:solidFill>
                <a:latin typeface="隶书" panose="02010509060101010101" pitchFamily="49" charset="-122"/>
                <a:ea typeface="隶书" panose="02010509060101010101" pitchFamily="49" charset="-122"/>
              </a:rPr>
              <a:t>臧裕斌</a:t>
            </a:r>
            <a:endParaRPr lang="zh-CN" altLang="en-US" sz="3600" b="1" u="sng" dirty="0">
              <a:solidFill>
                <a:srgbClr val="FF0000"/>
              </a:solidFill>
              <a:latin typeface="隶书" panose="02010509060101010101" pitchFamily="49" charset="-122"/>
              <a:ea typeface="隶书" panose="020105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bldLst>
      <p:bldP spid="95234" grpId="0" bldLvl="0" animBg="1" autoUpdateAnimBg="0"/>
      <p:bldP spid="95235" grpId="0" advAuto="0" autoUpdateAnimBg="0" build="p"/>
      <p:bldP spid="231424" grpId="0" advAuto="0" autoUpdateAnimBg="0" build="p"/>
      <p:bldP spid="231425" grpId="0" advAuto="0" autoUpdateAnimBg="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527770" y="1861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主题一 数制与码制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12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1.1 </a:t>
            </a:r>
            <a:r>
              <a:rPr kumimoji="0" lang="zh-CN" altLang="en-US" dirty="0">
                <a:solidFill>
                  <a:srgbClr val="000000"/>
                </a:solidFill>
                <a:latin typeface="黑体" panose="02010609060101010101" pitchFamily="49" charset="-122"/>
                <a:ea typeface="黑体" panose="02010609060101010101" pitchFamily="49" charset="-122"/>
              </a:rPr>
              <a:t>数制基本概念：</a:t>
            </a:r>
            <a:r>
              <a:rPr kumimoji="0" lang="zh-CN" altLang="en-US" dirty="0">
                <a:solidFill>
                  <a:srgbClr val="FF0000"/>
                </a:solidFill>
                <a:latin typeface="黑体" panose="02010609060101010101" pitchFamily="49" charset="-122"/>
                <a:ea typeface="黑体" panose="02010609060101010101" pitchFamily="49" charset="-122"/>
              </a:rPr>
              <a:t>计数规则 </a:t>
            </a:r>
            <a:endParaRPr kumimoji="0" lang="zh-CN" altLang="en-US" dirty="0">
              <a:solidFill>
                <a:srgbClr val="FF0000"/>
              </a:solidFill>
              <a:latin typeface="黑体" panose="02010609060101010101" pitchFamily="49" charset="-122"/>
              <a:ea typeface="黑体" panose="02010609060101010101" pitchFamily="49" charset="-122"/>
            </a:endParaRPr>
          </a:p>
        </p:txBody>
      </p:sp>
      <p:sp>
        <p:nvSpPr>
          <p:cNvPr id="2" name="Text Box 142"/>
          <p:cNvSpPr txBox="1">
            <a:spLocks noChangeArrowheads="1"/>
          </p:cNvSpPr>
          <p:nvPr/>
        </p:nvSpPr>
        <p:spPr bwMode="auto">
          <a:xfrm>
            <a:off x="517963" y="223247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1.3 </a:t>
            </a:r>
            <a:r>
              <a:rPr kumimoji="0" lang="zh-CN" altLang="en-US" dirty="0">
                <a:solidFill>
                  <a:srgbClr val="000000"/>
                </a:solidFill>
                <a:latin typeface="黑体" panose="02010609060101010101" pitchFamily="49" charset="-122"/>
                <a:ea typeface="黑体" panose="02010609060101010101" pitchFamily="49" charset="-122"/>
              </a:rPr>
              <a:t>常用数制</a:t>
            </a:r>
            <a:r>
              <a:rPr kumimoji="0" lang="zh-CN" altLang="en-US" dirty="0">
                <a:solidFill>
                  <a:srgbClr val="FF0000"/>
                </a:solidFill>
                <a:latin typeface="黑体" panose="02010609060101010101" pitchFamily="49" charset="-122"/>
                <a:ea typeface="黑体" panose="02010609060101010101" pitchFamily="49" charset="-122"/>
              </a:rPr>
              <a:t> </a:t>
            </a:r>
            <a:endParaRPr kumimoji="0" lang="zh-CN" altLang="en-US" dirty="0">
              <a:solidFill>
                <a:srgbClr val="FF0000"/>
              </a:solidFill>
              <a:latin typeface="黑体" panose="02010609060101010101" pitchFamily="49" charset="-122"/>
              <a:ea typeface="黑体" panose="02010609060101010101" pitchFamily="49" charset="-122"/>
            </a:endParaRPr>
          </a:p>
        </p:txBody>
      </p:sp>
      <p:sp>
        <p:nvSpPr>
          <p:cNvPr id="3" name="Text Box 142"/>
          <p:cNvSpPr txBox="1">
            <a:spLocks noChangeArrowheads="1"/>
          </p:cNvSpPr>
          <p:nvPr/>
        </p:nvSpPr>
        <p:spPr bwMode="auto">
          <a:xfrm>
            <a:off x="517963" y="163684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1.2 </a:t>
            </a:r>
            <a:r>
              <a:rPr kumimoji="0" lang="zh-CN" altLang="en-US" dirty="0">
                <a:solidFill>
                  <a:srgbClr val="000000"/>
                </a:solidFill>
                <a:latin typeface="黑体" panose="02010609060101010101" pitchFamily="49" charset="-122"/>
                <a:ea typeface="黑体" panose="02010609060101010101" pitchFamily="49" charset="-122"/>
              </a:rPr>
              <a:t>数制三要素：</a:t>
            </a:r>
            <a:r>
              <a:rPr kumimoji="0" lang="zh-CN" altLang="en-US" dirty="0">
                <a:solidFill>
                  <a:srgbClr val="FF0000"/>
                </a:solidFill>
                <a:latin typeface="黑体" panose="02010609060101010101" pitchFamily="49" charset="-122"/>
                <a:ea typeface="黑体" panose="02010609060101010101" pitchFamily="49" charset="-122"/>
              </a:rPr>
              <a:t>数码、位权、</a:t>
            </a:r>
            <a:r>
              <a:rPr kumimoji="0" lang="zh-CN" altLang="en-US" dirty="0">
                <a:solidFill>
                  <a:srgbClr val="FF0000"/>
                </a:solidFill>
                <a:latin typeface="黑体" panose="02010609060101010101" pitchFamily="49" charset="-122"/>
                <a:ea typeface="黑体" panose="02010609060101010101" pitchFamily="49" charset="-122"/>
              </a:rPr>
              <a:t>基数 </a:t>
            </a:r>
            <a:endParaRPr kumimoji="0" lang="zh-CN" altLang="en-US" dirty="0">
              <a:solidFill>
                <a:srgbClr val="FF0000"/>
              </a:solidFill>
              <a:latin typeface="黑体" panose="02010609060101010101" pitchFamily="49" charset="-122"/>
              <a:ea typeface="黑体" panose="02010609060101010101" pitchFamily="49" charset="-122"/>
            </a:endParaRPr>
          </a:p>
        </p:txBody>
      </p:sp>
      <p:graphicFrame>
        <p:nvGraphicFramePr>
          <p:cNvPr id="225403" name="Group 123"/>
          <p:cNvGraphicFramePr>
            <a:graphicFrameLocks noGrp="1"/>
          </p:cNvGraphicFramePr>
          <p:nvPr/>
        </p:nvGraphicFramePr>
        <p:xfrm>
          <a:off x="684213" y="2911475"/>
          <a:ext cx="7759700" cy="2698115"/>
        </p:xfrm>
        <a:graphic>
          <a:graphicData uri="http://schemas.openxmlformats.org/drawingml/2006/table">
            <a:tbl>
              <a:tblPr/>
              <a:tblGrid>
                <a:gridCol w="1644650"/>
                <a:gridCol w="1828800"/>
                <a:gridCol w="904875"/>
                <a:gridCol w="1055687"/>
                <a:gridCol w="2325688"/>
              </a:tblGrid>
              <a:tr h="576580">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zh-CN" altLang="en-US" sz="2400" b="1" i="0" u="none" strike="noStrike" cap="none" normalizeH="0" baseline="0">
                          <a:ln>
                            <a:noFill/>
                          </a:ln>
                          <a:solidFill>
                            <a:srgbClr val="000000"/>
                          </a:solidFill>
                          <a:effectLst/>
                          <a:latin typeface="Times New Roman" panose="02020603050405020304" pitchFamily="18" charset="0"/>
                          <a:ea typeface="楷体_GB2312" pitchFamily="49" charset="-122"/>
                        </a:rPr>
                        <a:t>计数制</a:t>
                      </a:r>
                      <a:endParaRPr kumimoji="1" lang="zh-CN" altLang="en-US" sz="2400" b="1"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T="45699" marB="4569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zh-CN" altLang="en-US" sz="2400" b="1" i="0" u="none" strike="noStrike" cap="none" normalizeH="0" baseline="0">
                          <a:ln>
                            <a:noFill/>
                          </a:ln>
                          <a:solidFill>
                            <a:srgbClr val="000000"/>
                          </a:solidFill>
                          <a:effectLst/>
                          <a:latin typeface="Times New Roman" panose="02020603050405020304" pitchFamily="18" charset="0"/>
                          <a:ea typeface="楷体_GB2312" pitchFamily="49" charset="-122"/>
                        </a:rPr>
                        <a:t>数码</a:t>
                      </a:r>
                      <a:endParaRPr kumimoji="1" lang="zh-CN" altLang="en-US" sz="2400" b="1"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T="45699" marB="4569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zh-CN" altLang="en-US" sz="2400" b="1" i="0" u="none" strike="noStrike" cap="none" normalizeH="0" baseline="0">
                          <a:ln>
                            <a:noFill/>
                          </a:ln>
                          <a:solidFill>
                            <a:srgbClr val="000000"/>
                          </a:solidFill>
                          <a:effectLst/>
                          <a:latin typeface="Times New Roman" panose="02020603050405020304" pitchFamily="18" charset="0"/>
                          <a:ea typeface="楷体_GB2312" pitchFamily="49" charset="-122"/>
                        </a:rPr>
                        <a:t>基数</a:t>
                      </a:r>
                      <a:endParaRPr kumimoji="1" lang="zh-CN" altLang="en-US" sz="2400" b="1"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T="45699" marB="4569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zh-CN" altLang="en-US" sz="2400" b="1" i="0" u="none" strike="noStrike" cap="none" normalizeH="0" baseline="0">
                          <a:ln>
                            <a:noFill/>
                          </a:ln>
                          <a:solidFill>
                            <a:srgbClr val="000000"/>
                          </a:solidFill>
                          <a:effectLst/>
                          <a:latin typeface="Times New Roman" panose="02020603050405020304" pitchFamily="18" charset="0"/>
                          <a:ea typeface="楷体_GB2312" pitchFamily="49" charset="-122"/>
                        </a:rPr>
                        <a:t>位权</a:t>
                      </a:r>
                      <a:endParaRPr kumimoji="1" lang="zh-CN" altLang="en-US" sz="2400" b="1"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zh-CN" altLang="en-US" sz="2400" b="1" i="0" u="none" strike="noStrike" cap="none" normalizeH="0" baseline="0">
                          <a:ln>
                            <a:noFill/>
                          </a:ln>
                          <a:solidFill>
                            <a:srgbClr val="000000"/>
                          </a:solidFill>
                          <a:effectLst/>
                          <a:latin typeface="Times New Roman" panose="02020603050405020304" pitchFamily="18" charset="0"/>
                          <a:ea typeface="楷体_GB2312" pitchFamily="49" charset="-122"/>
                        </a:rPr>
                        <a:t>举例</a:t>
                      </a:r>
                      <a:endParaRPr kumimoji="1" lang="zh-CN" altLang="en-US" sz="2400" b="1"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T="45699" marB="4569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30308">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zh-CN" altLang="en-US" sz="2400" b="1" i="0" u="none" strike="noStrike" cap="none" normalizeH="0" baseline="0">
                          <a:ln>
                            <a:noFill/>
                          </a:ln>
                          <a:solidFill>
                            <a:srgbClr val="000000"/>
                          </a:solidFill>
                          <a:effectLst/>
                          <a:latin typeface="Times New Roman" panose="02020603050405020304" pitchFamily="18" charset="0"/>
                          <a:ea typeface="楷体_GB2312" pitchFamily="49" charset="-122"/>
                        </a:rPr>
                        <a:t>十进制</a:t>
                      </a:r>
                      <a:endParaRPr kumimoji="1" lang="zh-CN" altLang="en-US" sz="2400" b="1"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T="45699" marB="4569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en-US" altLang="zh-CN" sz="2400" b="1" i="0" u="none" strike="noStrike" cap="none" normalizeH="0" baseline="0">
                          <a:ln>
                            <a:noFill/>
                          </a:ln>
                          <a:solidFill>
                            <a:srgbClr val="000000"/>
                          </a:solidFill>
                          <a:effectLst/>
                          <a:latin typeface="Times New Roman" panose="02020603050405020304" pitchFamily="18" charset="0"/>
                          <a:ea typeface="楷体_GB2312" pitchFamily="49" charset="-122"/>
                        </a:rPr>
                        <a:t>0~9</a:t>
                      </a:r>
                      <a:endParaRPr kumimoji="1" lang="en-US" altLang="zh-CN" sz="2400" b="1"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T="45699" marB="4569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en-US" altLang="zh-CN" sz="2400" b="1" i="0" u="none" strike="noStrike" cap="none" normalizeH="0" baseline="0">
                          <a:ln>
                            <a:noFill/>
                          </a:ln>
                          <a:solidFill>
                            <a:srgbClr val="000000"/>
                          </a:solidFill>
                          <a:effectLst/>
                          <a:latin typeface="Times New Roman" panose="02020603050405020304" pitchFamily="18" charset="0"/>
                          <a:ea typeface="楷体_GB2312" pitchFamily="49" charset="-122"/>
                        </a:rPr>
                        <a:t>10</a:t>
                      </a:r>
                      <a:endParaRPr kumimoji="1" lang="en-US" altLang="zh-CN" sz="2400" b="1"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T="45699" marB="4569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en-US" altLang="zh-CN" sz="2400" b="1" i="0" u="none" strike="noStrike" cap="none" normalizeH="0" baseline="0">
                          <a:ln>
                            <a:noFill/>
                          </a:ln>
                          <a:solidFill>
                            <a:srgbClr val="000000"/>
                          </a:solidFill>
                          <a:effectLst/>
                          <a:latin typeface="Times New Roman" panose="02020603050405020304" pitchFamily="18" charset="0"/>
                          <a:ea typeface="楷体_GB2312" pitchFamily="49" charset="-122"/>
                        </a:rPr>
                        <a:t>10</a:t>
                      </a:r>
                      <a:r>
                        <a:rPr kumimoji="1" lang="en-US" altLang="zh-CN" sz="2400" b="1" i="1" u="none" strike="noStrike" cap="none" normalizeH="0" baseline="30000">
                          <a:ln>
                            <a:noFill/>
                          </a:ln>
                          <a:solidFill>
                            <a:srgbClr val="000000"/>
                          </a:solidFill>
                          <a:effectLst/>
                          <a:latin typeface="Times New Roman" panose="02020603050405020304" pitchFamily="18" charset="0"/>
                          <a:ea typeface="楷体_GB2312" pitchFamily="49" charset="-122"/>
                        </a:rPr>
                        <a:t>i</a:t>
                      </a:r>
                      <a:endParaRPr kumimoji="1" lang="en-US" altLang="zh-CN" sz="2400" b="1" i="1" u="none" strike="noStrike" cap="none" normalizeH="0" baseline="30000">
                        <a:ln>
                          <a:noFill/>
                        </a:ln>
                        <a:solidFill>
                          <a:srgbClr val="000000"/>
                        </a:solidFill>
                        <a:effectLst/>
                        <a:latin typeface="Times New Roman" panose="02020603050405020304" pitchFamily="18" charset="0"/>
                        <a:ea typeface="楷体_GB2312" pitchFamily="49"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rPr>
                        <a:t>(123)</a:t>
                      </a:r>
                      <a:r>
                        <a:rPr kumimoji="1" lang="en-US" altLang="zh-CN" sz="1800" b="1" i="0" u="none" strike="noStrike" cap="none" normalizeH="0" baseline="-25000">
                          <a:ln>
                            <a:noFill/>
                          </a:ln>
                          <a:solidFill>
                            <a:srgbClr val="000000"/>
                          </a:solidFill>
                          <a:effectLst/>
                          <a:latin typeface="Times New Roman" panose="02020603050405020304" pitchFamily="18" charset="0"/>
                          <a:ea typeface="楷体_GB2312" pitchFamily="49" charset="-122"/>
                        </a:rPr>
                        <a:t>10    </a:t>
                      </a:r>
                      <a:r>
                        <a:rPr kumimoji="1" lang="zh-CN" altLang="en-US" sz="1800" b="1" i="0" u="none" strike="noStrike" cap="none" normalizeH="0" baseline="0">
                          <a:ln>
                            <a:noFill/>
                          </a:ln>
                          <a:solidFill>
                            <a:srgbClr val="000000"/>
                          </a:solidFill>
                          <a:effectLst/>
                          <a:latin typeface="Times New Roman" panose="02020603050405020304" pitchFamily="18" charset="0"/>
                          <a:ea typeface="楷体_GB2312" pitchFamily="49" charset="-122"/>
                        </a:rPr>
                        <a:t>（</a:t>
                      </a:r>
                      <a:r>
                        <a:rPr kumimoji="1"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rPr>
                        <a:t>456.321</a:t>
                      </a:r>
                      <a:r>
                        <a:rPr kumimoji="1" lang="zh-CN" altLang="en-US" sz="1800" b="1" i="0" u="none" strike="noStrike" cap="none" normalizeH="0" baseline="0">
                          <a:ln>
                            <a:noFill/>
                          </a:ln>
                          <a:solidFill>
                            <a:srgbClr val="000000"/>
                          </a:solidFill>
                          <a:effectLst/>
                          <a:latin typeface="Times New Roman" panose="02020603050405020304" pitchFamily="18" charset="0"/>
                          <a:ea typeface="楷体_GB2312" pitchFamily="49" charset="-122"/>
                        </a:rPr>
                        <a:t>）</a:t>
                      </a:r>
                      <a:r>
                        <a:rPr kumimoji="1" lang="en-US" altLang="zh-CN" sz="1800" b="1" i="0" u="none" strike="noStrike" cap="none" normalizeH="0" baseline="-25000">
                          <a:ln>
                            <a:noFill/>
                          </a:ln>
                          <a:solidFill>
                            <a:srgbClr val="000000"/>
                          </a:solidFill>
                          <a:effectLst/>
                          <a:latin typeface="Times New Roman" panose="02020603050405020304" pitchFamily="18" charset="0"/>
                          <a:ea typeface="楷体_GB2312" pitchFamily="49" charset="-122"/>
                        </a:rPr>
                        <a:t>D</a:t>
                      </a:r>
                      <a:endParaRPr kumimoji="1" lang="en-US" altLang="zh-CN" sz="1800" b="1" i="0" u="none" strike="noStrike" cap="none" normalizeH="0" baseline="-25000">
                        <a:ln>
                          <a:noFill/>
                        </a:ln>
                        <a:solidFill>
                          <a:srgbClr val="000000"/>
                        </a:solidFill>
                        <a:effectLst/>
                        <a:latin typeface="Times New Roman" panose="02020603050405020304" pitchFamily="18" charset="0"/>
                        <a:ea typeface="楷体_GB2312" pitchFamily="49" charset="-122"/>
                      </a:endParaRPr>
                    </a:p>
                  </a:txBody>
                  <a:tcPr marT="45699" marB="4569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30308">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zh-CN" altLang="en-US" sz="2400" b="1" i="0" u="none" strike="noStrike" cap="none" normalizeH="0" baseline="0">
                          <a:ln>
                            <a:noFill/>
                          </a:ln>
                          <a:solidFill>
                            <a:srgbClr val="000000"/>
                          </a:solidFill>
                          <a:effectLst/>
                          <a:latin typeface="Times New Roman" panose="02020603050405020304" pitchFamily="18" charset="0"/>
                          <a:ea typeface="楷体_GB2312" pitchFamily="49" charset="-122"/>
                        </a:rPr>
                        <a:t>二进制</a:t>
                      </a:r>
                      <a:endParaRPr kumimoji="1" lang="zh-CN" altLang="en-US" sz="2400" b="1"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T="45699" marB="4569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en-US" altLang="zh-CN" sz="2400" b="1" i="0" u="none" strike="noStrike" cap="none" normalizeH="0" baseline="0">
                          <a:ln>
                            <a:noFill/>
                          </a:ln>
                          <a:solidFill>
                            <a:srgbClr val="000000"/>
                          </a:solidFill>
                          <a:effectLst/>
                          <a:latin typeface="Times New Roman" panose="02020603050405020304" pitchFamily="18" charset="0"/>
                          <a:ea typeface="楷体_GB2312" pitchFamily="49" charset="-122"/>
                        </a:rPr>
                        <a:t>0</a:t>
                      </a:r>
                      <a:r>
                        <a:rPr kumimoji="1" lang="zh-CN" altLang="en-US" sz="2400" b="1" i="0" u="none" strike="noStrike" cap="none" normalizeH="0" baseline="0">
                          <a:ln>
                            <a:noFill/>
                          </a:ln>
                          <a:solidFill>
                            <a:srgbClr val="000000"/>
                          </a:solidFill>
                          <a:effectLst/>
                          <a:latin typeface="Times New Roman" panose="02020603050405020304" pitchFamily="18" charset="0"/>
                          <a:ea typeface="楷体_GB2312" pitchFamily="49" charset="-122"/>
                        </a:rPr>
                        <a:t>、</a:t>
                      </a:r>
                      <a:r>
                        <a:rPr kumimoji="1" lang="en-US" altLang="zh-CN" sz="2400" b="1" i="0" u="none" strike="noStrike" cap="none" normalizeH="0" baseline="0">
                          <a:ln>
                            <a:noFill/>
                          </a:ln>
                          <a:solidFill>
                            <a:srgbClr val="000000"/>
                          </a:solidFill>
                          <a:effectLst/>
                          <a:latin typeface="Times New Roman" panose="02020603050405020304" pitchFamily="18" charset="0"/>
                          <a:ea typeface="楷体_GB2312" pitchFamily="49" charset="-122"/>
                        </a:rPr>
                        <a:t>1</a:t>
                      </a:r>
                      <a:endParaRPr kumimoji="1" lang="en-US" altLang="zh-CN" sz="2400" b="1"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T="45699" marB="4569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en-US" altLang="zh-CN" sz="2400" b="1" i="0" u="none" strike="noStrike" cap="none" normalizeH="0" baseline="0">
                          <a:ln>
                            <a:noFill/>
                          </a:ln>
                          <a:solidFill>
                            <a:srgbClr val="000000"/>
                          </a:solidFill>
                          <a:effectLst/>
                          <a:latin typeface="Times New Roman" panose="02020603050405020304" pitchFamily="18" charset="0"/>
                          <a:ea typeface="楷体_GB2312" pitchFamily="49" charset="-122"/>
                        </a:rPr>
                        <a:t>2</a:t>
                      </a:r>
                      <a:endParaRPr kumimoji="1" lang="en-US" altLang="zh-CN" sz="2400" b="1"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T="45699" marB="4569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en-US" altLang="zh-CN" sz="2400" b="1" i="0" u="none" strike="noStrike" cap="none" normalizeH="0" baseline="0">
                          <a:ln>
                            <a:noFill/>
                          </a:ln>
                          <a:solidFill>
                            <a:srgbClr val="000000"/>
                          </a:solidFill>
                          <a:effectLst/>
                          <a:latin typeface="Times New Roman" panose="02020603050405020304" pitchFamily="18" charset="0"/>
                          <a:ea typeface="楷体_GB2312" pitchFamily="49" charset="-122"/>
                        </a:rPr>
                        <a:t>2</a:t>
                      </a:r>
                      <a:r>
                        <a:rPr kumimoji="1" lang="en-US" altLang="zh-CN" sz="2400" b="1" i="1" u="none" strike="noStrike" cap="none" normalizeH="0" baseline="30000">
                          <a:ln>
                            <a:noFill/>
                          </a:ln>
                          <a:solidFill>
                            <a:srgbClr val="000000"/>
                          </a:solidFill>
                          <a:effectLst/>
                          <a:latin typeface="Times New Roman" panose="02020603050405020304" pitchFamily="18" charset="0"/>
                          <a:ea typeface="楷体_GB2312" pitchFamily="49" charset="-122"/>
                        </a:rPr>
                        <a:t>i</a:t>
                      </a:r>
                      <a:endParaRPr kumimoji="1" lang="en-US" altLang="zh-CN" sz="2400" b="1" i="1" u="none" strike="noStrike" cap="none" normalizeH="0" baseline="30000">
                        <a:ln>
                          <a:noFill/>
                        </a:ln>
                        <a:solidFill>
                          <a:srgbClr val="000000"/>
                        </a:solidFill>
                        <a:effectLst/>
                        <a:latin typeface="Times New Roman" panose="02020603050405020304" pitchFamily="18" charset="0"/>
                        <a:ea typeface="楷体_GB2312" pitchFamily="49"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rPr>
                        <a:t>(1010)</a:t>
                      </a:r>
                      <a:r>
                        <a:rPr kumimoji="1" lang="en-US" altLang="zh-CN" sz="1800" b="1" i="0" u="none" strike="noStrike" cap="none" normalizeH="0" baseline="-25000">
                          <a:ln>
                            <a:noFill/>
                          </a:ln>
                          <a:solidFill>
                            <a:srgbClr val="000000"/>
                          </a:solidFill>
                          <a:effectLst/>
                          <a:latin typeface="Times New Roman" panose="02020603050405020304" pitchFamily="18" charset="0"/>
                          <a:ea typeface="楷体_GB2312" pitchFamily="49" charset="-122"/>
                        </a:rPr>
                        <a:t>2</a:t>
                      </a:r>
                      <a:r>
                        <a:rPr kumimoji="1"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rPr>
                        <a:t>  (1001.101)</a:t>
                      </a:r>
                      <a:r>
                        <a:rPr kumimoji="1" lang="en-US" altLang="zh-CN" sz="1800" b="1" i="0" u="none" strike="noStrike" cap="none" normalizeH="0" baseline="-25000">
                          <a:ln>
                            <a:noFill/>
                          </a:ln>
                          <a:solidFill>
                            <a:srgbClr val="000000"/>
                          </a:solidFill>
                          <a:effectLst/>
                          <a:latin typeface="Times New Roman" panose="02020603050405020304" pitchFamily="18" charset="0"/>
                          <a:ea typeface="楷体_GB2312" pitchFamily="49" charset="-122"/>
                        </a:rPr>
                        <a:t>B</a:t>
                      </a:r>
                      <a:endParaRPr kumimoji="1" lang="en-US" altLang="zh-CN" sz="1800" b="1" i="0" u="none" strike="noStrike" cap="none" normalizeH="0" baseline="-25000">
                        <a:ln>
                          <a:noFill/>
                        </a:ln>
                        <a:solidFill>
                          <a:srgbClr val="000000"/>
                        </a:solidFill>
                        <a:effectLst/>
                        <a:latin typeface="Times New Roman" panose="02020603050405020304" pitchFamily="18" charset="0"/>
                        <a:ea typeface="楷体_GB2312" pitchFamily="49" charset="-122"/>
                      </a:endParaRPr>
                    </a:p>
                  </a:txBody>
                  <a:tcPr marT="45699" marB="4569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30308">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zh-CN" altLang="en-US" sz="2400" b="1" i="0" u="none" strike="noStrike" cap="none" normalizeH="0" baseline="0">
                          <a:ln>
                            <a:noFill/>
                          </a:ln>
                          <a:solidFill>
                            <a:srgbClr val="000000"/>
                          </a:solidFill>
                          <a:effectLst/>
                          <a:latin typeface="Times New Roman" panose="02020603050405020304" pitchFamily="18" charset="0"/>
                          <a:ea typeface="楷体_GB2312" pitchFamily="49" charset="-122"/>
                        </a:rPr>
                        <a:t>八进制</a:t>
                      </a:r>
                      <a:endParaRPr kumimoji="1" lang="zh-CN" altLang="en-US" sz="2400" b="1"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T="45699" marB="4569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en-US" altLang="zh-CN" sz="2400" b="1" i="0" u="none" strike="noStrike" cap="none" normalizeH="0" baseline="0">
                          <a:ln>
                            <a:noFill/>
                          </a:ln>
                          <a:solidFill>
                            <a:srgbClr val="000000"/>
                          </a:solidFill>
                          <a:effectLst/>
                          <a:latin typeface="Times New Roman" panose="02020603050405020304" pitchFamily="18" charset="0"/>
                          <a:ea typeface="楷体_GB2312" pitchFamily="49" charset="-122"/>
                        </a:rPr>
                        <a:t>0~7</a:t>
                      </a:r>
                      <a:endParaRPr kumimoji="1" lang="en-US" altLang="zh-CN" sz="2400" b="1"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T="45699" marB="4569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en-US" altLang="zh-CN" sz="2400" b="1" i="0" u="none" strike="noStrike" cap="none" normalizeH="0" baseline="0">
                          <a:ln>
                            <a:noFill/>
                          </a:ln>
                          <a:solidFill>
                            <a:srgbClr val="000000"/>
                          </a:solidFill>
                          <a:effectLst/>
                          <a:latin typeface="Times New Roman" panose="02020603050405020304" pitchFamily="18" charset="0"/>
                          <a:ea typeface="楷体_GB2312" pitchFamily="49" charset="-122"/>
                        </a:rPr>
                        <a:t>8</a:t>
                      </a:r>
                      <a:endParaRPr kumimoji="1" lang="en-US" altLang="zh-CN" sz="2400" b="1"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T="45699" marB="4569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en-US" altLang="zh-CN" sz="2400" b="1" i="0" u="none" strike="noStrike" cap="none" normalizeH="0" baseline="0">
                          <a:ln>
                            <a:noFill/>
                          </a:ln>
                          <a:solidFill>
                            <a:srgbClr val="000000"/>
                          </a:solidFill>
                          <a:effectLst/>
                          <a:latin typeface="Times New Roman" panose="02020603050405020304" pitchFamily="18" charset="0"/>
                          <a:ea typeface="楷体_GB2312" pitchFamily="49" charset="-122"/>
                        </a:rPr>
                        <a:t>8</a:t>
                      </a:r>
                      <a:r>
                        <a:rPr kumimoji="1" lang="en-US" altLang="zh-CN" sz="2400" b="1" i="1" u="none" strike="noStrike" cap="none" normalizeH="0" baseline="30000">
                          <a:ln>
                            <a:noFill/>
                          </a:ln>
                          <a:solidFill>
                            <a:srgbClr val="000000"/>
                          </a:solidFill>
                          <a:effectLst/>
                          <a:latin typeface="Times New Roman" panose="02020603050405020304" pitchFamily="18" charset="0"/>
                          <a:ea typeface="楷体_GB2312" pitchFamily="49" charset="-122"/>
                        </a:rPr>
                        <a:t>i</a:t>
                      </a:r>
                      <a:endParaRPr kumimoji="1" lang="en-US" altLang="zh-CN" sz="2400" b="1" i="1" u="none" strike="noStrike" cap="none" normalizeH="0" baseline="30000">
                        <a:ln>
                          <a:noFill/>
                        </a:ln>
                        <a:solidFill>
                          <a:srgbClr val="000000"/>
                        </a:solidFill>
                        <a:effectLst/>
                        <a:latin typeface="Times New Roman" panose="02020603050405020304" pitchFamily="18" charset="0"/>
                        <a:ea typeface="楷体_GB2312" pitchFamily="49"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rPr>
                        <a:t>(567)</a:t>
                      </a:r>
                      <a:r>
                        <a:rPr kumimoji="1" lang="en-US" altLang="zh-CN" sz="1800" b="1" i="0" u="none" strike="noStrike" cap="none" normalizeH="0" baseline="-25000">
                          <a:ln>
                            <a:noFill/>
                          </a:ln>
                          <a:solidFill>
                            <a:srgbClr val="000000"/>
                          </a:solidFill>
                          <a:effectLst/>
                          <a:latin typeface="Times New Roman" panose="02020603050405020304" pitchFamily="18" charset="0"/>
                          <a:ea typeface="楷体_GB2312" pitchFamily="49" charset="-122"/>
                        </a:rPr>
                        <a:t>8</a:t>
                      </a:r>
                      <a:r>
                        <a:rPr kumimoji="1"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rPr>
                        <a:t>    (745.217)</a:t>
                      </a:r>
                      <a:r>
                        <a:rPr kumimoji="1" lang="en-US" altLang="zh-CN" sz="1800" b="1" i="0" u="none" strike="noStrike" cap="none" normalizeH="0" baseline="-25000">
                          <a:ln>
                            <a:noFill/>
                          </a:ln>
                          <a:solidFill>
                            <a:srgbClr val="000000"/>
                          </a:solidFill>
                          <a:effectLst/>
                          <a:latin typeface="Times New Roman" panose="02020603050405020304" pitchFamily="18" charset="0"/>
                          <a:ea typeface="楷体_GB2312" pitchFamily="49" charset="-122"/>
                        </a:rPr>
                        <a:t>O</a:t>
                      </a:r>
                      <a:endParaRPr kumimoji="1" lang="en-US" altLang="zh-CN" sz="1800" b="1" i="0" u="none" strike="noStrike" cap="none" normalizeH="0" baseline="-25000">
                        <a:ln>
                          <a:noFill/>
                        </a:ln>
                        <a:solidFill>
                          <a:srgbClr val="000000"/>
                        </a:solidFill>
                        <a:effectLst/>
                        <a:latin typeface="Times New Roman" panose="02020603050405020304" pitchFamily="18" charset="0"/>
                        <a:ea typeface="楷体_GB2312" pitchFamily="49" charset="-122"/>
                      </a:endParaRPr>
                    </a:p>
                  </a:txBody>
                  <a:tcPr marT="45699" marB="4569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530308">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zh-CN" altLang="en-US" sz="2400" b="1" i="0" u="none" strike="noStrike" cap="none" normalizeH="0" baseline="0">
                          <a:ln>
                            <a:noFill/>
                          </a:ln>
                          <a:solidFill>
                            <a:srgbClr val="000000"/>
                          </a:solidFill>
                          <a:effectLst/>
                          <a:latin typeface="Times New Roman" panose="02020603050405020304" pitchFamily="18" charset="0"/>
                          <a:ea typeface="楷体_GB2312" pitchFamily="49" charset="-122"/>
                        </a:rPr>
                        <a:t>十六进制</a:t>
                      </a:r>
                      <a:endParaRPr kumimoji="1" lang="zh-CN" altLang="en-US" sz="2400" b="1"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T="45699" marB="4569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en-US" altLang="zh-CN" sz="2400" b="1" i="0" u="none" strike="noStrike" cap="none" normalizeH="0" baseline="0">
                          <a:ln>
                            <a:noFill/>
                          </a:ln>
                          <a:solidFill>
                            <a:srgbClr val="000000"/>
                          </a:solidFill>
                          <a:effectLst/>
                          <a:latin typeface="Times New Roman" panose="02020603050405020304" pitchFamily="18" charset="0"/>
                          <a:ea typeface="楷体_GB2312" pitchFamily="49" charset="-122"/>
                        </a:rPr>
                        <a:t>0~9</a:t>
                      </a:r>
                      <a:r>
                        <a:rPr kumimoji="1" lang="zh-CN" altLang="en-US" sz="2400" b="1" i="0" u="none" strike="noStrike" cap="none" normalizeH="0" baseline="0">
                          <a:ln>
                            <a:noFill/>
                          </a:ln>
                          <a:solidFill>
                            <a:srgbClr val="000000"/>
                          </a:solidFill>
                          <a:effectLst/>
                          <a:latin typeface="Times New Roman" panose="02020603050405020304" pitchFamily="18" charset="0"/>
                          <a:ea typeface="楷体_GB2312" pitchFamily="49" charset="-122"/>
                        </a:rPr>
                        <a:t>、</a:t>
                      </a:r>
                      <a:r>
                        <a:rPr kumimoji="1" lang="en-US" altLang="zh-CN" sz="2400" b="1" i="0" u="none" strike="noStrike" cap="none" normalizeH="0" baseline="0">
                          <a:ln>
                            <a:noFill/>
                          </a:ln>
                          <a:solidFill>
                            <a:srgbClr val="000000"/>
                          </a:solidFill>
                          <a:effectLst/>
                          <a:latin typeface="Times New Roman" panose="02020603050405020304" pitchFamily="18" charset="0"/>
                          <a:ea typeface="楷体_GB2312" pitchFamily="49" charset="-122"/>
                        </a:rPr>
                        <a:t>A~F</a:t>
                      </a:r>
                      <a:endParaRPr kumimoji="1" lang="en-US" altLang="zh-CN" sz="2400" b="1"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T="45699" marB="4569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en-US" altLang="zh-CN" sz="2400" b="1" i="0" u="none" strike="noStrike" cap="none" normalizeH="0" baseline="0">
                          <a:ln>
                            <a:noFill/>
                          </a:ln>
                          <a:solidFill>
                            <a:srgbClr val="000000"/>
                          </a:solidFill>
                          <a:effectLst/>
                          <a:latin typeface="Times New Roman" panose="02020603050405020304" pitchFamily="18" charset="0"/>
                          <a:ea typeface="楷体_GB2312" pitchFamily="49" charset="-122"/>
                        </a:rPr>
                        <a:t>16</a:t>
                      </a:r>
                      <a:endParaRPr kumimoji="1" lang="en-US" altLang="zh-CN" sz="2400" b="1" i="0" u="none" strike="noStrike" cap="none" normalizeH="0" baseline="0">
                        <a:ln>
                          <a:noFill/>
                        </a:ln>
                        <a:solidFill>
                          <a:srgbClr val="000000"/>
                        </a:solidFill>
                        <a:effectLst/>
                        <a:latin typeface="Times New Roman" panose="02020603050405020304" pitchFamily="18" charset="0"/>
                        <a:ea typeface="楷体_GB2312" pitchFamily="49" charset="-122"/>
                      </a:endParaRPr>
                    </a:p>
                  </a:txBody>
                  <a:tcPr marT="45699" marB="45699"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en-US" altLang="zh-CN" sz="2400" b="1" i="0" u="none" strike="noStrike" cap="none" normalizeH="0" baseline="0">
                          <a:ln>
                            <a:noFill/>
                          </a:ln>
                          <a:solidFill>
                            <a:srgbClr val="000000"/>
                          </a:solidFill>
                          <a:effectLst/>
                          <a:latin typeface="Times New Roman" panose="02020603050405020304" pitchFamily="18" charset="0"/>
                          <a:ea typeface="楷体_GB2312" pitchFamily="49" charset="-122"/>
                        </a:rPr>
                        <a:t>16</a:t>
                      </a:r>
                      <a:r>
                        <a:rPr kumimoji="1" lang="en-US" altLang="zh-CN" sz="2400" b="1" i="1" u="none" strike="noStrike" cap="none" normalizeH="0" baseline="30000">
                          <a:ln>
                            <a:noFill/>
                          </a:ln>
                          <a:solidFill>
                            <a:srgbClr val="000000"/>
                          </a:solidFill>
                          <a:effectLst/>
                          <a:latin typeface="Times New Roman" panose="02020603050405020304" pitchFamily="18" charset="0"/>
                          <a:ea typeface="楷体_GB2312" pitchFamily="49" charset="-122"/>
                        </a:rPr>
                        <a:t>i</a:t>
                      </a:r>
                      <a:endParaRPr kumimoji="1" lang="en-US" altLang="zh-CN" sz="2400" b="1" i="1" u="none" strike="noStrike" cap="none" normalizeH="0" baseline="30000">
                        <a:ln>
                          <a:noFill/>
                        </a:ln>
                        <a:solidFill>
                          <a:srgbClr val="000000"/>
                        </a:solidFill>
                        <a:effectLst/>
                        <a:latin typeface="Times New Roman" panose="02020603050405020304" pitchFamily="18" charset="0"/>
                        <a:ea typeface="楷体_GB2312" pitchFamily="49"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p>
                      <a:pPr marL="0" marR="0" lvl="0" indent="0" algn="ctr" defTabSz="914400" rtl="0" eaLnBrk="1" fontAlgn="base" latinLnBrk="0" hangingPunct="1">
                        <a:lnSpc>
                          <a:spcPct val="120000"/>
                        </a:lnSpc>
                        <a:spcBef>
                          <a:spcPct val="20000"/>
                        </a:spcBef>
                        <a:spcAft>
                          <a:spcPct val="0"/>
                        </a:spcAft>
                        <a:buClrTx/>
                        <a:buSzTx/>
                        <a:buFontTx/>
                        <a:buNone/>
                      </a:pPr>
                      <a:r>
                        <a:rPr kumimoji="1"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rPr>
                        <a:t>(2A2B)</a:t>
                      </a:r>
                      <a:r>
                        <a:rPr kumimoji="1" lang="en-US" altLang="zh-CN" sz="1800" b="1" i="0" u="none" strike="noStrike" cap="none" normalizeH="0" baseline="-25000">
                          <a:ln>
                            <a:noFill/>
                          </a:ln>
                          <a:solidFill>
                            <a:srgbClr val="000000"/>
                          </a:solidFill>
                          <a:effectLst/>
                          <a:latin typeface="Times New Roman" panose="02020603050405020304" pitchFamily="18" charset="0"/>
                          <a:ea typeface="楷体_GB2312" pitchFamily="49" charset="-122"/>
                        </a:rPr>
                        <a:t>16</a:t>
                      </a:r>
                      <a:r>
                        <a:rPr kumimoji="1" lang="en-US" altLang="zh-CN" sz="1800" b="1" i="0" u="none" strike="noStrike" cap="none" normalizeH="0" baseline="0">
                          <a:ln>
                            <a:noFill/>
                          </a:ln>
                          <a:solidFill>
                            <a:srgbClr val="000000"/>
                          </a:solidFill>
                          <a:effectLst/>
                          <a:latin typeface="Times New Roman" panose="02020603050405020304" pitchFamily="18" charset="0"/>
                          <a:ea typeface="楷体_GB2312" pitchFamily="49" charset="-122"/>
                        </a:rPr>
                        <a:t> (1B3.EC)</a:t>
                      </a:r>
                      <a:r>
                        <a:rPr kumimoji="1" lang="en-US" altLang="zh-CN" sz="1800" b="1" i="0" u="none" strike="noStrike" cap="none" normalizeH="0" baseline="-25000">
                          <a:ln>
                            <a:noFill/>
                          </a:ln>
                          <a:solidFill>
                            <a:srgbClr val="000000"/>
                          </a:solidFill>
                          <a:effectLst/>
                          <a:latin typeface="Times New Roman" panose="02020603050405020304" pitchFamily="18" charset="0"/>
                          <a:ea typeface="楷体_GB2312" pitchFamily="49" charset="-122"/>
                        </a:rPr>
                        <a:t>H</a:t>
                      </a:r>
                      <a:endParaRPr kumimoji="1" lang="en-US" altLang="zh-CN" sz="1800" b="1" i="0" u="none" strike="noStrike" cap="none" normalizeH="0" baseline="-25000">
                        <a:ln>
                          <a:noFill/>
                        </a:ln>
                        <a:solidFill>
                          <a:srgbClr val="000000"/>
                        </a:solidFill>
                        <a:effectLst/>
                        <a:latin typeface="Times New Roman" panose="02020603050405020304" pitchFamily="18" charset="0"/>
                        <a:ea typeface="楷体_GB2312" pitchFamily="49" charset="-122"/>
                      </a:endParaRPr>
                    </a:p>
                  </a:txBody>
                  <a:tcPr marT="45699" marB="4569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Tree>
  </p:cSld>
  <p:clrMapOvr>
    <a:masterClrMapping/>
  </p:clrMapOvr>
  <p:timing>
    <p:tnLst>
      <p:par>
        <p:cTn id="1" dur="indefinite" restart="never" nodeType="tmRoot"/>
      </p:par>
    </p:tnLst>
    <p:bldLst>
      <p:bldP spid="13" grpId="0" bldLvl="0" animBg="1" autoUpdateAnimBg="0"/>
      <p:bldP spid="14" grpId="0" bldLvl="0" animBg="1" autoUpdateAnimBg="0"/>
      <p:bldP spid="2" grpId="0" bldLvl="0" animBg="1" autoUpdateAnimBg="0"/>
      <p:bldP spid="3" grpId="0" bldLvl="0" animBg="1"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527770" y="1861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主题一 数制与码制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2" name="Text Box 142"/>
          <p:cNvSpPr txBox="1">
            <a:spLocks noChangeArrowheads="1"/>
          </p:cNvSpPr>
          <p:nvPr/>
        </p:nvSpPr>
        <p:spPr bwMode="auto">
          <a:xfrm>
            <a:off x="517963" y="83102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1.4 </a:t>
            </a:r>
            <a:r>
              <a:rPr kumimoji="0" lang="zh-CN" altLang="en-US" dirty="0">
                <a:solidFill>
                  <a:srgbClr val="000000"/>
                </a:solidFill>
                <a:latin typeface="黑体" panose="02010609060101010101" pitchFamily="49" charset="-122"/>
                <a:ea typeface="黑体" panose="02010609060101010101" pitchFamily="49" charset="-122"/>
              </a:rPr>
              <a:t>数制转换</a:t>
            </a:r>
            <a:r>
              <a:rPr kumimoji="0" lang="zh-CN" altLang="en-US" dirty="0">
                <a:solidFill>
                  <a:srgbClr val="FF0000"/>
                </a:solidFill>
                <a:latin typeface="黑体" panose="02010609060101010101" pitchFamily="49" charset="-122"/>
                <a:ea typeface="黑体" panose="02010609060101010101" pitchFamily="49" charset="-122"/>
              </a:rPr>
              <a:t> </a:t>
            </a:r>
            <a:endParaRPr kumimoji="0" lang="zh-CN" altLang="en-US" dirty="0">
              <a:solidFill>
                <a:srgbClr val="FF0000"/>
              </a:solidFill>
              <a:latin typeface="黑体" panose="02010609060101010101" pitchFamily="49" charset="-122"/>
              <a:ea typeface="黑体" panose="02010609060101010101" pitchFamily="49" charset="-122"/>
            </a:endParaRPr>
          </a:p>
        </p:txBody>
      </p:sp>
      <p:sp>
        <p:nvSpPr>
          <p:cNvPr id="4" name="Text Box 142"/>
          <p:cNvSpPr txBox="1">
            <a:spLocks noChangeArrowheads="1"/>
          </p:cNvSpPr>
          <p:nvPr/>
        </p:nvSpPr>
        <p:spPr bwMode="auto">
          <a:xfrm>
            <a:off x="777043" y="135299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dirty="0">
                <a:solidFill>
                  <a:srgbClr val="000000"/>
                </a:solidFill>
                <a:latin typeface="黑体" panose="02010609060101010101" pitchFamily="49" charset="-122"/>
                <a:ea typeface="黑体" panose="02010609060101010101" pitchFamily="49" charset="-122"/>
              </a:rPr>
              <a:t>二转十</a:t>
            </a:r>
            <a:r>
              <a:rPr kumimoji="0" lang="en-US" altLang="zh-CN" sz="2400" dirty="0">
                <a:solidFill>
                  <a:srgbClr val="000000"/>
                </a:solidFill>
                <a:latin typeface="黑体" panose="02010609060101010101" pitchFamily="49" charset="-122"/>
                <a:ea typeface="黑体" panose="02010609060101010101" pitchFamily="49" charset="-122"/>
              </a:rPr>
              <a:t>——</a:t>
            </a:r>
            <a:r>
              <a:rPr kumimoji="0" lang="zh-CN" altLang="en-US" sz="2400" dirty="0">
                <a:solidFill>
                  <a:srgbClr val="FF0000"/>
                </a:solidFill>
                <a:latin typeface="黑体" panose="02010609060101010101" pitchFamily="49" charset="-122"/>
                <a:ea typeface="黑体" panose="02010609060101010101" pitchFamily="49" charset="-122"/>
              </a:rPr>
              <a:t>按权展开</a:t>
            </a:r>
            <a:endParaRPr kumimoji="0" lang="zh-CN" altLang="en-US" sz="2400" dirty="0">
              <a:solidFill>
                <a:srgbClr val="FF0000"/>
              </a:solidFill>
              <a:latin typeface="黑体" panose="02010609060101010101" pitchFamily="49" charset="-122"/>
              <a:ea typeface="黑体" panose="02010609060101010101" pitchFamily="49" charset="-122"/>
            </a:endParaRPr>
          </a:p>
        </p:txBody>
      </p:sp>
      <p:sp>
        <p:nvSpPr>
          <p:cNvPr id="65543" name="Text Box 7"/>
          <p:cNvSpPr txBox="1">
            <a:spLocks noChangeArrowheads="1"/>
          </p:cNvSpPr>
          <p:nvPr/>
        </p:nvSpPr>
        <p:spPr bwMode="auto">
          <a:xfrm>
            <a:off x="976630" y="1889125"/>
            <a:ext cx="8308975" cy="700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lang="en-US" altLang="zh-CN" sz="2400" b="1" dirty="0"/>
              <a:t>(10.01)</a:t>
            </a:r>
            <a:r>
              <a:rPr lang="en-US" altLang="zh-CN" sz="2400" b="1" baseline="-25000" dirty="0"/>
              <a:t>B</a:t>
            </a:r>
            <a:r>
              <a:rPr kumimoji="0" lang="en-US" altLang="zh-CN" sz="2400" b="1" dirty="0"/>
              <a:t>  =  </a:t>
            </a:r>
            <a:r>
              <a:rPr lang="en-US" altLang="zh-CN" sz="2400" b="1" dirty="0"/>
              <a:t>1×2</a:t>
            </a:r>
            <a:r>
              <a:rPr lang="en-US" altLang="zh-CN" sz="2400" b="1" baseline="30000" dirty="0"/>
              <a:t>1 </a:t>
            </a:r>
            <a:r>
              <a:rPr lang="en-US" altLang="zh-CN" sz="2400" b="1" dirty="0"/>
              <a:t>+ 0×2</a:t>
            </a:r>
            <a:r>
              <a:rPr lang="en-US" altLang="zh-CN" sz="2400" b="1" baseline="30000" dirty="0"/>
              <a:t>0 </a:t>
            </a:r>
            <a:r>
              <a:rPr lang="en-US" altLang="zh-CN" sz="2400" b="1" dirty="0"/>
              <a:t>+ 0 ×2</a:t>
            </a:r>
            <a:r>
              <a:rPr lang="en-US" altLang="zh-CN" sz="2400" b="1" baseline="30000" dirty="0"/>
              <a:t>-1</a:t>
            </a:r>
            <a:r>
              <a:rPr lang="en-US" altLang="zh-CN" sz="2400" b="1" dirty="0"/>
              <a:t> + 1 ×2</a:t>
            </a:r>
            <a:r>
              <a:rPr lang="en-US" altLang="zh-CN" sz="2400" b="1" baseline="30000" dirty="0"/>
              <a:t>-2</a:t>
            </a:r>
            <a:r>
              <a:rPr kumimoji="0" lang="en-US" altLang="zh-CN" sz="2400" b="1" dirty="0">
                <a:sym typeface="+mn-ea"/>
              </a:rPr>
              <a:t>= (2.25)</a:t>
            </a:r>
            <a:r>
              <a:rPr kumimoji="0" lang="en-US" altLang="zh-CN" sz="2400" b="1" baseline="-25000" dirty="0">
                <a:sym typeface="+mn-ea"/>
              </a:rPr>
              <a:t>D</a:t>
            </a:r>
            <a:endParaRPr kumimoji="0" lang="en-US" altLang="zh-CN" sz="2400" b="1" baseline="-25000" dirty="0"/>
          </a:p>
          <a:p>
            <a:endParaRPr kumimoji="0" lang="en-US" altLang="zh-CN" sz="2400" b="1" baseline="-25000" dirty="0"/>
          </a:p>
        </p:txBody>
      </p:sp>
      <p:sp>
        <p:nvSpPr>
          <p:cNvPr id="5" name="Text Box 142"/>
          <p:cNvSpPr txBox="1">
            <a:spLocks noChangeArrowheads="1"/>
          </p:cNvSpPr>
          <p:nvPr/>
        </p:nvSpPr>
        <p:spPr bwMode="auto">
          <a:xfrm>
            <a:off x="777043" y="2335340"/>
            <a:ext cx="7183437" cy="113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zh-CN" altLang="en-US" sz="2400" dirty="0">
                <a:solidFill>
                  <a:srgbClr val="000000"/>
                </a:solidFill>
                <a:latin typeface="黑体" panose="02010609060101010101" pitchFamily="49" charset="-122"/>
                <a:ea typeface="黑体" panose="02010609060101010101" pitchFamily="49" charset="-122"/>
              </a:rPr>
              <a:t>十转二</a:t>
            </a:r>
            <a:r>
              <a:rPr kumimoji="0" lang="en-US" altLang="zh-CN" sz="2400" dirty="0">
                <a:solidFill>
                  <a:srgbClr val="000000"/>
                </a:solidFill>
                <a:latin typeface="黑体" panose="02010609060101010101" pitchFamily="49" charset="-122"/>
                <a:ea typeface="黑体" panose="02010609060101010101" pitchFamily="49" charset="-122"/>
              </a:rPr>
              <a:t>——</a:t>
            </a:r>
            <a:r>
              <a:rPr kumimoji="0" lang="en-US" altLang="zh-CN" sz="2400" dirty="0">
                <a:solidFill>
                  <a:srgbClr val="FF0000"/>
                </a:solidFill>
                <a:latin typeface="黑体" panose="02010609060101010101" pitchFamily="49" charset="-122"/>
                <a:ea typeface="黑体" panose="02010609060101010101" pitchFamily="49" charset="-122"/>
              </a:rPr>
              <a:t>基数乘除</a:t>
            </a:r>
            <a:endParaRPr kumimoji="0" lang="zh-CN" altLang="en-US" sz="2400" dirty="0">
              <a:solidFill>
                <a:srgbClr val="000000"/>
              </a:solidFill>
              <a:latin typeface="黑体" panose="02010609060101010101" pitchFamily="49" charset="-122"/>
              <a:ea typeface="黑体" panose="02010609060101010101" pitchFamily="49" charset="-122"/>
            </a:endParaRPr>
          </a:p>
          <a:p>
            <a:pPr algn="l">
              <a:spcBef>
                <a:spcPct val="0"/>
              </a:spcBef>
            </a:pPr>
            <a:r>
              <a:rPr kumimoji="0" lang="en-US" altLang="zh-CN" sz="2400" dirty="0">
                <a:solidFill>
                  <a:srgbClr val="FF0000"/>
                </a:solidFill>
                <a:latin typeface="黑体" panose="02010609060101010101" pitchFamily="49" charset="-122"/>
                <a:ea typeface="黑体" panose="02010609060101010101" pitchFamily="49" charset="-122"/>
              </a:rPr>
              <a:t>   </a:t>
            </a:r>
            <a:r>
              <a:rPr kumimoji="0" lang="zh-CN" altLang="en-US" sz="2000" dirty="0">
                <a:solidFill>
                  <a:schemeClr val="accent2"/>
                </a:solidFill>
                <a:latin typeface="黑体" panose="02010609060101010101" pitchFamily="49" charset="-122"/>
                <a:ea typeface="黑体" panose="02010609060101010101" pitchFamily="49" charset="-122"/>
              </a:rPr>
              <a:t>整数部分：除</a:t>
            </a:r>
            <a:r>
              <a:rPr kumimoji="0" lang="en-US" altLang="zh-CN" sz="2000" dirty="0">
                <a:solidFill>
                  <a:schemeClr val="accent2"/>
                </a:solidFill>
                <a:latin typeface="黑体" panose="02010609060101010101" pitchFamily="49" charset="-122"/>
                <a:ea typeface="黑体" panose="02010609060101010101" pitchFamily="49" charset="-122"/>
              </a:rPr>
              <a:t>2</a:t>
            </a:r>
            <a:r>
              <a:rPr kumimoji="0" lang="zh-CN" altLang="en-US" sz="2000" dirty="0">
                <a:solidFill>
                  <a:schemeClr val="accent2"/>
                </a:solidFill>
                <a:latin typeface="黑体" panose="02010609060101010101" pitchFamily="49" charset="-122"/>
                <a:ea typeface="黑体" panose="02010609060101010101" pitchFamily="49" charset="-122"/>
              </a:rPr>
              <a:t>取余，倒序整理</a:t>
            </a:r>
            <a:endParaRPr kumimoji="0" lang="zh-CN" altLang="en-US" sz="2000" dirty="0">
              <a:solidFill>
                <a:schemeClr val="accent2"/>
              </a:solidFill>
              <a:latin typeface="黑体" panose="02010609060101010101" pitchFamily="49" charset="-122"/>
              <a:ea typeface="黑体" panose="02010609060101010101" pitchFamily="49" charset="-122"/>
            </a:endParaRPr>
          </a:p>
          <a:p>
            <a:pPr algn="l">
              <a:spcBef>
                <a:spcPct val="0"/>
              </a:spcBef>
            </a:pPr>
            <a:r>
              <a:rPr kumimoji="0" lang="en-US" altLang="zh-CN" sz="2000" dirty="0">
                <a:solidFill>
                  <a:schemeClr val="accent2"/>
                </a:solidFill>
                <a:latin typeface="黑体" panose="02010609060101010101" pitchFamily="49" charset="-122"/>
                <a:ea typeface="黑体" panose="02010609060101010101" pitchFamily="49" charset="-122"/>
              </a:rPr>
              <a:t>    </a:t>
            </a:r>
            <a:r>
              <a:rPr kumimoji="0" lang="zh-CN" altLang="en-US" sz="2000" dirty="0">
                <a:solidFill>
                  <a:schemeClr val="accent2"/>
                </a:solidFill>
                <a:latin typeface="黑体" panose="02010609060101010101" pitchFamily="49" charset="-122"/>
                <a:ea typeface="黑体" panose="02010609060101010101" pitchFamily="49" charset="-122"/>
              </a:rPr>
              <a:t>小数部分：乘</a:t>
            </a:r>
            <a:r>
              <a:rPr kumimoji="0" lang="en-US" altLang="zh-CN" sz="2000" dirty="0">
                <a:solidFill>
                  <a:schemeClr val="accent2"/>
                </a:solidFill>
                <a:latin typeface="黑体" panose="02010609060101010101" pitchFamily="49" charset="-122"/>
                <a:ea typeface="黑体" panose="02010609060101010101" pitchFamily="49" charset="-122"/>
              </a:rPr>
              <a:t>2</a:t>
            </a:r>
            <a:r>
              <a:rPr kumimoji="0" lang="zh-CN" altLang="en-US" sz="2000" dirty="0">
                <a:solidFill>
                  <a:schemeClr val="accent2"/>
                </a:solidFill>
                <a:latin typeface="黑体" panose="02010609060101010101" pitchFamily="49" charset="-122"/>
                <a:ea typeface="黑体" panose="02010609060101010101" pitchFamily="49" charset="-122"/>
              </a:rPr>
              <a:t>取整，顺序整理</a:t>
            </a:r>
            <a:endParaRPr kumimoji="0" lang="zh-CN" altLang="en-US" sz="2000" dirty="0">
              <a:solidFill>
                <a:schemeClr val="accent2"/>
              </a:solidFill>
              <a:latin typeface="黑体" panose="02010609060101010101" pitchFamily="49" charset="-122"/>
              <a:ea typeface="黑体" panose="02010609060101010101" pitchFamily="49" charset="-122"/>
            </a:endParaRPr>
          </a:p>
        </p:txBody>
      </p:sp>
      <p:pic>
        <p:nvPicPr>
          <p:cNvPr id="6" name="图片 5" descr="图片1"/>
          <p:cNvPicPr>
            <a:picLocks noChangeAspect="1"/>
          </p:cNvPicPr>
          <p:nvPr/>
        </p:nvPicPr>
        <p:blipFill>
          <a:blip r:embed="rId1"/>
          <a:stretch>
            <a:fillRect/>
          </a:stretch>
        </p:blipFill>
        <p:spPr>
          <a:xfrm>
            <a:off x="598805" y="3647440"/>
            <a:ext cx="4185285" cy="2554605"/>
          </a:xfrm>
          <a:prstGeom prst="rect">
            <a:avLst/>
          </a:prstGeom>
        </p:spPr>
      </p:pic>
      <p:pic>
        <p:nvPicPr>
          <p:cNvPr id="7" name="图片 6" descr="图片2"/>
          <p:cNvPicPr>
            <a:picLocks noChangeAspect="1"/>
          </p:cNvPicPr>
          <p:nvPr/>
        </p:nvPicPr>
        <p:blipFill>
          <a:blip r:embed="rId2"/>
          <a:stretch>
            <a:fillRect/>
          </a:stretch>
        </p:blipFill>
        <p:spPr>
          <a:xfrm>
            <a:off x="5266690" y="3647440"/>
            <a:ext cx="3238500" cy="2466340"/>
          </a:xfrm>
          <a:prstGeom prst="rect">
            <a:avLst/>
          </a:prstGeom>
        </p:spPr>
      </p:pic>
    </p:spTree>
  </p:cSld>
  <p:clrMapOvr>
    <a:masterClrMapping/>
  </p:clrMapOvr>
  <p:timing>
    <p:tnLst>
      <p:par>
        <p:cTn id="1" dur="indefinite" restart="never" nodeType="tmRoot"/>
      </p:par>
    </p:tnLst>
    <p:bldLst>
      <p:bldP spid="13" grpId="0" bldLvl="0" animBg="1" autoUpdateAnimBg="0"/>
      <p:bldP spid="2" grpId="0" bldLvl="0" animBg="1" autoUpdateAnimBg="0"/>
      <p:bldP spid="4" grpId="0" bldLvl="0" animBg="1" autoUpdateAnimBg="0"/>
      <p:bldP spid="65543" grpId="0" bldLvl="0" animBg="1" autoUpdateAnimBg="0"/>
      <p:bldP spid="5" grpId="0" bldLvl="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42"/>
          <p:cNvSpPr txBox="1">
            <a:spLocks noChangeArrowheads="1"/>
          </p:cNvSpPr>
          <p:nvPr/>
        </p:nvSpPr>
        <p:spPr bwMode="auto">
          <a:xfrm>
            <a:off x="517963" y="83102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1.4 </a:t>
            </a:r>
            <a:r>
              <a:rPr kumimoji="0" lang="zh-CN" altLang="en-US" dirty="0">
                <a:solidFill>
                  <a:srgbClr val="000000"/>
                </a:solidFill>
                <a:latin typeface="黑体" panose="02010609060101010101" pitchFamily="49" charset="-122"/>
                <a:ea typeface="黑体" panose="02010609060101010101" pitchFamily="49" charset="-122"/>
              </a:rPr>
              <a:t>数制转换</a:t>
            </a:r>
            <a:r>
              <a:rPr kumimoji="0" lang="zh-CN" altLang="en-US" dirty="0">
                <a:solidFill>
                  <a:srgbClr val="FF0000"/>
                </a:solidFill>
                <a:latin typeface="黑体" panose="02010609060101010101" pitchFamily="49" charset="-122"/>
                <a:ea typeface="黑体" panose="02010609060101010101" pitchFamily="49" charset="-122"/>
              </a:rPr>
              <a:t> </a:t>
            </a:r>
            <a:endParaRPr kumimoji="0" lang="zh-CN" altLang="en-US" dirty="0">
              <a:solidFill>
                <a:srgbClr val="FF0000"/>
              </a:solidFill>
              <a:latin typeface="黑体" panose="02010609060101010101" pitchFamily="49" charset="-122"/>
              <a:ea typeface="黑体" panose="02010609060101010101" pitchFamily="49" charset="-122"/>
            </a:endParaRPr>
          </a:p>
        </p:txBody>
      </p:sp>
      <p:sp>
        <p:nvSpPr>
          <p:cNvPr id="6" name="Text Box 142"/>
          <p:cNvSpPr txBox="1">
            <a:spLocks noChangeArrowheads="1"/>
          </p:cNvSpPr>
          <p:nvPr/>
        </p:nvSpPr>
        <p:spPr bwMode="auto">
          <a:xfrm>
            <a:off x="777043" y="145967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(3)</a:t>
            </a:r>
            <a:r>
              <a:rPr kumimoji="0" lang="zh-CN" altLang="en-US" sz="2400" dirty="0">
                <a:solidFill>
                  <a:srgbClr val="000000"/>
                </a:solidFill>
                <a:latin typeface="黑体" panose="02010609060101010101" pitchFamily="49" charset="-122"/>
                <a:ea typeface="黑体" panose="02010609060101010101" pitchFamily="49" charset="-122"/>
              </a:rPr>
              <a:t>二转八</a:t>
            </a:r>
            <a:r>
              <a:rPr kumimoji="0" lang="en-US" altLang="zh-CN" sz="2400" dirty="0">
                <a:solidFill>
                  <a:srgbClr val="000000"/>
                </a:solidFill>
                <a:latin typeface="黑体" panose="02010609060101010101" pitchFamily="49" charset="-122"/>
                <a:ea typeface="黑体" panose="02010609060101010101" pitchFamily="49" charset="-122"/>
              </a:rPr>
              <a:t>——</a:t>
            </a:r>
            <a:r>
              <a:rPr kumimoji="0" lang="zh-CN" altLang="en-US" sz="2400" dirty="0">
                <a:solidFill>
                  <a:srgbClr val="FF0000"/>
                </a:solidFill>
                <a:latin typeface="黑体" panose="02010609060101010101" pitchFamily="49" charset="-122"/>
                <a:ea typeface="黑体" panose="02010609060101010101" pitchFamily="49" charset="-122"/>
              </a:rPr>
              <a:t>三个一组</a:t>
            </a:r>
            <a:r>
              <a:rPr kumimoji="0" lang="zh-CN" altLang="en-US" sz="2400" dirty="0">
                <a:solidFill>
                  <a:srgbClr val="000000"/>
                </a:solidFill>
                <a:latin typeface="黑体" panose="02010609060101010101" pitchFamily="49" charset="-122"/>
                <a:ea typeface="黑体" panose="02010609060101010101" pitchFamily="49" charset="-122"/>
              </a:rPr>
              <a:t>，</a:t>
            </a:r>
            <a:r>
              <a:rPr kumimoji="0" lang="zh-CN" altLang="en-US" sz="2400" dirty="0">
                <a:solidFill>
                  <a:srgbClr val="FF0000"/>
                </a:solidFill>
                <a:latin typeface="黑体" panose="02010609060101010101" pitchFamily="49" charset="-122"/>
                <a:ea typeface="黑体" panose="02010609060101010101" pitchFamily="49" charset="-122"/>
              </a:rPr>
              <a:t>整体</a:t>
            </a:r>
            <a:r>
              <a:rPr kumimoji="0" lang="zh-CN" altLang="en-US" sz="2400" dirty="0">
                <a:solidFill>
                  <a:srgbClr val="FF0000"/>
                </a:solidFill>
                <a:latin typeface="黑体" panose="02010609060101010101" pitchFamily="49" charset="-122"/>
                <a:ea typeface="黑体" panose="02010609060101010101" pitchFamily="49" charset="-122"/>
              </a:rPr>
              <a:t>缩合</a:t>
            </a:r>
            <a:endParaRPr kumimoji="0" lang="zh-CN" altLang="en-US" sz="2400" dirty="0">
              <a:solidFill>
                <a:srgbClr val="FF0000"/>
              </a:solidFill>
              <a:latin typeface="黑体" panose="02010609060101010101" pitchFamily="49" charset="-122"/>
              <a:ea typeface="黑体" panose="02010609060101010101" pitchFamily="49" charset="-122"/>
            </a:endParaRPr>
          </a:p>
        </p:txBody>
      </p:sp>
      <p:sp>
        <p:nvSpPr>
          <p:cNvPr id="7" name="Text Box 142"/>
          <p:cNvSpPr txBox="1">
            <a:spLocks noChangeArrowheads="1"/>
          </p:cNvSpPr>
          <p:nvPr/>
        </p:nvSpPr>
        <p:spPr bwMode="auto">
          <a:xfrm>
            <a:off x="777043" y="197910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(4)</a:t>
            </a:r>
            <a:r>
              <a:rPr kumimoji="0" lang="zh-CN" altLang="en-US" sz="2400" dirty="0">
                <a:solidFill>
                  <a:srgbClr val="000000"/>
                </a:solidFill>
                <a:latin typeface="黑体" panose="02010609060101010101" pitchFamily="49" charset="-122"/>
                <a:ea typeface="黑体" panose="02010609060101010101" pitchFamily="49" charset="-122"/>
              </a:rPr>
              <a:t>八转二</a:t>
            </a:r>
            <a:r>
              <a:rPr kumimoji="0" lang="en-US" altLang="zh-CN" sz="2400" dirty="0">
                <a:solidFill>
                  <a:srgbClr val="000000"/>
                </a:solidFill>
                <a:latin typeface="黑体" panose="02010609060101010101" pitchFamily="49" charset="-122"/>
                <a:ea typeface="黑体" panose="02010609060101010101" pitchFamily="49" charset="-122"/>
              </a:rPr>
              <a:t>——</a:t>
            </a:r>
            <a:r>
              <a:rPr kumimoji="0" lang="zh-CN" altLang="en-US" sz="2400" dirty="0">
                <a:solidFill>
                  <a:srgbClr val="FF0000"/>
                </a:solidFill>
                <a:latin typeface="黑体" panose="02010609060101010101" pitchFamily="49" charset="-122"/>
                <a:ea typeface="黑体" panose="02010609060101010101" pitchFamily="49" charset="-122"/>
                <a:sym typeface="+mn-ea"/>
              </a:rPr>
              <a:t>三个一组</a:t>
            </a:r>
            <a:r>
              <a:rPr kumimoji="0" lang="zh-CN" altLang="en-US" sz="2400" dirty="0">
                <a:solidFill>
                  <a:srgbClr val="000000"/>
                </a:solidFill>
                <a:latin typeface="黑体" panose="02010609060101010101" pitchFamily="49" charset="-122"/>
                <a:ea typeface="黑体" panose="02010609060101010101" pitchFamily="49" charset="-122"/>
                <a:sym typeface="+mn-ea"/>
              </a:rPr>
              <a:t>，</a:t>
            </a:r>
            <a:r>
              <a:rPr kumimoji="0" lang="zh-CN" altLang="en-US" sz="2400" dirty="0">
                <a:solidFill>
                  <a:srgbClr val="FF0000"/>
                </a:solidFill>
                <a:latin typeface="黑体" panose="02010609060101010101" pitchFamily="49" charset="-122"/>
                <a:ea typeface="黑体" panose="02010609060101010101" pitchFamily="49" charset="-122"/>
                <a:sym typeface="+mn-ea"/>
              </a:rPr>
              <a:t>整体展开</a:t>
            </a:r>
            <a:r>
              <a:rPr kumimoji="0" lang="en-US" altLang="zh-CN" sz="2400" dirty="0">
                <a:solidFill>
                  <a:srgbClr val="FF0000"/>
                </a:solidFill>
                <a:latin typeface="黑体" panose="02010609060101010101" pitchFamily="49" charset="-122"/>
                <a:ea typeface="黑体" panose="02010609060101010101" pitchFamily="49" charset="-122"/>
              </a:rPr>
              <a:t>   </a:t>
            </a:r>
            <a:endParaRPr kumimoji="0" lang="zh-CN" altLang="en-US" sz="2000" dirty="0">
              <a:solidFill>
                <a:schemeClr val="accent2"/>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nvSpPr>
        <p:spPr bwMode="auto">
          <a:xfrm>
            <a:off x="777043" y="249853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(5)</a:t>
            </a:r>
            <a:r>
              <a:rPr kumimoji="0" lang="zh-CN" altLang="en-US" sz="2400" dirty="0">
                <a:solidFill>
                  <a:srgbClr val="000000"/>
                </a:solidFill>
                <a:latin typeface="黑体" panose="02010609060101010101" pitchFamily="49" charset="-122"/>
                <a:ea typeface="黑体" panose="02010609060101010101" pitchFamily="49" charset="-122"/>
              </a:rPr>
              <a:t>二转十六</a:t>
            </a:r>
            <a:r>
              <a:rPr kumimoji="0" lang="en-US" altLang="zh-CN" sz="2400" dirty="0">
                <a:solidFill>
                  <a:srgbClr val="000000"/>
                </a:solidFill>
                <a:latin typeface="黑体" panose="02010609060101010101" pitchFamily="49" charset="-122"/>
                <a:ea typeface="黑体" panose="02010609060101010101" pitchFamily="49" charset="-122"/>
              </a:rPr>
              <a:t>——</a:t>
            </a:r>
            <a:r>
              <a:rPr kumimoji="0" lang="zh-CN" altLang="en-US" sz="2400" dirty="0">
                <a:solidFill>
                  <a:srgbClr val="FF0000"/>
                </a:solidFill>
                <a:latin typeface="黑体" panose="02010609060101010101" pitchFamily="49" charset="-122"/>
                <a:ea typeface="黑体" panose="02010609060101010101" pitchFamily="49" charset="-122"/>
              </a:rPr>
              <a:t>四个一组</a:t>
            </a:r>
            <a:r>
              <a:rPr kumimoji="0" lang="zh-CN" altLang="en-US" sz="2400" dirty="0">
                <a:solidFill>
                  <a:srgbClr val="000000"/>
                </a:solidFill>
                <a:latin typeface="黑体" panose="02010609060101010101" pitchFamily="49" charset="-122"/>
                <a:ea typeface="黑体" panose="02010609060101010101" pitchFamily="49" charset="-122"/>
              </a:rPr>
              <a:t>，</a:t>
            </a:r>
            <a:r>
              <a:rPr kumimoji="0" lang="zh-CN" altLang="en-US" sz="2400" dirty="0">
                <a:solidFill>
                  <a:srgbClr val="FF0000"/>
                </a:solidFill>
                <a:latin typeface="黑体" panose="02010609060101010101" pitchFamily="49" charset="-122"/>
                <a:ea typeface="黑体" panose="02010609060101010101" pitchFamily="49" charset="-122"/>
              </a:rPr>
              <a:t>整体</a:t>
            </a:r>
            <a:r>
              <a:rPr kumimoji="0" lang="zh-CN" altLang="en-US" sz="2400" dirty="0">
                <a:solidFill>
                  <a:srgbClr val="FF0000"/>
                </a:solidFill>
                <a:latin typeface="黑体" panose="02010609060101010101" pitchFamily="49" charset="-122"/>
                <a:ea typeface="黑体" panose="02010609060101010101" pitchFamily="49" charset="-122"/>
              </a:rPr>
              <a:t>缩合</a:t>
            </a:r>
            <a:endParaRPr kumimoji="0" lang="zh-CN" altLang="en-US" sz="2400" dirty="0">
              <a:solidFill>
                <a:srgbClr val="FF0000"/>
              </a:solidFill>
              <a:latin typeface="黑体" panose="02010609060101010101" pitchFamily="49" charset="-122"/>
              <a:ea typeface="黑体" panose="02010609060101010101" pitchFamily="49" charset="-122"/>
            </a:endParaRPr>
          </a:p>
        </p:txBody>
      </p:sp>
      <p:sp>
        <p:nvSpPr>
          <p:cNvPr id="9" name="Text Box 142"/>
          <p:cNvSpPr txBox="1">
            <a:spLocks noChangeArrowheads="1"/>
          </p:cNvSpPr>
          <p:nvPr/>
        </p:nvSpPr>
        <p:spPr bwMode="auto">
          <a:xfrm>
            <a:off x="777043" y="301796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(6)</a:t>
            </a:r>
            <a:r>
              <a:rPr kumimoji="0" lang="zh-CN" altLang="en-US" sz="2400" dirty="0">
                <a:solidFill>
                  <a:srgbClr val="000000"/>
                </a:solidFill>
                <a:latin typeface="黑体" panose="02010609060101010101" pitchFamily="49" charset="-122"/>
                <a:ea typeface="黑体" panose="02010609060101010101" pitchFamily="49" charset="-122"/>
              </a:rPr>
              <a:t>十六转二</a:t>
            </a:r>
            <a:r>
              <a:rPr kumimoji="0" lang="en-US" altLang="zh-CN" sz="2400" dirty="0">
                <a:solidFill>
                  <a:srgbClr val="000000"/>
                </a:solidFill>
                <a:latin typeface="黑体" panose="02010609060101010101" pitchFamily="49" charset="-122"/>
                <a:ea typeface="黑体" panose="02010609060101010101" pitchFamily="49" charset="-122"/>
              </a:rPr>
              <a:t>——</a:t>
            </a:r>
            <a:r>
              <a:rPr kumimoji="0" lang="zh-CN" altLang="en-US" sz="2400" dirty="0">
                <a:solidFill>
                  <a:srgbClr val="FF0000"/>
                </a:solidFill>
                <a:latin typeface="黑体" panose="02010609060101010101" pitchFamily="49" charset="-122"/>
                <a:ea typeface="黑体" panose="02010609060101010101" pitchFamily="49" charset="-122"/>
                <a:sym typeface="+mn-ea"/>
              </a:rPr>
              <a:t>四个一组</a:t>
            </a:r>
            <a:r>
              <a:rPr kumimoji="0" lang="zh-CN" altLang="en-US" sz="2400" dirty="0">
                <a:solidFill>
                  <a:srgbClr val="000000"/>
                </a:solidFill>
                <a:latin typeface="黑体" panose="02010609060101010101" pitchFamily="49" charset="-122"/>
                <a:ea typeface="黑体" panose="02010609060101010101" pitchFamily="49" charset="-122"/>
                <a:sym typeface="+mn-ea"/>
              </a:rPr>
              <a:t>，</a:t>
            </a:r>
            <a:r>
              <a:rPr kumimoji="0" lang="zh-CN" altLang="en-US" sz="2400" dirty="0">
                <a:solidFill>
                  <a:srgbClr val="FF0000"/>
                </a:solidFill>
                <a:latin typeface="黑体" panose="02010609060101010101" pitchFamily="49" charset="-122"/>
                <a:ea typeface="黑体" panose="02010609060101010101" pitchFamily="49" charset="-122"/>
                <a:sym typeface="+mn-ea"/>
              </a:rPr>
              <a:t>整体展开</a:t>
            </a:r>
            <a:r>
              <a:rPr kumimoji="0" lang="en-US" altLang="zh-CN" sz="2400" dirty="0">
                <a:solidFill>
                  <a:srgbClr val="FF0000"/>
                </a:solidFill>
                <a:latin typeface="黑体" panose="02010609060101010101" pitchFamily="49" charset="-122"/>
                <a:ea typeface="黑体" panose="02010609060101010101" pitchFamily="49" charset="-122"/>
              </a:rPr>
              <a:t>   </a:t>
            </a:r>
            <a:endParaRPr kumimoji="0" lang="zh-CN" altLang="en-US" sz="2000" dirty="0">
              <a:solidFill>
                <a:schemeClr val="accent2"/>
              </a:solidFill>
              <a:latin typeface="黑体" panose="02010609060101010101" pitchFamily="49" charset="-122"/>
              <a:ea typeface="黑体" panose="02010609060101010101" pitchFamily="49" charset="-122"/>
            </a:endParaRPr>
          </a:p>
        </p:txBody>
      </p:sp>
      <p:pic>
        <p:nvPicPr>
          <p:cNvPr id="10" name="图片 9"/>
          <p:cNvPicPr>
            <a:picLocks noChangeAspect="1"/>
          </p:cNvPicPr>
          <p:nvPr/>
        </p:nvPicPr>
        <p:blipFill>
          <a:blip r:embed="rId1"/>
          <a:stretch>
            <a:fillRect/>
          </a:stretch>
        </p:blipFill>
        <p:spPr>
          <a:xfrm>
            <a:off x="843915" y="3611880"/>
            <a:ext cx="5537835" cy="1127760"/>
          </a:xfrm>
          <a:prstGeom prst="rect">
            <a:avLst/>
          </a:prstGeom>
        </p:spPr>
      </p:pic>
      <p:sp>
        <p:nvSpPr>
          <p:cNvPr id="11" name="Text Box 142"/>
          <p:cNvSpPr txBox="1">
            <a:spLocks noChangeArrowheads="1"/>
          </p:cNvSpPr>
          <p:nvPr/>
        </p:nvSpPr>
        <p:spPr bwMode="auto">
          <a:xfrm>
            <a:off x="825938" y="4748340"/>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(7)2</a:t>
            </a:r>
            <a:r>
              <a:rPr kumimoji="0" lang="en-US" altLang="zh-CN" sz="2400" baseline="30000" dirty="0">
                <a:solidFill>
                  <a:srgbClr val="000000"/>
                </a:solidFill>
                <a:latin typeface="黑体" panose="02010609060101010101" pitchFamily="49" charset="-122"/>
                <a:ea typeface="黑体" panose="02010609060101010101" pitchFamily="49" charset="-122"/>
              </a:rPr>
              <a:t>n</a:t>
            </a:r>
            <a:r>
              <a:rPr kumimoji="0" lang="zh-CN" altLang="en-US" sz="2400" dirty="0">
                <a:solidFill>
                  <a:srgbClr val="000000"/>
                </a:solidFill>
                <a:latin typeface="黑体" panose="02010609060101010101" pitchFamily="49" charset="-122"/>
                <a:ea typeface="黑体" panose="02010609060101010101" pitchFamily="49" charset="-122"/>
              </a:rPr>
              <a:t>转</a:t>
            </a:r>
            <a:r>
              <a:rPr kumimoji="0" lang="en-US" altLang="zh-CN" sz="2400" dirty="0">
                <a:solidFill>
                  <a:srgbClr val="000000"/>
                </a:solidFill>
                <a:latin typeface="黑体" panose="02010609060101010101" pitchFamily="49" charset="-122"/>
                <a:ea typeface="黑体" panose="02010609060101010101" pitchFamily="49" charset="-122"/>
              </a:rPr>
              <a:t>2</a:t>
            </a:r>
            <a:r>
              <a:rPr kumimoji="0" lang="en-US" altLang="zh-CN" sz="2400" baseline="30000" dirty="0">
                <a:solidFill>
                  <a:srgbClr val="000000"/>
                </a:solidFill>
                <a:latin typeface="黑体" panose="02010609060101010101" pitchFamily="49" charset="-122"/>
                <a:ea typeface="黑体" panose="02010609060101010101" pitchFamily="49" charset="-122"/>
              </a:rPr>
              <a:t>m</a:t>
            </a:r>
            <a:r>
              <a:rPr kumimoji="0" lang="en-US" altLang="zh-CN" sz="2400" dirty="0">
                <a:solidFill>
                  <a:srgbClr val="000000"/>
                </a:solidFill>
                <a:latin typeface="黑体" panose="02010609060101010101" pitchFamily="49" charset="-122"/>
                <a:ea typeface="黑体" panose="02010609060101010101" pitchFamily="49" charset="-122"/>
              </a:rPr>
              <a:t>——</a:t>
            </a:r>
            <a:r>
              <a:rPr kumimoji="0" lang="zh-CN" altLang="en-US" sz="2400" dirty="0">
                <a:solidFill>
                  <a:srgbClr val="000000"/>
                </a:solidFill>
                <a:latin typeface="黑体" panose="02010609060101010101" pitchFamily="49" charset="-122"/>
                <a:ea typeface="黑体" panose="02010609060101010101" pitchFamily="49" charset="-122"/>
              </a:rPr>
              <a:t>借助二进制中转</a:t>
            </a:r>
            <a:r>
              <a:rPr kumimoji="0" lang="en-US" altLang="zh-CN" sz="2400" dirty="0">
                <a:solidFill>
                  <a:srgbClr val="FF0000"/>
                </a:solidFill>
                <a:latin typeface="黑体" panose="02010609060101010101" pitchFamily="49" charset="-122"/>
                <a:ea typeface="黑体" panose="02010609060101010101" pitchFamily="49" charset="-122"/>
              </a:rPr>
              <a:t>   </a:t>
            </a:r>
            <a:endParaRPr kumimoji="0" lang="zh-CN" altLang="en-US" sz="2000" dirty="0">
              <a:solidFill>
                <a:schemeClr val="accent2"/>
              </a:solidFill>
              <a:latin typeface="黑体" panose="02010609060101010101" pitchFamily="49" charset="-122"/>
              <a:ea typeface="黑体" panose="02010609060101010101" pitchFamily="49" charset="-122"/>
            </a:endParaRPr>
          </a:p>
        </p:txBody>
      </p:sp>
      <p:sp>
        <p:nvSpPr>
          <p:cNvPr id="12" name="Text Box 142"/>
          <p:cNvSpPr txBox="1">
            <a:spLocks noChangeArrowheads="1"/>
          </p:cNvSpPr>
          <p:nvPr/>
        </p:nvSpPr>
        <p:spPr bwMode="auto">
          <a:xfrm>
            <a:off x="843718" y="531666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(8)</a:t>
            </a:r>
            <a:r>
              <a:rPr kumimoji="0" lang="zh-CN" altLang="en-US" sz="2400" dirty="0">
                <a:solidFill>
                  <a:srgbClr val="000000"/>
                </a:solidFill>
                <a:latin typeface="黑体" panose="02010609060101010101" pitchFamily="49" charset="-122"/>
                <a:ea typeface="黑体" panose="02010609060101010101" pitchFamily="49" charset="-122"/>
              </a:rPr>
              <a:t>其他</a:t>
            </a:r>
            <a:r>
              <a:rPr kumimoji="0" lang="en-US" altLang="zh-CN" sz="2400" dirty="0">
                <a:solidFill>
                  <a:srgbClr val="000000"/>
                </a:solidFill>
                <a:latin typeface="黑体" panose="02010609060101010101" pitchFamily="49" charset="-122"/>
                <a:ea typeface="黑体" panose="02010609060101010101" pitchFamily="49" charset="-122"/>
              </a:rPr>
              <a:t>——</a:t>
            </a:r>
            <a:r>
              <a:rPr kumimoji="0" lang="zh-CN" altLang="en-US" sz="2400" dirty="0">
                <a:solidFill>
                  <a:srgbClr val="000000"/>
                </a:solidFill>
                <a:latin typeface="黑体" panose="02010609060101010101" pitchFamily="49" charset="-122"/>
                <a:ea typeface="黑体" panose="02010609060101010101" pitchFamily="49" charset="-122"/>
              </a:rPr>
              <a:t>借助</a:t>
            </a:r>
            <a:r>
              <a:rPr kumimoji="0" lang="zh-CN" altLang="en-US" sz="2400" dirty="0">
                <a:solidFill>
                  <a:srgbClr val="000000"/>
                </a:solidFill>
                <a:latin typeface="黑体" panose="02010609060101010101" pitchFamily="49" charset="-122"/>
                <a:ea typeface="黑体" panose="02010609060101010101" pitchFamily="49" charset="-122"/>
              </a:rPr>
              <a:t>十进制中转</a:t>
            </a:r>
            <a:r>
              <a:rPr kumimoji="0" lang="en-US" altLang="zh-CN" sz="2400" dirty="0">
                <a:solidFill>
                  <a:srgbClr val="FF0000"/>
                </a:solidFill>
                <a:latin typeface="黑体" panose="02010609060101010101" pitchFamily="49" charset="-122"/>
                <a:ea typeface="黑体" panose="02010609060101010101" pitchFamily="49" charset="-122"/>
              </a:rPr>
              <a:t>   </a:t>
            </a:r>
            <a:endParaRPr kumimoji="0" lang="zh-CN" altLang="en-US" sz="2000" dirty="0">
              <a:solidFill>
                <a:schemeClr val="accent2"/>
              </a:solidFill>
              <a:latin typeface="黑体" panose="02010609060101010101" pitchFamily="49" charset="-122"/>
              <a:ea typeface="黑体" panose="02010609060101010101" pitchFamily="49" charset="-122"/>
            </a:endParaRPr>
          </a:p>
        </p:txBody>
      </p:sp>
      <p:sp>
        <p:nvSpPr>
          <p:cNvPr id="15" name="Text Box 4"/>
          <p:cNvSpPr txBox="1">
            <a:spLocks noChangeArrowheads="1"/>
          </p:cNvSpPr>
          <p:nvPr/>
        </p:nvSpPr>
        <p:spPr bwMode="auto">
          <a:xfrm>
            <a:off x="1527770" y="1861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主题一 数制与码制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bldLst>
      <p:bldP spid="3" grpId="0" bldLvl="0" animBg="1" autoUpdateAnimBg="0"/>
      <p:bldP spid="6" grpId="0" bldLvl="0" animBg="1" autoUpdateAnimBg="0"/>
      <p:bldP spid="7" grpId="0" bldLvl="0" animBg="1" autoUpdateAnimBg="0"/>
      <p:bldP spid="8" grpId="0" bldLvl="0" animBg="1" autoUpdateAnimBg="0"/>
      <p:bldP spid="9" grpId="0" bldLvl="0" animBg="1" autoUpdateAnimBg="0"/>
      <p:bldP spid="11" grpId="0" bldLvl="0" animBg="1" autoUpdateAnimBg="0"/>
      <p:bldP spid="12" grpId="0" bldLvl="0" animBg="1" autoUpdateAnimBg="0"/>
      <p:bldP spid="15" grpId="0" bldLvl="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descr="图片1"/>
          <p:cNvPicPr>
            <a:picLocks noChangeAspect="1"/>
          </p:cNvPicPr>
          <p:nvPr/>
        </p:nvPicPr>
        <p:blipFill>
          <a:blip r:embed="rId1"/>
          <a:stretch>
            <a:fillRect/>
          </a:stretch>
        </p:blipFill>
        <p:spPr>
          <a:xfrm>
            <a:off x="1895475" y="689610"/>
            <a:ext cx="5277485" cy="5209540"/>
          </a:xfrm>
          <a:prstGeom prst="rect">
            <a:avLst/>
          </a:prstGeom>
        </p:spPr>
      </p:pic>
      <p:sp>
        <p:nvSpPr>
          <p:cNvPr id="2" name="Text Box 142"/>
          <p:cNvSpPr txBox="1">
            <a:spLocks noChangeArrowheads="1"/>
          </p:cNvSpPr>
          <p:nvPr/>
        </p:nvSpPr>
        <p:spPr bwMode="auto">
          <a:xfrm>
            <a:off x="432873" y="3681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1.4 </a:t>
            </a:r>
            <a:r>
              <a:rPr kumimoji="0" lang="zh-CN" altLang="en-US" dirty="0">
                <a:solidFill>
                  <a:srgbClr val="000000"/>
                </a:solidFill>
                <a:latin typeface="黑体" panose="02010609060101010101" pitchFamily="49" charset="-122"/>
                <a:ea typeface="黑体" panose="02010609060101010101" pitchFamily="49" charset="-122"/>
              </a:rPr>
              <a:t>数制转换</a:t>
            </a:r>
            <a:r>
              <a:rPr kumimoji="0" lang="zh-CN" altLang="en-US" dirty="0">
                <a:solidFill>
                  <a:srgbClr val="FF0000"/>
                </a:solidFill>
                <a:latin typeface="黑体" panose="02010609060101010101" pitchFamily="49" charset="-122"/>
                <a:ea typeface="黑体" panose="02010609060101010101" pitchFamily="49" charset="-122"/>
              </a:rPr>
              <a:t> </a:t>
            </a:r>
            <a:endParaRPr kumimoji="0" lang="zh-CN" altLang="en-US"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bldLst>
      <p:bldP spid="2" grpId="0" bldLvl="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5" name="Text Box 142"/>
          <p:cNvSpPr txBox="1">
            <a:spLocks noChangeArrowheads="1"/>
          </p:cNvSpPr>
          <p:nvPr/>
        </p:nvSpPr>
        <p:spPr bwMode="auto">
          <a:xfrm>
            <a:off x="387153" y="153778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1.5 </a:t>
            </a:r>
            <a:r>
              <a:rPr kumimoji="0" lang="zh-CN" altLang="en-US" dirty="0">
                <a:solidFill>
                  <a:srgbClr val="000000"/>
                </a:solidFill>
                <a:latin typeface="黑体" panose="02010609060101010101" pitchFamily="49" charset="-122"/>
                <a:ea typeface="黑体" panose="02010609060101010101" pitchFamily="49" charset="-122"/>
              </a:rPr>
              <a:t>常见二进制码</a:t>
            </a:r>
            <a:r>
              <a:rPr kumimoji="0" lang="zh-CN" altLang="en-US" dirty="0">
                <a:solidFill>
                  <a:srgbClr val="FF0000"/>
                </a:solidFill>
                <a:latin typeface="黑体" panose="02010609060101010101" pitchFamily="49" charset="-122"/>
                <a:ea typeface="黑体" panose="02010609060101010101" pitchFamily="49" charset="-122"/>
              </a:rPr>
              <a:t> </a:t>
            </a:r>
            <a:endParaRPr kumimoji="0" lang="zh-CN" altLang="en-US" dirty="0">
              <a:solidFill>
                <a:srgbClr val="FF0000"/>
              </a:solidFill>
              <a:latin typeface="黑体" panose="02010609060101010101" pitchFamily="49" charset="-122"/>
              <a:ea typeface="黑体" panose="02010609060101010101" pitchFamily="49" charset="-122"/>
            </a:endParaRPr>
          </a:p>
        </p:txBody>
      </p:sp>
      <p:sp>
        <p:nvSpPr>
          <p:cNvPr id="7" name="Text Box 142"/>
          <p:cNvSpPr txBox="1">
            <a:spLocks noChangeArrowheads="1"/>
          </p:cNvSpPr>
          <p:nvPr/>
        </p:nvSpPr>
        <p:spPr bwMode="auto">
          <a:xfrm>
            <a:off x="777043" y="221532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dirty="0">
                <a:solidFill>
                  <a:srgbClr val="000000"/>
                </a:solidFill>
                <a:latin typeface="黑体" panose="02010609060101010101" pitchFamily="49" charset="-122"/>
                <a:ea typeface="黑体" panose="02010609060101010101" pitchFamily="49" charset="-122"/>
              </a:rPr>
              <a:t>自然二进制</a:t>
            </a:r>
            <a:r>
              <a:rPr kumimoji="0" lang="zh-CN" altLang="en-US" sz="2400" dirty="0">
                <a:solidFill>
                  <a:srgbClr val="000000"/>
                </a:solidFill>
                <a:latin typeface="黑体" panose="02010609060101010101" pitchFamily="49" charset="-122"/>
                <a:ea typeface="黑体" panose="02010609060101010101" pitchFamily="49" charset="-122"/>
              </a:rPr>
              <a:t>码</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nvSpPr>
        <p:spPr bwMode="auto">
          <a:xfrm>
            <a:off x="777043" y="276269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zh-CN" altLang="en-US" sz="2400" dirty="0">
                <a:solidFill>
                  <a:srgbClr val="000000"/>
                </a:solidFill>
                <a:latin typeface="黑体" panose="02010609060101010101" pitchFamily="49" charset="-122"/>
                <a:ea typeface="黑体" panose="02010609060101010101" pitchFamily="49" charset="-122"/>
              </a:rPr>
              <a:t>循环二进制码（</a:t>
            </a:r>
            <a:r>
              <a:rPr kumimoji="0" lang="zh-CN" altLang="en-US" sz="2400" dirty="0">
                <a:solidFill>
                  <a:srgbClr val="000000"/>
                </a:solidFill>
                <a:latin typeface="黑体" panose="02010609060101010101" pitchFamily="49" charset="-122"/>
                <a:ea typeface="黑体" panose="02010609060101010101" pitchFamily="49" charset="-122"/>
              </a:rPr>
              <a:t>格雷码）</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9" name="Text Box 142"/>
          <p:cNvSpPr txBox="1">
            <a:spLocks noChangeArrowheads="1"/>
          </p:cNvSpPr>
          <p:nvPr/>
        </p:nvSpPr>
        <p:spPr bwMode="auto">
          <a:xfrm>
            <a:off x="777043" y="331006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(3)8421BCD</a:t>
            </a:r>
            <a:r>
              <a:rPr kumimoji="0" lang="zh-CN" altLang="en-US" sz="2400" dirty="0">
                <a:solidFill>
                  <a:srgbClr val="000000"/>
                </a:solidFill>
                <a:latin typeface="黑体" panose="02010609060101010101" pitchFamily="49" charset="-122"/>
                <a:ea typeface="黑体" panose="02010609060101010101" pitchFamily="49" charset="-122"/>
              </a:rPr>
              <a:t>码</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10" name="Text Box 142"/>
          <p:cNvSpPr txBox="1">
            <a:spLocks noChangeArrowheads="1"/>
          </p:cNvSpPr>
          <p:nvPr/>
        </p:nvSpPr>
        <p:spPr bwMode="auto">
          <a:xfrm>
            <a:off x="777043" y="385743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(4)</a:t>
            </a:r>
            <a:r>
              <a:rPr kumimoji="0" lang="zh-CN" altLang="en-US" sz="2400" dirty="0">
                <a:solidFill>
                  <a:srgbClr val="000000"/>
                </a:solidFill>
                <a:latin typeface="黑体" panose="02010609060101010101" pitchFamily="49" charset="-122"/>
                <a:ea typeface="黑体" panose="02010609060101010101" pitchFamily="49" charset="-122"/>
              </a:rPr>
              <a:t>余</a:t>
            </a:r>
            <a:r>
              <a:rPr kumimoji="0" lang="zh-CN" altLang="en-US" sz="2400" dirty="0">
                <a:solidFill>
                  <a:srgbClr val="000000"/>
                </a:solidFill>
                <a:latin typeface="黑体" panose="02010609060101010101" pitchFamily="49" charset="-122"/>
                <a:ea typeface="黑体" panose="02010609060101010101" pitchFamily="49" charset="-122"/>
              </a:rPr>
              <a:t>三码</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11" name="Text Box 142"/>
          <p:cNvSpPr txBox="1">
            <a:spLocks noChangeArrowheads="1"/>
          </p:cNvSpPr>
          <p:nvPr/>
        </p:nvSpPr>
        <p:spPr bwMode="auto">
          <a:xfrm>
            <a:off x="777043" y="440480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(5)5421BCD</a:t>
            </a:r>
            <a:r>
              <a:rPr kumimoji="0" lang="zh-CN" altLang="en-US" sz="2400" dirty="0">
                <a:solidFill>
                  <a:srgbClr val="000000"/>
                </a:solidFill>
                <a:latin typeface="黑体" panose="02010609060101010101" pitchFamily="49" charset="-122"/>
                <a:ea typeface="黑体" panose="02010609060101010101" pitchFamily="49" charset="-122"/>
              </a:rPr>
              <a:t>码（</a:t>
            </a:r>
            <a:r>
              <a:rPr kumimoji="0" lang="zh-CN" altLang="en-US" sz="2400" dirty="0">
                <a:solidFill>
                  <a:srgbClr val="000000"/>
                </a:solidFill>
                <a:latin typeface="黑体" panose="02010609060101010101" pitchFamily="49" charset="-122"/>
                <a:ea typeface="黑体" panose="02010609060101010101" pitchFamily="49" charset="-122"/>
              </a:rPr>
              <a:t>格雷码）</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12" name="Text Box 4"/>
          <p:cNvSpPr txBox="1">
            <a:spLocks noChangeArrowheads="1"/>
          </p:cNvSpPr>
          <p:nvPr/>
        </p:nvSpPr>
        <p:spPr bwMode="auto">
          <a:xfrm>
            <a:off x="1527135" y="53540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主题一 数制与码制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bldLst>
      <p:bldP spid="5" grpId="0" bldLvl="0" animBg="1" autoUpdateAnimBg="0"/>
      <p:bldP spid="7" grpId="0" bldLvl="0" animBg="1" autoUpdateAnimBg="0"/>
      <p:bldP spid="8" grpId="0" bldLvl="0" animBg="1" autoUpdateAnimBg="0"/>
      <p:bldP spid="9" grpId="0" bldLvl="0" animBg="1" autoUpdateAnimBg="0"/>
      <p:bldP spid="10" grpId="0" bldLvl="0" animBg="1" autoUpdateAnimBg="0"/>
      <p:bldP spid="11" grpId="0" bldLvl="0" animBg="1" autoUpdateAnimBg="0"/>
      <p:bldP spid="12" grpId="0" bldLvl="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5" name="Text Box 142"/>
          <p:cNvSpPr txBox="1">
            <a:spLocks noChangeArrowheads="1"/>
          </p:cNvSpPr>
          <p:nvPr/>
        </p:nvSpPr>
        <p:spPr bwMode="auto">
          <a:xfrm>
            <a:off x="517963" y="8507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1.5 </a:t>
            </a:r>
            <a:r>
              <a:rPr kumimoji="0" lang="zh-CN" altLang="en-US" dirty="0">
                <a:solidFill>
                  <a:srgbClr val="000000"/>
                </a:solidFill>
                <a:latin typeface="黑体" panose="02010609060101010101" pitchFamily="49" charset="-122"/>
                <a:ea typeface="黑体" panose="02010609060101010101" pitchFamily="49" charset="-122"/>
              </a:rPr>
              <a:t>常见二进制码</a:t>
            </a:r>
            <a:r>
              <a:rPr kumimoji="0" lang="zh-CN" altLang="en-US" dirty="0">
                <a:solidFill>
                  <a:srgbClr val="FF0000"/>
                </a:solidFill>
                <a:latin typeface="黑体" panose="02010609060101010101" pitchFamily="49" charset="-122"/>
                <a:ea typeface="黑体" panose="02010609060101010101" pitchFamily="49" charset="-122"/>
              </a:rPr>
              <a:t> </a:t>
            </a:r>
            <a:endParaRPr kumimoji="0" lang="zh-CN" altLang="en-US" dirty="0">
              <a:solidFill>
                <a:srgbClr val="FF0000"/>
              </a:solidFill>
              <a:latin typeface="黑体" panose="02010609060101010101" pitchFamily="49" charset="-122"/>
              <a:ea typeface="黑体" panose="02010609060101010101" pitchFamily="49" charset="-122"/>
            </a:endParaRPr>
          </a:p>
        </p:txBody>
      </p:sp>
      <p:pic>
        <p:nvPicPr>
          <p:cNvPr id="6" name="图片 5"/>
          <p:cNvPicPr>
            <a:picLocks noChangeAspect="1"/>
          </p:cNvPicPr>
          <p:nvPr/>
        </p:nvPicPr>
        <p:blipFill>
          <a:blip r:embed="rId1"/>
          <a:stretch>
            <a:fillRect/>
          </a:stretch>
        </p:blipFill>
        <p:spPr>
          <a:xfrm>
            <a:off x="1205865" y="1372870"/>
            <a:ext cx="6515100" cy="4649470"/>
          </a:xfrm>
          <a:prstGeom prst="rect">
            <a:avLst/>
          </a:prstGeom>
        </p:spPr>
      </p:pic>
      <p:sp>
        <p:nvSpPr>
          <p:cNvPr id="7" name="Text Box 4"/>
          <p:cNvSpPr txBox="1">
            <a:spLocks noChangeArrowheads="1"/>
          </p:cNvSpPr>
          <p:nvPr/>
        </p:nvSpPr>
        <p:spPr bwMode="auto">
          <a:xfrm>
            <a:off x="1527770" y="1861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主题一 数制与码制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bldLst>
      <p:bldP spid="5" grpId="0" bldLvl="0" animBg="1" autoUpdateAnimBg="0"/>
      <p:bldP spid="7" grpId="0" bldLvl="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5" name="Text Box 142"/>
          <p:cNvSpPr txBox="1">
            <a:spLocks noChangeArrowheads="1"/>
          </p:cNvSpPr>
          <p:nvPr/>
        </p:nvSpPr>
        <p:spPr bwMode="auto">
          <a:xfrm>
            <a:off x="517963" y="8507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1.6 8421BCD</a:t>
            </a:r>
            <a:r>
              <a:rPr kumimoji="0" lang="zh-CN" altLang="en-US" dirty="0">
                <a:solidFill>
                  <a:srgbClr val="000000"/>
                </a:solidFill>
                <a:latin typeface="黑体" panose="02010609060101010101" pitchFamily="49" charset="-122"/>
                <a:ea typeface="黑体" panose="02010609060101010101" pitchFamily="49" charset="-122"/>
              </a:rPr>
              <a:t>码</a:t>
            </a:r>
            <a:r>
              <a:rPr kumimoji="0" lang="zh-CN" altLang="en-US" dirty="0">
                <a:solidFill>
                  <a:srgbClr val="FF0000"/>
                </a:solidFill>
                <a:latin typeface="黑体" panose="02010609060101010101" pitchFamily="49" charset="-122"/>
                <a:ea typeface="黑体" panose="02010609060101010101" pitchFamily="49" charset="-122"/>
              </a:rPr>
              <a:t> </a:t>
            </a:r>
            <a:endParaRPr kumimoji="0" lang="zh-CN" altLang="en-US" dirty="0">
              <a:solidFill>
                <a:srgbClr val="FF0000"/>
              </a:solidFill>
              <a:latin typeface="黑体" panose="02010609060101010101" pitchFamily="49" charset="-122"/>
              <a:ea typeface="黑体" panose="02010609060101010101" pitchFamily="49" charset="-122"/>
            </a:endParaRPr>
          </a:p>
        </p:txBody>
      </p:sp>
      <p:sp>
        <p:nvSpPr>
          <p:cNvPr id="7" name="Text Box 142"/>
          <p:cNvSpPr txBox="1">
            <a:spLocks noChangeArrowheads="1"/>
          </p:cNvSpPr>
          <p:nvPr/>
        </p:nvSpPr>
        <p:spPr bwMode="auto">
          <a:xfrm>
            <a:off x="720528" y="1457770"/>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dirty="0">
                <a:solidFill>
                  <a:srgbClr val="000000"/>
                </a:solidFill>
                <a:latin typeface="黑体" panose="02010609060101010101" pitchFamily="49" charset="-122"/>
                <a:ea typeface="黑体" panose="02010609060101010101" pitchFamily="49" charset="-122"/>
              </a:rPr>
              <a:t>合法码范围：</a:t>
            </a:r>
            <a:r>
              <a:rPr kumimoji="0" lang="en-US" altLang="zh-CN" sz="2400" dirty="0">
                <a:solidFill>
                  <a:srgbClr val="000000"/>
                </a:solidFill>
                <a:latin typeface="黑体" panose="02010609060101010101" pitchFamily="49" charset="-122"/>
                <a:ea typeface="黑体" panose="02010609060101010101" pitchFamily="49" charset="-122"/>
              </a:rPr>
              <a:t>0000-1001</a:t>
            </a:r>
            <a:endParaRPr kumimoji="0" lang="en-US" altLang="zh-CN" sz="2400"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nvSpPr>
        <p:spPr bwMode="auto">
          <a:xfrm>
            <a:off x="720528" y="1955610"/>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en-US" sz="2400" dirty="0">
                <a:solidFill>
                  <a:srgbClr val="000000"/>
                </a:solidFill>
                <a:latin typeface="黑体" panose="02010609060101010101" pitchFamily="49" charset="-122"/>
                <a:ea typeface="黑体" panose="02010609060101010101" pitchFamily="49" charset="-122"/>
              </a:rPr>
              <a:t>BCD</a:t>
            </a:r>
            <a:r>
              <a:rPr kumimoji="0" lang="zh-CN" altLang="en-US" sz="2400" dirty="0">
                <a:solidFill>
                  <a:srgbClr val="000000"/>
                </a:solidFill>
                <a:latin typeface="黑体" panose="02010609060101010101" pitchFamily="49" charset="-122"/>
                <a:ea typeface="黑体" panose="02010609060101010101" pitchFamily="49" charset="-122"/>
              </a:rPr>
              <a:t>数加法</a:t>
            </a:r>
            <a:r>
              <a:rPr kumimoji="0" lang="en-US" altLang="zh-CN" sz="2400" dirty="0">
                <a:solidFill>
                  <a:srgbClr val="000000"/>
                </a:solidFill>
                <a:latin typeface="黑体" panose="02010609060101010101" pitchFamily="49" charset="-122"/>
                <a:ea typeface="黑体" panose="02010609060101010101" pitchFamily="49" charset="-122"/>
              </a:rPr>
              <a:t>——</a:t>
            </a:r>
            <a:r>
              <a:rPr kumimoji="0" lang="zh-CN" altLang="en-US" sz="2400" dirty="0">
                <a:solidFill>
                  <a:srgbClr val="FF0000"/>
                </a:solidFill>
                <a:latin typeface="黑体" panose="02010609060101010101" pitchFamily="49" charset="-122"/>
                <a:ea typeface="黑体" panose="02010609060101010101" pitchFamily="49" charset="-122"/>
              </a:rPr>
              <a:t>加</a:t>
            </a:r>
            <a:r>
              <a:rPr kumimoji="0" lang="en-US" altLang="zh-CN" sz="2400" dirty="0">
                <a:solidFill>
                  <a:srgbClr val="FF0000"/>
                </a:solidFill>
                <a:latin typeface="黑体" panose="02010609060101010101" pitchFamily="49" charset="-122"/>
                <a:ea typeface="黑体" panose="02010609060101010101" pitchFamily="49" charset="-122"/>
              </a:rPr>
              <a:t>0110</a:t>
            </a:r>
            <a:r>
              <a:rPr kumimoji="0" lang="zh-CN" altLang="en-US" sz="2400" dirty="0">
                <a:solidFill>
                  <a:srgbClr val="FF0000"/>
                </a:solidFill>
                <a:latin typeface="黑体" panose="02010609060101010101" pitchFamily="49" charset="-122"/>
                <a:ea typeface="黑体" panose="02010609060101010101" pitchFamily="49" charset="-122"/>
              </a:rPr>
              <a:t>修正的</a:t>
            </a:r>
            <a:r>
              <a:rPr kumimoji="0" lang="zh-CN" altLang="en-US" sz="2400" dirty="0">
                <a:solidFill>
                  <a:srgbClr val="FF0000"/>
                </a:solidFill>
                <a:latin typeface="黑体" panose="02010609060101010101" pitchFamily="49" charset="-122"/>
                <a:ea typeface="黑体" panose="02010609060101010101" pitchFamily="49" charset="-122"/>
              </a:rPr>
              <a:t>时机</a:t>
            </a:r>
            <a:endParaRPr kumimoji="0" lang="zh-CN" altLang="en-US" sz="2400" dirty="0">
              <a:solidFill>
                <a:srgbClr val="FF0000"/>
              </a:solidFill>
              <a:latin typeface="黑体" panose="02010609060101010101" pitchFamily="49" charset="-122"/>
              <a:ea typeface="黑体" panose="02010609060101010101" pitchFamily="49" charset="-122"/>
            </a:endParaRPr>
          </a:p>
        </p:txBody>
      </p:sp>
      <p:pic>
        <p:nvPicPr>
          <p:cNvPr id="9" name="图片 8"/>
          <p:cNvPicPr>
            <a:picLocks noChangeAspect="1"/>
          </p:cNvPicPr>
          <p:nvPr/>
        </p:nvPicPr>
        <p:blipFill>
          <a:blip r:embed="rId1"/>
          <a:srcRect t="13103"/>
          <a:stretch>
            <a:fillRect/>
          </a:stretch>
        </p:blipFill>
        <p:spPr>
          <a:xfrm>
            <a:off x="173355" y="2707005"/>
            <a:ext cx="4435475" cy="2796540"/>
          </a:xfrm>
          <a:prstGeom prst="rect">
            <a:avLst/>
          </a:prstGeom>
        </p:spPr>
      </p:pic>
      <p:pic>
        <p:nvPicPr>
          <p:cNvPr id="10" name="图片 9"/>
          <p:cNvPicPr>
            <a:picLocks noChangeAspect="1"/>
          </p:cNvPicPr>
          <p:nvPr/>
        </p:nvPicPr>
        <p:blipFill>
          <a:blip r:embed="rId2"/>
          <a:stretch>
            <a:fillRect/>
          </a:stretch>
        </p:blipFill>
        <p:spPr>
          <a:xfrm>
            <a:off x="4533265" y="2683510"/>
            <a:ext cx="4522470" cy="2835910"/>
          </a:xfrm>
          <a:prstGeom prst="rect">
            <a:avLst/>
          </a:prstGeom>
        </p:spPr>
      </p:pic>
      <p:sp>
        <p:nvSpPr>
          <p:cNvPr id="11" name="Text Box 4"/>
          <p:cNvSpPr txBox="1">
            <a:spLocks noChangeArrowheads="1"/>
          </p:cNvSpPr>
          <p:nvPr/>
        </p:nvSpPr>
        <p:spPr bwMode="auto">
          <a:xfrm>
            <a:off x="1527770" y="1861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主题一 数制与码制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bldLst>
      <p:bldP spid="5" grpId="0" bldLvl="0" animBg="1" autoUpdateAnimBg="0"/>
      <p:bldP spid="7" grpId="0" bldLvl="0" animBg="1" autoUpdateAnimBg="0"/>
      <p:bldP spid="8" grpId="0" bldLvl="0" animBg="1" autoUpdateAnimBg="0"/>
      <p:bldP spid="11" grpId="0" bldLvl="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3" name="Text Box 4"/>
          <p:cNvSpPr txBox="1">
            <a:spLocks noChangeArrowheads="1"/>
          </p:cNvSpPr>
          <p:nvPr/>
        </p:nvSpPr>
        <p:spPr bwMode="auto">
          <a:xfrm>
            <a:off x="1547455" y="20583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主题二</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逻辑代数</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基础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nvSpPr>
        <p:spPr bwMode="auto">
          <a:xfrm>
            <a:off x="517963" y="8507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2.1 </a:t>
            </a:r>
            <a:r>
              <a:rPr kumimoji="0" lang="zh-CN" altLang="en-US" dirty="0">
                <a:solidFill>
                  <a:srgbClr val="000000"/>
                </a:solidFill>
                <a:latin typeface="黑体" panose="02010609060101010101" pitchFamily="49" charset="-122"/>
                <a:ea typeface="黑体" panose="02010609060101010101" pitchFamily="49" charset="-122"/>
              </a:rPr>
              <a:t>逻辑代数基本概念、运算与符号</a:t>
            </a:r>
            <a:r>
              <a:rPr kumimoji="0" lang="zh-CN" altLang="en-US" dirty="0">
                <a:solidFill>
                  <a:srgbClr val="FF0000"/>
                </a:solidFill>
                <a:latin typeface="黑体" panose="02010609060101010101" pitchFamily="49" charset="-122"/>
                <a:ea typeface="黑体" panose="02010609060101010101" pitchFamily="49" charset="-122"/>
              </a:rPr>
              <a:t> </a:t>
            </a:r>
            <a:endParaRPr kumimoji="0" lang="zh-CN" altLang="en-US" dirty="0">
              <a:solidFill>
                <a:srgbClr val="FF0000"/>
              </a:solidFill>
              <a:latin typeface="黑体" panose="02010609060101010101" pitchFamily="49" charset="-122"/>
              <a:ea typeface="黑体" panose="02010609060101010101" pitchFamily="49" charset="-122"/>
            </a:endParaRPr>
          </a:p>
        </p:txBody>
      </p:sp>
      <p:sp>
        <p:nvSpPr>
          <p:cNvPr id="7" name="Text Box 142"/>
          <p:cNvSpPr txBox="1">
            <a:spLocks noChangeArrowheads="1"/>
          </p:cNvSpPr>
          <p:nvPr/>
        </p:nvSpPr>
        <p:spPr bwMode="auto">
          <a:xfrm>
            <a:off x="720528" y="1372680"/>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dirty="0">
                <a:solidFill>
                  <a:srgbClr val="000000"/>
                </a:solidFill>
                <a:latin typeface="黑体" panose="02010609060101010101" pitchFamily="49" charset="-122"/>
                <a:ea typeface="黑体" panose="02010609060101010101" pitchFamily="49" charset="-122"/>
              </a:rPr>
              <a:t>与</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60430" name="Text Box 14"/>
          <p:cNvSpPr txBox="1">
            <a:spLocks noChangeArrowheads="1"/>
          </p:cNvSpPr>
          <p:nvPr/>
        </p:nvSpPr>
        <p:spPr bwMode="auto">
          <a:xfrm>
            <a:off x="1768475" y="1372235"/>
            <a:ext cx="1557020" cy="403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sz="2400" b="1"/>
              <a:t>F = A · B</a:t>
            </a:r>
            <a:endParaRPr kumimoji="0" lang="en-US" altLang="zh-CN" sz="2400" b="1"/>
          </a:p>
        </p:txBody>
      </p:sp>
      <p:pic>
        <p:nvPicPr>
          <p:cNvPr id="14344" name="图片 1"/>
          <p:cNvPicPr>
            <a:picLocks noChangeAspect="1"/>
          </p:cNvPicPr>
          <p:nvPr/>
        </p:nvPicPr>
        <p:blipFill>
          <a:blip r:embed="rId1" cstate="print">
            <a:biLevel thresh="50000"/>
            <a:grayscl/>
            <a:extLst>
              <a:ext uri="{28A0092B-C50C-407E-A947-70E740481C1C}">
                <a14:useLocalDpi xmlns:a14="http://schemas.microsoft.com/office/drawing/2010/main" val="0"/>
              </a:ext>
            </a:extLst>
          </a:blip>
          <a:srcRect/>
          <a:stretch>
            <a:fillRect/>
          </a:stretch>
        </p:blipFill>
        <p:spPr bwMode="auto">
          <a:xfrm>
            <a:off x="824230" y="1833245"/>
            <a:ext cx="2790190" cy="2760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42"/>
          <p:cNvSpPr txBox="1">
            <a:spLocks noChangeArrowheads="1"/>
          </p:cNvSpPr>
          <p:nvPr/>
        </p:nvSpPr>
        <p:spPr bwMode="auto">
          <a:xfrm>
            <a:off x="4739640" y="1374140"/>
            <a:ext cx="720217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zh-CN" altLang="en-US" sz="2400" dirty="0">
                <a:solidFill>
                  <a:srgbClr val="000000"/>
                </a:solidFill>
                <a:latin typeface="黑体" panose="02010609060101010101" pitchFamily="49" charset="-122"/>
                <a:ea typeface="黑体" panose="02010609060101010101" pitchFamily="49" charset="-122"/>
              </a:rPr>
              <a:t>或</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11" name="Text Box 14"/>
          <p:cNvSpPr txBox="1">
            <a:spLocks noChangeArrowheads="1"/>
          </p:cNvSpPr>
          <p:nvPr/>
        </p:nvSpPr>
        <p:spPr bwMode="auto">
          <a:xfrm>
            <a:off x="5787390" y="1373505"/>
            <a:ext cx="1560830" cy="403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sz="2400" b="1"/>
              <a:t>F = A + B</a:t>
            </a:r>
            <a:endParaRPr kumimoji="0" lang="en-US" altLang="zh-CN" sz="2400" b="1"/>
          </a:p>
        </p:txBody>
      </p:sp>
      <p:pic>
        <p:nvPicPr>
          <p:cNvPr id="16392" name="Picture 30"/>
          <p:cNvPicPr>
            <a:picLocks noChangeAspect="1" noChangeArrowheads="1"/>
          </p:cNvPicPr>
          <p:nvPr/>
        </p:nvPicPr>
        <p:blipFill>
          <a:blip r:embed="rId2" cstate="print">
            <a:biLevel thresh="50000"/>
            <a:grayscl/>
            <a:extLst>
              <a:ext uri="{28A0092B-C50C-407E-A947-70E740481C1C}">
                <a14:useLocalDpi xmlns:a14="http://schemas.microsoft.com/office/drawing/2010/main" val="0"/>
              </a:ext>
            </a:extLst>
          </a:blip>
          <a:srcRect l="43211" t="10106" r="48000" b="69664"/>
          <a:stretch>
            <a:fillRect/>
          </a:stretch>
        </p:blipFill>
        <p:spPr bwMode="auto">
          <a:xfrm>
            <a:off x="5426075" y="1776095"/>
            <a:ext cx="2054860" cy="2995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 Box 142"/>
          <p:cNvSpPr txBox="1">
            <a:spLocks noChangeArrowheads="1"/>
          </p:cNvSpPr>
          <p:nvPr/>
        </p:nvSpPr>
        <p:spPr bwMode="auto">
          <a:xfrm>
            <a:off x="720528" y="459403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(3)</a:t>
            </a:r>
            <a:r>
              <a:rPr kumimoji="0" lang="zh-CN" altLang="en-US" sz="2400" dirty="0">
                <a:solidFill>
                  <a:srgbClr val="000000"/>
                </a:solidFill>
                <a:latin typeface="黑体" panose="02010609060101010101" pitchFamily="49" charset="-122"/>
                <a:ea typeface="黑体" panose="02010609060101010101" pitchFamily="49" charset="-122"/>
              </a:rPr>
              <a:t>非</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17423" name="Text Box 5"/>
          <p:cNvSpPr txBox="1">
            <a:spLocks noChangeArrowheads="1"/>
          </p:cNvSpPr>
          <p:nvPr/>
        </p:nvSpPr>
        <p:spPr bwMode="auto">
          <a:xfrm>
            <a:off x="1613853" y="4593590"/>
            <a:ext cx="20002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a:t>F  =   A</a:t>
            </a:r>
            <a:endParaRPr kumimoji="0" lang="en-US" altLang="zh-CN"/>
          </a:p>
        </p:txBody>
      </p:sp>
      <p:sp>
        <p:nvSpPr>
          <p:cNvPr id="17424" name="Line 7"/>
          <p:cNvSpPr>
            <a:spLocks noChangeShapeType="1"/>
          </p:cNvSpPr>
          <p:nvPr/>
        </p:nvSpPr>
        <p:spPr bwMode="auto">
          <a:xfrm>
            <a:off x="2457133" y="4650740"/>
            <a:ext cx="457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pic>
        <p:nvPicPr>
          <p:cNvPr id="18440" name="Picture 75"/>
          <p:cNvPicPr>
            <a:picLocks noChangeAspect="1" noChangeArrowheads="1"/>
          </p:cNvPicPr>
          <p:nvPr/>
        </p:nvPicPr>
        <p:blipFill>
          <a:blip r:embed="rId3" cstate="print">
            <a:biLevel thresh="50000"/>
            <a:grayscl/>
            <a:extLst>
              <a:ext uri="{28A0092B-C50C-407E-A947-70E740481C1C}">
                <a14:useLocalDpi xmlns:a14="http://schemas.microsoft.com/office/drawing/2010/main" val="0"/>
              </a:ext>
            </a:extLst>
          </a:blip>
          <a:srcRect l="53064" t="10106" r="38676" b="84431"/>
          <a:stretch>
            <a:fillRect/>
          </a:stretch>
        </p:blipFill>
        <p:spPr bwMode="auto">
          <a:xfrm>
            <a:off x="1154430" y="5113020"/>
            <a:ext cx="2002155" cy="814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75"/>
          <p:cNvPicPr>
            <a:picLocks noChangeAspect="1" noChangeArrowheads="1"/>
          </p:cNvPicPr>
          <p:nvPr/>
        </p:nvPicPr>
        <p:blipFill>
          <a:blip r:embed="rId3" cstate="print">
            <a:biLevel thresh="50000"/>
            <a:grayscl/>
            <a:extLst>
              <a:ext uri="{28A0092B-C50C-407E-A947-70E740481C1C}">
                <a14:useLocalDpi xmlns:a14="http://schemas.microsoft.com/office/drawing/2010/main" val="0"/>
              </a:ext>
            </a:extLst>
          </a:blip>
          <a:srcRect l="53064" t="17720" r="38676" b="76961"/>
          <a:stretch>
            <a:fillRect/>
          </a:stretch>
        </p:blipFill>
        <p:spPr bwMode="auto">
          <a:xfrm>
            <a:off x="3238500" y="5113020"/>
            <a:ext cx="2078355" cy="823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75"/>
          <p:cNvPicPr>
            <a:picLocks noChangeAspect="1" noChangeArrowheads="1"/>
          </p:cNvPicPr>
          <p:nvPr/>
        </p:nvPicPr>
        <p:blipFill>
          <a:blip r:embed="rId3" cstate="print">
            <a:biLevel thresh="50000"/>
            <a:grayscl/>
            <a:extLst>
              <a:ext uri="{28A0092B-C50C-407E-A947-70E740481C1C}">
                <a14:useLocalDpi xmlns:a14="http://schemas.microsoft.com/office/drawing/2010/main" val="0"/>
              </a:ext>
            </a:extLst>
          </a:blip>
          <a:srcRect l="53064" t="25414" r="38676" b="70728"/>
          <a:stretch>
            <a:fillRect/>
          </a:stretch>
        </p:blipFill>
        <p:spPr bwMode="auto">
          <a:xfrm>
            <a:off x="5398770" y="5164455"/>
            <a:ext cx="2473325" cy="710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bldLst>
      <p:bldP spid="13" grpId="0" bldLvl="0" animBg="1" autoUpdateAnimBg="0"/>
      <p:bldP spid="5" grpId="0" bldLvl="0" animBg="1" autoUpdateAnimBg="0"/>
      <p:bldP spid="7" grpId="0" bldLvl="0" animBg="1" autoUpdateAnimBg="0"/>
      <p:bldP spid="60430" grpId="0" bldLvl="0" animBg="1" autoUpdateAnimBg="0"/>
      <p:bldP spid="6" grpId="0" bldLvl="0" animBg="1" autoUpdateAnimBg="0"/>
      <p:bldP spid="11" grpId="0" bldLvl="0" animBg="1" autoUpdateAnimBg="0"/>
      <p:bldP spid="12" grpId="0" bldLvl="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4761" name="Picture 9"/>
          <p:cNvPicPr>
            <a:picLocks noChangeAspect="1" noChangeArrowheads="1"/>
          </p:cNvPicPr>
          <p:nvPr/>
        </p:nvPicPr>
        <p:blipFill>
          <a:blip r:embed="rId1" cstate="print">
            <a:extLst>
              <a:ext uri="{28A0092B-C50C-407E-A947-70E740481C1C}">
                <a14:useLocalDpi xmlns:a14="http://schemas.microsoft.com/office/drawing/2010/main" val="0"/>
              </a:ext>
            </a:extLst>
          </a:blip>
          <a:srcRect l="2667" t="10789" r="74400" b="79260"/>
          <a:stretch>
            <a:fillRect/>
          </a:stretch>
        </p:blipFill>
        <p:spPr bwMode="auto">
          <a:xfrm>
            <a:off x="518160" y="4837430"/>
            <a:ext cx="4796155" cy="131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3" name="Text Box 4"/>
          <p:cNvSpPr txBox="1">
            <a:spLocks noChangeArrowheads="1"/>
          </p:cNvSpPr>
          <p:nvPr/>
        </p:nvSpPr>
        <p:spPr bwMode="auto">
          <a:xfrm>
            <a:off x="1547455" y="20583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主题二</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逻辑代数</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基础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nvSpPr>
        <p:spPr bwMode="auto">
          <a:xfrm>
            <a:off x="517963" y="8507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2.1 </a:t>
            </a:r>
            <a:r>
              <a:rPr kumimoji="0" lang="zh-CN" altLang="en-US" dirty="0">
                <a:solidFill>
                  <a:srgbClr val="000000"/>
                </a:solidFill>
                <a:latin typeface="黑体" panose="02010609060101010101" pitchFamily="49" charset="-122"/>
                <a:ea typeface="黑体" panose="02010609060101010101" pitchFamily="49" charset="-122"/>
              </a:rPr>
              <a:t>逻辑代数基本概念、运算与符号</a:t>
            </a:r>
            <a:r>
              <a:rPr kumimoji="0" lang="zh-CN" altLang="en-US" dirty="0">
                <a:solidFill>
                  <a:srgbClr val="FF0000"/>
                </a:solidFill>
                <a:latin typeface="黑体" panose="02010609060101010101" pitchFamily="49" charset="-122"/>
                <a:ea typeface="黑体" panose="02010609060101010101" pitchFamily="49" charset="-122"/>
              </a:rPr>
              <a:t> </a:t>
            </a:r>
            <a:endParaRPr kumimoji="0" lang="zh-CN" altLang="en-US" dirty="0">
              <a:solidFill>
                <a:srgbClr val="FF0000"/>
              </a:solidFill>
              <a:latin typeface="黑体" panose="02010609060101010101" pitchFamily="49" charset="-122"/>
              <a:ea typeface="黑体" panose="02010609060101010101" pitchFamily="49" charset="-122"/>
            </a:endParaRPr>
          </a:p>
        </p:txBody>
      </p:sp>
      <p:sp>
        <p:nvSpPr>
          <p:cNvPr id="7" name="Text Box 142"/>
          <p:cNvSpPr txBox="1">
            <a:spLocks noChangeArrowheads="1"/>
          </p:cNvSpPr>
          <p:nvPr>
            <p:custDataLst>
              <p:tags r:id="rId2"/>
            </p:custDataLst>
          </p:nvPr>
        </p:nvSpPr>
        <p:spPr bwMode="auto">
          <a:xfrm>
            <a:off x="720528" y="1467930"/>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(4)</a:t>
            </a:r>
            <a:r>
              <a:rPr kumimoji="0" lang="zh-CN" altLang="en-US" sz="2400" dirty="0">
                <a:solidFill>
                  <a:srgbClr val="000000"/>
                </a:solidFill>
                <a:latin typeface="黑体" panose="02010609060101010101" pitchFamily="49" charset="-122"/>
                <a:ea typeface="黑体" panose="02010609060101010101" pitchFamily="49" charset="-122"/>
              </a:rPr>
              <a:t>与</a:t>
            </a:r>
            <a:r>
              <a:rPr kumimoji="0" lang="zh-CN" altLang="en-US" sz="2400" dirty="0">
                <a:solidFill>
                  <a:srgbClr val="000000"/>
                </a:solidFill>
                <a:latin typeface="黑体" panose="02010609060101010101" pitchFamily="49" charset="-122"/>
                <a:ea typeface="黑体" panose="02010609060101010101" pitchFamily="49" charset="-122"/>
              </a:rPr>
              <a:t>非</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6" name="Text Box 142"/>
          <p:cNvSpPr txBox="1">
            <a:spLocks noChangeArrowheads="1"/>
          </p:cNvSpPr>
          <p:nvPr>
            <p:custDataLst>
              <p:tags r:id="rId3"/>
            </p:custDataLst>
          </p:nvPr>
        </p:nvSpPr>
        <p:spPr bwMode="auto">
          <a:xfrm>
            <a:off x="720725" y="3030855"/>
            <a:ext cx="298069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(5)</a:t>
            </a:r>
            <a:r>
              <a:rPr kumimoji="0" lang="zh-CN" altLang="en-US" sz="2400" dirty="0">
                <a:solidFill>
                  <a:srgbClr val="000000"/>
                </a:solidFill>
                <a:latin typeface="黑体" panose="02010609060101010101" pitchFamily="49" charset="-122"/>
                <a:ea typeface="黑体" panose="02010609060101010101" pitchFamily="49" charset="-122"/>
              </a:rPr>
              <a:t>或</a:t>
            </a:r>
            <a:r>
              <a:rPr kumimoji="0" lang="zh-CN" altLang="en-US" sz="2400" dirty="0">
                <a:solidFill>
                  <a:srgbClr val="000000"/>
                </a:solidFill>
                <a:latin typeface="黑体" panose="02010609060101010101" pitchFamily="49" charset="-122"/>
                <a:ea typeface="黑体" panose="02010609060101010101" pitchFamily="49" charset="-122"/>
              </a:rPr>
              <a:t>非</a:t>
            </a:r>
            <a:endParaRPr kumimoji="0" lang="zh-CN" altLang="en-US" sz="2400" dirty="0">
              <a:solidFill>
                <a:srgbClr val="000000"/>
              </a:solidFill>
              <a:latin typeface="黑体" panose="02010609060101010101" pitchFamily="49" charset="-122"/>
              <a:ea typeface="黑体" panose="02010609060101010101" pitchFamily="49" charset="-122"/>
            </a:endParaRPr>
          </a:p>
        </p:txBody>
      </p:sp>
      <p:pic>
        <p:nvPicPr>
          <p:cNvPr id="8" name="图片 7"/>
          <p:cNvPicPr>
            <a:picLocks noChangeAspect="1"/>
          </p:cNvPicPr>
          <p:nvPr/>
        </p:nvPicPr>
        <p:blipFill>
          <a:blip r:embed="rId4"/>
          <a:stretch>
            <a:fillRect/>
          </a:stretch>
        </p:blipFill>
        <p:spPr>
          <a:xfrm>
            <a:off x="2000250" y="1372870"/>
            <a:ext cx="1043940" cy="541020"/>
          </a:xfrm>
          <a:prstGeom prst="rect">
            <a:avLst/>
          </a:prstGeom>
        </p:spPr>
      </p:pic>
      <p:pic>
        <p:nvPicPr>
          <p:cNvPr id="72713" name="Picture 9"/>
          <p:cNvPicPr>
            <a:picLocks noChangeAspect="1" noChangeArrowheads="1"/>
          </p:cNvPicPr>
          <p:nvPr/>
        </p:nvPicPr>
        <p:blipFill>
          <a:blip r:embed="rId5" cstate="print">
            <a:extLst>
              <a:ext uri="{28A0092B-C50C-407E-A947-70E740481C1C}">
                <a14:useLocalDpi xmlns:a14="http://schemas.microsoft.com/office/drawing/2010/main" val="0"/>
              </a:ext>
            </a:extLst>
          </a:blip>
          <a:srcRect l="20267" t="53894" r="54134" b="41054"/>
          <a:stretch>
            <a:fillRect/>
          </a:stretch>
        </p:blipFill>
        <p:spPr bwMode="auto">
          <a:xfrm>
            <a:off x="762000" y="1913573"/>
            <a:ext cx="7696200"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图片 8"/>
          <p:cNvPicPr>
            <a:picLocks noChangeAspect="1"/>
          </p:cNvPicPr>
          <p:nvPr/>
        </p:nvPicPr>
        <p:blipFill>
          <a:blip r:embed="rId6"/>
          <a:stretch>
            <a:fillRect/>
          </a:stretch>
        </p:blipFill>
        <p:spPr>
          <a:xfrm>
            <a:off x="1894840" y="2988310"/>
            <a:ext cx="1424940" cy="502920"/>
          </a:xfrm>
          <a:prstGeom prst="rect">
            <a:avLst/>
          </a:prstGeom>
        </p:spPr>
      </p:pic>
      <p:pic>
        <p:nvPicPr>
          <p:cNvPr id="73737" name="Picture 9"/>
          <p:cNvPicPr>
            <a:picLocks noChangeAspect="1" noChangeArrowheads="1"/>
          </p:cNvPicPr>
          <p:nvPr/>
        </p:nvPicPr>
        <p:blipFill>
          <a:blip r:embed="rId7" cstate="print">
            <a:extLst>
              <a:ext uri="{28A0092B-C50C-407E-A947-70E740481C1C}">
                <a14:useLocalDpi xmlns:a14="http://schemas.microsoft.com/office/drawing/2010/main" val="0"/>
              </a:ext>
            </a:extLst>
          </a:blip>
          <a:srcRect l="20267" t="61473" r="54134" b="33475"/>
          <a:stretch>
            <a:fillRect/>
          </a:stretch>
        </p:blipFill>
        <p:spPr bwMode="auto">
          <a:xfrm>
            <a:off x="762000" y="3491230"/>
            <a:ext cx="7696200"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 Box 142"/>
          <p:cNvSpPr txBox="1">
            <a:spLocks noChangeArrowheads="1"/>
          </p:cNvSpPr>
          <p:nvPr>
            <p:custDataLst>
              <p:tags r:id="rId8"/>
            </p:custDataLst>
          </p:nvPr>
        </p:nvSpPr>
        <p:spPr bwMode="auto">
          <a:xfrm>
            <a:off x="735330" y="4519295"/>
            <a:ext cx="298069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(6)</a:t>
            </a:r>
            <a:r>
              <a:rPr kumimoji="0" lang="zh-CN" altLang="en-US" sz="2400" dirty="0">
                <a:solidFill>
                  <a:srgbClr val="000000"/>
                </a:solidFill>
                <a:latin typeface="黑体" panose="02010609060101010101" pitchFamily="49" charset="-122"/>
                <a:ea typeface="黑体" panose="02010609060101010101" pitchFamily="49" charset="-122"/>
              </a:rPr>
              <a:t>与或</a:t>
            </a:r>
            <a:r>
              <a:rPr kumimoji="0" lang="zh-CN" altLang="en-US" sz="2400" dirty="0">
                <a:solidFill>
                  <a:srgbClr val="000000"/>
                </a:solidFill>
                <a:latin typeface="黑体" panose="02010609060101010101" pitchFamily="49" charset="-122"/>
                <a:ea typeface="黑体" panose="02010609060101010101" pitchFamily="49" charset="-122"/>
              </a:rPr>
              <a:t>非</a:t>
            </a:r>
            <a:endParaRPr kumimoji="0" lang="zh-CN" altLang="en-US" sz="2400" dirty="0">
              <a:solidFill>
                <a:srgbClr val="000000"/>
              </a:solidFill>
              <a:latin typeface="黑体" panose="02010609060101010101" pitchFamily="49" charset="-122"/>
              <a:ea typeface="黑体" panose="02010609060101010101" pitchFamily="49" charset="-122"/>
            </a:endParaRPr>
          </a:p>
        </p:txBody>
      </p:sp>
      <p:pic>
        <p:nvPicPr>
          <p:cNvPr id="14" name="图片 13"/>
          <p:cNvPicPr>
            <a:picLocks noChangeAspect="1"/>
          </p:cNvPicPr>
          <p:nvPr/>
        </p:nvPicPr>
        <p:blipFill>
          <a:blip r:embed="rId9"/>
          <a:stretch>
            <a:fillRect/>
          </a:stretch>
        </p:blipFill>
        <p:spPr>
          <a:xfrm>
            <a:off x="2322195" y="4378325"/>
            <a:ext cx="1874520" cy="609600"/>
          </a:xfrm>
          <a:prstGeom prst="rect">
            <a:avLst/>
          </a:prstGeom>
        </p:spPr>
      </p:pic>
      <p:pic>
        <p:nvPicPr>
          <p:cNvPr id="17" name="Picture 9"/>
          <p:cNvPicPr>
            <a:picLocks noChangeAspect="1" noChangeArrowheads="1"/>
          </p:cNvPicPr>
          <p:nvPr/>
        </p:nvPicPr>
        <p:blipFill>
          <a:blip r:embed="rId1" cstate="print">
            <a:extLst>
              <a:ext uri="{28A0092B-C50C-407E-A947-70E740481C1C}">
                <a14:useLocalDpi xmlns:a14="http://schemas.microsoft.com/office/drawing/2010/main" val="0"/>
              </a:ext>
            </a:extLst>
          </a:blip>
          <a:srcRect l="6533" t="23784" r="78281" b="66316"/>
          <a:stretch>
            <a:fillRect/>
          </a:stretch>
        </p:blipFill>
        <p:spPr bwMode="auto">
          <a:xfrm>
            <a:off x="5154295" y="4837430"/>
            <a:ext cx="313817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bldLst>
      <p:bldP spid="13" grpId="0" bldLvl="0" animBg="1" autoUpdateAnimBg="0"/>
      <p:bldP spid="5" grpId="0" bldLvl="0" animBg="1" autoUpdateAnimBg="0"/>
      <p:bldP spid="7" grpId="0" bldLvl="0" animBg="1" autoUpdateAnimBg="0"/>
      <p:bldP spid="6" grpId="0" bldLvl="0" animBg="1" autoUpdateAnimBg="0"/>
      <p:bldP spid="10" grpId="0" bldLvl="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3" name="Text Box 4"/>
          <p:cNvSpPr txBox="1">
            <a:spLocks noChangeArrowheads="1"/>
          </p:cNvSpPr>
          <p:nvPr/>
        </p:nvSpPr>
        <p:spPr bwMode="auto">
          <a:xfrm>
            <a:off x="1547455" y="20583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主题二</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逻辑代数</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基础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nvSpPr>
        <p:spPr bwMode="auto">
          <a:xfrm>
            <a:off x="517963" y="8507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2.1 </a:t>
            </a:r>
            <a:r>
              <a:rPr kumimoji="0" lang="zh-CN" altLang="en-US" dirty="0">
                <a:solidFill>
                  <a:srgbClr val="000000"/>
                </a:solidFill>
                <a:latin typeface="黑体" panose="02010609060101010101" pitchFamily="49" charset="-122"/>
                <a:ea typeface="黑体" panose="02010609060101010101" pitchFamily="49" charset="-122"/>
              </a:rPr>
              <a:t>逻辑代数基本概念、运算与符号</a:t>
            </a:r>
            <a:r>
              <a:rPr kumimoji="0" lang="zh-CN" altLang="en-US" dirty="0">
                <a:solidFill>
                  <a:srgbClr val="FF0000"/>
                </a:solidFill>
                <a:latin typeface="黑体" panose="02010609060101010101" pitchFamily="49" charset="-122"/>
                <a:ea typeface="黑体" panose="02010609060101010101" pitchFamily="49" charset="-122"/>
              </a:rPr>
              <a:t> </a:t>
            </a:r>
            <a:endParaRPr kumimoji="0" lang="zh-CN" altLang="en-US" dirty="0">
              <a:solidFill>
                <a:srgbClr val="FF0000"/>
              </a:solidFill>
              <a:latin typeface="黑体" panose="02010609060101010101" pitchFamily="49" charset="-122"/>
              <a:ea typeface="黑体" panose="02010609060101010101" pitchFamily="49" charset="-122"/>
            </a:endParaRPr>
          </a:p>
        </p:txBody>
      </p:sp>
      <p:sp>
        <p:nvSpPr>
          <p:cNvPr id="7" name="Text Box 142"/>
          <p:cNvSpPr txBox="1">
            <a:spLocks noChangeArrowheads="1"/>
          </p:cNvSpPr>
          <p:nvPr>
            <p:custDataLst>
              <p:tags r:id="rId1"/>
            </p:custDataLst>
          </p:nvPr>
        </p:nvSpPr>
        <p:spPr bwMode="auto">
          <a:xfrm>
            <a:off x="720528" y="1467930"/>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(7)</a:t>
            </a:r>
            <a:r>
              <a:rPr kumimoji="0" lang="zh-CN" altLang="en-US" sz="2400" dirty="0">
                <a:solidFill>
                  <a:srgbClr val="000000"/>
                </a:solidFill>
                <a:latin typeface="黑体" panose="02010609060101010101" pitchFamily="49" charset="-122"/>
                <a:ea typeface="黑体" panose="02010609060101010101" pitchFamily="49" charset="-122"/>
              </a:rPr>
              <a:t>异或</a:t>
            </a:r>
            <a:endParaRPr kumimoji="0" lang="zh-CN" altLang="en-US" sz="2400" dirty="0">
              <a:solidFill>
                <a:srgbClr val="000000"/>
              </a:solidFill>
              <a:latin typeface="黑体" panose="02010609060101010101" pitchFamily="49" charset="-122"/>
              <a:ea typeface="黑体" panose="02010609060101010101" pitchFamily="49" charset="-122"/>
            </a:endParaRPr>
          </a:p>
        </p:txBody>
      </p:sp>
      <p:grpSp>
        <p:nvGrpSpPr>
          <p:cNvPr id="75785" name="Group 9"/>
          <p:cNvGrpSpPr/>
          <p:nvPr/>
        </p:nvGrpSpPr>
        <p:grpSpPr bwMode="auto">
          <a:xfrm>
            <a:off x="942975" y="2013903"/>
            <a:ext cx="4114800" cy="519112"/>
            <a:chOff x="2544" y="726"/>
            <a:chExt cx="2592" cy="327"/>
          </a:xfrm>
        </p:grpSpPr>
        <p:sp>
          <p:nvSpPr>
            <p:cNvPr id="22575" name="Text Box 5"/>
            <p:cNvSpPr txBox="1">
              <a:spLocks noChangeArrowheads="1"/>
            </p:cNvSpPr>
            <p:nvPr/>
          </p:nvSpPr>
          <p:spPr bwMode="auto">
            <a:xfrm>
              <a:off x="2544" y="726"/>
              <a:ext cx="259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dirty="0">
                  <a:solidFill>
                    <a:srgbClr val="000000"/>
                  </a:solidFill>
                </a:rPr>
                <a:t>F = A⊕B = AB + AB</a:t>
              </a:r>
              <a:endParaRPr kumimoji="0" lang="en-US" altLang="zh-CN" b="1" dirty="0">
                <a:solidFill>
                  <a:srgbClr val="000000"/>
                </a:solidFill>
              </a:endParaRPr>
            </a:p>
          </p:txBody>
        </p:sp>
        <p:sp>
          <p:nvSpPr>
            <p:cNvPr id="22576" name="Line 7"/>
            <p:cNvSpPr>
              <a:spLocks noChangeShapeType="1"/>
            </p:cNvSpPr>
            <p:nvPr/>
          </p:nvSpPr>
          <p:spPr bwMode="auto">
            <a:xfrm>
              <a:off x="3870" y="768"/>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577" name="Line 8"/>
            <p:cNvSpPr>
              <a:spLocks noChangeShapeType="1"/>
            </p:cNvSpPr>
            <p:nvPr/>
          </p:nvSpPr>
          <p:spPr bwMode="auto">
            <a:xfrm>
              <a:off x="4258" y="768"/>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114705" name="Group 17"/>
          <p:cNvGrpSpPr/>
          <p:nvPr>
            <p:custDataLst>
              <p:tags r:id="rId2"/>
            </p:custDataLst>
          </p:nvPr>
        </p:nvGrpSpPr>
        <p:grpSpPr bwMode="auto">
          <a:xfrm>
            <a:off x="942975" y="2684145"/>
            <a:ext cx="2663825" cy="2879725"/>
            <a:chOff x="2472" y="1253"/>
            <a:chExt cx="1776" cy="2199"/>
          </a:xfrm>
        </p:grpSpPr>
        <p:sp>
          <p:nvSpPr>
            <p:cNvPr id="22559" name="Rectangle 18"/>
            <p:cNvSpPr>
              <a:spLocks noChangeArrowheads="1"/>
            </p:cNvSpPr>
            <p:nvPr>
              <p:custDataLst>
                <p:tags r:id="rId3"/>
              </p:custDataLst>
            </p:nvPr>
          </p:nvSpPr>
          <p:spPr bwMode="auto">
            <a:xfrm>
              <a:off x="3464" y="3023"/>
              <a:ext cx="784" cy="429"/>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a:t>
              </a:r>
              <a:endParaRPr lang="en-US" altLang="zh-CN" b="1">
                <a:solidFill>
                  <a:srgbClr val="000000"/>
                </a:solidFill>
                <a:ea typeface="楷体_GB2312" pitchFamily="49" charset="-122"/>
              </a:endParaRPr>
            </a:p>
          </p:txBody>
        </p:sp>
        <p:sp>
          <p:nvSpPr>
            <p:cNvPr id="22560" name="Rectangle 19"/>
            <p:cNvSpPr>
              <a:spLocks noChangeArrowheads="1"/>
            </p:cNvSpPr>
            <p:nvPr>
              <p:custDataLst>
                <p:tags r:id="rId4"/>
              </p:custDataLst>
            </p:nvPr>
          </p:nvSpPr>
          <p:spPr bwMode="auto">
            <a:xfrm>
              <a:off x="2472" y="3023"/>
              <a:ext cx="992" cy="429"/>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1     1</a:t>
              </a:r>
              <a:endParaRPr lang="en-US" altLang="zh-CN" b="1">
                <a:solidFill>
                  <a:srgbClr val="000000"/>
                </a:solidFill>
                <a:ea typeface="楷体_GB2312" pitchFamily="49" charset="-122"/>
              </a:endParaRPr>
            </a:p>
          </p:txBody>
        </p:sp>
        <p:sp>
          <p:nvSpPr>
            <p:cNvPr id="22561" name="Rectangle 20"/>
            <p:cNvSpPr>
              <a:spLocks noChangeArrowheads="1"/>
            </p:cNvSpPr>
            <p:nvPr>
              <p:custDataLst>
                <p:tags r:id="rId5"/>
              </p:custDataLst>
            </p:nvPr>
          </p:nvSpPr>
          <p:spPr bwMode="auto">
            <a:xfrm>
              <a:off x="3464" y="2617"/>
              <a:ext cx="784" cy="406"/>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a:t>
              </a:r>
              <a:endParaRPr lang="en-US" altLang="zh-CN" b="1">
                <a:solidFill>
                  <a:srgbClr val="000000"/>
                </a:solidFill>
                <a:ea typeface="楷体_GB2312" pitchFamily="49" charset="-122"/>
              </a:endParaRPr>
            </a:p>
          </p:txBody>
        </p:sp>
        <p:sp>
          <p:nvSpPr>
            <p:cNvPr id="22562" name="Rectangle 21"/>
            <p:cNvSpPr>
              <a:spLocks noChangeArrowheads="1"/>
            </p:cNvSpPr>
            <p:nvPr>
              <p:custDataLst>
                <p:tags r:id="rId6"/>
              </p:custDataLst>
            </p:nvPr>
          </p:nvSpPr>
          <p:spPr bwMode="auto">
            <a:xfrm>
              <a:off x="2472" y="2617"/>
              <a:ext cx="992" cy="406"/>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1     0</a:t>
              </a:r>
              <a:endParaRPr lang="en-US" altLang="zh-CN" b="1">
                <a:solidFill>
                  <a:srgbClr val="000000"/>
                </a:solidFill>
                <a:ea typeface="楷体_GB2312" pitchFamily="49" charset="-122"/>
              </a:endParaRPr>
            </a:p>
          </p:txBody>
        </p:sp>
        <p:sp>
          <p:nvSpPr>
            <p:cNvPr id="22563" name="Rectangle 22"/>
            <p:cNvSpPr>
              <a:spLocks noChangeArrowheads="1"/>
            </p:cNvSpPr>
            <p:nvPr>
              <p:custDataLst>
                <p:tags r:id="rId7"/>
              </p:custDataLst>
            </p:nvPr>
          </p:nvSpPr>
          <p:spPr bwMode="auto">
            <a:xfrm>
              <a:off x="3464" y="2190"/>
              <a:ext cx="784" cy="427"/>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endParaRPr lang="zh-CN" altLang="zh-CN" b="1">
                <a:solidFill>
                  <a:srgbClr val="000000"/>
                </a:solidFill>
                <a:ea typeface="楷体_GB2312" pitchFamily="49" charset="-122"/>
              </a:endParaRPr>
            </a:p>
          </p:txBody>
        </p:sp>
        <p:sp>
          <p:nvSpPr>
            <p:cNvPr id="22564" name="Rectangle 23"/>
            <p:cNvSpPr>
              <a:spLocks noChangeArrowheads="1"/>
            </p:cNvSpPr>
            <p:nvPr>
              <p:custDataLst>
                <p:tags r:id="rId8"/>
              </p:custDataLst>
            </p:nvPr>
          </p:nvSpPr>
          <p:spPr bwMode="auto">
            <a:xfrm>
              <a:off x="2472" y="2190"/>
              <a:ext cx="992" cy="427"/>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0     1</a:t>
              </a:r>
              <a:endParaRPr lang="en-US" altLang="zh-CN" b="1">
                <a:solidFill>
                  <a:srgbClr val="000000"/>
                </a:solidFill>
                <a:ea typeface="楷体_GB2312" pitchFamily="49" charset="-122"/>
              </a:endParaRPr>
            </a:p>
          </p:txBody>
        </p:sp>
        <p:sp>
          <p:nvSpPr>
            <p:cNvPr id="22565" name="Rectangle 24"/>
            <p:cNvSpPr>
              <a:spLocks noChangeArrowheads="1"/>
            </p:cNvSpPr>
            <p:nvPr>
              <p:custDataLst>
                <p:tags r:id="rId9"/>
              </p:custDataLst>
            </p:nvPr>
          </p:nvSpPr>
          <p:spPr bwMode="auto">
            <a:xfrm>
              <a:off x="3464" y="1760"/>
              <a:ext cx="784" cy="430"/>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a:t>
              </a:r>
              <a:endParaRPr lang="en-US" altLang="zh-CN" b="1">
                <a:solidFill>
                  <a:srgbClr val="000000"/>
                </a:solidFill>
                <a:ea typeface="楷体_GB2312" pitchFamily="49" charset="-122"/>
              </a:endParaRPr>
            </a:p>
          </p:txBody>
        </p:sp>
        <p:sp>
          <p:nvSpPr>
            <p:cNvPr id="22566" name="Rectangle 25"/>
            <p:cNvSpPr>
              <a:spLocks noChangeArrowheads="1"/>
            </p:cNvSpPr>
            <p:nvPr>
              <p:custDataLst>
                <p:tags r:id="rId10"/>
              </p:custDataLst>
            </p:nvPr>
          </p:nvSpPr>
          <p:spPr bwMode="auto">
            <a:xfrm>
              <a:off x="2472" y="1760"/>
              <a:ext cx="992" cy="430"/>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0     0</a:t>
              </a:r>
              <a:endParaRPr lang="en-US" altLang="zh-CN" b="1">
                <a:solidFill>
                  <a:srgbClr val="000000"/>
                </a:solidFill>
                <a:ea typeface="楷体_GB2312" pitchFamily="49" charset="-122"/>
              </a:endParaRPr>
            </a:p>
          </p:txBody>
        </p:sp>
        <p:sp>
          <p:nvSpPr>
            <p:cNvPr id="22567" name="Rectangle 26"/>
            <p:cNvSpPr>
              <a:spLocks noChangeArrowheads="1"/>
            </p:cNvSpPr>
            <p:nvPr>
              <p:custDataLst>
                <p:tags r:id="rId11"/>
              </p:custDataLst>
            </p:nvPr>
          </p:nvSpPr>
          <p:spPr bwMode="auto">
            <a:xfrm>
              <a:off x="3464" y="1274"/>
              <a:ext cx="784" cy="486"/>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F</a:t>
              </a:r>
              <a:endParaRPr lang="en-US" altLang="zh-CN" b="1">
                <a:solidFill>
                  <a:srgbClr val="000000"/>
                </a:solidFill>
                <a:ea typeface="楷体_GB2312" pitchFamily="49" charset="-122"/>
              </a:endParaRPr>
            </a:p>
          </p:txBody>
        </p:sp>
        <p:sp>
          <p:nvSpPr>
            <p:cNvPr id="22568" name="Rectangle 27"/>
            <p:cNvSpPr>
              <a:spLocks noChangeArrowheads="1"/>
            </p:cNvSpPr>
            <p:nvPr>
              <p:custDataLst>
                <p:tags r:id="rId12"/>
              </p:custDataLst>
            </p:nvPr>
          </p:nvSpPr>
          <p:spPr bwMode="auto">
            <a:xfrm>
              <a:off x="2472" y="1274"/>
              <a:ext cx="992" cy="486"/>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A    B</a:t>
              </a:r>
              <a:endParaRPr lang="en-US" altLang="zh-CN" b="1">
                <a:solidFill>
                  <a:srgbClr val="000000"/>
                </a:solidFill>
                <a:ea typeface="楷体_GB2312" pitchFamily="49" charset="-122"/>
              </a:endParaRPr>
            </a:p>
          </p:txBody>
        </p:sp>
        <p:sp>
          <p:nvSpPr>
            <p:cNvPr id="22569" name="Line 28"/>
            <p:cNvSpPr>
              <a:spLocks noChangeShapeType="1"/>
            </p:cNvSpPr>
            <p:nvPr>
              <p:custDataLst>
                <p:tags r:id="rId13"/>
              </p:custDataLst>
            </p:nvPr>
          </p:nvSpPr>
          <p:spPr bwMode="auto">
            <a:xfrm>
              <a:off x="2472" y="1760"/>
              <a:ext cx="1776"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570" name="Line 29"/>
            <p:cNvSpPr>
              <a:spLocks noChangeShapeType="1"/>
            </p:cNvSpPr>
            <p:nvPr>
              <p:custDataLst>
                <p:tags r:id="rId14"/>
              </p:custDataLst>
            </p:nvPr>
          </p:nvSpPr>
          <p:spPr bwMode="auto">
            <a:xfrm>
              <a:off x="2472" y="2190"/>
              <a:ext cx="1776"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571" name="Line 30"/>
            <p:cNvSpPr>
              <a:spLocks noChangeShapeType="1"/>
            </p:cNvSpPr>
            <p:nvPr>
              <p:custDataLst>
                <p:tags r:id="rId15"/>
              </p:custDataLst>
            </p:nvPr>
          </p:nvSpPr>
          <p:spPr bwMode="auto">
            <a:xfrm>
              <a:off x="2472" y="2617"/>
              <a:ext cx="1776"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572" name="Line 31"/>
            <p:cNvSpPr>
              <a:spLocks noChangeShapeType="1"/>
            </p:cNvSpPr>
            <p:nvPr>
              <p:custDataLst>
                <p:tags r:id="rId16"/>
              </p:custDataLst>
            </p:nvPr>
          </p:nvSpPr>
          <p:spPr bwMode="auto">
            <a:xfrm>
              <a:off x="2472" y="3023"/>
              <a:ext cx="1776"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573" name="Line 32"/>
            <p:cNvSpPr>
              <a:spLocks noChangeShapeType="1"/>
            </p:cNvSpPr>
            <p:nvPr>
              <p:custDataLst>
                <p:tags r:id="rId17"/>
              </p:custDataLst>
            </p:nvPr>
          </p:nvSpPr>
          <p:spPr bwMode="auto">
            <a:xfrm>
              <a:off x="2472" y="3452"/>
              <a:ext cx="1776" cy="0"/>
            </a:xfrm>
            <a:prstGeom prst="line">
              <a:avLst/>
            </a:prstGeom>
            <a:noFill/>
            <a:ln w="28575" cap="sq">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574" name="Line 33"/>
            <p:cNvSpPr>
              <a:spLocks noChangeShapeType="1"/>
            </p:cNvSpPr>
            <p:nvPr>
              <p:custDataLst>
                <p:tags r:id="rId18"/>
              </p:custDataLst>
            </p:nvPr>
          </p:nvSpPr>
          <p:spPr bwMode="auto">
            <a:xfrm>
              <a:off x="3464" y="1253"/>
              <a:ext cx="0" cy="2199"/>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114722" name="Group 34"/>
          <p:cNvGrpSpPr/>
          <p:nvPr>
            <p:custDataLst>
              <p:tags r:id="rId19"/>
            </p:custDataLst>
          </p:nvPr>
        </p:nvGrpSpPr>
        <p:grpSpPr bwMode="auto">
          <a:xfrm>
            <a:off x="942975" y="2684145"/>
            <a:ext cx="2663825" cy="2879725"/>
            <a:chOff x="2472" y="1253"/>
            <a:chExt cx="1776" cy="2199"/>
          </a:xfrm>
        </p:grpSpPr>
        <p:sp>
          <p:nvSpPr>
            <p:cNvPr id="22543" name="Rectangle 35"/>
            <p:cNvSpPr>
              <a:spLocks noChangeArrowheads="1"/>
            </p:cNvSpPr>
            <p:nvPr>
              <p:custDataLst>
                <p:tags r:id="rId20"/>
              </p:custDataLst>
            </p:nvPr>
          </p:nvSpPr>
          <p:spPr bwMode="auto">
            <a:xfrm>
              <a:off x="3464" y="3023"/>
              <a:ext cx="784" cy="429"/>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0</a:t>
              </a:r>
              <a:endParaRPr lang="en-US" altLang="zh-CN" b="1">
                <a:solidFill>
                  <a:srgbClr val="000000"/>
                </a:solidFill>
                <a:ea typeface="楷体_GB2312" pitchFamily="49" charset="-122"/>
              </a:endParaRPr>
            </a:p>
          </p:txBody>
        </p:sp>
        <p:sp>
          <p:nvSpPr>
            <p:cNvPr id="22544" name="Rectangle 36"/>
            <p:cNvSpPr>
              <a:spLocks noChangeArrowheads="1"/>
            </p:cNvSpPr>
            <p:nvPr>
              <p:custDataLst>
                <p:tags r:id="rId21"/>
              </p:custDataLst>
            </p:nvPr>
          </p:nvSpPr>
          <p:spPr bwMode="auto">
            <a:xfrm>
              <a:off x="2472" y="3023"/>
              <a:ext cx="992" cy="429"/>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a:t>
              </a:r>
              <a:endParaRPr lang="en-US" altLang="zh-CN" b="1">
                <a:solidFill>
                  <a:srgbClr val="000000"/>
                </a:solidFill>
                <a:ea typeface="楷体_GB2312" pitchFamily="49" charset="-122"/>
              </a:endParaRPr>
            </a:p>
          </p:txBody>
        </p:sp>
        <p:sp>
          <p:nvSpPr>
            <p:cNvPr id="22545" name="Rectangle 37"/>
            <p:cNvSpPr>
              <a:spLocks noChangeArrowheads="1"/>
            </p:cNvSpPr>
            <p:nvPr>
              <p:custDataLst>
                <p:tags r:id="rId22"/>
              </p:custDataLst>
            </p:nvPr>
          </p:nvSpPr>
          <p:spPr bwMode="auto">
            <a:xfrm>
              <a:off x="3464" y="2617"/>
              <a:ext cx="784" cy="406"/>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1</a:t>
              </a:r>
              <a:endParaRPr lang="en-US" altLang="zh-CN" b="1">
                <a:solidFill>
                  <a:srgbClr val="000000"/>
                </a:solidFill>
                <a:ea typeface="楷体_GB2312" pitchFamily="49" charset="-122"/>
              </a:endParaRPr>
            </a:p>
          </p:txBody>
        </p:sp>
        <p:sp>
          <p:nvSpPr>
            <p:cNvPr id="22546" name="Rectangle 38"/>
            <p:cNvSpPr>
              <a:spLocks noChangeArrowheads="1"/>
            </p:cNvSpPr>
            <p:nvPr>
              <p:custDataLst>
                <p:tags r:id="rId23"/>
              </p:custDataLst>
            </p:nvPr>
          </p:nvSpPr>
          <p:spPr bwMode="auto">
            <a:xfrm>
              <a:off x="2472" y="2617"/>
              <a:ext cx="992" cy="406"/>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a:t>
              </a:r>
              <a:endParaRPr lang="en-US" altLang="zh-CN" b="1">
                <a:solidFill>
                  <a:srgbClr val="000000"/>
                </a:solidFill>
                <a:ea typeface="楷体_GB2312" pitchFamily="49" charset="-122"/>
              </a:endParaRPr>
            </a:p>
          </p:txBody>
        </p:sp>
        <p:sp>
          <p:nvSpPr>
            <p:cNvPr id="22547" name="Rectangle 39"/>
            <p:cNvSpPr>
              <a:spLocks noChangeArrowheads="1"/>
            </p:cNvSpPr>
            <p:nvPr>
              <p:custDataLst>
                <p:tags r:id="rId24"/>
              </p:custDataLst>
            </p:nvPr>
          </p:nvSpPr>
          <p:spPr bwMode="auto">
            <a:xfrm>
              <a:off x="3464" y="2190"/>
              <a:ext cx="784" cy="427"/>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1 </a:t>
              </a:r>
              <a:endParaRPr lang="en-US" altLang="zh-CN" b="1">
                <a:solidFill>
                  <a:srgbClr val="000000"/>
                </a:solidFill>
                <a:ea typeface="楷体_GB2312" pitchFamily="49" charset="-122"/>
              </a:endParaRPr>
            </a:p>
          </p:txBody>
        </p:sp>
        <p:sp>
          <p:nvSpPr>
            <p:cNvPr id="22548" name="Rectangle 40"/>
            <p:cNvSpPr>
              <a:spLocks noChangeArrowheads="1"/>
            </p:cNvSpPr>
            <p:nvPr>
              <p:custDataLst>
                <p:tags r:id="rId25"/>
              </p:custDataLst>
            </p:nvPr>
          </p:nvSpPr>
          <p:spPr bwMode="auto">
            <a:xfrm>
              <a:off x="2472" y="2190"/>
              <a:ext cx="992" cy="427"/>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a:t>
              </a:r>
              <a:endParaRPr lang="en-US" altLang="zh-CN" b="1">
                <a:solidFill>
                  <a:srgbClr val="000000"/>
                </a:solidFill>
                <a:ea typeface="楷体_GB2312" pitchFamily="49" charset="-122"/>
              </a:endParaRPr>
            </a:p>
          </p:txBody>
        </p:sp>
        <p:sp>
          <p:nvSpPr>
            <p:cNvPr id="22549" name="Rectangle 41"/>
            <p:cNvSpPr>
              <a:spLocks noChangeArrowheads="1"/>
            </p:cNvSpPr>
            <p:nvPr>
              <p:custDataLst>
                <p:tags r:id="rId26"/>
              </p:custDataLst>
            </p:nvPr>
          </p:nvSpPr>
          <p:spPr bwMode="auto">
            <a:xfrm>
              <a:off x="3464" y="1760"/>
              <a:ext cx="784" cy="430"/>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0</a:t>
              </a:r>
              <a:endParaRPr lang="en-US" altLang="zh-CN" b="1">
                <a:solidFill>
                  <a:srgbClr val="000000"/>
                </a:solidFill>
                <a:ea typeface="楷体_GB2312" pitchFamily="49" charset="-122"/>
              </a:endParaRPr>
            </a:p>
          </p:txBody>
        </p:sp>
        <p:sp>
          <p:nvSpPr>
            <p:cNvPr id="22550" name="Rectangle 42"/>
            <p:cNvSpPr>
              <a:spLocks noChangeArrowheads="1"/>
            </p:cNvSpPr>
            <p:nvPr>
              <p:custDataLst>
                <p:tags r:id="rId27"/>
              </p:custDataLst>
            </p:nvPr>
          </p:nvSpPr>
          <p:spPr bwMode="auto">
            <a:xfrm>
              <a:off x="2472" y="1760"/>
              <a:ext cx="992" cy="430"/>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a:t>
              </a:r>
              <a:endParaRPr lang="en-US" altLang="zh-CN" b="1">
                <a:solidFill>
                  <a:srgbClr val="000000"/>
                </a:solidFill>
                <a:ea typeface="楷体_GB2312" pitchFamily="49" charset="-122"/>
              </a:endParaRPr>
            </a:p>
          </p:txBody>
        </p:sp>
        <p:sp>
          <p:nvSpPr>
            <p:cNvPr id="22551" name="Rectangle 43"/>
            <p:cNvSpPr>
              <a:spLocks noChangeArrowheads="1"/>
            </p:cNvSpPr>
            <p:nvPr>
              <p:custDataLst>
                <p:tags r:id="rId28"/>
              </p:custDataLst>
            </p:nvPr>
          </p:nvSpPr>
          <p:spPr bwMode="auto">
            <a:xfrm>
              <a:off x="3464" y="1274"/>
              <a:ext cx="784" cy="486"/>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a:t>
              </a:r>
              <a:endParaRPr lang="en-US" altLang="zh-CN" b="1">
                <a:solidFill>
                  <a:srgbClr val="000000"/>
                </a:solidFill>
                <a:ea typeface="楷体_GB2312" pitchFamily="49" charset="-122"/>
              </a:endParaRPr>
            </a:p>
          </p:txBody>
        </p:sp>
        <p:sp>
          <p:nvSpPr>
            <p:cNvPr id="22552" name="Rectangle 44"/>
            <p:cNvSpPr>
              <a:spLocks noChangeArrowheads="1"/>
            </p:cNvSpPr>
            <p:nvPr>
              <p:custDataLst>
                <p:tags r:id="rId29"/>
              </p:custDataLst>
            </p:nvPr>
          </p:nvSpPr>
          <p:spPr bwMode="auto">
            <a:xfrm>
              <a:off x="2472" y="1274"/>
              <a:ext cx="992" cy="486"/>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a:t>
              </a:r>
              <a:endParaRPr lang="en-US" altLang="zh-CN" b="1">
                <a:solidFill>
                  <a:srgbClr val="000000"/>
                </a:solidFill>
                <a:ea typeface="楷体_GB2312" pitchFamily="49" charset="-122"/>
              </a:endParaRPr>
            </a:p>
          </p:txBody>
        </p:sp>
        <p:sp>
          <p:nvSpPr>
            <p:cNvPr id="22553" name="Line 45"/>
            <p:cNvSpPr>
              <a:spLocks noChangeShapeType="1"/>
            </p:cNvSpPr>
            <p:nvPr>
              <p:custDataLst>
                <p:tags r:id="rId30"/>
              </p:custDataLst>
            </p:nvPr>
          </p:nvSpPr>
          <p:spPr bwMode="auto">
            <a:xfrm>
              <a:off x="2472" y="1760"/>
              <a:ext cx="1776"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554" name="Line 46"/>
            <p:cNvSpPr>
              <a:spLocks noChangeShapeType="1"/>
            </p:cNvSpPr>
            <p:nvPr>
              <p:custDataLst>
                <p:tags r:id="rId31"/>
              </p:custDataLst>
            </p:nvPr>
          </p:nvSpPr>
          <p:spPr bwMode="auto">
            <a:xfrm>
              <a:off x="2472" y="2190"/>
              <a:ext cx="1776"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555" name="Line 47"/>
            <p:cNvSpPr>
              <a:spLocks noChangeShapeType="1"/>
            </p:cNvSpPr>
            <p:nvPr>
              <p:custDataLst>
                <p:tags r:id="rId32"/>
              </p:custDataLst>
            </p:nvPr>
          </p:nvSpPr>
          <p:spPr bwMode="auto">
            <a:xfrm>
              <a:off x="2472" y="2617"/>
              <a:ext cx="1776"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556" name="Line 48"/>
            <p:cNvSpPr>
              <a:spLocks noChangeShapeType="1"/>
            </p:cNvSpPr>
            <p:nvPr>
              <p:custDataLst>
                <p:tags r:id="rId33"/>
              </p:custDataLst>
            </p:nvPr>
          </p:nvSpPr>
          <p:spPr bwMode="auto">
            <a:xfrm>
              <a:off x="2472" y="3023"/>
              <a:ext cx="1776"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557" name="Line 49"/>
            <p:cNvSpPr>
              <a:spLocks noChangeShapeType="1"/>
            </p:cNvSpPr>
            <p:nvPr>
              <p:custDataLst>
                <p:tags r:id="rId34"/>
              </p:custDataLst>
            </p:nvPr>
          </p:nvSpPr>
          <p:spPr bwMode="auto">
            <a:xfrm>
              <a:off x="2472" y="3452"/>
              <a:ext cx="1776" cy="0"/>
            </a:xfrm>
            <a:prstGeom prst="line">
              <a:avLst/>
            </a:prstGeom>
            <a:noFill/>
            <a:ln w="28575" cap="sq">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558" name="Line 50"/>
            <p:cNvSpPr>
              <a:spLocks noChangeShapeType="1"/>
            </p:cNvSpPr>
            <p:nvPr>
              <p:custDataLst>
                <p:tags r:id="rId35"/>
              </p:custDataLst>
            </p:nvPr>
          </p:nvSpPr>
          <p:spPr bwMode="auto">
            <a:xfrm>
              <a:off x="3464" y="1253"/>
              <a:ext cx="0" cy="2199"/>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pic>
        <p:nvPicPr>
          <p:cNvPr id="75778" name="Picture 2"/>
          <p:cNvPicPr>
            <a:picLocks noChangeAspect="1" noChangeArrowheads="1"/>
          </p:cNvPicPr>
          <p:nvPr/>
        </p:nvPicPr>
        <p:blipFill>
          <a:blip r:embed="rId36" cstate="print">
            <a:extLst>
              <a:ext uri="{28A0092B-C50C-407E-A947-70E740481C1C}">
                <a14:useLocalDpi xmlns:a14="http://schemas.microsoft.com/office/drawing/2010/main" val="0"/>
              </a:ext>
            </a:extLst>
          </a:blip>
          <a:srcRect l="20267" t="69894" r="62361" b="24211"/>
          <a:stretch>
            <a:fillRect/>
          </a:stretch>
        </p:blipFill>
        <p:spPr bwMode="auto">
          <a:xfrm>
            <a:off x="3809365" y="2867660"/>
            <a:ext cx="5222875" cy="1122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p:cNvPicPr>
            <a:picLocks noChangeAspect="1" noChangeArrowheads="1"/>
          </p:cNvPicPr>
          <p:nvPr/>
        </p:nvPicPr>
        <p:blipFill>
          <a:blip r:embed="rId36" cstate="print">
            <a:extLst>
              <a:ext uri="{28A0092B-C50C-407E-A947-70E740481C1C}">
                <a14:useLocalDpi xmlns:a14="http://schemas.microsoft.com/office/drawing/2010/main" val="0"/>
              </a:ext>
            </a:extLst>
          </a:blip>
          <a:srcRect l="38144" t="69894" r="54134" b="24211"/>
          <a:stretch>
            <a:fillRect/>
          </a:stretch>
        </p:blipFill>
        <p:spPr bwMode="auto">
          <a:xfrm>
            <a:off x="5481320" y="4306570"/>
            <a:ext cx="2321560" cy="1122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bldLst>
      <p:bldP spid="13" grpId="0" bldLvl="0" animBg="1" autoUpdateAnimBg="0"/>
      <p:bldP spid="5" grpId="0" bldLvl="0" animBg="1" autoUpdateAnimBg="0"/>
      <p:bldP spid="7" grpId="0" bldLvl="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3" name="Text Box 4"/>
          <p:cNvSpPr txBox="1">
            <a:spLocks noChangeArrowheads="1"/>
          </p:cNvSpPr>
          <p:nvPr/>
        </p:nvSpPr>
        <p:spPr bwMode="auto">
          <a:xfrm>
            <a:off x="1547455" y="20583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主题二</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逻辑代数</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基础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nvSpPr>
        <p:spPr bwMode="auto">
          <a:xfrm>
            <a:off x="517963" y="8507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2.1 </a:t>
            </a:r>
            <a:r>
              <a:rPr kumimoji="0" lang="zh-CN" altLang="en-US" dirty="0">
                <a:solidFill>
                  <a:srgbClr val="000000"/>
                </a:solidFill>
                <a:latin typeface="黑体" panose="02010609060101010101" pitchFamily="49" charset="-122"/>
                <a:ea typeface="黑体" panose="02010609060101010101" pitchFamily="49" charset="-122"/>
              </a:rPr>
              <a:t>逻辑代数基本概念、运算与符号</a:t>
            </a:r>
            <a:r>
              <a:rPr kumimoji="0" lang="zh-CN" altLang="en-US" dirty="0">
                <a:solidFill>
                  <a:srgbClr val="FF0000"/>
                </a:solidFill>
                <a:latin typeface="黑体" panose="02010609060101010101" pitchFamily="49" charset="-122"/>
                <a:ea typeface="黑体" panose="02010609060101010101" pitchFamily="49" charset="-122"/>
              </a:rPr>
              <a:t> </a:t>
            </a:r>
            <a:endParaRPr kumimoji="0" lang="zh-CN" altLang="en-US" dirty="0">
              <a:solidFill>
                <a:srgbClr val="FF0000"/>
              </a:solidFill>
              <a:latin typeface="黑体" panose="02010609060101010101" pitchFamily="49" charset="-122"/>
              <a:ea typeface="黑体" panose="02010609060101010101" pitchFamily="49" charset="-122"/>
            </a:endParaRPr>
          </a:p>
        </p:txBody>
      </p:sp>
      <p:sp>
        <p:nvSpPr>
          <p:cNvPr id="7" name="Text Box 142"/>
          <p:cNvSpPr txBox="1">
            <a:spLocks noChangeArrowheads="1"/>
          </p:cNvSpPr>
          <p:nvPr>
            <p:custDataLst>
              <p:tags r:id="rId1"/>
            </p:custDataLst>
          </p:nvPr>
        </p:nvSpPr>
        <p:spPr bwMode="auto">
          <a:xfrm>
            <a:off x="720528" y="1467930"/>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(8)</a:t>
            </a:r>
            <a:r>
              <a:rPr kumimoji="0" lang="zh-CN" altLang="en-US" sz="2400" dirty="0">
                <a:solidFill>
                  <a:srgbClr val="000000"/>
                </a:solidFill>
                <a:latin typeface="黑体" panose="02010609060101010101" pitchFamily="49" charset="-122"/>
                <a:ea typeface="黑体" panose="02010609060101010101" pitchFamily="49" charset="-122"/>
              </a:rPr>
              <a:t>同或</a:t>
            </a:r>
            <a:endParaRPr kumimoji="0" lang="zh-CN" altLang="en-US" sz="2400" dirty="0">
              <a:solidFill>
                <a:srgbClr val="000000"/>
              </a:solidFill>
              <a:latin typeface="黑体" panose="02010609060101010101" pitchFamily="49" charset="-122"/>
              <a:ea typeface="黑体" panose="02010609060101010101" pitchFamily="49" charset="-122"/>
            </a:endParaRPr>
          </a:p>
        </p:txBody>
      </p:sp>
      <p:grpSp>
        <p:nvGrpSpPr>
          <p:cNvPr id="80933" name="Group 2085"/>
          <p:cNvGrpSpPr/>
          <p:nvPr>
            <p:custDataLst>
              <p:tags r:id="rId2"/>
            </p:custDataLst>
          </p:nvPr>
        </p:nvGrpSpPr>
        <p:grpSpPr bwMode="auto">
          <a:xfrm>
            <a:off x="1000125" y="2773045"/>
            <a:ext cx="2663825" cy="2879725"/>
            <a:chOff x="2472" y="1253"/>
            <a:chExt cx="1776" cy="2199"/>
          </a:xfrm>
        </p:grpSpPr>
        <p:sp>
          <p:nvSpPr>
            <p:cNvPr id="23566" name="Rectangle 2086"/>
            <p:cNvSpPr>
              <a:spLocks noChangeArrowheads="1"/>
            </p:cNvSpPr>
            <p:nvPr>
              <p:custDataLst>
                <p:tags r:id="rId3"/>
              </p:custDataLst>
            </p:nvPr>
          </p:nvSpPr>
          <p:spPr bwMode="auto">
            <a:xfrm>
              <a:off x="3464" y="3023"/>
              <a:ext cx="784" cy="429"/>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1</a:t>
              </a:r>
              <a:endParaRPr lang="en-US" altLang="zh-CN" b="1">
                <a:solidFill>
                  <a:srgbClr val="000000"/>
                </a:solidFill>
                <a:ea typeface="楷体_GB2312" pitchFamily="49" charset="-122"/>
              </a:endParaRPr>
            </a:p>
          </p:txBody>
        </p:sp>
        <p:sp>
          <p:nvSpPr>
            <p:cNvPr id="23567" name="Rectangle 2087"/>
            <p:cNvSpPr>
              <a:spLocks noChangeArrowheads="1"/>
            </p:cNvSpPr>
            <p:nvPr>
              <p:custDataLst>
                <p:tags r:id="rId4"/>
              </p:custDataLst>
            </p:nvPr>
          </p:nvSpPr>
          <p:spPr bwMode="auto">
            <a:xfrm>
              <a:off x="2472" y="3023"/>
              <a:ext cx="992" cy="429"/>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1     1</a:t>
              </a:r>
              <a:endParaRPr lang="en-US" altLang="zh-CN" b="1">
                <a:solidFill>
                  <a:srgbClr val="000000"/>
                </a:solidFill>
                <a:ea typeface="楷体_GB2312" pitchFamily="49" charset="-122"/>
              </a:endParaRPr>
            </a:p>
          </p:txBody>
        </p:sp>
        <p:sp>
          <p:nvSpPr>
            <p:cNvPr id="23568" name="Rectangle 2088"/>
            <p:cNvSpPr>
              <a:spLocks noChangeArrowheads="1"/>
            </p:cNvSpPr>
            <p:nvPr>
              <p:custDataLst>
                <p:tags r:id="rId5"/>
              </p:custDataLst>
            </p:nvPr>
          </p:nvSpPr>
          <p:spPr bwMode="auto">
            <a:xfrm>
              <a:off x="3464" y="2617"/>
              <a:ext cx="784" cy="406"/>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0</a:t>
              </a:r>
              <a:endParaRPr lang="en-US" altLang="zh-CN" b="1">
                <a:solidFill>
                  <a:srgbClr val="000000"/>
                </a:solidFill>
                <a:ea typeface="楷体_GB2312" pitchFamily="49" charset="-122"/>
              </a:endParaRPr>
            </a:p>
          </p:txBody>
        </p:sp>
        <p:sp>
          <p:nvSpPr>
            <p:cNvPr id="23569" name="Rectangle 2089"/>
            <p:cNvSpPr>
              <a:spLocks noChangeArrowheads="1"/>
            </p:cNvSpPr>
            <p:nvPr>
              <p:custDataLst>
                <p:tags r:id="rId6"/>
              </p:custDataLst>
            </p:nvPr>
          </p:nvSpPr>
          <p:spPr bwMode="auto">
            <a:xfrm>
              <a:off x="2472" y="2617"/>
              <a:ext cx="992" cy="406"/>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1     0</a:t>
              </a:r>
              <a:endParaRPr lang="en-US" altLang="zh-CN" b="1">
                <a:solidFill>
                  <a:srgbClr val="000000"/>
                </a:solidFill>
                <a:ea typeface="楷体_GB2312" pitchFamily="49" charset="-122"/>
              </a:endParaRPr>
            </a:p>
          </p:txBody>
        </p:sp>
        <p:sp>
          <p:nvSpPr>
            <p:cNvPr id="23570" name="Rectangle 2090"/>
            <p:cNvSpPr>
              <a:spLocks noChangeArrowheads="1"/>
            </p:cNvSpPr>
            <p:nvPr>
              <p:custDataLst>
                <p:tags r:id="rId7"/>
              </p:custDataLst>
            </p:nvPr>
          </p:nvSpPr>
          <p:spPr bwMode="auto">
            <a:xfrm>
              <a:off x="3464" y="2190"/>
              <a:ext cx="784" cy="427"/>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0 </a:t>
              </a:r>
              <a:endParaRPr lang="en-US" altLang="zh-CN" b="1">
                <a:solidFill>
                  <a:srgbClr val="000000"/>
                </a:solidFill>
                <a:ea typeface="楷体_GB2312" pitchFamily="49" charset="-122"/>
              </a:endParaRPr>
            </a:p>
          </p:txBody>
        </p:sp>
        <p:sp>
          <p:nvSpPr>
            <p:cNvPr id="23571" name="Rectangle 2091"/>
            <p:cNvSpPr>
              <a:spLocks noChangeArrowheads="1"/>
            </p:cNvSpPr>
            <p:nvPr>
              <p:custDataLst>
                <p:tags r:id="rId8"/>
              </p:custDataLst>
            </p:nvPr>
          </p:nvSpPr>
          <p:spPr bwMode="auto">
            <a:xfrm>
              <a:off x="2472" y="2190"/>
              <a:ext cx="992" cy="427"/>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0     1</a:t>
              </a:r>
              <a:endParaRPr lang="en-US" altLang="zh-CN" b="1">
                <a:solidFill>
                  <a:srgbClr val="000000"/>
                </a:solidFill>
                <a:ea typeface="楷体_GB2312" pitchFamily="49" charset="-122"/>
              </a:endParaRPr>
            </a:p>
          </p:txBody>
        </p:sp>
        <p:sp>
          <p:nvSpPr>
            <p:cNvPr id="23572" name="Rectangle 2092"/>
            <p:cNvSpPr>
              <a:spLocks noChangeArrowheads="1"/>
            </p:cNvSpPr>
            <p:nvPr>
              <p:custDataLst>
                <p:tags r:id="rId9"/>
              </p:custDataLst>
            </p:nvPr>
          </p:nvSpPr>
          <p:spPr bwMode="auto">
            <a:xfrm>
              <a:off x="3464" y="1760"/>
              <a:ext cx="784" cy="430"/>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1</a:t>
              </a:r>
              <a:endParaRPr lang="en-US" altLang="zh-CN" b="1">
                <a:solidFill>
                  <a:srgbClr val="000000"/>
                </a:solidFill>
                <a:ea typeface="楷体_GB2312" pitchFamily="49" charset="-122"/>
              </a:endParaRPr>
            </a:p>
          </p:txBody>
        </p:sp>
        <p:sp>
          <p:nvSpPr>
            <p:cNvPr id="23573" name="Rectangle 2093"/>
            <p:cNvSpPr>
              <a:spLocks noChangeArrowheads="1"/>
            </p:cNvSpPr>
            <p:nvPr>
              <p:custDataLst>
                <p:tags r:id="rId10"/>
              </p:custDataLst>
            </p:nvPr>
          </p:nvSpPr>
          <p:spPr bwMode="auto">
            <a:xfrm>
              <a:off x="2472" y="1760"/>
              <a:ext cx="992" cy="430"/>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0     0</a:t>
              </a:r>
              <a:endParaRPr lang="en-US" altLang="zh-CN" b="1">
                <a:solidFill>
                  <a:srgbClr val="000000"/>
                </a:solidFill>
                <a:ea typeface="楷体_GB2312" pitchFamily="49" charset="-122"/>
              </a:endParaRPr>
            </a:p>
          </p:txBody>
        </p:sp>
        <p:sp>
          <p:nvSpPr>
            <p:cNvPr id="23574" name="Rectangle 2094"/>
            <p:cNvSpPr>
              <a:spLocks noChangeArrowheads="1"/>
            </p:cNvSpPr>
            <p:nvPr>
              <p:custDataLst>
                <p:tags r:id="rId11"/>
              </p:custDataLst>
            </p:nvPr>
          </p:nvSpPr>
          <p:spPr bwMode="auto">
            <a:xfrm>
              <a:off x="3464" y="1274"/>
              <a:ext cx="784" cy="486"/>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F</a:t>
              </a:r>
              <a:endParaRPr lang="en-US" altLang="zh-CN" b="1">
                <a:solidFill>
                  <a:srgbClr val="000000"/>
                </a:solidFill>
                <a:ea typeface="楷体_GB2312" pitchFamily="49" charset="-122"/>
              </a:endParaRPr>
            </a:p>
          </p:txBody>
        </p:sp>
        <p:sp>
          <p:nvSpPr>
            <p:cNvPr id="23575" name="Rectangle 2095"/>
            <p:cNvSpPr>
              <a:spLocks noChangeArrowheads="1"/>
            </p:cNvSpPr>
            <p:nvPr>
              <p:custDataLst>
                <p:tags r:id="rId12"/>
              </p:custDataLst>
            </p:nvPr>
          </p:nvSpPr>
          <p:spPr bwMode="auto">
            <a:xfrm>
              <a:off x="2472" y="1274"/>
              <a:ext cx="992" cy="486"/>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A    B</a:t>
              </a:r>
              <a:endParaRPr lang="en-US" altLang="zh-CN" b="1">
                <a:solidFill>
                  <a:srgbClr val="000000"/>
                </a:solidFill>
                <a:ea typeface="楷体_GB2312" pitchFamily="49" charset="-122"/>
              </a:endParaRPr>
            </a:p>
          </p:txBody>
        </p:sp>
        <p:sp>
          <p:nvSpPr>
            <p:cNvPr id="23576" name="Line 2096"/>
            <p:cNvSpPr>
              <a:spLocks noChangeShapeType="1"/>
            </p:cNvSpPr>
            <p:nvPr>
              <p:custDataLst>
                <p:tags r:id="rId13"/>
              </p:custDataLst>
            </p:nvPr>
          </p:nvSpPr>
          <p:spPr bwMode="auto">
            <a:xfrm>
              <a:off x="2472" y="1760"/>
              <a:ext cx="1776"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7" name="Line 2097"/>
            <p:cNvSpPr>
              <a:spLocks noChangeShapeType="1"/>
            </p:cNvSpPr>
            <p:nvPr>
              <p:custDataLst>
                <p:tags r:id="rId14"/>
              </p:custDataLst>
            </p:nvPr>
          </p:nvSpPr>
          <p:spPr bwMode="auto">
            <a:xfrm>
              <a:off x="2472" y="2190"/>
              <a:ext cx="1776"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8" name="Line 2098"/>
            <p:cNvSpPr>
              <a:spLocks noChangeShapeType="1"/>
            </p:cNvSpPr>
            <p:nvPr>
              <p:custDataLst>
                <p:tags r:id="rId15"/>
              </p:custDataLst>
            </p:nvPr>
          </p:nvSpPr>
          <p:spPr bwMode="auto">
            <a:xfrm>
              <a:off x="2472" y="2617"/>
              <a:ext cx="1776"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9" name="Line 2099"/>
            <p:cNvSpPr>
              <a:spLocks noChangeShapeType="1"/>
            </p:cNvSpPr>
            <p:nvPr>
              <p:custDataLst>
                <p:tags r:id="rId16"/>
              </p:custDataLst>
            </p:nvPr>
          </p:nvSpPr>
          <p:spPr bwMode="auto">
            <a:xfrm>
              <a:off x="2472" y="3023"/>
              <a:ext cx="1776"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80" name="Line 2100"/>
            <p:cNvSpPr>
              <a:spLocks noChangeShapeType="1"/>
            </p:cNvSpPr>
            <p:nvPr>
              <p:custDataLst>
                <p:tags r:id="rId17"/>
              </p:custDataLst>
            </p:nvPr>
          </p:nvSpPr>
          <p:spPr bwMode="auto">
            <a:xfrm>
              <a:off x="2472" y="3452"/>
              <a:ext cx="1776" cy="0"/>
            </a:xfrm>
            <a:prstGeom prst="line">
              <a:avLst/>
            </a:prstGeom>
            <a:noFill/>
            <a:ln w="28575" cap="sq">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81" name="Line 2101"/>
            <p:cNvSpPr>
              <a:spLocks noChangeShapeType="1"/>
            </p:cNvSpPr>
            <p:nvPr>
              <p:custDataLst>
                <p:tags r:id="rId18"/>
              </p:custDataLst>
            </p:nvPr>
          </p:nvSpPr>
          <p:spPr bwMode="auto">
            <a:xfrm>
              <a:off x="3464" y="1253"/>
              <a:ext cx="0" cy="2199"/>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78858" name="Group 10"/>
          <p:cNvGrpSpPr/>
          <p:nvPr/>
        </p:nvGrpSpPr>
        <p:grpSpPr bwMode="auto">
          <a:xfrm>
            <a:off x="855436" y="2032000"/>
            <a:ext cx="4114800" cy="519113"/>
            <a:chOff x="2544" y="999"/>
            <a:chExt cx="2592" cy="327"/>
          </a:xfrm>
        </p:grpSpPr>
        <p:sp>
          <p:nvSpPr>
            <p:cNvPr id="23582" name="Text Box 7"/>
            <p:cNvSpPr txBox="1">
              <a:spLocks noChangeArrowheads="1"/>
            </p:cNvSpPr>
            <p:nvPr/>
          </p:nvSpPr>
          <p:spPr bwMode="auto">
            <a:xfrm>
              <a:off x="2544" y="999"/>
              <a:ext cx="259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F = A⊙B = A B + A B</a:t>
              </a:r>
              <a:endParaRPr kumimoji="0" lang="en-US" altLang="zh-CN" b="1">
                <a:solidFill>
                  <a:srgbClr val="000000"/>
                </a:solidFill>
              </a:endParaRPr>
            </a:p>
          </p:txBody>
        </p:sp>
        <p:sp>
          <p:nvSpPr>
            <p:cNvPr id="23583" name="Line 8"/>
            <p:cNvSpPr>
              <a:spLocks noChangeShapeType="1"/>
            </p:cNvSpPr>
            <p:nvPr/>
          </p:nvSpPr>
          <p:spPr bwMode="auto">
            <a:xfrm>
              <a:off x="4300" y="999"/>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84" name="Line 9"/>
            <p:cNvSpPr>
              <a:spLocks noChangeShapeType="1"/>
            </p:cNvSpPr>
            <p:nvPr/>
          </p:nvSpPr>
          <p:spPr bwMode="auto">
            <a:xfrm>
              <a:off x="4506" y="999"/>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pic>
        <p:nvPicPr>
          <p:cNvPr id="78860" name="Picture 12"/>
          <p:cNvPicPr>
            <a:picLocks noChangeAspect="1" noChangeArrowheads="1"/>
          </p:cNvPicPr>
          <p:nvPr/>
        </p:nvPicPr>
        <p:blipFill>
          <a:blip r:embed="rId19" cstate="print">
            <a:extLst>
              <a:ext uri="{28A0092B-C50C-407E-A947-70E740481C1C}">
                <a14:useLocalDpi xmlns:a14="http://schemas.microsoft.com/office/drawing/2010/main" val="0"/>
              </a:ext>
            </a:extLst>
          </a:blip>
          <a:srcRect l="19734" t="77982" r="62926" b="15790"/>
          <a:stretch>
            <a:fillRect/>
          </a:stretch>
        </p:blipFill>
        <p:spPr bwMode="auto">
          <a:xfrm>
            <a:off x="3773170" y="2959735"/>
            <a:ext cx="4812030" cy="1094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 name="Picture 12"/>
          <p:cNvPicPr>
            <a:picLocks noChangeAspect="1" noChangeArrowheads="1"/>
          </p:cNvPicPr>
          <p:nvPr/>
        </p:nvPicPr>
        <p:blipFill>
          <a:blip r:embed="rId19" cstate="print">
            <a:extLst>
              <a:ext uri="{28A0092B-C50C-407E-A947-70E740481C1C}">
                <a14:useLocalDpi xmlns:a14="http://schemas.microsoft.com/office/drawing/2010/main" val="0"/>
              </a:ext>
            </a:extLst>
          </a:blip>
          <a:srcRect l="37671" t="77982" r="53865" b="15790"/>
          <a:stretch>
            <a:fillRect/>
          </a:stretch>
        </p:blipFill>
        <p:spPr bwMode="auto">
          <a:xfrm>
            <a:off x="5087620" y="4462780"/>
            <a:ext cx="2348865" cy="1094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bldLst>
      <p:bldP spid="13" grpId="0" bldLvl="0" animBg="1" autoUpdateAnimBg="0"/>
      <p:bldP spid="5" grpId="0" bldLvl="0" animBg="1" autoUpdateAnimBg="0"/>
      <p:bldP spid="7" grpId="0" bldLvl="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3" name="Text Box 4"/>
          <p:cNvSpPr txBox="1">
            <a:spLocks noChangeArrowheads="1"/>
          </p:cNvSpPr>
          <p:nvPr/>
        </p:nvSpPr>
        <p:spPr bwMode="auto">
          <a:xfrm>
            <a:off x="1547455" y="20583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主题二</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逻辑代数</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基础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nvSpPr>
        <p:spPr bwMode="auto">
          <a:xfrm>
            <a:off x="517963" y="8507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2.1 </a:t>
            </a:r>
            <a:r>
              <a:rPr kumimoji="0" lang="zh-CN" altLang="en-US" dirty="0">
                <a:solidFill>
                  <a:srgbClr val="000000"/>
                </a:solidFill>
                <a:latin typeface="黑体" panose="02010609060101010101" pitchFamily="49" charset="-122"/>
                <a:ea typeface="黑体" panose="02010609060101010101" pitchFamily="49" charset="-122"/>
              </a:rPr>
              <a:t>逻辑代数基本概念、运算与符号</a:t>
            </a:r>
            <a:r>
              <a:rPr kumimoji="0" lang="zh-CN" altLang="en-US" dirty="0">
                <a:solidFill>
                  <a:srgbClr val="FF0000"/>
                </a:solidFill>
                <a:latin typeface="黑体" panose="02010609060101010101" pitchFamily="49" charset="-122"/>
                <a:ea typeface="黑体" panose="02010609060101010101" pitchFamily="49" charset="-122"/>
              </a:rPr>
              <a:t> </a:t>
            </a:r>
            <a:endParaRPr kumimoji="0" lang="zh-CN" altLang="en-US" dirty="0">
              <a:solidFill>
                <a:srgbClr val="FF0000"/>
              </a:solidFill>
              <a:latin typeface="黑体" panose="02010609060101010101" pitchFamily="49" charset="-122"/>
              <a:ea typeface="黑体" panose="02010609060101010101" pitchFamily="49" charset="-122"/>
            </a:endParaRPr>
          </a:p>
        </p:txBody>
      </p:sp>
      <p:sp>
        <p:nvSpPr>
          <p:cNvPr id="7" name="Text Box 142"/>
          <p:cNvSpPr txBox="1">
            <a:spLocks noChangeArrowheads="1"/>
          </p:cNvSpPr>
          <p:nvPr>
            <p:custDataLst>
              <p:tags r:id="rId1"/>
            </p:custDataLst>
          </p:nvPr>
        </p:nvSpPr>
        <p:spPr bwMode="auto">
          <a:xfrm>
            <a:off x="720528" y="1467930"/>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(8)</a:t>
            </a:r>
            <a:r>
              <a:rPr kumimoji="0" lang="zh-CN" altLang="en-US" sz="2400" dirty="0">
                <a:solidFill>
                  <a:srgbClr val="000000"/>
                </a:solidFill>
                <a:latin typeface="黑体" panose="02010609060101010101" pitchFamily="49" charset="-122"/>
                <a:ea typeface="黑体" panose="02010609060101010101" pitchFamily="49" charset="-122"/>
              </a:rPr>
              <a:t>同或</a:t>
            </a:r>
            <a:endParaRPr kumimoji="0" lang="zh-CN" altLang="en-US" sz="2400" dirty="0">
              <a:solidFill>
                <a:srgbClr val="000000"/>
              </a:solidFill>
              <a:latin typeface="黑体" panose="02010609060101010101" pitchFamily="49" charset="-122"/>
              <a:ea typeface="黑体" panose="02010609060101010101" pitchFamily="49" charset="-122"/>
            </a:endParaRPr>
          </a:p>
        </p:txBody>
      </p:sp>
      <p:grpSp>
        <p:nvGrpSpPr>
          <p:cNvPr id="80933" name="Group 2085"/>
          <p:cNvGrpSpPr/>
          <p:nvPr>
            <p:custDataLst>
              <p:tags r:id="rId2"/>
            </p:custDataLst>
          </p:nvPr>
        </p:nvGrpSpPr>
        <p:grpSpPr bwMode="auto">
          <a:xfrm>
            <a:off x="1000125" y="2773045"/>
            <a:ext cx="2663825" cy="2879725"/>
            <a:chOff x="2472" y="1253"/>
            <a:chExt cx="1776" cy="2199"/>
          </a:xfrm>
        </p:grpSpPr>
        <p:sp>
          <p:nvSpPr>
            <p:cNvPr id="23566" name="Rectangle 2086"/>
            <p:cNvSpPr>
              <a:spLocks noChangeArrowheads="1"/>
            </p:cNvSpPr>
            <p:nvPr>
              <p:custDataLst>
                <p:tags r:id="rId3"/>
              </p:custDataLst>
            </p:nvPr>
          </p:nvSpPr>
          <p:spPr bwMode="auto">
            <a:xfrm>
              <a:off x="3464" y="3023"/>
              <a:ext cx="784" cy="429"/>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1</a:t>
              </a:r>
              <a:endParaRPr lang="en-US" altLang="zh-CN" b="1">
                <a:solidFill>
                  <a:srgbClr val="000000"/>
                </a:solidFill>
                <a:ea typeface="楷体_GB2312" pitchFamily="49" charset="-122"/>
              </a:endParaRPr>
            </a:p>
          </p:txBody>
        </p:sp>
        <p:sp>
          <p:nvSpPr>
            <p:cNvPr id="23567" name="Rectangle 2087"/>
            <p:cNvSpPr>
              <a:spLocks noChangeArrowheads="1"/>
            </p:cNvSpPr>
            <p:nvPr>
              <p:custDataLst>
                <p:tags r:id="rId4"/>
              </p:custDataLst>
            </p:nvPr>
          </p:nvSpPr>
          <p:spPr bwMode="auto">
            <a:xfrm>
              <a:off x="2472" y="3023"/>
              <a:ext cx="992" cy="429"/>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1     1</a:t>
              </a:r>
              <a:endParaRPr lang="en-US" altLang="zh-CN" b="1">
                <a:solidFill>
                  <a:srgbClr val="000000"/>
                </a:solidFill>
                <a:ea typeface="楷体_GB2312" pitchFamily="49" charset="-122"/>
              </a:endParaRPr>
            </a:p>
          </p:txBody>
        </p:sp>
        <p:sp>
          <p:nvSpPr>
            <p:cNvPr id="23568" name="Rectangle 2088"/>
            <p:cNvSpPr>
              <a:spLocks noChangeArrowheads="1"/>
            </p:cNvSpPr>
            <p:nvPr>
              <p:custDataLst>
                <p:tags r:id="rId5"/>
              </p:custDataLst>
            </p:nvPr>
          </p:nvSpPr>
          <p:spPr bwMode="auto">
            <a:xfrm>
              <a:off x="3464" y="2617"/>
              <a:ext cx="784" cy="406"/>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0</a:t>
              </a:r>
              <a:endParaRPr lang="en-US" altLang="zh-CN" b="1">
                <a:solidFill>
                  <a:srgbClr val="000000"/>
                </a:solidFill>
                <a:ea typeface="楷体_GB2312" pitchFamily="49" charset="-122"/>
              </a:endParaRPr>
            </a:p>
          </p:txBody>
        </p:sp>
        <p:sp>
          <p:nvSpPr>
            <p:cNvPr id="23569" name="Rectangle 2089"/>
            <p:cNvSpPr>
              <a:spLocks noChangeArrowheads="1"/>
            </p:cNvSpPr>
            <p:nvPr>
              <p:custDataLst>
                <p:tags r:id="rId6"/>
              </p:custDataLst>
            </p:nvPr>
          </p:nvSpPr>
          <p:spPr bwMode="auto">
            <a:xfrm>
              <a:off x="2472" y="2617"/>
              <a:ext cx="992" cy="406"/>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1     0</a:t>
              </a:r>
              <a:endParaRPr lang="en-US" altLang="zh-CN" b="1">
                <a:solidFill>
                  <a:srgbClr val="000000"/>
                </a:solidFill>
                <a:ea typeface="楷体_GB2312" pitchFamily="49" charset="-122"/>
              </a:endParaRPr>
            </a:p>
          </p:txBody>
        </p:sp>
        <p:sp>
          <p:nvSpPr>
            <p:cNvPr id="23570" name="Rectangle 2090"/>
            <p:cNvSpPr>
              <a:spLocks noChangeArrowheads="1"/>
            </p:cNvSpPr>
            <p:nvPr>
              <p:custDataLst>
                <p:tags r:id="rId7"/>
              </p:custDataLst>
            </p:nvPr>
          </p:nvSpPr>
          <p:spPr bwMode="auto">
            <a:xfrm>
              <a:off x="3464" y="2190"/>
              <a:ext cx="784" cy="427"/>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0 </a:t>
              </a:r>
              <a:endParaRPr lang="en-US" altLang="zh-CN" b="1">
                <a:solidFill>
                  <a:srgbClr val="000000"/>
                </a:solidFill>
                <a:ea typeface="楷体_GB2312" pitchFamily="49" charset="-122"/>
              </a:endParaRPr>
            </a:p>
          </p:txBody>
        </p:sp>
        <p:sp>
          <p:nvSpPr>
            <p:cNvPr id="23571" name="Rectangle 2091"/>
            <p:cNvSpPr>
              <a:spLocks noChangeArrowheads="1"/>
            </p:cNvSpPr>
            <p:nvPr>
              <p:custDataLst>
                <p:tags r:id="rId8"/>
              </p:custDataLst>
            </p:nvPr>
          </p:nvSpPr>
          <p:spPr bwMode="auto">
            <a:xfrm>
              <a:off x="2472" y="2190"/>
              <a:ext cx="992" cy="427"/>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0     1</a:t>
              </a:r>
              <a:endParaRPr lang="en-US" altLang="zh-CN" b="1">
                <a:solidFill>
                  <a:srgbClr val="000000"/>
                </a:solidFill>
                <a:ea typeface="楷体_GB2312" pitchFamily="49" charset="-122"/>
              </a:endParaRPr>
            </a:p>
          </p:txBody>
        </p:sp>
        <p:sp>
          <p:nvSpPr>
            <p:cNvPr id="23572" name="Rectangle 2092"/>
            <p:cNvSpPr>
              <a:spLocks noChangeArrowheads="1"/>
            </p:cNvSpPr>
            <p:nvPr>
              <p:custDataLst>
                <p:tags r:id="rId9"/>
              </p:custDataLst>
            </p:nvPr>
          </p:nvSpPr>
          <p:spPr bwMode="auto">
            <a:xfrm>
              <a:off x="3464" y="1760"/>
              <a:ext cx="784" cy="430"/>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1</a:t>
              </a:r>
              <a:endParaRPr lang="en-US" altLang="zh-CN" b="1">
                <a:solidFill>
                  <a:srgbClr val="000000"/>
                </a:solidFill>
                <a:ea typeface="楷体_GB2312" pitchFamily="49" charset="-122"/>
              </a:endParaRPr>
            </a:p>
          </p:txBody>
        </p:sp>
        <p:sp>
          <p:nvSpPr>
            <p:cNvPr id="23573" name="Rectangle 2093"/>
            <p:cNvSpPr>
              <a:spLocks noChangeArrowheads="1"/>
            </p:cNvSpPr>
            <p:nvPr>
              <p:custDataLst>
                <p:tags r:id="rId10"/>
              </p:custDataLst>
            </p:nvPr>
          </p:nvSpPr>
          <p:spPr bwMode="auto">
            <a:xfrm>
              <a:off x="2472" y="1760"/>
              <a:ext cx="992" cy="430"/>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0     0</a:t>
              </a:r>
              <a:endParaRPr lang="en-US" altLang="zh-CN" b="1">
                <a:solidFill>
                  <a:srgbClr val="000000"/>
                </a:solidFill>
                <a:ea typeface="楷体_GB2312" pitchFamily="49" charset="-122"/>
              </a:endParaRPr>
            </a:p>
          </p:txBody>
        </p:sp>
        <p:sp>
          <p:nvSpPr>
            <p:cNvPr id="23574" name="Rectangle 2094"/>
            <p:cNvSpPr>
              <a:spLocks noChangeArrowheads="1"/>
            </p:cNvSpPr>
            <p:nvPr>
              <p:custDataLst>
                <p:tags r:id="rId11"/>
              </p:custDataLst>
            </p:nvPr>
          </p:nvSpPr>
          <p:spPr bwMode="auto">
            <a:xfrm>
              <a:off x="3464" y="1274"/>
              <a:ext cx="784" cy="486"/>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F</a:t>
              </a:r>
              <a:endParaRPr lang="en-US" altLang="zh-CN" b="1">
                <a:solidFill>
                  <a:srgbClr val="000000"/>
                </a:solidFill>
                <a:ea typeface="楷体_GB2312" pitchFamily="49" charset="-122"/>
              </a:endParaRPr>
            </a:p>
          </p:txBody>
        </p:sp>
        <p:sp>
          <p:nvSpPr>
            <p:cNvPr id="23575" name="Rectangle 2095"/>
            <p:cNvSpPr>
              <a:spLocks noChangeArrowheads="1"/>
            </p:cNvSpPr>
            <p:nvPr>
              <p:custDataLst>
                <p:tags r:id="rId12"/>
              </p:custDataLst>
            </p:nvPr>
          </p:nvSpPr>
          <p:spPr bwMode="auto">
            <a:xfrm>
              <a:off x="2472" y="1274"/>
              <a:ext cx="992" cy="486"/>
            </a:xfrm>
            <a:prstGeom prst="rect">
              <a:avLst/>
            </a:prstGeom>
            <a:noFill/>
            <a:ln w="2857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b="1">
                  <a:solidFill>
                    <a:srgbClr val="000000"/>
                  </a:solidFill>
                  <a:ea typeface="楷体_GB2312" pitchFamily="49" charset="-122"/>
                </a:rPr>
                <a:t>  A    B</a:t>
              </a:r>
              <a:endParaRPr lang="en-US" altLang="zh-CN" b="1">
                <a:solidFill>
                  <a:srgbClr val="000000"/>
                </a:solidFill>
                <a:ea typeface="楷体_GB2312" pitchFamily="49" charset="-122"/>
              </a:endParaRPr>
            </a:p>
          </p:txBody>
        </p:sp>
        <p:sp>
          <p:nvSpPr>
            <p:cNvPr id="23576" name="Line 2096"/>
            <p:cNvSpPr>
              <a:spLocks noChangeShapeType="1"/>
            </p:cNvSpPr>
            <p:nvPr>
              <p:custDataLst>
                <p:tags r:id="rId13"/>
              </p:custDataLst>
            </p:nvPr>
          </p:nvSpPr>
          <p:spPr bwMode="auto">
            <a:xfrm>
              <a:off x="2472" y="1760"/>
              <a:ext cx="1776"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7" name="Line 2097"/>
            <p:cNvSpPr>
              <a:spLocks noChangeShapeType="1"/>
            </p:cNvSpPr>
            <p:nvPr>
              <p:custDataLst>
                <p:tags r:id="rId14"/>
              </p:custDataLst>
            </p:nvPr>
          </p:nvSpPr>
          <p:spPr bwMode="auto">
            <a:xfrm>
              <a:off x="2472" y="2190"/>
              <a:ext cx="1776"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8" name="Line 2098"/>
            <p:cNvSpPr>
              <a:spLocks noChangeShapeType="1"/>
            </p:cNvSpPr>
            <p:nvPr>
              <p:custDataLst>
                <p:tags r:id="rId15"/>
              </p:custDataLst>
            </p:nvPr>
          </p:nvSpPr>
          <p:spPr bwMode="auto">
            <a:xfrm>
              <a:off x="2472" y="2617"/>
              <a:ext cx="1776"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79" name="Line 2099"/>
            <p:cNvSpPr>
              <a:spLocks noChangeShapeType="1"/>
            </p:cNvSpPr>
            <p:nvPr>
              <p:custDataLst>
                <p:tags r:id="rId16"/>
              </p:custDataLst>
            </p:nvPr>
          </p:nvSpPr>
          <p:spPr bwMode="auto">
            <a:xfrm>
              <a:off x="2472" y="3023"/>
              <a:ext cx="1776"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80" name="Line 2100"/>
            <p:cNvSpPr>
              <a:spLocks noChangeShapeType="1"/>
            </p:cNvSpPr>
            <p:nvPr>
              <p:custDataLst>
                <p:tags r:id="rId17"/>
              </p:custDataLst>
            </p:nvPr>
          </p:nvSpPr>
          <p:spPr bwMode="auto">
            <a:xfrm>
              <a:off x="2472" y="3452"/>
              <a:ext cx="1776" cy="0"/>
            </a:xfrm>
            <a:prstGeom prst="line">
              <a:avLst/>
            </a:prstGeom>
            <a:noFill/>
            <a:ln w="28575" cap="sq">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81" name="Line 2101"/>
            <p:cNvSpPr>
              <a:spLocks noChangeShapeType="1"/>
            </p:cNvSpPr>
            <p:nvPr>
              <p:custDataLst>
                <p:tags r:id="rId18"/>
              </p:custDataLst>
            </p:nvPr>
          </p:nvSpPr>
          <p:spPr bwMode="auto">
            <a:xfrm>
              <a:off x="3464" y="1253"/>
              <a:ext cx="0" cy="2199"/>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78858" name="Group 10"/>
          <p:cNvGrpSpPr/>
          <p:nvPr/>
        </p:nvGrpSpPr>
        <p:grpSpPr bwMode="auto">
          <a:xfrm>
            <a:off x="855436" y="2032000"/>
            <a:ext cx="4114800" cy="519113"/>
            <a:chOff x="2544" y="999"/>
            <a:chExt cx="2592" cy="327"/>
          </a:xfrm>
        </p:grpSpPr>
        <p:sp>
          <p:nvSpPr>
            <p:cNvPr id="23582" name="Text Box 7"/>
            <p:cNvSpPr txBox="1">
              <a:spLocks noChangeArrowheads="1"/>
            </p:cNvSpPr>
            <p:nvPr/>
          </p:nvSpPr>
          <p:spPr bwMode="auto">
            <a:xfrm>
              <a:off x="2544" y="999"/>
              <a:ext cx="259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F = A⊙B = A B + A B</a:t>
              </a:r>
              <a:endParaRPr kumimoji="0" lang="en-US" altLang="zh-CN" b="1">
                <a:solidFill>
                  <a:srgbClr val="000000"/>
                </a:solidFill>
              </a:endParaRPr>
            </a:p>
          </p:txBody>
        </p:sp>
        <p:sp>
          <p:nvSpPr>
            <p:cNvPr id="23583" name="Line 8"/>
            <p:cNvSpPr>
              <a:spLocks noChangeShapeType="1"/>
            </p:cNvSpPr>
            <p:nvPr/>
          </p:nvSpPr>
          <p:spPr bwMode="auto">
            <a:xfrm>
              <a:off x="4300" y="999"/>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3584" name="Line 9"/>
            <p:cNvSpPr>
              <a:spLocks noChangeShapeType="1"/>
            </p:cNvSpPr>
            <p:nvPr/>
          </p:nvSpPr>
          <p:spPr bwMode="auto">
            <a:xfrm>
              <a:off x="4506" y="999"/>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pic>
        <p:nvPicPr>
          <p:cNvPr id="78860" name="Picture 12"/>
          <p:cNvPicPr>
            <a:picLocks noChangeAspect="1" noChangeArrowheads="1"/>
          </p:cNvPicPr>
          <p:nvPr/>
        </p:nvPicPr>
        <p:blipFill>
          <a:blip r:embed="rId19" cstate="print">
            <a:extLst>
              <a:ext uri="{28A0092B-C50C-407E-A947-70E740481C1C}">
                <a14:useLocalDpi xmlns:a14="http://schemas.microsoft.com/office/drawing/2010/main" val="0"/>
              </a:ext>
            </a:extLst>
          </a:blip>
          <a:srcRect l="19734" t="77982" r="62926" b="15790"/>
          <a:stretch>
            <a:fillRect/>
          </a:stretch>
        </p:blipFill>
        <p:spPr bwMode="auto">
          <a:xfrm>
            <a:off x="3773170" y="2959735"/>
            <a:ext cx="4812030" cy="1094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 name="Picture 12"/>
          <p:cNvPicPr>
            <a:picLocks noChangeAspect="1" noChangeArrowheads="1"/>
          </p:cNvPicPr>
          <p:nvPr/>
        </p:nvPicPr>
        <p:blipFill>
          <a:blip r:embed="rId19" cstate="print">
            <a:extLst>
              <a:ext uri="{28A0092B-C50C-407E-A947-70E740481C1C}">
                <a14:useLocalDpi xmlns:a14="http://schemas.microsoft.com/office/drawing/2010/main" val="0"/>
              </a:ext>
            </a:extLst>
          </a:blip>
          <a:srcRect l="37671" t="77982" r="53865" b="15790"/>
          <a:stretch>
            <a:fillRect/>
          </a:stretch>
        </p:blipFill>
        <p:spPr bwMode="auto">
          <a:xfrm>
            <a:off x="5087620" y="4462780"/>
            <a:ext cx="2348865" cy="1094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bldLst>
      <p:bldP spid="13" grpId="0" bldLvl="0" animBg="1" autoUpdateAnimBg="0"/>
      <p:bldP spid="5" grpId="0" bldLvl="0" animBg="1" autoUpdateAnimBg="0"/>
      <p:bldP spid="7" grpId="0" bldLvl="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3" name="Text Box 4"/>
          <p:cNvSpPr txBox="1">
            <a:spLocks noChangeArrowheads="1"/>
          </p:cNvSpPr>
          <p:nvPr/>
        </p:nvSpPr>
        <p:spPr bwMode="auto">
          <a:xfrm>
            <a:off x="1547455" y="20583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主题二</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逻辑代数</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基础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nvSpPr>
        <p:spPr bwMode="auto">
          <a:xfrm>
            <a:off x="512883" y="106089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2.2 </a:t>
            </a:r>
            <a:r>
              <a:rPr kumimoji="0" lang="zh-CN" altLang="en-US" dirty="0">
                <a:solidFill>
                  <a:srgbClr val="000000"/>
                </a:solidFill>
                <a:latin typeface="黑体" panose="02010609060101010101" pitchFamily="49" charset="-122"/>
                <a:ea typeface="黑体" panose="02010609060101010101" pitchFamily="49" charset="-122"/>
              </a:rPr>
              <a:t>逻辑代数基本运算公式</a:t>
            </a:r>
            <a:r>
              <a:rPr kumimoji="0" lang="zh-CN" altLang="en-US" dirty="0">
                <a:solidFill>
                  <a:srgbClr val="FF0000"/>
                </a:solidFill>
                <a:latin typeface="黑体" panose="02010609060101010101" pitchFamily="49" charset="-122"/>
                <a:ea typeface="黑体" panose="02010609060101010101" pitchFamily="49" charset="-122"/>
              </a:rPr>
              <a:t> </a:t>
            </a:r>
            <a:endParaRPr kumimoji="0" lang="zh-CN" altLang="en-US" dirty="0">
              <a:solidFill>
                <a:srgbClr val="FF0000"/>
              </a:solidFill>
              <a:latin typeface="黑体" panose="02010609060101010101" pitchFamily="49" charset="-122"/>
              <a:ea typeface="黑体" panose="02010609060101010101" pitchFamily="49" charset="-122"/>
            </a:endParaRPr>
          </a:p>
        </p:txBody>
      </p:sp>
      <p:sp>
        <p:nvSpPr>
          <p:cNvPr id="79876" name="Text Box 4"/>
          <p:cNvSpPr txBox="1">
            <a:spLocks noChangeArrowheads="1"/>
          </p:cNvSpPr>
          <p:nvPr/>
        </p:nvSpPr>
        <p:spPr bwMode="auto">
          <a:xfrm>
            <a:off x="723900" y="1793875"/>
            <a:ext cx="16383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1.</a:t>
            </a:r>
            <a:r>
              <a:rPr kumimoji="0" lang="zh-CN" altLang="en-US" b="1">
                <a:solidFill>
                  <a:srgbClr val="000000"/>
                </a:solidFill>
              </a:rPr>
              <a:t>自等律 </a:t>
            </a:r>
            <a:endParaRPr kumimoji="0" lang="zh-CN" altLang="en-US" b="1">
              <a:solidFill>
                <a:srgbClr val="000000"/>
              </a:solidFill>
            </a:endParaRPr>
          </a:p>
        </p:txBody>
      </p:sp>
      <p:grpSp>
        <p:nvGrpSpPr>
          <p:cNvPr id="79911" name="Group 39"/>
          <p:cNvGrpSpPr/>
          <p:nvPr/>
        </p:nvGrpSpPr>
        <p:grpSpPr bwMode="auto">
          <a:xfrm>
            <a:off x="3200400" y="1793875"/>
            <a:ext cx="4495800" cy="519113"/>
            <a:chOff x="2016" y="1130"/>
            <a:chExt cx="2832" cy="327"/>
          </a:xfrm>
        </p:grpSpPr>
        <p:sp>
          <p:nvSpPr>
            <p:cNvPr id="25636" name="Text Box 5"/>
            <p:cNvSpPr txBox="1">
              <a:spLocks noChangeArrowheads="1"/>
            </p:cNvSpPr>
            <p:nvPr/>
          </p:nvSpPr>
          <p:spPr bwMode="auto">
            <a:xfrm>
              <a:off x="2016" y="1130"/>
              <a:ext cx="10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A + 0 = A </a:t>
              </a:r>
              <a:endParaRPr kumimoji="0" lang="en-US" altLang="zh-CN" b="1">
                <a:solidFill>
                  <a:srgbClr val="000000"/>
                </a:solidFill>
              </a:endParaRPr>
            </a:p>
          </p:txBody>
        </p:sp>
        <p:sp>
          <p:nvSpPr>
            <p:cNvPr id="25637" name="Text Box 6"/>
            <p:cNvSpPr txBox="1">
              <a:spLocks noChangeArrowheads="1"/>
            </p:cNvSpPr>
            <p:nvPr/>
          </p:nvSpPr>
          <p:spPr bwMode="auto">
            <a:xfrm>
              <a:off x="3792" y="1130"/>
              <a:ext cx="10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chemeClr val="accent2"/>
                  </a:solidFill>
                </a:rPr>
                <a:t>A · 1 = A </a:t>
              </a:r>
              <a:endParaRPr kumimoji="0" lang="en-US" altLang="zh-CN" b="1">
                <a:solidFill>
                  <a:schemeClr val="accent2"/>
                </a:solidFill>
              </a:endParaRPr>
            </a:p>
          </p:txBody>
        </p:sp>
      </p:grpSp>
      <p:sp>
        <p:nvSpPr>
          <p:cNvPr id="79879" name="Text Box 7"/>
          <p:cNvSpPr txBox="1">
            <a:spLocks noChangeArrowheads="1"/>
          </p:cNvSpPr>
          <p:nvPr/>
        </p:nvSpPr>
        <p:spPr bwMode="auto">
          <a:xfrm>
            <a:off x="723900" y="2424113"/>
            <a:ext cx="16383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dirty="0">
                <a:solidFill>
                  <a:srgbClr val="FF0000"/>
                </a:solidFill>
              </a:rPr>
              <a:t>2.</a:t>
            </a:r>
            <a:r>
              <a:rPr kumimoji="0" lang="zh-CN" altLang="en-US" b="1" dirty="0">
                <a:solidFill>
                  <a:srgbClr val="FF0000"/>
                </a:solidFill>
              </a:rPr>
              <a:t>吸收律 </a:t>
            </a:r>
            <a:endParaRPr kumimoji="0" lang="zh-CN" altLang="en-US" b="1" dirty="0">
              <a:solidFill>
                <a:srgbClr val="FF0000"/>
              </a:solidFill>
            </a:endParaRPr>
          </a:p>
        </p:txBody>
      </p:sp>
      <p:grpSp>
        <p:nvGrpSpPr>
          <p:cNvPr id="79912" name="Group 40"/>
          <p:cNvGrpSpPr/>
          <p:nvPr/>
        </p:nvGrpSpPr>
        <p:grpSpPr bwMode="auto">
          <a:xfrm>
            <a:off x="3200400" y="2424113"/>
            <a:ext cx="4495800" cy="519112"/>
            <a:chOff x="2016" y="1527"/>
            <a:chExt cx="2832" cy="327"/>
          </a:xfrm>
        </p:grpSpPr>
        <p:sp>
          <p:nvSpPr>
            <p:cNvPr id="25634" name="Text Box 8"/>
            <p:cNvSpPr txBox="1">
              <a:spLocks noChangeArrowheads="1"/>
            </p:cNvSpPr>
            <p:nvPr/>
          </p:nvSpPr>
          <p:spPr bwMode="auto">
            <a:xfrm>
              <a:off x="2016" y="1527"/>
              <a:ext cx="10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A + 1 = 1 </a:t>
              </a:r>
              <a:endParaRPr kumimoji="0" lang="en-US" altLang="zh-CN" b="1">
                <a:solidFill>
                  <a:srgbClr val="000000"/>
                </a:solidFill>
              </a:endParaRPr>
            </a:p>
          </p:txBody>
        </p:sp>
        <p:sp>
          <p:nvSpPr>
            <p:cNvPr id="25635" name="Text Box 9"/>
            <p:cNvSpPr txBox="1">
              <a:spLocks noChangeArrowheads="1"/>
            </p:cNvSpPr>
            <p:nvPr/>
          </p:nvSpPr>
          <p:spPr bwMode="auto">
            <a:xfrm>
              <a:off x="3792" y="1527"/>
              <a:ext cx="10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chemeClr val="accent2"/>
                  </a:solidFill>
                </a:rPr>
                <a:t>A · 0 = 0 </a:t>
              </a:r>
              <a:endParaRPr kumimoji="0" lang="en-US" altLang="zh-CN" b="1">
                <a:solidFill>
                  <a:schemeClr val="accent2"/>
                </a:solidFill>
              </a:endParaRPr>
            </a:p>
          </p:txBody>
        </p:sp>
      </p:grpSp>
      <p:sp>
        <p:nvSpPr>
          <p:cNvPr id="79882" name="Text Box 10"/>
          <p:cNvSpPr txBox="1">
            <a:spLocks noChangeArrowheads="1"/>
          </p:cNvSpPr>
          <p:nvPr/>
        </p:nvSpPr>
        <p:spPr bwMode="auto">
          <a:xfrm>
            <a:off x="723900" y="3076575"/>
            <a:ext cx="16383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FF0000"/>
                </a:solidFill>
              </a:rPr>
              <a:t>3.</a:t>
            </a:r>
            <a:r>
              <a:rPr kumimoji="0" lang="zh-CN" altLang="en-US" b="1">
                <a:solidFill>
                  <a:srgbClr val="FF0000"/>
                </a:solidFill>
              </a:rPr>
              <a:t>重叠律</a:t>
            </a:r>
            <a:r>
              <a:rPr kumimoji="0" lang="zh-CN" altLang="en-US" b="1">
                <a:solidFill>
                  <a:srgbClr val="000000"/>
                </a:solidFill>
              </a:rPr>
              <a:t> </a:t>
            </a:r>
            <a:endParaRPr kumimoji="0" lang="zh-CN" altLang="en-US" b="1">
              <a:solidFill>
                <a:srgbClr val="000000"/>
              </a:solidFill>
            </a:endParaRPr>
          </a:p>
        </p:txBody>
      </p:sp>
      <p:grpSp>
        <p:nvGrpSpPr>
          <p:cNvPr id="79913" name="Group 41"/>
          <p:cNvGrpSpPr/>
          <p:nvPr/>
        </p:nvGrpSpPr>
        <p:grpSpPr bwMode="auto">
          <a:xfrm>
            <a:off x="3200400" y="3076575"/>
            <a:ext cx="4495800" cy="519113"/>
            <a:chOff x="2016" y="1938"/>
            <a:chExt cx="2832" cy="327"/>
          </a:xfrm>
        </p:grpSpPr>
        <p:sp>
          <p:nvSpPr>
            <p:cNvPr id="25632" name="Text Box 11"/>
            <p:cNvSpPr txBox="1">
              <a:spLocks noChangeArrowheads="1"/>
            </p:cNvSpPr>
            <p:nvPr/>
          </p:nvSpPr>
          <p:spPr bwMode="auto">
            <a:xfrm>
              <a:off x="2016" y="1938"/>
              <a:ext cx="13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A + A = A </a:t>
              </a:r>
              <a:endParaRPr kumimoji="0" lang="en-US" altLang="zh-CN" b="1">
                <a:solidFill>
                  <a:srgbClr val="000000"/>
                </a:solidFill>
              </a:endParaRPr>
            </a:p>
          </p:txBody>
        </p:sp>
        <p:sp>
          <p:nvSpPr>
            <p:cNvPr id="25633" name="Text Box 12"/>
            <p:cNvSpPr txBox="1">
              <a:spLocks noChangeArrowheads="1"/>
            </p:cNvSpPr>
            <p:nvPr/>
          </p:nvSpPr>
          <p:spPr bwMode="auto">
            <a:xfrm>
              <a:off x="3792" y="1938"/>
              <a:ext cx="10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chemeClr val="accent2"/>
                  </a:solidFill>
                </a:rPr>
                <a:t>A · A = A </a:t>
              </a:r>
              <a:endParaRPr kumimoji="0" lang="en-US" altLang="zh-CN" b="1">
                <a:solidFill>
                  <a:schemeClr val="accent2"/>
                </a:solidFill>
              </a:endParaRPr>
            </a:p>
          </p:txBody>
        </p:sp>
      </p:grpSp>
      <p:sp>
        <p:nvSpPr>
          <p:cNvPr id="79885" name="Text Box 13"/>
          <p:cNvSpPr txBox="1">
            <a:spLocks noChangeArrowheads="1"/>
          </p:cNvSpPr>
          <p:nvPr/>
        </p:nvSpPr>
        <p:spPr bwMode="auto">
          <a:xfrm>
            <a:off x="723900" y="3751263"/>
            <a:ext cx="16383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4.</a:t>
            </a:r>
            <a:r>
              <a:rPr kumimoji="0" lang="zh-CN" altLang="en-US" b="1">
                <a:solidFill>
                  <a:srgbClr val="000000"/>
                </a:solidFill>
              </a:rPr>
              <a:t>互补律 </a:t>
            </a:r>
            <a:endParaRPr kumimoji="0" lang="zh-CN" altLang="en-US" b="1">
              <a:solidFill>
                <a:srgbClr val="000000"/>
              </a:solidFill>
            </a:endParaRPr>
          </a:p>
        </p:txBody>
      </p:sp>
      <p:sp>
        <p:nvSpPr>
          <p:cNvPr id="79890" name="Text Box 18"/>
          <p:cNvSpPr txBox="1">
            <a:spLocks noChangeArrowheads="1"/>
          </p:cNvSpPr>
          <p:nvPr/>
        </p:nvSpPr>
        <p:spPr bwMode="auto">
          <a:xfrm>
            <a:off x="723900" y="4448175"/>
            <a:ext cx="16383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5.</a:t>
            </a:r>
            <a:r>
              <a:rPr kumimoji="0" lang="zh-CN" altLang="en-US" b="1">
                <a:solidFill>
                  <a:srgbClr val="000000"/>
                </a:solidFill>
              </a:rPr>
              <a:t>还原律 </a:t>
            </a:r>
            <a:endParaRPr kumimoji="0" lang="zh-CN" altLang="en-US" b="1">
              <a:solidFill>
                <a:srgbClr val="000000"/>
              </a:solidFill>
            </a:endParaRPr>
          </a:p>
        </p:txBody>
      </p:sp>
      <p:grpSp>
        <p:nvGrpSpPr>
          <p:cNvPr id="79902" name="Group 30"/>
          <p:cNvGrpSpPr/>
          <p:nvPr/>
        </p:nvGrpSpPr>
        <p:grpSpPr bwMode="auto">
          <a:xfrm>
            <a:off x="3200400" y="4448175"/>
            <a:ext cx="1676400" cy="519113"/>
            <a:chOff x="2016" y="2326"/>
            <a:chExt cx="1056" cy="327"/>
          </a:xfrm>
        </p:grpSpPr>
        <p:sp>
          <p:nvSpPr>
            <p:cNvPr id="25629" name="Text Box 19"/>
            <p:cNvSpPr txBox="1">
              <a:spLocks noChangeArrowheads="1"/>
            </p:cNvSpPr>
            <p:nvPr/>
          </p:nvSpPr>
          <p:spPr bwMode="auto">
            <a:xfrm>
              <a:off x="2016" y="2326"/>
              <a:ext cx="10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A  = A </a:t>
              </a:r>
              <a:endParaRPr kumimoji="0" lang="en-US" altLang="zh-CN" b="1">
                <a:solidFill>
                  <a:srgbClr val="000000"/>
                </a:solidFill>
              </a:endParaRPr>
            </a:p>
          </p:txBody>
        </p:sp>
        <p:sp>
          <p:nvSpPr>
            <p:cNvPr id="25630" name="Line 21"/>
            <p:cNvSpPr>
              <a:spLocks noChangeShapeType="1"/>
            </p:cNvSpPr>
            <p:nvPr/>
          </p:nvSpPr>
          <p:spPr bwMode="auto">
            <a:xfrm>
              <a:off x="2064" y="2344"/>
              <a:ext cx="19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31" name="Line 22"/>
            <p:cNvSpPr>
              <a:spLocks noChangeShapeType="1"/>
            </p:cNvSpPr>
            <p:nvPr/>
          </p:nvSpPr>
          <p:spPr bwMode="auto">
            <a:xfrm>
              <a:off x="2064" y="2380"/>
              <a:ext cx="19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79914" name="Group 42"/>
          <p:cNvGrpSpPr/>
          <p:nvPr/>
        </p:nvGrpSpPr>
        <p:grpSpPr bwMode="auto">
          <a:xfrm>
            <a:off x="3197225" y="3751263"/>
            <a:ext cx="5222875" cy="531812"/>
            <a:chOff x="2014" y="2363"/>
            <a:chExt cx="3290" cy="335"/>
          </a:xfrm>
        </p:grpSpPr>
        <p:grpSp>
          <p:nvGrpSpPr>
            <p:cNvPr id="25623" name="Group 28"/>
            <p:cNvGrpSpPr/>
            <p:nvPr/>
          </p:nvGrpSpPr>
          <p:grpSpPr bwMode="auto">
            <a:xfrm>
              <a:off x="2014" y="2371"/>
              <a:ext cx="1344" cy="327"/>
              <a:chOff x="2016" y="1999"/>
              <a:chExt cx="1344" cy="327"/>
            </a:xfrm>
          </p:grpSpPr>
          <p:sp>
            <p:nvSpPr>
              <p:cNvPr id="25627" name="Text Box 14"/>
              <p:cNvSpPr txBox="1">
                <a:spLocks noChangeArrowheads="1"/>
              </p:cNvSpPr>
              <p:nvPr/>
            </p:nvSpPr>
            <p:spPr bwMode="auto">
              <a:xfrm>
                <a:off x="2016" y="1999"/>
                <a:ext cx="13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A + A = 1 </a:t>
                </a:r>
                <a:endParaRPr kumimoji="0" lang="en-US" altLang="zh-CN" b="1">
                  <a:solidFill>
                    <a:srgbClr val="000000"/>
                  </a:solidFill>
                </a:endParaRPr>
              </a:p>
            </p:txBody>
          </p:sp>
          <p:sp>
            <p:nvSpPr>
              <p:cNvPr id="25628" name="Line 25"/>
              <p:cNvSpPr>
                <a:spLocks noChangeShapeType="1"/>
              </p:cNvSpPr>
              <p:nvPr/>
            </p:nvSpPr>
            <p:spPr bwMode="auto">
              <a:xfrm>
                <a:off x="2448" y="2064"/>
                <a:ext cx="19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25624" name="Group 38"/>
            <p:cNvGrpSpPr/>
            <p:nvPr/>
          </p:nvGrpSpPr>
          <p:grpSpPr bwMode="auto">
            <a:xfrm>
              <a:off x="3792" y="2363"/>
              <a:ext cx="1512" cy="327"/>
              <a:chOff x="3792" y="2363"/>
              <a:chExt cx="1512" cy="327"/>
            </a:xfrm>
          </p:grpSpPr>
          <p:sp>
            <p:nvSpPr>
              <p:cNvPr id="25625" name="Text Box 15"/>
              <p:cNvSpPr txBox="1">
                <a:spLocks noChangeArrowheads="1"/>
              </p:cNvSpPr>
              <p:nvPr/>
            </p:nvSpPr>
            <p:spPr bwMode="auto">
              <a:xfrm>
                <a:off x="3792" y="2363"/>
                <a:ext cx="151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chemeClr val="accent2"/>
                    </a:solidFill>
                  </a:rPr>
                  <a:t>A · A = 0</a:t>
                </a:r>
                <a:endParaRPr kumimoji="0" lang="en-US" altLang="zh-CN" b="1">
                  <a:solidFill>
                    <a:schemeClr val="accent2"/>
                  </a:solidFill>
                </a:endParaRPr>
              </a:p>
            </p:txBody>
          </p:sp>
          <p:sp>
            <p:nvSpPr>
              <p:cNvPr id="25626" name="Line 27"/>
              <p:cNvSpPr>
                <a:spLocks noChangeShapeType="1"/>
              </p:cNvSpPr>
              <p:nvPr/>
            </p:nvSpPr>
            <p:spPr bwMode="auto">
              <a:xfrm>
                <a:off x="4176" y="2428"/>
                <a:ext cx="192"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sp>
        <p:nvSpPr>
          <p:cNvPr id="79904" name="Text Box 32"/>
          <p:cNvSpPr txBox="1">
            <a:spLocks noChangeArrowheads="1"/>
          </p:cNvSpPr>
          <p:nvPr/>
        </p:nvSpPr>
        <p:spPr bwMode="auto">
          <a:xfrm>
            <a:off x="736600" y="5059363"/>
            <a:ext cx="16383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6.</a:t>
            </a:r>
            <a:r>
              <a:rPr kumimoji="0" lang="zh-CN" altLang="en-US" b="1">
                <a:solidFill>
                  <a:srgbClr val="000000"/>
                </a:solidFill>
              </a:rPr>
              <a:t>交换律 </a:t>
            </a:r>
            <a:endParaRPr kumimoji="0" lang="zh-CN" altLang="en-US" b="1">
              <a:solidFill>
                <a:srgbClr val="000000"/>
              </a:solidFill>
            </a:endParaRPr>
          </a:p>
        </p:txBody>
      </p:sp>
      <p:grpSp>
        <p:nvGrpSpPr>
          <p:cNvPr id="79916" name="Group 44"/>
          <p:cNvGrpSpPr/>
          <p:nvPr/>
        </p:nvGrpSpPr>
        <p:grpSpPr bwMode="auto">
          <a:xfrm>
            <a:off x="2701925" y="5059363"/>
            <a:ext cx="5514975" cy="519112"/>
            <a:chOff x="1702" y="3187"/>
            <a:chExt cx="3474" cy="327"/>
          </a:xfrm>
        </p:grpSpPr>
        <p:sp>
          <p:nvSpPr>
            <p:cNvPr id="25621" name="Text Box 33"/>
            <p:cNvSpPr txBox="1">
              <a:spLocks noChangeArrowheads="1"/>
            </p:cNvSpPr>
            <p:nvPr/>
          </p:nvSpPr>
          <p:spPr bwMode="auto">
            <a:xfrm>
              <a:off x="1702" y="3187"/>
              <a:ext cx="154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A + B = B + A </a:t>
              </a:r>
              <a:endParaRPr kumimoji="0" lang="en-US" altLang="zh-CN" b="1">
                <a:solidFill>
                  <a:srgbClr val="000000"/>
                </a:solidFill>
              </a:endParaRPr>
            </a:p>
          </p:txBody>
        </p:sp>
        <p:sp>
          <p:nvSpPr>
            <p:cNvPr id="25622" name="Text Box 34"/>
            <p:cNvSpPr txBox="1">
              <a:spLocks noChangeArrowheads="1"/>
            </p:cNvSpPr>
            <p:nvPr/>
          </p:nvSpPr>
          <p:spPr bwMode="auto">
            <a:xfrm>
              <a:off x="3674" y="3187"/>
              <a:ext cx="150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chemeClr val="accent2"/>
                  </a:solidFill>
                </a:rPr>
                <a:t>A · B = B · A </a:t>
              </a:r>
              <a:endParaRPr kumimoji="0" lang="en-US" altLang="zh-CN" b="1">
                <a:solidFill>
                  <a:schemeClr val="accent2"/>
                </a:solidFill>
              </a:endParaRPr>
            </a:p>
          </p:txBody>
        </p:sp>
      </p:grpSp>
    </p:spTree>
  </p:cSld>
  <p:clrMapOvr>
    <a:masterClrMapping/>
  </p:clrMapOvr>
  <p:timing>
    <p:tnLst>
      <p:par>
        <p:cTn id="1" dur="indefinite" restart="never" nodeType="tmRoot"/>
      </p:par>
    </p:tnLst>
    <p:bldLst>
      <p:bldP spid="13" grpId="0" bldLvl="0" animBg="1" autoUpdateAnimBg="0"/>
      <p:bldP spid="5" grpId="0" bldLvl="0" animBg="1" autoUpdateAnimBg="0"/>
      <p:bldP spid="79876" grpId="0" bldLvl="0" animBg="1" autoUpdateAnimBg="0"/>
      <p:bldP spid="79879" grpId="0" bldLvl="0" animBg="1" autoUpdateAnimBg="0"/>
      <p:bldP spid="79882" grpId="0" bldLvl="0" animBg="1" autoUpdateAnimBg="0"/>
      <p:bldP spid="79885" grpId="0" bldLvl="0" animBg="1" autoUpdateAnimBg="0"/>
      <p:bldP spid="79890" grpId="0" bldLvl="0" animBg="1" autoUpdateAnimBg="0"/>
      <p:bldP spid="79904" grpId="0" bldLvl="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3" name="Text Box 4"/>
          <p:cNvSpPr txBox="1">
            <a:spLocks noChangeArrowheads="1"/>
          </p:cNvSpPr>
          <p:nvPr/>
        </p:nvSpPr>
        <p:spPr bwMode="auto">
          <a:xfrm>
            <a:off x="1547455" y="25028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主题二</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逻辑代数</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基础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nvSpPr>
        <p:spPr bwMode="auto">
          <a:xfrm>
            <a:off x="512883" y="106089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2.2 </a:t>
            </a:r>
            <a:r>
              <a:rPr kumimoji="0" lang="zh-CN" altLang="en-US" dirty="0">
                <a:solidFill>
                  <a:srgbClr val="000000"/>
                </a:solidFill>
                <a:latin typeface="黑体" panose="02010609060101010101" pitchFamily="49" charset="-122"/>
                <a:ea typeface="黑体" panose="02010609060101010101" pitchFamily="49" charset="-122"/>
              </a:rPr>
              <a:t>逻辑代数基本运算公式</a:t>
            </a:r>
            <a:r>
              <a:rPr kumimoji="0" lang="zh-CN" altLang="en-US" dirty="0">
                <a:solidFill>
                  <a:srgbClr val="FF0000"/>
                </a:solidFill>
                <a:latin typeface="黑体" panose="02010609060101010101" pitchFamily="49" charset="-122"/>
                <a:ea typeface="黑体" panose="02010609060101010101" pitchFamily="49" charset="-122"/>
              </a:rPr>
              <a:t> </a:t>
            </a:r>
            <a:endParaRPr kumimoji="0" lang="zh-CN" altLang="en-US" dirty="0">
              <a:solidFill>
                <a:srgbClr val="FF0000"/>
              </a:solidFill>
              <a:latin typeface="黑体" panose="02010609060101010101" pitchFamily="49" charset="-122"/>
              <a:ea typeface="黑体" panose="02010609060101010101" pitchFamily="49" charset="-122"/>
            </a:endParaRPr>
          </a:p>
        </p:txBody>
      </p:sp>
      <p:sp>
        <p:nvSpPr>
          <p:cNvPr id="79876" name="Text Box 4"/>
          <p:cNvSpPr txBox="1">
            <a:spLocks noChangeArrowheads="1"/>
          </p:cNvSpPr>
          <p:nvPr/>
        </p:nvSpPr>
        <p:spPr bwMode="auto">
          <a:xfrm>
            <a:off x="723900" y="1793875"/>
            <a:ext cx="16383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1.</a:t>
            </a:r>
            <a:r>
              <a:rPr kumimoji="0" lang="zh-CN" altLang="en-US" b="1">
                <a:solidFill>
                  <a:srgbClr val="000000"/>
                </a:solidFill>
              </a:rPr>
              <a:t>自等律 </a:t>
            </a:r>
            <a:endParaRPr kumimoji="0" lang="zh-CN" altLang="en-US" b="1">
              <a:solidFill>
                <a:srgbClr val="000000"/>
              </a:solidFill>
            </a:endParaRPr>
          </a:p>
        </p:txBody>
      </p:sp>
      <p:grpSp>
        <p:nvGrpSpPr>
          <p:cNvPr id="79911" name="Group 39"/>
          <p:cNvGrpSpPr/>
          <p:nvPr/>
        </p:nvGrpSpPr>
        <p:grpSpPr bwMode="auto">
          <a:xfrm>
            <a:off x="3200400" y="1793875"/>
            <a:ext cx="4495800" cy="519113"/>
            <a:chOff x="2016" y="1130"/>
            <a:chExt cx="2832" cy="327"/>
          </a:xfrm>
        </p:grpSpPr>
        <p:sp>
          <p:nvSpPr>
            <p:cNvPr id="25636" name="Text Box 5"/>
            <p:cNvSpPr txBox="1">
              <a:spLocks noChangeArrowheads="1"/>
            </p:cNvSpPr>
            <p:nvPr/>
          </p:nvSpPr>
          <p:spPr bwMode="auto">
            <a:xfrm>
              <a:off x="2016" y="1130"/>
              <a:ext cx="10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A + 0 = A </a:t>
              </a:r>
              <a:endParaRPr kumimoji="0" lang="en-US" altLang="zh-CN" b="1">
                <a:solidFill>
                  <a:srgbClr val="000000"/>
                </a:solidFill>
              </a:endParaRPr>
            </a:p>
          </p:txBody>
        </p:sp>
        <p:sp>
          <p:nvSpPr>
            <p:cNvPr id="25637" name="Text Box 6"/>
            <p:cNvSpPr txBox="1">
              <a:spLocks noChangeArrowheads="1"/>
            </p:cNvSpPr>
            <p:nvPr/>
          </p:nvSpPr>
          <p:spPr bwMode="auto">
            <a:xfrm>
              <a:off x="3792" y="1130"/>
              <a:ext cx="10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chemeClr val="accent2"/>
                  </a:solidFill>
                </a:rPr>
                <a:t>A · 1 = A </a:t>
              </a:r>
              <a:endParaRPr kumimoji="0" lang="en-US" altLang="zh-CN" b="1">
                <a:solidFill>
                  <a:schemeClr val="accent2"/>
                </a:solidFill>
              </a:endParaRPr>
            </a:p>
          </p:txBody>
        </p:sp>
      </p:grpSp>
      <p:sp>
        <p:nvSpPr>
          <p:cNvPr id="79879" name="Text Box 7"/>
          <p:cNvSpPr txBox="1">
            <a:spLocks noChangeArrowheads="1"/>
          </p:cNvSpPr>
          <p:nvPr/>
        </p:nvSpPr>
        <p:spPr bwMode="auto">
          <a:xfrm>
            <a:off x="723900" y="2424113"/>
            <a:ext cx="16383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dirty="0">
                <a:solidFill>
                  <a:srgbClr val="FF0000"/>
                </a:solidFill>
              </a:rPr>
              <a:t>2.</a:t>
            </a:r>
            <a:r>
              <a:rPr kumimoji="0" lang="zh-CN" altLang="en-US" b="1" dirty="0">
                <a:solidFill>
                  <a:srgbClr val="FF0000"/>
                </a:solidFill>
              </a:rPr>
              <a:t>吸收律 </a:t>
            </a:r>
            <a:endParaRPr kumimoji="0" lang="zh-CN" altLang="en-US" b="1" dirty="0">
              <a:solidFill>
                <a:srgbClr val="FF0000"/>
              </a:solidFill>
            </a:endParaRPr>
          </a:p>
        </p:txBody>
      </p:sp>
      <p:grpSp>
        <p:nvGrpSpPr>
          <p:cNvPr id="79912" name="Group 40"/>
          <p:cNvGrpSpPr/>
          <p:nvPr/>
        </p:nvGrpSpPr>
        <p:grpSpPr bwMode="auto">
          <a:xfrm>
            <a:off x="3200400" y="2424113"/>
            <a:ext cx="4495800" cy="519112"/>
            <a:chOff x="2016" y="1527"/>
            <a:chExt cx="2832" cy="327"/>
          </a:xfrm>
        </p:grpSpPr>
        <p:sp>
          <p:nvSpPr>
            <p:cNvPr id="25634" name="Text Box 8"/>
            <p:cNvSpPr txBox="1">
              <a:spLocks noChangeArrowheads="1"/>
            </p:cNvSpPr>
            <p:nvPr/>
          </p:nvSpPr>
          <p:spPr bwMode="auto">
            <a:xfrm>
              <a:off x="2016" y="1527"/>
              <a:ext cx="10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A + 1 = 1 </a:t>
              </a:r>
              <a:endParaRPr kumimoji="0" lang="en-US" altLang="zh-CN" b="1">
                <a:solidFill>
                  <a:srgbClr val="000000"/>
                </a:solidFill>
              </a:endParaRPr>
            </a:p>
          </p:txBody>
        </p:sp>
        <p:sp>
          <p:nvSpPr>
            <p:cNvPr id="25635" name="Text Box 9"/>
            <p:cNvSpPr txBox="1">
              <a:spLocks noChangeArrowheads="1"/>
            </p:cNvSpPr>
            <p:nvPr/>
          </p:nvSpPr>
          <p:spPr bwMode="auto">
            <a:xfrm>
              <a:off x="3792" y="1527"/>
              <a:ext cx="10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chemeClr val="accent2"/>
                  </a:solidFill>
                </a:rPr>
                <a:t>A · 0 = 0 </a:t>
              </a:r>
              <a:endParaRPr kumimoji="0" lang="en-US" altLang="zh-CN" b="1">
                <a:solidFill>
                  <a:schemeClr val="accent2"/>
                </a:solidFill>
              </a:endParaRPr>
            </a:p>
          </p:txBody>
        </p:sp>
      </p:grpSp>
      <p:sp>
        <p:nvSpPr>
          <p:cNvPr id="79882" name="Text Box 10"/>
          <p:cNvSpPr txBox="1">
            <a:spLocks noChangeArrowheads="1"/>
          </p:cNvSpPr>
          <p:nvPr/>
        </p:nvSpPr>
        <p:spPr bwMode="auto">
          <a:xfrm>
            <a:off x="723900" y="3076575"/>
            <a:ext cx="16383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FF0000"/>
                </a:solidFill>
              </a:rPr>
              <a:t>3.</a:t>
            </a:r>
            <a:r>
              <a:rPr kumimoji="0" lang="zh-CN" altLang="en-US" b="1">
                <a:solidFill>
                  <a:srgbClr val="FF0000"/>
                </a:solidFill>
              </a:rPr>
              <a:t>重叠律</a:t>
            </a:r>
            <a:r>
              <a:rPr kumimoji="0" lang="zh-CN" altLang="en-US" b="1">
                <a:solidFill>
                  <a:srgbClr val="000000"/>
                </a:solidFill>
              </a:rPr>
              <a:t> </a:t>
            </a:r>
            <a:endParaRPr kumimoji="0" lang="zh-CN" altLang="en-US" b="1">
              <a:solidFill>
                <a:srgbClr val="000000"/>
              </a:solidFill>
            </a:endParaRPr>
          </a:p>
        </p:txBody>
      </p:sp>
      <p:grpSp>
        <p:nvGrpSpPr>
          <p:cNvPr id="79913" name="Group 41"/>
          <p:cNvGrpSpPr/>
          <p:nvPr/>
        </p:nvGrpSpPr>
        <p:grpSpPr bwMode="auto">
          <a:xfrm>
            <a:off x="3200400" y="3076575"/>
            <a:ext cx="4495800" cy="519113"/>
            <a:chOff x="2016" y="1938"/>
            <a:chExt cx="2832" cy="327"/>
          </a:xfrm>
        </p:grpSpPr>
        <p:sp>
          <p:nvSpPr>
            <p:cNvPr id="25632" name="Text Box 11"/>
            <p:cNvSpPr txBox="1">
              <a:spLocks noChangeArrowheads="1"/>
            </p:cNvSpPr>
            <p:nvPr/>
          </p:nvSpPr>
          <p:spPr bwMode="auto">
            <a:xfrm>
              <a:off x="2016" y="1938"/>
              <a:ext cx="13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A + A = A </a:t>
              </a:r>
              <a:endParaRPr kumimoji="0" lang="en-US" altLang="zh-CN" b="1">
                <a:solidFill>
                  <a:srgbClr val="000000"/>
                </a:solidFill>
              </a:endParaRPr>
            </a:p>
          </p:txBody>
        </p:sp>
        <p:sp>
          <p:nvSpPr>
            <p:cNvPr id="25633" name="Text Box 12"/>
            <p:cNvSpPr txBox="1">
              <a:spLocks noChangeArrowheads="1"/>
            </p:cNvSpPr>
            <p:nvPr/>
          </p:nvSpPr>
          <p:spPr bwMode="auto">
            <a:xfrm>
              <a:off x="3792" y="1938"/>
              <a:ext cx="10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chemeClr val="accent2"/>
                  </a:solidFill>
                </a:rPr>
                <a:t>A · A = A </a:t>
              </a:r>
              <a:endParaRPr kumimoji="0" lang="en-US" altLang="zh-CN" b="1">
                <a:solidFill>
                  <a:schemeClr val="accent2"/>
                </a:solidFill>
              </a:endParaRPr>
            </a:p>
          </p:txBody>
        </p:sp>
      </p:grpSp>
      <p:sp>
        <p:nvSpPr>
          <p:cNvPr id="79885" name="Text Box 13"/>
          <p:cNvSpPr txBox="1">
            <a:spLocks noChangeArrowheads="1"/>
          </p:cNvSpPr>
          <p:nvPr/>
        </p:nvSpPr>
        <p:spPr bwMode="auto">
          <a:xfrm>
            <a:off x="723900" y="3751263"/>
            <a:ext cx="16383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4.</a:t>
            </a:r>
            <a:r>
              <a:rPr kumimoji="0" lang="zh-CN" altLang="en-US" b="1">
                <a:solidFill>
                  <a:srgbClr val="000000"/>
                </a:solidFill>
              </a:rPr>
              <a:t>互补律 </a:t>
            </a:r>
            <a:endParaRPr kumimoji="0" lang="zh-CN" altLang="en-US" b="1">
              <a:solidFill>
                <a:srgbClr val="000000"/>
              </a:solidFill>
            </a:endParaRPr>
          </a:p>
        </p:txBody>
      </p:sp>
      <p:sp>
        <p:nvSpPr>
          <p:cNvPr id="79890" name="Text Box 18"/>
          <p:cNvSpPr txBox="1">
            <a:spLocks noChangeArrowheads="1"/>
          </p:cNvSpPr>
          <p:nvPr/>
        </p:nvSpPr>
        <p:spPr bwMode="auto">
          <a:xfrm>
            <a:off x="723900" y="4448175"/>
            <a:ext cx="16383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5.</a:t>
            </a:r>
            <a:r>
              <a:rPr kumimoji="0" lang="zh-CN" altLang="en-US" b="1">
                <a:solidFill>
                  <a:srgbClr val="000000"/>
                </a:solidFill>
              </a:rPr>
              <a:t>还原律 </a:t>
            </a:r>
            <a:endParaRPr kumimoji="0" lang="zh-CN" altLang="en-US" b="1">
              <a:solidFill>
                <a:srgbClr val="000000"/>
              </a:solidFill>
            </a:endParaRPr>
          </a:p>
        </p:txBody>
      </p:sp>
      <p:grpSp>
        <p:nvGrpSpPr>
          <p:cNvPr id="79902" name="Group 30"/>
          <p:cNvGrpSpPr/>
          <p:nvPr/>
        </p:nvGrpSpPr>
        <p:grpSpPr bwMode="auto">
          <a:xfrm>
            <a:off x="3200400" y="4448175"/>
            <a:ext cx="1676400" cy="519113"/>
            <a:chOff x="2016" y="2326"/>
            <a:chExt cx="1056" cy="327"/>
          </a:xfrm>
        </p:grpSpPr>
        <p:sp>
          <p:nvSpPr>
            <p:cNvPr id="25629" name="Text Box 19"/>
            <p:cNvSpPr txBox="1">
              <a:spLocks noChangeArrowheads="1"/>
            </p:cNvSpPr>
            <p:nvPr/>
          </p:nvSpPr>
          <p:spPr bwMode="auto">
            <a:xfrm>
              <a:off x="2016" y="2326"/>
              <a:ext cx="10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A  = A </a:t>
              </a:r>
              <a:endParaRPr kumimoji="0" lang="en-US" altLang="zh-CN" b="1">
                <a:solidFill>
                  <a:srgbClr val="000000"/>
                </a:solidFill>
              </a:endParaRPr>
            </a:p>
          </p:txBody>
        </p:sp>
        <p:sp>
          <p:nvSpPr>
            <p:cNvPr id="25630" name="Line 21"/>
            <p:cNvSpPr>
              <a:spLocks noChangeShapeType="1"/>
            </p:cNvSpPr>
            <p:nvPr/>
          </p:nvSpPr>
          <p:spPr bwMode="auto">
            <a:xfrm>
              <a:off x="2064" y="2344"/>
              <a:ext cx="19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5631" name="Line 22"/>
            <p:cNvSpPr>
              <a:spLocks noChangeShapeType="1"/>
            </p:cNvSpPr>
            <p:nvPr/>
          </p:nvSpPr>
          <p:spPr bwMode="auto">
            <a:xfrm>
              <a:off x="2064" y="2380"/>
              <a:ext cx="19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79914" name="Group 42"/>
          <p:cNvGrpSpPr/>
          <p:nvPr/>
        </p:nvGrpSpPr>
        <p:grpSpPr bwMode="auto">
          <a:xfrm>
            <a:off x="3197225" y="3751263"/>
            <a:ext cx="5222875" cy="531812"/>
            <a:chOff x="2014" y="2363"/>
            <a:chExt cx="3290" cy="335"/>
          </a:xfrm>
        </p:grpSpPr>
        <p:grpSp>
          <p:nvGrpSpPr>
            <p:cNvPr id="25623" name="Group 28"/>
            <p:cNvGrpSpPr/>
            <p:nvPr/>
          </p:nvGrpSpPr>
          <p:grpSpPr bwMode="auto">
            <a:xfrm>
              <a:off x="2014" y="2371"/>
              <a:ext cx="1344" cy="327"/>
              <a:chOff x="2016" y="1999"/>
              <a:chExt cx="1344" cy="327"/>
            </a:xfrm>
          </p:grpSpPr>
          <p:sp>
            <p:nvSpPr>
              <p:cNvPr id="25627" name="Text Box 14"/>
              <p:cNvSpPr txBox="1">
                <a:spLocks noChangeArrowheads="1"/>
              </p:cNvSpPr>
              <p:nvPr/>
            </p:nvSpPr>
            <p:spPr bwMode="auto">
              <a:xfrm>
                <a:off x="2016" y="1999"/>
                <a:ext cx="13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A + A = 1 </a:t>
                </a:r>
                <a:endParaRPr kumimoji="0" lang="en-US" altLang="zh-CN" b="1">
                  <a:solidFill>
                    <a:srgbClr val="000000"/>
                  </a:solidFill>
                </a:endParaRPr>
              </a:p>
            </p:txBody>
          </p:sp>
          <p:sp>
            <p:nvSpPr>
              <p:cNvPr id="25628" name="Line 25"/>
              <p:cNvSpPr>
                <a:spLocks noChangeShapeType="1"/>
              </p:cNvSpPr>
              <p:nvPr/>
            </p:nvSpPr>
            <p:spPr bwMode="auto">
              <a:xfrm>
                <a:off x="2448" y="2064"/>
                <a:ext cx="19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25624" name="Group 38"/>
            <p:cNvGrpSpPr/>
            <p:nvPr/>
          </p:nvGrpSpPr>
          <p:grpSpPr bwMode="auto">
            <a:xfrm>
              <a:off x="3792" y="2363"/>
              <a:ext cx="1512" cy="327"/>
              <a:chOff x="3792" y="2363"/>
              <a:chExt cx="1512" cy="327"/>
            </a:xfrm>
          </p:grpSpPr>
          <p:sp>
            <p:nvSpPr>
              <p:cNvPr id="25625" name="Text Box 15"/>
              <p:cNvSpPr txBox="1">
                <a:spLocks noChangeArrowheads="1"/>
              </p:cNvSpPr>
              <p:nvPr/>
            </p:nvSpPr>
            <p:spPr bwMode="auto">
              <a:xfrm>
                <a:off x="3792" y="2363"/>
                <a:ext cx="151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chemeClr val="accent2"/>
                    </a:solidFill>
                  </a:rPr>
                  <a:t>A · A = 0</a:t>
                </a:r>
                <a:endParaRPr kumimoji="0" lang="en-US" altLang="zh-CN" b="1">
                  <a:solidFill>
                    <a:schemeClr val="accent2"/>
                  </a:solidFill>
                </a:endParaRPr>
              </a:p>
            </p:txBody>
          </p:sp>
          <p:sp>
            <p:nvSpPr>
              <p:cNvPr id="25626" name="Line 27"/>
              <p:cNvSpPr>
                <a:spLocks noChangeShapeType="1"/>
              </p:cNvSpPr>
              <p:nvPr/>
            </p:nvSpPr>
            <p:spPr bwMode="auto">
              <a:xfrm>
                <a:off x="4176" y="2428"/>
                <a:ext cx="192"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sp>
        <p:nvSpPr>
          <p:cNvPr id="79904" name="Text Box 32"/>
          <p:cNvSpPr txBox="1">
            <a:spLocks noChangeArrowheads="1"/>
          </p:cNvSpPr>
          <p:nvPr/>
        </p:nvSpPr>
        <p:spPr bwMode="auto">
          <a:xfrm>
            <a:off x="736600" y="5059363"/>
            <a:ext cx="16383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6.</a:t>
            </a:r>
            <a:r>
              <a:rPr kumimoji="0" lang="zh-CN" altLang="en-US" b="1">
                <a:solidFill>
                  <a:srgbClr val="000000"/>
                </a:solidFill>
              </a:rPr>
              <a:t>交换律 </a:t>
            </a:r>
            <a:endParaRPr kumimoji="0" lang="zh-CN" altLang="en-US" b="1">
              <a:solidFill>
                <a:srgbClr val="000000"/>
              </a:solidFill>
            </a:endParaRPr>
          </a:p>
        </p:txBody>
      </p:sp>
      <p:grpSp>
        <p:nvGrpSpPr>
          <p:cNvPr id="79916" name="Group 44"/>
          <p:cNvGrpSpPr/>
          <p:nvPr/>
        </p:nvGrpSpPr>
        <p:grpSpPr bwMode="auto">
          <a:xfrm>
            <a:off x="2701925" y="5059363"/>
            <a:ext cx="5514975" cy="519112"/>
            <a:chOff x="1702" y="3187"/>
            <a:chExt cx="3474" cy="327"/>
          </a:xfrm>
        </p:grpSpPr>
        <p:sp>
          <p:nvSpPr>
            <p:cNvPr id="25621" name="Text Box 33"/>
            <p:cNvSpPr txBox="1">
              <a:spLocks noChangeArrowheads="1"/>
            </p:cNvSpPr>
            <p:nvPr/>
          </p:nvSpPr>
          <p:spPr bwMode="auto">
            <a:xfrm>
              <a:off x="1702" y="3187"/>
              <a:ext cx="154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A + B = B + A </a:t>
              </a:r>
              <a:endParaRPr kumimoji="0" lang="en-US" altLang="zh-CN" b="1">
                <a:solidFill>
                  <a:srgbClr val="000000"/>
                </a:solidFill>
              </a:endParaRPr>
            </a:p>
          </p:txBody>
        </p:sp>
        <p:sp>
          <p:nvSpPr>
            <p:cNvPr id="25622" name="Text Box 34"/>
            <p:cNvSpPr txBox="1">
              <a:spLocks noChangeArrowheads="1"/>
            </p:cNvSpPr>
            <p:nvPr/>
          </p:nvSpPr>
          <p:spPr bwMode="auto">
            <a:xfrm>
              <a:off x="3674" y="3187"/>
              <a:ext cx="150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chemeClr val="accent2"/>
                  </a:solidFill>
                </a:rPr>
                <a:t>A · B = B · A </a:t>
              </a:r>
              <a:endParaRPr kumimoji="0" lang="en-US" altLang="zh-CN" b="1">
                <a:solidFill>
                  <a:schemeClr val="accent2"/>
                </a:solidFill>
              </a:endParaRPr>
            </a:p>
          </p:txBody>
        </p:sp>
      </p:grpSp>
    </p:spTree>
  </p:cSld>
  <p:clrMapOvr>
    <a:masterClrMapping/>
  </p:clrMapOvr>
  <p:timing>
    <p:tnLst>
      <p:par>
        <p:cTn id="1" dur="indefinite" restart="never" nodeType="tmRoot"/>
      </p:par>
    </p:tnLst>
    <p:bldLst>
      <p:bldP spid="13" grpId="0" bldLvl="0" animBg="1" autoUpdateAnimBg="0"/>
      <p:bldP spid="5" grpId="0" bldLvl="0" animBg="1" autoUpdateAnimBg="0"/>
      <p:bldP spid="79876" grpId="0" bldLvl="0" animBg="1" autoUpdateAnimBg="0"/>
      <p:bldP spid="79879" grpId="0" bldLvl="0" animBg="1" autoUpdateAnimBg="0"/>
      <p:bldP spid="79882" grpId="0" bldLvl="0" animBg="1" autoUpdateAnimBg="0"/>
      <p:bldP spid="79885" grpId="0" bldLvl="0" animBg="1" autoUpdateAnimBg="0"/>
      <p:bldP spid="79890" grpId="0" bldLvl="0" animBg="1" autoUpdateAnimBg="0"/>
      <p:bldP spid="79904" grpId="0" bldLvl="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9" name="Text Box 3"/>
          <p:cNvSpPr txBox="1">
            <a:spLocks noChangeArrowheads="1"/>
          </p:cNvSpPr>
          <p:nvPr/>
        </p:nvSpPr>
        <p:spPr bwMode="auto">
          <a:xfrm>
            <a:off x="746125" y="1880235"/>
            <a:ext cx="16383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7.</a:t>
            </a:r>
            <a:r>
              <a:rPr kumimoji="0" lang="zh-CN" altLang="en-US" b="1">
                <a:solidFill>
                  <a:srgbClr val="000000"/>
                </a:solidFill>
              </a:rPr>
              <a:t>结合律 </a:t>
            </a:r>
            <a:endParaRPr kumimoji="0" lang="zh-CN" altLang="en-US" b="1">
              <a:solidFill>
                <a:srgbClr val="000000"/>
              </a:solidFill>
            </a:endParaRPr>
          </a:p>
        </p:txBody>
      </p:sp>
      <p:grpSp>
        <p:nvGrpSpPr>
          <p:cNvPr id="80924" name="Group 28"/>
          <p:cNvGrpSpPr/>
          <p:nvPr/>
        </p:nvGrpSpPr>
        <p:grpSpPr bwMode="auto">
          <a:xfrm>
            <a:off x="2673350" y="1880235"/>
            <a:ext cx="5251450" cy="1716088"/>
            <a:chOff x="1708" y="298"/>
            <a:chExt cx="3249" cy="1081"/>
          </a:xfrm>
        </p:grpSpPr>
        <p:sp>
          <p:nvSpPr>
            <p:cNvPr id="26650" name="Text Box 4"/>
            <p:cNvSpPr txBox="1">
              <a:spLocks noChangeArrowheads="1"/>
            </p:cNvSpPr>
            <p:nvPr/>
          </p:nvSpPr>
          <p:spPr bwMode="auto">
            <a:xfrm>
              <a:off x="1708" y="298"/>
              <a:ext cx="1387" cy="1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A + B + C </a:t>
              </a:r>
              <a:endParaRPr kumimoji="0" lang="en-US" altLang="zh-CN" b="1">
                <a:solidFill>
                  <a:srgbClr val="000000"/>
                </a:solidFill>
              </a:endParaRPr>
            </a:p>
            <a:p>
              <a:pPr>
                <a:lnSpc>
                  <a:spcPct val="140000"/>
                </a:lnSpc>
              </a:pPr>
              <a:r>
                <a:rPr kumimoji="0" lang="en-US" altLang="zh-CN" b="1">
                  <a:solidFill>
                    <a:srgbClr val="000000"/>
                  </a:solidFill>
                </a:rPr>
                <a:t>= (A + B) + C </a:t>
              </a:r>
              <a:endParaRPr kumimoji="0" lang="en-US" altLang="zh-CN" b="1">
                <a:solidFill>
                  <a:srgbClr val="000000"/>
                </a:solidFill>
              </a:endParaRPr>
            </a:p>
            <a:p>
              <a:pPr>
                <a:lnSpc>
                  <a:spcPct val="140000"/>
                </a:lnSpc>
              </a:pPr>
              <a:r>
                <a:rPr kumimoji="0" lang="en-US" altLang="zh-CN" b="1">
                  <a:solidFill>
                    <a:srgbClr val="000000"/>
                  </a:solidFill>
                </a:rPr>
                <a:t>= A + (B + C) </a:t>
              </a:r>
              <a:endParaRPr kumimoji="0" lang="en-US" altLang="zh-CN" b="1">
                <a:solidFill>
                  <a:srgbClr val="000000"/>
                </a:solidFill>
              </a:endParaRPr>
            </a:p>
          </p:txBody>
        </p:sp>
        <p:sp>
          <p:nvSpPr>
            <p:cNvPr id="26651" name="Text Box 5"/>
            <p:cNvSpPr txBox="1">
              <a:spLocks noChangeArrowheads="1"/>
            </p:cNvSpPr>
            <p:nvPr/>
          </p:nvSpPr>
          <p:spPr bwMode="auto">
            <a:xfrm>
              <a:off x="3498" y="298"/>
              <a:ext cx="1459" cy="1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chemeClr val="accent2"/>
                  </a:solidFill>
                </a:rPr>
                <a:t>A · B · C</a:t>
              </a:r>
              <a:endParaRPr kumimoji="0" lang="en-US" altLang="zh-CN" b="1">
                <a:solidFill>
                  <a:schemeClr val="accent2"/>
                </a:solidFill>
              </a:endParaRPr>
            </a:p>
            <a:p>
              <a:pPr>
                <a:lnSpc>
                  <a:spcPct val="140000"/>
                </a:lnSpc>
              </a:pPr>
              <a:r>
                <a:rPr kumimoji="0" lang="en-US" altLang="zh-CN" b="1">
                  <a:solidFill>
                    <a:schemeClr val="accent2"/>
                  </a:solidFill>
                </a:rPr>
                <a:t>= (A · B) · C </a:t>
              </a:r>
              <a:endParaRPr kumimoji="0" lang="en-US" altLang="zh-CN" b="1">
                <a:solidFill>
                  <a:schemeClr val="accent2"/>
                </a:solidFill>
              </a:endParaRPr>
            </a:p>
            <a:p>
              <a:pPr>
                <a:lnSpc>
                  <a:spcPct val="140000"/>
                </a:lnSpc>
              </a:pPr>
              <a:r>
                <a:rPr kumimoji="0" lang="en-US" altLang="zh-CN" b="1">
                  <a:solidFill>
                    <a:schemeClr val="accent2"/>
                  </a:solidFill>
                </a:rPr>
                <a:t>= A · (B · C)</a:t>
              </a:r>
              <a:endParaRPr kumimoji="0" lang="en-US" altLang="zh-CN" b="1">
                <a:solidFill>
                  <a:schemeClr val="accent2"/>
                </a:solidFill>
              </a:endParaRPr>
            </a:p>
          </p:txBody>
        </p:sp>
      </p:grpSp>
      <p:sp>
        <p:nvSpPr>
          <p:cNvPr id="80904" name="Text Box 8"/>
          <p:cNvSpPr txBox="1">
            <a:spLocks noChangeArrowheads="1"/>
          </p:cNvSpPr>
          <p:nvPr/>
        </p:nvSpPr>
        <p:spPr bwMode="auto">
          <a:xfrm>
            <a:off x="701675" y="3709035"/>
            <a:ext cx="16383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FF0000"/>
                </a:solidFill>
              </a:rPr>
              <a:t>8.</a:t>
            </a:r>
            <a:r>
              <a:rPr kumimoji="0" lang="zh-CN" altLang="en-US" b="1">
                <a:solidFill>
                  <a:srgbClr val="FF0000"/>
                </a:solidFill>
              </a:rPr>
              <a:t>分配律</a:t>
            </a:r>
            <a:r>
              <a:rPr kumimoji="0" lang="zh-CN" altLang="en-US" b="1">
                <a:solidFill>
                  <a:srgbClr val="000000"/>
                </a:solidFill>
              </a:rPr>
              <a:t> </a:t>
            </a:r>
            <a:endParaRPr kumimoji="0" lang="zh-CN" altLang="en-US" b="1">
              <a:solidFill>
                <a:srgbClr val="000000"/>
              </a:solidFill>
            </a:endParaRPr>
          </a:p>
        </p:txBody>
      </p:sp>
      <p:grpSp>
        <p:nvGrpSpPr>
          <p:cNvPr id="80925" name="Group 29"/>
          <p:cNvGrpSpPr/>
          <p:nvPr/>
        </p:nvGrpSpPr>
        <p:grpSpPr bwMode="auto">
          <a:xfrm>
            <a:off x="2711450" y="3709035"/>
            <a:ext cx="5880100" cy="1117600"/>
            <a:chOff x="1708" y="1450"/>
            <a:chExt cx="3624" cy="704"/>
          </a:xfrm>
        </p:grpSpPr>
        <p:sp>
          <p:nvSpPr>
            <p:cNvPr id="26648" name="Text Box 9"/>
            <p:cNvSpPr txBox="1">
              <a:spLocks noChangeArrowheads="1"/>
            </p:cNvSpPr>
            <p:nvPr/>
          </p:nvSpPr>
          <p:spPr bwMode="auto">
            <a:xfrm>
              <a:off x="1708" y="1450"/>
              <a:ext cx="1402" cy="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A </a:t>
              </a:r>
              <a:r>
                <a:rPr kumimoji="0" lang="en-US" altLang="zh-CN" b="1">
                  <a:solidFill>
                    <a:srgbClr val="000000"/>
                  </a:solidFill>
                  <a:latin typeface="Arial" panose="020B0604020202020204" pitchFamily="34" charset="0"/>
                </a:rPr>
                <a:t>·</a:t>
              </a:r>
              <a:r>
                <a:rPr kumimoji="0" lang="en-US" altLang="zh-CN" b="1">
                  <a:solidFill>
                    <a:srgbClr val="000000"/>
                  </a:solidFill>
                </a:rPr>
                <a:t>(B + C) </a:t>
              </a:r>
              <a:endParaRPr kumimoji="0" lang="en-US" altLang="zh-CN" b="1">
                <a:solidFill>
                  <a:srgbClr val="000000"/>
                </a:solidFill>
              </a:endParaRPr>
            </a:p>
            <a:p>
              <a:pPr>
                <a:lnSpc>
                  <a:spcPct val="140000"/>
                </a:lnSpc>
              </a:pPr>
              <a:r>
                <a:rPr kumimoji="0" lang="en-US" altLang="zh-CN" b="1">
                  <a:solidFill>
                    <a:srgbClr val="000000"/>
                  </a:solidFill>
                </a:rPr>
                <a:t>= AB + AC </a:t>
              </a:r>
              <a:endParaRPr kumimoji="0" lang="en-US" altLang="zh-CN" b="1">
                <a:solidFill>
                  <a:srgbClr val="000000"/>
                </a:solidFill>
              </a:endParaRPr>
            </a:p>
          </p:txBody>
        </p:sp>
        <p:sp>
          <p:nvSpPr>
            <p:cNvPr id="26649" name="Text Box 10"/>
            <p:cNvSpPr txBox="1">
              <a:spLocks noChangeArrowheads="1"/>
            </p:cNvSpPr>
            <p:nvPr/>
          </p:nvSpPr>
          <p:spPr bwMode="auto">
            <a:xfrm>
              <a:off x="3512" y="1450"/>
              <a:ext cx="1820" cy="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chemeClr val="accent2"/>
                  </a:solidFill>
                </a:rPr>
                <a:t>A + BC</a:t>
              </a:r>
              <a:endParaRPr kumimoji="0" lang="en-US" altLang="zh-CN" b="1">
                <a:solidFill>
                  <a:schemeClr val="accent2"/>
                </a:solidFill>
              </a:endParaRPr>
            </a:p>
            <a:p>
              <a:pPr>
                <a:lnSpc>
                  <a:spcPct val="140000"/>
                </a:lnSpc>
              </a:pPr>
              <a:r>
                <a:rPr kumimoji="0" lang="en-US" altLang="zh-CN" b="1">
                  <a:solidFill>
                    <a:schemeClr val="accent2"/>
                  </a:solidFill>
                </a:rPr>
                <a:t>= (A + B) ·(A + C) </a:t>
              </a:r>
              <a:endParaRPr kumimoji="0" lang="en-US" altLang="zh-CN" b="1">
                <a:solidFill>
                  <a:schemeClr val="accent2"/>
                </a:solidFill>
              </a:endParaRPr>
            </a:p>
          </p:txBody>
        </p:sp>
      </p:grpSp>
      <p:sp>
        <p:nvSpPr>
          <p:cNvPr id="80907" name="Text Box 11"/>
          <p:cNvSpPr txBox="1">
            <a:spLocks noChangeArrowheads="1"/>
          </p:cNvSpPr>
          <p:nvPr/>
        </p:nvSpPr>
        <p:spPr bwMode="auto">
          <a:xfrm>
            <a:off x="723900" y="4988560"/>
            <a:ext cx="16383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dirty="0">
                <a:solidFill>
                  <a:srgbClr val="FF0000"/>
                </a:solidFill>
              </a:rPr>
              <a:t>9.</a:t>
            </a:r>
            <a:r>
              <a:rPr kumimoji="0" lang="zh-CN" altLang="en-US" b="1" dirty="0">
                <a:solidFill>
                  <a:srgbClr val="FF0000"/>
                </a:solidFill>
              </a:rPr>
              <a:t>反演律 </a:t>
            </a:r>
            <a:endParaRPr kumimoji="0" lang="zh-CN" altLang="en-US" b="1" dirty="0">
              <a:solidFill>
                <a:srgbClr val="FF0000"/>
              </a:solidFill>
            </a:endParaRPr>
          </a:p>
        </p:txBody>
      </p:sp>
      <p:grpSp>
        <p:nvGrpSpPr>
          <p:cNvPr id="80926" name="Group 30"/>
          <p:cNvGrpSpPr/>
          <p:nvPr/>
        </p:nvGrpSpPr>
        <p:grpSpPr bwMode="auto">
          <a:xfrm>
            <a:off x="2733675" y="4988560"/>
            <a:ext cx="5454650" cy="519113"/>
            <a:chOff x="1722" y="2256"/>
            <a:chExt cx="3436" cy="327"/>
          </a:xfrm>
        </p:grpSpPr>
        <p:grpSp>
          <p:nvGrpSpPr>
            <p:cNvPr id="26638" name="Group 22"/>
            <p:cNvGrpSpPr/>
            <p:nvPr/>
          </p:nvGrpSpPr>
          <p:grpSpPr bwMode="auto">
            <a:xfrm>
              <a:off x="1722" y="2256"/>
              <a:ext cx="1588" cy="327"/>
              <a:chOff x="1722" y="2256"/>
              <a:chExt cx="1588" cy="327"/>
            </a:xfrm>
          </p:grpSpPr>
          <p:sp>
            <p:nvSpPr>
              <p:cNvPr id="26644" name="Text Box 12"/>
              <p:cNvSpPr txBox="1">
                <a:spLocks noChangeArrowheads="1"/>
              </p:cNvSpPr>
              <p:nvPr/>
            </p:nvSpPr>
            <p:spPr bwMode="auto">
              <a:xfrm>
                <a:off x="1722" y="2256"/>
                <a:ext cx="15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A + B = A </a:t>
                </a:r>
                <a:r>
                  <a:rPr kumimoji="0" lang="en-US" altLang="zh-CN" b="1">
                    <a:solidFill>
                      <a:srgbClr val="000000"/>
                    </a:solidFill>
                    <a:latin typeface="Arial" panose="020B0604020202020204" pitchFamily="34" charset="0"/>
                  </a:rPr>
                  <a:t>·</a:t>
                </a:r>
                <a:r>
                  <a:rPr kumimoji="0" lang="en-US" altLang="zh-CN" b="1">
                    <a:solidFill>
                      <a:srgbClr val="000000"/>
                    </a:solidFill>
                  </a:rPr>
                  <a:t> B </a:t>
                </a:r>
                <a:endParaRPr kumimoji="0" lang="en-US" altLang="zh-CN" b="1">
                  <a:solidFill>
                    <a:srgbClr val="000000"/>
                  </a:solidFill>
                </a:endParaRPr>
              </a:p>
            </p:txBody>
          </p:sp>
          <p:sp>
            <p:nvSpPr>
              <p:cNvPr id="26645" name="Line 14"/>
              <p:cNvSpPr>
                <a:spLocks noChangeShapeType="1"/>
              </p:cNvSpPr>
              <p:nvPr/>
            </p:nvSpPr>
            <p:spPr bwMode="auto">
              <a:xfrm>
                <a:off x="1800" y="2284"/>
                <a:ext cx="53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6646" name="Line 15"/>
              <p:cNvSpPr>
                <a:spLocks noChangeShapeType="1"/>
              </p:cNvSpPr>
              <p:nvPr/>
            </p:nvSpPr>
            <p:spPr bwMode="auto">
              <a:xfrm>
                <a:off x="2592" y="2284"/>
                <a:ext cx="13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6647" name="Line 16"/>
              <p:cNvSpPr>
                <a:spLocks noChangeShapeType="1"/>
              </p:cNvSpPr>
              <p:nvPr/>
            </p:nvSpPr>
            <p:spPr bwMode="auto">
              <a:xfrm>
                <a:off x="2908" y="2286"/>
                <a:ext cx="11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26639" name="Group 21"/>
            <p:cNvGrpSpPr/>
            <p:nvPr/>
          </p:nvGrpSpPr>
          <p:grpSpPr bwMode="auto">
            <a:xfrm>
              <a:off x="3526" y="2256"/>
              <a:ext cx="1632" cy="327"/>
              <a:chOff x="3526" y="2256"/>
              <a:chExt cx="1632" cy="327"/>
            </a:xfrm>
          </p:grpSpPr>
          <p:sp>
            <p:nvSpPr>
              <p:cNvPr id="26640" name="Text Box 13"/>
              <p:cNvSpPr txBox="1">
                <a:spLocks noChangeArrowheads="1"/>
              </p:cNvSpPr>
              <p:nvPr/>
            </p:nvSpPr>
            <p:spPr bwMode="auto">
              <a:xfrm>
                <a:off x="3526" y="2256"/>
                <a:ext cx="163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chemeClr val="accent2"/>
                    </a:solidFill>
                  </a:rPr>
                  <a:t>AB = A + B </a:t>
                </a:r>
                <a:endParaRPr kumimoji="0" lang="en-US" altLang="zh-CN" b="1">
                  <a:solidFill>
                    <a:schemeClr val="accent2"/>
                  </a:solidFill>
                </a:endParaRPr>
              </a:p>
            </p:txBody>
          </p:sp>
          <p:sp>
            <p:nvSpPr>
              <p:cNvPr id="26641" name="Line 17"/>
              <p:cNvSpPr>
                <a:spLocks noChangeShapeType="1"/>
              </p:cNvSpPr>
              <p:nvPr/>
            </p:nvSpPr>
            <p:spPr bwMode="auto">
              <a:xfrm>
                <a:off x="3591" y="2286"/>
                <a:ext cx="326"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6642" name="Line 19"/>
              <p:cNvSpPr>
                <a:spLocks noChangeShapeType="1"/>
              </p:cNvSpPr>
              <p:nvPr/>
            </p:nvSpPr>
            <p:spPr bwMode="auto">
              <a:xfrm>
                <a:off x="4147" y="2286"/>
                <a:ext cx="115"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6643" name="Line 20"/>
              <p:cNvSpPr>
                <a:spLocks noChangeShapeType="1"/>
              </p:cNvSpPr>
              <p:nvPr/>
            </p:nvSpPr>
            <p:spPr bwMode="auto">
              <a:xfrm>
                <a:off x="4536" y="2286"/>
                <a:ext cx="144"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sp>
        <p:nvSpPr>
          <p:cNvPr id="2" name="Text Box 4"/>
          <p:cNvSpPr txBox="1">
            <a:spLocks noChangeArrowheads="1"/>
          </p:cNvSpPr>
          <p:nvPr/>
        </p:nvSpPr>
        <p:spPr bwMode="auto">
          <a:xfrm>
            <a:off x="1547455" y="25028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主题二</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逻辑代数</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基础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nvSpPr>
        <p:spPr bwMode="auto">
          <a:xfrm>
            <a:off x="512883" y="106089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2.2 </a:t>
            </a:r>
            <a:r>
              <a:rPr kumimoji="0" lang="zh-CN" altLang="en-US" dirty="0">
                <a:solidFill>
                  <a:srgbClr val="000000"/>
                </a:solidFill>
                <a:latin typeface="黑体" panose="02010609060101010101" pitchFamily="49" charset="-122"/>
                <a:ea typeface="黑体" panose="02010609060101010101" pitchFamily="49" charset="-122"/>
              </a:rPr>
              <a:t>逻辑代数基本运算公式</a:t>
            </a:r>
            <a:r>
              <a:rPr kumimoji="0" lang="zh-CN" altLang="en-US" dirty="0">
                <a:solidFill>
                  <a:srgbClr val="FF0000"/>
                </a:solidFill>
                <a:latin typeface="黑体" panose="02010609060101010101" pitchFamily="49" charset="-122"/>
                <a:ea typeface="黑体" panose="02010609060101010101" pitchFamily="49" charset="-122"/>
              </a:rPr>
              <a:t> </a:t>
            </a:r>
            <a:endParaRPr kumimoji="0" lang="zh-CN" altLang="en-US" dirty="0">
              <a:solidFill>
                <a:srgbClr val="FF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bldLst>
      <p:bldP spid="80899" grpId="0" bldLvl="0" animBg="1" autoUpdateAnimBg="0"/>
      <p:bldP spid="80904" grpId="0" bldLvl="0" animBg="1" autoUpdateAnimBg="0"/>
      <p:bldP spid="80907" grpId="0" bldLvl="0" animBg="1" autoUpdateAnimBg="0"/>
      <p:bldP spid="2" grpId="0" bldLvl="0" animBg="1" autoUpdateAnimBg="0"/>
      <p:bldP spid="5" grpId="0" bldLvl="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1547455" y="17789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主题二</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逻辑代数</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基础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nvSpPr>
        <p:spPr bwMode="auto">
          <a:xfrm>
            <a:off x="512883" y="85388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2.3 </a:t>
            </a:r>
            <a:r>
              <a:rPr kumimoji="0" lang="zh-CN" altLang="en-US" dirty="0">
                <a:solidFill>
                  <a:srgbClr val="000000"/>
                </a:solidFill>
                <a:latin typeface="黑体" panose="02010609060101010101" pitchFamily="49" charset="-122"/>
                <a:ea typeface="黑体" panose="02010609060101010101" pitchFamily="49" charset="-122"/>
              </a:rPr>
              <a:t>逻辑代数常用公式</a:t>
            </a:r>
            <a:r>
              <a:rPr kumimoji="0" lang="zh-CN" altLang="en-US" dirty="0">
                <a:solidFill>
                  <a:srgbClr val="FF0000"/>
                </a:solidFill>
                <a:latin typeface="黑体" panose="02010609060101010101" pitchFamily="49" charset="-122"/>
                <a:ea typeface="黑体" panose="02010609060101010101" pitchFamily="49" charset="-122"/>
              </a:rPr>
              <a:t> </a:t>
            </a:r>
            <a:endParaRPr kumimoji="0" lang="zh-CN" altLang="en-US" dirty="0">
              <a:solidFill>
                <a:srgbClr val="FF0000"/>
              </a:solidFill>
              <a:latin typeface="黑体" panose="02010609060101010101" pitchFamily="49" charset="-122"/>
              <a:ea typeface="黑体" panose="02010609060101010101" pitchFamily="49" charset="-122"/>
            </a:endParaRPr>
          </a:p>
        </p:txBody>
      </p:sp>
      <p:grpSp>
        <p:nvGrpSpPr>
          <p:cNvPr id="84000" name="Group 32"/>
          <p:cNvGrpSpPr/>
          <p:nvPr/>
        </p:nvGrpSpPr>
        <p:grpSpPr bwMode="auto">
          <a:xfrm>
            <a:off x="738188" y="1407478"/>
            <a:ext cx="7742237" cy="519112"/>
            <a:chOff x="465" y="731"/>
            <a:chExt cx="4877" cy="327"/>
          </a:xfrm>
        </p:grpSpPr>
        <p:sp>
          <p:nvSpPr>
            <p:cNvPr id="27682" name="Text Box 6"/>
            <p:cNvSpPr txBox="1">
              <a:spLocks noChangeArrowheads="1"/>
            </p:cNvSpPr>
            <p:nvPr/>
          </p:nvSpPr>
          <p:spPr bwMode="auto">
            <a:xfrm>
              <a:off x="465" y="731"/>
              <a:ext cx="487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dirty="0">
                  <a:solidFill>
                    <a:srgbClr val="000000"/>
                  </a:solidFill>
                  <a:hlinkClick r:id="rId1" tooltip="返回29页" action="ppaction://hlinksldjump"/>
                </a:rPr>
                <a:t>1.</a:t>
              </a:r>
              <a:r>
                <a:rPr kumimoji="0" lang="zh-CN" altLang="en-US" b="1" dirty="0">
                  <a:solidFill>
                    <a:srgbClr val="000000"/>
                  </a:solidFill>
                </a:rPr>
                <a:t>合并相邻项公式  </a:t>
              </a:r>
              <a:r>
                <a:rPr kumimoji="0" lang="en-US" altLang="zh-CN" b="1" dirty="0">
                  <a:solidFill>
                    <a:srgbClr val="000000"/>
                  </a:solidFill>
                </a:rPr>
                <a:t>AB + AB = A</a:t>
              </a:r>
              <a:endParaRPr kumimoji="0" lang="en-US" altLang="zh-CN" b="1" dirty="0">
                <a:solidFill>
                  <a:srgbClr val="000000"/>
                </a:solidFill>
              </a:endParaRPr>
            </a:p>
          </p:txBody>
        </p:sp>
        <p:sp>
          <p:nvSpPr>
            <p:cNvPr id="27683" name="Line 7"/>
            <p:cNvSpPr>
              <a:spLocks noChangeShapeType="1"/>
            </p:cNvSpPr>
            <p:nvPr/>
          </p:nvSpPr>
          <p:spPr bwMode="auto">
            <a:xfrm>
              <a:off x="3068" y="778"/>
              <a:ext cx="15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83980" name="Text Box 12"/>
          <p:cNvSpPr txBox="1">
            <a:spLocks noChangeArrowheads="1"/>
          </p:cNvSpPr>
          <p:nvPr/>
        </p:nvSpPr>
        <p:spPr bwMode="auto">
          <a:xfrm>
            <a:off x="738188" y="2026603"/>
            <a:ext cx="77422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2. </a:t>
            </a:r>
            <a:r>
              <a:rPr kumimoji="0" lang="zh-CN" altLang="en-US" b="1">
                <a:solidFill>
                  <a:srgbClr val="000000"/>
                </a:solidFill>
              </a:rPr>
              <a:t>消项公式    </a:t>
            </a:r>
            <a:r>
              <a:rPr kumimoji="0" lang="en-US" altLang="zh-CN" b="1">
                <a:solidFill>
                  <a:srgbClr val="000000"/>
                </a:solidFill>
              </a:rPr>
              <a:t>A + AB = A</a:t>
            </a:r>
            <a:endParaRPr kumimoji="0" lang="en-US" altLang="zh-CN" b="1">
              <a:solidFill>
                <a:srgbClr val="000000"/>
              </a:solidFill>
            </a:endParaRPr>
          </a:p>
        </p:txBody>
      </p:sp>
      <p:grpSp>
        <p:nvGrpSpPr>
          <p:cNvPr id="84002" name="Group 34"/>
          <p:cNvGrpSpPr/>
          <p:nvPr/>
        </p:nvGrpSpPr>
        <p:grpSpPr bwMode="auto">
          <a:xfrm>
            <a:off x="738188" y="2685415"/>
            <a:ext cx="7742237" cy="519113"/>
            <a:chOff x="465" y="1536"/>
            <a:chExt cx="4877" cy="327"/>
          </a:xfrm>
        </p:grpSpPr>
        <p:sp>
          <p:nvSpPr>
            <p:cNvPr id="27680" name="Text Box 13"/>
            <p:cNvSpPr txBox="1">
              <a:spLocks noChangeArrowheads="1"/>
            </p:cNvSpPr>
            <p:nvPr/>
          </p:nvSpPr>
          <p:spPr bwMode="auto">
            <a:xfrm>
              <a:off x="465" y="1536"/>
              <a:ext cx="487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3. </a:t>
              </a:r>
              <a:r>
                <a:rPr kumimoji="0" lang="zh-CN" altLang="en-US" b="1">
                  <a:solidFill>
                    <a:srgbClr val="000000"/>
                  </a:solidFill>
                </a:rPr>
                <a:t>消去互补因子公式  </a:t>
              </a:r>
              <a:r>
                <a:rPr kumimoji="0" lang="en-US" altLang="zh-CN" b="1">
                  <a:solidFill>
                    <a:srgbClr val="000000"/>
                  </a:solidFill>
                </a:rPr>
                <a:t>A + AB = A + B</a:t>
              </a:r>
              <a:endParaRPr kumimoji="0" lang="en-US" altLang="zh-CN" b="1">
                <a:solidFill>
                  <a:srgbClr val="000000"/>
                </a:solidFill>
              </a:endParaRPr>
            </a:p>
          </p:txBody>
        </p:sp>
        <p:sp>
          <p:nvSpPr>
            <p:cNvPr id="27681" name="Line 14"/>
            <p:cNvSpPr>
              <a:spLocks noChangeShapeType="1"/>
            </p:cNvSpPr>
            <p:nvPr/>
          </p:nvSpPr>
          <p:spPr bwMode="auto">
            <a:xfrm flipV="1">
              <a:off x="3025" y="1600"/>
              <a:ext cx="15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83984" name="Text Box 16"/>
          <p:cNvSpPr txBox="1">
            <a:spLocks noChangeArrowheads="1"/>
          </p:cNvSpPr>
          <p:nvPr/>
        </p:nvSpPr>
        <p:spPr bwMode="auto">
          <a:xfrm>
            <a:off x="762000" y="3356928"/>
            <a:ext cx="77422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4. </a:t>
            </a:r>
            <a:r>
              <a:rPr kumimoji="0" lang="zh-CN" altLang="en-US" b="1">
                <a:solidFill>
                  <a:srgbClr val="000000"/>
                </a:solidFill>
              </a:rPr>
              <a:t>多余项（生成项）公式</a:t>
            </a:r>
            <a:endParaRPr kumimoji="0" lang="zh-CN" altLang="en-US" b="1">
              <a:solidFill>
                <a:srgbClr val="000000"/>
              </a:solidFill>
            </a:endParaRPr>
          </a:p>
        </p:txBody>
      </p:sp>
      <p:grpSp>
        <p:nvGrpSpPr>
          <p:cNvPr id="84003" name="Group 35"/>
          <p:cNvGrpSpPr/>
          <p:nvPr/>
        </p:nvGrpSpPr>
        <p:grpSpPr bwMode="auto">
          <a:xfrm>
            <a:off x="2432050" y="4039553"/>
            <a:ext cx="4565650" cy="519112"/>
            <a:chOff x="1532" y="2389"/>
            <a:chExt cx="2876" cy="327"/>
          </a:xfrm>
        </p:grpSpPr>
        <p:sp>
          <p:nvSpPr>
            <p:cNvPr id="27677" name="Text Box 17"/>
            <p:cNvSpPr txBox="1">
              <a:spLocks noChangeArrowheads="1"/>
            </p:cNvSpPr>
            <p:nvPr/>
          </p:nvSpPr>
          <p:spPr bwMode="auto">
            <a:xfrm>
              <a:off x="1532" y="2389"/>
              <a:ext cx="287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AB + AC + BC = AB +AC</a:t>
              </a:r>
              <a:endParaRPr kumimoji="0" lang="en-US" altLang="zh-CN" b="1">
                <a:solidFill>
                  <a:srgbClr val="000000"/>
                </a:solidFill>
              </a:endParaRPr>
            </a:p>
          </p:txBody>
        </p:sp>
        <p:sp>
          <p:nvSpPr>
            <p:cNvPr id="27678" name="Line 18"/>
            <p:cNvSpPr>
              <a:spLocks noChangeShapeType="1"/>
            </p:cNvSpPr>
            <p:nvPr/>
          </p:nvSpPr>
          <p:spPr bwMode="auto">
            <a:xfrm>
              <a:off x="2131" y="2439"/>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7679" name="Line 19"/>
            <p:cNvSpPr>
              <a:spLocks noChangeShapeType="1"/>
            </p:cNvSpPr>
            <p:nvPr/>
          </p:nvSpPr>
          <p:spPr bwMode="auto">
            <a:xfrm>
              <a:off x="3731" y="2439"/>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84017" name="Group 49"/>
          <p:cNvGrpSpPr/>
          <p:nvPr/>
        </p:nvGrpSpPr>
        <p:grpSpPr bwMode="auto">
          <a:xfrm>
            <a:off x="757238" y="4750753"/>
            <a:ext cx="7742237" cy="427037"/>
            <a:chOff x="477" y="2837"/>
            <a:chExt cx="4877" cy="269"/>
          </a:xfrm>
        </p:grpSpPr>
        <p:sp>
          <p:nvSpPr>
            <p:cNvPr id="27673" name="Text Box 21"/>
            <p:cNvSpPr txBox="1">
              <a:spLocks noChangeArrowheads="1"/>
            </p:cNvSpPr>
            <p:nvPr/>
          </p:nvSpPr>
          <p:spPr bwMode="auto">
            <a:xfrm>
              <a:off x="477" y="2837"/>
              <a:ext cx="4877"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0" rIns="18000" bIns="0">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zh-CN" altLang="en-US" b="1">
                  <a:solidFill>
                    <a:srgbClr val="000000"/>
                  </a:solidFill>
                </a:rPr>
                <a:t>证明：</a:t>
              </a:r>
              <a:r>
                <a:rPr kumimoji="0" lang="en-US" altLang="zh-CN" b="1">
                  <a:solidFill>
                    <a:srgbClr val="000000"/>
                  </a:solidFill>
                </a:rPr>
                <a:t>AB + AC + BC  = AB + AC + </a:t>
              </a:r>
              <a:r>
                <a:rPr kumimoji="0" lang="en-US" altLang="zh-CN" b="1">
                  <a:solidFill>
                    <a:schemeClr val="accent2"/>
                  </a:solidFill>
                </a:rPr>
                <a:t>( A + A )</a:t>
              </a:r>
              <a:r>
                <a:rPr kumimoji="0" lang="en-US" altLang="zh-CN" b="1">
                  <a:solidFill>
                    <a:srgbClr val="000000"/>
                  </a:solidFill>
                </a:rPr>
                <a:t>BC</a:t>
              </a:r>
              <a:endParaRPr kumimoji="0" lang="en-US" altLang="zh-CN" b="1">
                <a:solidFill>
                  <a:srgbClr val="000000"/>
                </a:solidFill>
              </a:endParaRPr>
            </a:p>
          </p:txBody>
        </p:sp>
        <p:sp>
          <p:nvSpPr>
            <p:cNvPr id="27674" name="Line 24"/>
            <p:cNvSpPr>
              <a:spLocks noChangeShapeType="1"/>
            </p:cNvSpPr>
            <p:nvPr/>
          </p:nvSpPr>
          <p:spPr bwMode="auto">
            <a:xfrm>
              <a:off x="1717" y="2862"/>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7675" name="Line 26"/>
            <p:cNvSpPr>
              <a:spLocks noChangeShapeType="1"/>
            </p:cNvSpPr>
            <p:nvPr/>
          </p:nvSpPr>
          <p:spPr bwMode="auto">
            <a:xfrm>
              <a:off x="3395" y="2854"/>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7676" name="Line 27"/>
            <p:cNvSpPr>
              <a:spLocks noChangeShapeType="1"/>
            </p:cNvSpPr>
            <p:nvPr/>
          </p:nvSpPr>
          <p:spPr bwMode="auto">
            <a:xfrm>
              <a:off x="4461" y="2858"/>
              <a:ext cx="144"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84012" name="Group 44"/>
          <p:cNvGrpSpPr/>
          <p:nvPr/>
        </p:nvGrpSpPr>
        <p:grpSpPr bwMode="auto">
          <a:xfrm>
            <a:off x="760413" y="5500053"/>
            <a:ext cx="4264025" cy="519112"/>
            <a:chOff x="479" y="3309"/>
            <a:chExt cx="2686" cy="327"/>
          </a:xfrm>
        </p:grpSpPr>
        <p:sp>
          <p:nvSpPr>
            <p:cNvPr id="27670" name="Text Box 23"/>
            <p:cNvSpPr txBox="1">
              <a:spLocks noChangeArrowheads="1"/>
            </p:cNvSpPr>
            <p:nvPr/>
          </p:nvSpPr>
          <p:spPr bwMode="auto">
            <a:xfrm>
              <a:off x="479" y="3309"/>
              <a:ext cx="268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b="1">
                  <a:solidFill>
                    <a:srgbClr val="000000"/>
                  </a:solidFill>
                </a:rPr>
                <a:t>= </a:t>
              </a:r>
              <a:r>
                <a:rPr kumimoji="0" lang="en-US" altLang="zh-CN" b="1"/>
                <a:t>AB</a:t>
              </a:r>
              <a:r>
                <a:rPr kumimoji="0" lang="en-US" altLang="zh-CN" b="1">
                  <a:solidFill>
                    <a:srgbClr val="000000"/>
                  </a:solidFill>
                </a:rPr>
                <a:t> + AC + </a:t>
              </a:r>
              <a:r>
                <a:rPr kumimoji="0" lang="en-US" altLang="zh-CN" b="1"/>
                <a:t>ABC</a:t>
              </a:r>
              <a:r>
                <a:rPr kumimoji="0" lang="en-US" altLang="zh-CN" b="1">
                  <a:solidFill>
                    <a:schemeClr val="accent2"/>
                  </a:solidFill>
                </a:rPr>
                <a:t> </a:t>
              </a:r>
              <a:r>
                <a:rPr kumimoji="0" lang="en-US" altLang="zh-CN" b="1">
                  <a:solidFill>
                    <a:srgbClr val="000000"/>
                  </a:solidFill>
                </a:rPr>
                <a:t> + ABC</a:t>
              </a:r>
              <a:endParaRPr kumimoji="0" lang="en-US" altLang="zh-CN" b="1">
                <a:solidFill>
                  <a:srgbClr val="000000"/>
                </a:solidFill>
              </a:endParaRPr>
            </a:p>
          </p:txBody>
        </p:sp>
        <p:sp>
          <p:nvSpPr>
            <p:cNvPr id="27671" name="Line 28"/>
            <p:cNvSpPr>
              <a:spLocks noChangeShapeType="1"/>
            </p:cNvSpPr>
            <p:nvPr/>
          </p:nvSpPr>
          <p:spPr bwMode="auto">
            <a:xfrm>
              <a:off x="1261" y="3359"/>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7672" name="Line 29"/>
            <p:cNvSpPr>
              <a:spLocks noChangeShapeType="1"/>
            </p:cNvSpPr>
            <p:nvPr/>
          </p:nvSpPr>
          <p:spPr bwMode="auto">
            <a:xfrm>
              <a:off x="2563" y="3361"/>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84005" name="Line 37"/>
          <p:cNvSpPr>
            <a:spLocks noChangeShapeType="1"/>
          </p:cNvSpPr>
          <p:nvPr/>
        </p:nvSpPr>
        <p:spPr bwMode="auto">
          <a:xfrm>
            <a:off x="1100138" y="5987415"/>
            <a:ext cx="558800" cy="0"/>
          </a:xfrm>
          <a:prstGeom prst="line">
            <a:avLst/>
          </a:prstGeom>
          <a:noFill/>
          <a:ln w="2857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4006" name="Line 38"/>
          <p:cNvSpPr>
            <a:spLocks noChangeShapeType="1"/>
          </p:cNvSpPr>
          <p:nvPr/>
        </p:nvSpPr>
        <p:spPr bwMode="auto">
          <a:xfrm>
            <a:off x="2827338" y="5969953"/>
            <a:ext cx="863600"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4007" name="Line 39"/>
          <p:cNvSpPr>
            <a:spLocks noChangeShapeType="1"/>
          </p:cNvSpPr>
          <p:nvPr/>
        </p:nvSpPr>
        <p:spPr bwMode="auto">
          <a:xfrm>
            <a:off x="1963738" y="5985828"/>
            <a:ext cx="576262"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4008" name="Line 40"/>
          <p:cNvSpPr>
            <a:spLocks noChangeShapeType="1"/>
          </p:cNvSpPr>
          <p:nvPr/>
        </p:nvSpPr>
        <p:spPr bwMode="auto">
          <a:xfrm>
            <a:off x="4033838" y="5966778"/>
            <a:ext cx="842962"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nvGrpSpPr>
          <p:cNvPr id="84015" name="Group 47"/>
          <p:cNvGrpSpPr/>
          <p:nvPr/>
        </p:nvGrpSpPr>
        <p:grpSpPr bwMode="auto">
          <a:xfrm>
            <a:off x="5414963" y="5500053"/>
            <a:ext cx="1865312" cy="519112"/>
            <a:chOff x="3411" y="3309"/>
            <a:chExt cx="1175" cy="327"/>
          </a:xfrm>
        </p:grpSpPr>
        <p:sp>
          <p:nvSpPr>
            <p:cNvPr id="27668" name="Rectangle 43"/>
            <p:cNvSpPr>
              <a:spLocks noChangeArrowheads="1"/>
            </p:cNvSpPr>
            <p:nvPr/>
          </p:nvSpPr>
          <p:spPr bwMode="auto">
            <a:xfrm>
              <a:off x="3411" y="3309"/>
              <a:ext cx="117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a:solidFill>
                    <a:srgbClr val="000000"/>
                  </a:solidFill>
                </a:rPr>
                <a:t>= AB + AC</a:t>
              </a:r>
              <a:endParaRPr kumimoji="0" lang="en-US" altLang="zh-CN" b="1">
                <a:solidFill>
                  <a:srgbClr val="000000"/>
                </a:solidFill>
              </a:endParaRPr>
            </a:p>
          </p:txBody>
        </p:sp>
        <p:sp>
          <p:nvSpPr>
            <p:cNvPr id="27669" name="Line 45"/>
            <p:cNvSpPr>
              <a:spLocks noChangeShapeType="1"/>
            </p:cNvSpPr>
            <p:nvPr/>
          </p:nvSpPr>
          <p:spPr bwMode="auto">
            <a:xfrm>
              <a:off x="4187" y="3354"/>
              <a:ext cx="17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Tree>
  </p:cSld>
  <p:clrMapOvr>
    <a:masterClrMapping/>
  </p:clrMapOvr>
  <p:timing>
    <p:tnLst>
      <p:par>
        <p:cTn id="1" dur="indefinite" restart="never" nodeType="tmRoot"/>
      </p:par>
    </p:tnLst>
    <p:bldLst>
      <p:bldP spid="2" grpId="0" bldLvl="0" animBg="1" autoUpdateAnimBg="0"/>
      <p:bldP spid="5" grpId="0" bldLvl="0" animBg="1" autoUpdateAnimBg="0"/>
      <p:bldP spid="83980" grpId="0" bldLvl="0" animBg="1" autoUpdateAnimBg="0"/>
      <p:bldP spid="83984" grpId="0" bldLvl="0" animBg="1" autoUpdateAnimBg="0"/>
      <p:bldP spid="84005" grpId="0" bldLvl="0" animBg="1"/>
      <p:bldP spid="84006" grpId="0" bldLvl="0" animBg="1"/>
      <p:bldP spid="84007" grpId="0" bldLvl="0" animBg="1"/>
      <p:bldP spid="84008"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1547455" y="17789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主题二</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逻辑代数</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基础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nvSpPr>
        <p:spPr bwMode="auto">
          <a:xfrm>
            <a:off x="512883" y="94786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2.4 </a:t>
            </a:r>
            <a:r>
              <a:rPr kumimoji="0" lang="zh-CN" altLang="en-US" dirty="0">
                <a:solidFill>
                  <a:srgbClr val="000000"/>
                </a:solidFill>
                <a:latin typeface="黑体" panose="02010609060101010101" pitchFamily="49" charset="-122"/>
                <a:ea typeface="黑体" panose="02010609060101010101" pitchFamily="49" charset="-122"/>
              </a:rPr>
              <a:t>逻辑函数运算三大规则</a:t>
            </a:r>
            <a:r>
              <a:rPr kumimoji="0" lang="zh-CN" altLang="en-US" dirty="0">
                <a:solidFill>
                  <a:srgbClr val="FF0000"/>
                </a:solidFill>
                <a:latin typeface="黑体" panose="02010609060101010101" pitchFamily="49" charset="-122"/>
                <a:ea typeface="黑体" panose="02010609060101010101" pitchFamily="49" charset="-122"/>
              </a:rPr>
              <a:t> </a:t>
            </a:r>
            <a:endParaRPr kumimoji="0" lang="zh-CN" altLang="en-US" dirty="0">
              <a:solidFill>
                <a:srgbClr val="FF0000"/>
              </a:solidFill>
              <a:latin typeface="黑体" panose="02010609060101010101" pitchFamily="49" charset="-122"/>
              <a:ea typeface="黑体" panose="02010609060101010101" pitchFamily="49" charset="-122"/>
            </a:endParaRPr>
          </a:p>
        </p:txBody>
      </p:sp>
      <p:sp>
        <p:nvSpPr>
          <p:cNvPr id="7" name="Text Box 142"/>
          <p:cNvSpPr txBox="1">
            <a:spLocks noChangeArrowheads="1"/>
          </p:cNvSpPr>
          <p:nvPr>
            <p:custDataLst>
              <p:tags r:id="rId1"/>
            </p:custDataLst>
          </p:nvPr>
        </p:nvSpPr>
        <p:spPr bwMode="auto">
          <a:xfrm>
            <a:off x="720528" y="1467930"/>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dirty="0">
                <a:solidFill>
                  <a:srgbClr val="000000"/>
                </a:solidFill>
                <a:latin typeface="黑体" panose="02010609060101010101" pitchFamily="49" charset="-122"/>
                <a:ea typeface="黑体" panose="02010609060101010101" pitchFamily="49" charset="-122"/>
              </a:rPr>
              <a:t>代入规则</a:t>
            </a:r>
            <a:r>
              <a:rPr kumimoji="0" lang="en-US" altLang="zh-CN" sz="2400" dirty="0">
                <a:solidFill>
                  <a:srgbClr val="000000"/>
                </a:solidFill>
                <a:latin typeface="黑体" panose="02010609060101010101" pitchFamily="49" charset="-122"/>
                <a:ea typeface="黑体" panose="02010609060101010101" pitchFamily="49" charset="-122"/>
              </a:rPr>
              <a:t>——</a:t>
            </a:r>
            <a:r>
              <a:rPr kumimoji="0" lang="zh-CN" altLang="en-US" sz="2400" dirty="0">
                <a:solidFill>
                  <a:srgbClr val="000000"/>
                </a:solidFill>
                <a:latin typeface="黑体" panose="02010609060101010101" pitchFamily="49" charset="-122"/>
                <a:ea typeface="黑体" panose="02010609060101010101" pitchFamily="49" charset="-122"/>
              </a:rPr>
              <a:t>适用于</a:t>
            </a:r>
            <a:r>
              <a:rPr kumimoji="0" lang="zh-CN" altLang="en-US" sz="2400" dirty="0">
                <a:solidFill>
                  <a:srgbClr val="000000"/>
                </a:solidFill>
                <a:latin typeface="黑体" panose="02010609060101010101" pitchFamily="49" charset="-122"/>
                <a:ea typeface="黑体" panose="02010609060101010101" pitchFamily="49" charset="-122"/>
              </a:rPr>
              <a:t>等式</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3" name="Text Box 142"/>
          <p:cNvSpPr txBox="1">
            <a:spLocks noChangeArrowheads="1"/>
          </p:cNvSpPr>
          <p:nvPr>
            <p:custDataLst>
              <p:tags r:id="rId2"/>
            </p:custDataLst>
          </p:nvPr>
        </p:nvSpPr>
        <p:spPr bwMode="auto">
          <a:xfrm>
            <a:off x="720528" y="192830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zh-CN" altLang="en-US" sz="2400" dirty="0">
                <a:solidFill>
                  <a:srgbClr val="000000"/>
                </a:solidFill>
                <a:latin typeface="黑体" panose="02010609060101010101" pitchFamily="49" charset="-122"/>
                <a:ea typeface="黑体" panose="02010609060101010101" pitchFamily="49" charset="-122"/>
              </a:rPr>
              <a:t>反演规则</a:t>
            </a:r>
            <a:endParaRPr kumimoji="0" lang="zh-CN" altLang="en-US" sz="2400" dirty="0">
              <a:solidFill>
                <a:srgbClr val="000000"/>
              </a:solidFill>
              <a:latin typeface="黑体" panose="02010609060101010101" pitchFamily="49" charset="-122"/>
              <a:ea typeface="黑体" panose="02010609060101010101" pitchFamily="49" charset="-122"/>
            </a:endParaRPr>
          </a:p>
        </p:txBody>
      </p:sp>
      <p:pic>
        <p:nvPicPr>
          <p:cNvPr id="10" name="图片 9"/>
          <p:cNvPicPr>
            <a:picLocks noChangeAspect="1"/>
          </p:cNvPicPr>
          <p:nvPr/>
        </p:nvPicPr>
        <p:blipFill>
          <a:blip r:embed="rId3"/>
          <a:stretch>
            <a:fillRect/>
          </a:stretch>
        </p:blipFill>
        <p:spPr>
          <a:xfrm>
            <a:off x="1105535" y="2573655"/>
            <a:ext cx="2095500" cy="3543300"/>
          </a:xfrm>
          <a:prstGeom prst="rect">
            <a:avLst/>
          </a:prstGeom>
        </p:spPr>
      </p:pic>
      <p:sp>
        <p:nvSpPr>
          <p:cNvPr id="11" name="Text Box 142"/>
          <p:cNvSpPr txBox="1">
            <a:spLocks noChangeArrowheads="1"/>
          </p:cNvSpPr>
          <p:nvPr>
            <p:custDataLst>
              <p:tags r:id="rId4"/>
            </p:custDataLst>
          </p:nvPr>
        </p:nvSpPr>
        <p:spPr bwMode="auto">
          <a:xfrm>
            <a:off x="4989633" y="192830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(3)</a:t>
            </a:r>
            <a:r>
              <a:rPr kumimoji="0" lang="zh-CN" altLang="en-US" sz="2400" dirty="0">
                <a:solidFill>
                  <a:srgbClr val="000000"/>
                </a:solidFill>
                <a:latin typeface="黑体" panose="02010609060101010101" pitchFamily="49" charset="-122"/>
                <a:ea typeface="黑体" panose="02010609060101010101" pitchFamily="49" charset="-122"/>
              </a:rPr>
              <a:t>对偶规则</a:t>
            </a:r>
            <a:endParaRPr kumimoji="0" lang="zh-CN" altLang="en-US" sz="2400" dirty="0">
              <a:solidFill>
                <a:srgbClr val="000000"/>
              </a:solidFill>
              <a:latin typeface="黑体" panose="02010609060101010101" pitchFamily="49" charset="-122"/>
              <a:ea typeface="黑体" panose="02010609060101010101" pitchFamily="49" charset="-122"/>
            </a:endParaRPr>
          </a:p>
        </p:txBody>
      </p:sp>
      <p:pic>
        <p:nvPicPr>
          <p:cNvPr id="12" name="图片 11"/>
          <p:cNvPicPr>
            <a:picLocks noChangeAspect="1"/>
          </p:cNvPicPr>
          <p:nvPr/>
        </p:nvPicPr>
        <p:blipFill>
          <a:blip r:embed="rId5"/>
          <a:stretch>
            <a:fillRect/>
          </a:stretch>
        </p:blipFill>
        <p:spPr>
          <a:xfrm>
            <a:off x="5422900" y="2950845"/>
            <a:ext cx="2202180" cy="2529840"/>
          </a:xfrm>
          <a:prstGeom prst="rect">
            <a:avLst/>
          </a:prstGeom>
        </p:spPr>
      </p:pic>
    </p:spTree>
  </p:cSld>
  <p:clrMapOvr>
    <a:masterClrMapping/>
  </p:clrMapOvr>
  <p:timing>
    <p:tnLst>
      <p:par>
        <p:cTn id="1" dur="indefinite" restart="never" nodeType="tmRoot"/>
      </p:par>
    </p:tnLst>
    <p:bldLst>
      <p:bldP spid="2" grpId="0" bldLvl="0" animBg="1" autoUpdateAnimBg="0"/>
      <p:bldP spid="5" grpId="0" bldLvl="0" animBg="1" autoUpdateAnimBg="0"/>
      <p:bldP spid="7" grpId="0" bldLvl="0" animBg="1" autoUpdateAnimBg="0"/>
      <p:bldP spid="3" grpId="0" bldLvl="0" animBg="1" autoUpdateAnimBg="0"/>
      <p:bldP spid="11" grpId="0" bldLvl="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42"/>
          <p:cNvSpPr txBox="1">
            <a:spLocks noChangeArrowheads="1"/>
          </p:cNvSpPr>
          <p:nvPr/>
        </p:nvSpPr>
        <p:spPr bwMode="auto">
          <a:xfrm>
            <a:off x="512883" y="94786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2.5 </a:t>
            </a:r>
            <a:r>
              <a:rPr kumimoji="0" lang="zh-CN" altLang="en-US" dirty="0">
                <a:solidFill>
                  <a:srgbClr val="000000"/>
                </a:solidFill>
                <a:latin typeface="黑体" panose="02010609060101010101" pitchFamily="49" charset="-122"/>
                <a:ea typeface="黑体" panose="02010609060101010101" pitchFamily="49" charset="-122"/>
              </a:rPr>
              <a:t>逻辑函数的表达形式</a:t>
            </a:r>
            <a:r>
              <a:rPr kumimoji="0" lang="zh-CN" altLang="en-US" dirty="0">
                <a:solidFill>
                  <a:srgbClr val="FF0000"/>
                </a:solidFill>
                <a:latin typeface="黑体" panose="02010609060101010101" pitchFamily="49" charset="-122"/>
                <a:ea typeface="黑体" panose="02010609060101010101" pitchFamily="49" charset="-122"/>
              </a:rPr>
              <a:t> </a:t>
            </a:r>
            <a:endParaRPr kumimoji="0" lang="zh-CN" altLang="en-US" dirty="0">
              <a:solidFill>
                <a:srgbClr val="FF0000"/>
              </a:solidFill>
              <a:latin typeface="黑体" panose="02010609060101010101" pitchFamily="49" charset="-122"/>
              <a:ea typeface="黑体" panose="02010609060101010101" pitchFamily="49" charset="-122"/>
            </a:endParaRPr>
          </a:p>
        </p:txBody>
      </p:sp>
      <p:sp>
        <p:nvSpPr>
          <p:cNvPr id="7" name="Text Box 142"/>
          <p:cNvSpPr txBox="1">
            <a:spLocks noChangeArrowheads="1"/>
          </p:cNvSpPr>
          <p:nvPr>
            <p:custDataLst>
              <p:tags r:id="rId1"/>
            </p:custDataLst>
          </p:nvPr>
        </p:nvSpPr>
        <p:spPr bwMode="auto">
          <a:xfrm>
            <a:off x="720528" y="157524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dirty="0">
                <a:solidFill>
                  <a:srgbClr val="000000"/>
                </a:solidFill>
                <a:latin typeface="黑体" panose="02010609060101010101" pitchFamily="49" charset="-122"/>
                <a:ea typeface="黑体" panose="02010609060101010101" pitchFamily="49" charset="-122"/>
              </a:rPr>
              <a:t>与非</a:t>
            </a:r>
            <a:r>
              <a:rPr kumimoji="0" lang="en-US" altLang="zh-CN" sz="2400" dirty="0">
                <a:solidFill>
                  <a:srgbClr val="000000"/>
                </a:solidFill>
                <a:latin typeface="黑体" panose="02010609060101010101" pitchFamily="49" charset="-122"/>
                <a:ea typeface="黑体" panose="02010609060101010101" pitchFamily="49" charset="-122"/>
              </a:rPr>
              <a:t>——</a:t>
            </a:r>
            <a:r>
              <a:rPr kumimoji="0" lang="zh-CN" altLang="en-US" sz="2400" dirty="0">
                <a:solidFill>
                  <a:srgbClr val="000000"/>
                </a:solidFill>
                <a:latin typeface="黑体" panose="02010609060101010101" pitchFamily="49" charset="-122"/>
                <a:ea typeface="黑体" panose="02010609060101010101" pitchFamily="49" charset="-122"/>
              </a:rPr>
              <a:t>与非</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2" name="Text Box 142"/>
          <p:cNvSpPr txBox="1">
            <a:spLocks noChangeArrowheads="1"/>
          </p:cNvSpPr>
          <p:nvPr>
            <p:custDataLst>
              <p:tags r:id="rId2"/>
            </p:custDataLst>
          </p:nvPr>
        </p:nvSpPr>
        <p:spPr bwMode="auto">
          <a:xfrm>
            <a:off x="720528" y="208832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zh-CN" altLang="en-US" sz="2400" dirty="0">
                <a:solidFill>
                  <a:srgbClr val="000000"/>
                </a:solidFill>
                <a:latin typeface="黑体" panose="02010609060101010101" pitchFamily="49" charset="-122"/>
                <a:ea typeface="黑体" panose="02010609060101010101" pitchFamily="49" charset="-122"/>
              </a:rPr>
              <a:t>或非</a:t>
            </a:r>
            <a:r>
              <a:rPr kumimoji="0" lang="en-US" altLang="zh-CN" sz="2400" dirty="0">
                <a:solidFill>
                  <a:srgbClr val="000000"/>
                </a:solidFill>
                <a:latin typeface="黑体" panose="02010609060101010101" pitchFamily="49" charset="-122"/>
                <a:ea typeface="黑体" panose="02010609060101010101" pitchFamily="49" charset="-122"/>
              </a:rPr>
              <a:t>——</a:t>
            </a:r>
            <a:r>
              <a:rPr kumimoji="0" lang="zh-CN" altLang="en-US" sz="2400" dirty="0">
                <a:solidFill>
                  <a:srgbClr val="000000"/>
                </a:solidFill>
                <a:latin typeface="黑体" panose="02010609060101010101" pitchFamily="49" charset="-122"/>
                <a:ea typeface="黑体" panose="02010609060101010101" pitchFamily="49" charset="-122"/>
              </a:rPr>
              <a:t>或非</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3" name="Text Box 142"/>
          <p:cNvSpPr txBox="1">
            <a:spLocks noChangeArrowheads="1"/>
          </p:cNvSpPr>
          <p:nvPr>
            <p:custDataLst>
              <p:tags r:id="rId3"/>
            </p:custDataLst>
          </p:nvPr>
        </p:nvSpPr>
        <p:spPr bwMode="auto">
          <a:xfrm>
            <a:off x="720528" y="2602040"/>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(3)</a:t>
            </a:r>
            <a:r>
              <a:rPr kumimoji="0" lang="zh-CN" altLang="en-US" sz="2400" dirty="0">
                <a:solidFill>
                  <a:srgbClr val="000000"/>
                </a:solidFill>
                <a:latin typeface="黑体" panose="02010609060101010101" pitchFamily="49" charset="-122"/>
                <a:ea typeface="黑体" panose="02010609060101010101" pitchFamily="49" charset="-122"/>
              </a:rPr>
              <a:t>标准与或式（由最小项</a:t>
            </a:r>
            <a:r>
              <a:rPr kumimoji="0" lang="zh-CN" altLang="en-US" sz="2400" dirty="0">
                <a:solidFill>
                  <a:srgbClr val="000000"/>
                </a:solidFill>
                <a:latin typeface="黑体" panose="02010609060101010101" pitchFamily="49" charset="-122"/>
                <a:ea typeface="黑体" panose="02010609060101010101" pitchFamily="49" charset="-122"/>
              </a:rPr>
              <a:t>构成）</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4" name="Text Box 142"/>
          <p:cNvSpPr txBox="1">
            <a:spLocks noChangeArrowheads="1"/>
          </p:cNvSpPr>
          <p:nvPr>
            <p:custDataLst>
              <p:tags r:id="rId4"/>
            </p:custDataLst>
          </p:nvPr>
        </p:nvSpPr>
        <p:spPr bwMode="auto">
          <a:xfrm>
            <a:off x="720528" y="437559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(4)</a:t>
            </a:r>
            <a:r>
              <a:rPr kumimoji="0" lang="zh-CN" altLang="en-US" sz="2400" dirty="0">
                <a:solidFill>
                  <a:srgbClr val="000000"/>
                </a:solidFill>
                <a:latin typeface="黑体" panose="02010609060101010101" pitchFamily="49" charset="-122"/>
                <a:ea typeface="黑体" panose="02010609060101010101" pitchFamily="49" charset="-122"/>
              </a:rPr>
              <a:t>最简与或式（如何</a:t>
            </a:r>
            <a:r>
              <a:rPr kumimoji="0" lang="zh-CN" altLang="en-US" sz="2400" dirty="0">
                <a:solidFill>
                  <a:srgbClr val="000000"/>
                </a:solidFill>
                <a:latin typeface="黑体" panose="02010609060101010101" pitchFamily="49" charset="-122"/>
                <a:ea typeface="黑体" panose="02010609060101010101" pitchFamily="49" charset="-122"/>
              </a:rPr>
              <a:t>化简？）</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6" name="Text Box 10"/>
          <p:cNvSpPr txBox="1">
            <a:spLocks noChangeArrowheads="1"/>
          </p:cNvSpPr>
          <p:nvPr/>
        </p:nvSpPr>
        <p:spPr bwMode="auto">
          <a:xfrm>
            <a:off x="757238" y="3079115"/>
            <a:ext cx="7827962" cy="1245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5000"/>
              </a:lnSpc>
            </a:pPr>
            <a:r>
              <a:rPr kumimoji="0" lang="en-US" altLang="zh-CN" sz="2000" b="1" dirty="0">
                <a:solidFill>
                  <a:srgbClr val="FF0000"/>
                </a:solidFill>
                <a:ea typeface="楷体_GB2312" pitchFamily="49" charset="-122"/>
              </a:rPr>
              <a:t>【</a:t>
            </a:r>
            <a:r>
              <a:rPr kumimoji="0" lang="zh-CN" altLang="en-US" sz="2000" b="1" dirty="0">
                <a:solidFill>
                  <a:srgbClr val="FF0000"/>
                </a:solidFill>
                <a:ea typeface="楷体_GB2312" pitchFamily="49" charset="-122"/>
              </a:rPr>
              <a:t>最小项</a:t>
            </a:r>
            <a:r>
              <a:rPr kumimoji="0" lang="en-US" altLang="zh-CN" sz="2000" b="1" dirty="0">
                <a:solidFill>
                  <a:srgbClr val="FF0000"/>
                </a:solidFill>
                <a:ea typeface="楷体_GB2312" pitchFamily="49" charset="-122"/>
              </a:rPr>
              <a:t>】</a:t>
            </a:r>
            <a:r>
              <a:rPr kumimoji="0" lang="zh-CN" altLang="en-US" sz="2000" b="1" dirty="0">
                <a:solidFill>
                  <a:srgbClr val="FF0000"/>
                </a:solidFill>
                <a:ea typeface="楷体_GB2312" pitchFamily="49" charset="-122"/>
              </a:rPr>
              <a:t>是一种特殊的乘积项（与项），在该乘积项中逻辑函数的所有变量都要以原变量或反变量的形式出现一次，而且只能</a:t>
            </a:r>
            <a:r>
              <a:rPr kumimoji="0" lang="zh-CN" altLang="en-US" sz="2000" b="1" dirty="0">
                <a:solidFill>
                  <a:srgbClr val="FF0000"/>
                </a:solidFill>
                <a:ea typeface="楷体_GB2312" pitchFamily="49" charset="-122"/>
              </a:rPr>
              <a:t>出现一次。</a:t>
            </a:r>
            <a:endParaRPr kumimoji="0" lang="zh-CN" altLang="en-US" sz="2000" b="1" dirty="0">
              <a:solidFill>
                <a:srgbClr val="FF0000"/>
              </a:solidFill>
              <a:ea typeface="楷体_GB2312" pitchFamily="49" charset="-122"/>
            </a:endParaRPr>
          </a:p>
        </p:txBody>
      </p:sp>
      <p:sp>
        <p:nvSpPr>
          <p:cNvPr id="8" name="Text Box 10"/>
          <p:cNvSpPr txBox="1">
            <a:spLocks noChangeArrowheads="1"/>
          </p:cNvSpPr>
          <p:nvPr/>
        </p:nvSpPr>
        <p:spPr bwMode="auto">
          <a:xfrm>
            <a:off x="757238" y="4887595"/>
            <a:ext cx="7827962"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nSpc>
                <a:spcPct val="125000"/>
              </a:lnSpc>
            </a:pPr>
            <a:r>
              <a:rPr kumimoji="0" lang="en-US" altLang="zh-CN" sz="2000" b="1" dirty="0">
                <a:solidFill>
                  <a:srgbClr val="FF0000"/>
                </a:solidFill>
                <a:ea typeface="楷体_GB2312" pitchFamily="49" charset="-122"/>
              </a:rPr>
              <a:t>【</a:t>
            </a:r>
            <a:r>
              <a:rPr kumimoji="0" lang="zh-CN" altLang="en-US" sz="2000" b="1" dirty="0">
                <a:solidFill>
                  <a:srgbClr val="FF0000"/>
                </a:solidFill>
                <a:ea typeface="楷体_GB2312" pitchFamily="49" charset="-122"/>
              </a:rPr>
              <a:t>公式法</a:t>
            </a:r>
            <a:r>
              <a:rPr kumimoji="0" lang="en-US" altLang="zh-CN" sz="2000" b="1" dirty="0">
                <a:solidFill>
                  <a:srgbClr val="FF0000"/>
                </a:solidFill>
                <a:ea typeface="楷体_GB2312" pitchFamily="49" charset="-122"/>
              </a:rPr>
              <a:t>】</a:t>
            </a:r>
            <a:endParaRPr kumimoji="0" lang="en-US" altLang="zh-CN" sz="2000" b="1" dirty="0">
              <a:solidFill>
                <a:srgbClr val="FF0000"/>
              </a:solidFill>
              <a:ea typeface="楷体_GB2312" pitchFamily="49" charset="-122"/>
            </a:endParaRPr>
          </a:p>
          <a:p>
            <a:pPr>
              <a:lnSpc>
                <a:spcPct val="125000"/>
              </a:lnSpc>
            </a:pPr>
            <a:r>
              <a:rPr kumimoji="0" lang="zh-CN" altLang="en-US" sz="2000" b="1" dirty="0">
                <a:solidFill>
                  <a:srgbClr val="FF0000"/>
                </a:solidFill>
                <a:ea typeface="楷体_GB2312" pitchFamily="49" charset="-122"/>
              </a:rPr>
              <a:t>【</a:t>
            </a:r>
            <a:r>
              <a:rPr kumimoji="0" lang="zh-CN" altLang="en-US" sz="2000" b="1" dirty="0">
                <a:solidFill>
                  <a:srgbClr val="FF0000"/>
                </a:solidFill>
                <a:ea typeface="楷体_GB2312" pitchFamily="49" charset="-122"/>
              </a:rPr>
              <a:t>卡诺图】</a:t>
            </a:r>
            <a:endParaRPr kumimoji="0" lang="zh-CN" altLang="en-US" sz="2000" b="1" dirty="0">
              <a:solidFill>
                <a:srgbClr val="FF0000"/>
              </a:solidFill>
              <a:ea typeface="楷体_GB2312" pitchFamily="49" charset="-122"/>
            </a:endParaRPr>
          </a:p>
        </p:txBody>
      </p:sp>
      <p:sp>
        <p:nvSpPr>
          <p:cNvPr id="9" name="Text Box 4"/>
          <p:cNvSpPr txBox="1">
            <a:spLocks noChangeArrowheads="1"/>
          </p:cNvSpPr>
          <p:nvPr/>
        </p:nvSpPr>
        <p:spPr bwMode="auto">
          <a:xfrm>
            <a:off x="1547455" y="17789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主题二</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逻辑代数</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基础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bldLst>
      <p:bldP spid="5" grpId="0" bldLvl="0" animBg="1" autoUpdateAnimBg="0"/>
      <p:bldP spid="7" grpId="0" bldLvl="0" animBg="1" autoUpdateAnimBg="0"/>
      <p:bldP spid="2" grpId="0" bldLvl="0" animBg="1" autoUpdateAnimBg="0"/>
      <p:bldP spid="3" grpId="0" bldLvl="0" animBg="1" autoUpdateAnimBg="0"/>
      <p:bldP spid="4" grpId="0" bldLvl="0" animBg="1" autoUpdateAnimBg="0"/>
      <p:bldP spid="9" grpId="0" bldLvl="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142"/>
          <p:cNvSpPr txBox="1">
            <a:spLocks noChangeArrowheads="1"/>
          </p:cNvSpPr>
          <p:nvPr/>
        </p:nvSpPr>
        <p:spPr bwMode="auto">
          <a:xfrm>
            <a:off x="518598" y="98406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2.6 </a:t>
            </a:r>
            <a:r>
              <a:rPr kumimoji="0" lang="zh-CN" altLang="en-US" dirty="0">
                <a:solidFill>
                  <a:srgbClr val="000000"/>
                </a:solidFill>
                <a:latin typeface="黑体" panose="02010609060101010101" pitchFamily="49" charset="-122"/>
                <a:ea typeface="黑体" panose="02010609060101010101" pitchFamily="49" charset="-122"/>
              </a:rPr>
              <a:t>原函数、反函数与</a:t>
            </a:r>
            <a:r>
              <a:rPr kumimoji="0" lang="zh-CN" altLang="en-US" dirty="0">
                <a:solidFill>
                  <a:srgbClr val="000000"/>
                </a:solidFill>
                <a:latin typeface="黑体" panose="02010609060101010101" pitchFamily="49" charset="-122"/>
                <a:ea typeface="黑体" panose="02010609060101010101" pitchFamily="49" charset="-122"/>
              </a:rPr>
              <a:t>对偶函数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7" name="Text Box 142"/>
          <p:cNvSpPr txBox="1">
            <a:spLocks noChangeArrowheads="1"/>
          </p:cNvSpPr>
          <p:nvPr>
            <p:custDataLst>
              <p:tags r:id="rId1"/>
            </p:custDataLst>
          </p:nvPr>
        </p:nvSpPr>
        <p:spPr bwMode="auto">
          <a:xfrm>
            <a:off x="720528" y="1563180"/>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dirty="0">
                <a:solidFill>
                  <a:srgbClr val="000000"/>
                </a:solidFill>
                <a:latin typeface="黑体" panose="02010609060101010101" pitchFamily="49" charset="-122"/>
                <a:ea typeface="黑体" panose="02010609060101010101" pitchFamily="49" charset="-122"/>
              </a:rPr>
              <a:t>公式法之间的</a:t>
            </a:r>
            <a:r>
              <a:rPr kumimoji="0" lang="zh-CN" altLang="en-US" sz="2400" dirty="0">
                <a:solidFill>
                  <a:srgbClr val="000000"/>
                </a:solidFill>
                <a:latin typeface="黑体" panose="02010609060101010101" pitchFamily="49" charset="-122"/>
                <a:ea typeface="黑体" panose="02010609060101010101" pitchFamily="49" charset="-122"/>
              </a:rPr>
              <a:t>关联</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3" name="圆角矩形 2"/>
          <p:cNvSpPr/>
          <p:nvPr/>
        </p:nvSpPr>
        <p:spPr>
          <a:xfrm>
            <a:off x="6181725" y="2487295"/>
            <a:ext cx="736600" cy="3623310"/>
          </a:xfrm>
          <a:prstGeom prst="roundRect">
            <a:avLst/>
          </a:prstGeom>
          <a:solidFill>
            <a:schemeClr val="accent3"/>
          </a:solidFill>
          <a:ln w="28575" cap="flat" cmpd="sng" algn="ctr">
            <a:solidFill>
              <a:schemeClr val="tx1"/>
            </a:solidFill>
            <a:prstDash val="solid"/>
            <a:round/>
            <a:headEnd type="none" w="med" len="med"/>
            <a:tailEnd type="none" w="med" len="med"/>
          </a:ln>
        </p:spPr>
        <p:txBody>
          <a:bodyPr vert="horz" wrap="square" lIns="91440" tIns="45720" rIns="91440" bIns="45720" numCol="1" anchor="t" anchorCtr="0" compatLnSpc="1">
            <a:noAutofit/>
          </a:bodyPr>
          <a:lstStyle/>
          <a:p>
            <a:pPr marL="0" marR="0" indent="0" algn="ctr" defTabSz="914400" rtl="0" eaLnBrk="1" fontAlgn="base" latinLnBrk="0" hangingPunct="1">
              <a:lnSpc>
                <a:spcPct val="100000"/>
              </a:lnSpc>
              <a:spcBef>
                <a:spcPct val="50000"/>
              </a:spcBef>
              <a:spcAft>
                <a:spcPct val="0"/>
              </a:spcAft>
              <a:buClrTx/>
              <a:buSzTx/>
              <a:buFontTx/>
              <a:buNone/>
            </a:pPr>
            <a:endPara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2" name="圆角矩形 1"/>
          <p:cNvSpPr/>
          <p:nvPr/>
        </p:nvSpPr>
        <p:spPr>
          <a:xfrm>
            <a:off x="2169795" y="2503805"/>
            <a:ext cx="736600" cy="3606800"/>
          </a:xfrm>
          <a:prstGeom prst="roundRect">
            <a:avLst/>
          </a:prstGeom>
          <a:solidFill>
            <a:schemeClr val="accent3"/>
          </a:solidFill>
          <a:ln w="28575" cap="flat" cmpd="sng" algn="ctr">
            <a:solidFill>
              <a:schemeClr val="tx1"/>
            </a:solidFill>
            <a:prstDash val="solid"/>
            <a:round/>
            <a:headEnd type="none" w="med" len="med"/>
            <a:tailEnd type="none" w="med" len="med"/>
          </a:ln>
        </p:spPr>
        <p:txBody>
          <a:bodyPr vert="horz" wrap="square" lIns="91440" tIns="45720" rIns="91440" bIns="45720" numCol="1" anchor="t" anchorCtr="0" compatLnSpc="1">
            <a:noAutofit/>
          </a:bodyPr>
          <a:lstStyle/>
          <a:p>
            <a:pPr marL="0" marR="0" indent="0" algn="ctr" defTabSz="914400" rtl="0" eaLnBrk="1" fontAlgn="base" latinLnBrk="0" hangingPunct="1">
              <a:lnSpc>
                <a:spcPct val="100000"/>
              </a:lnSpc>
              <a:spcBef>
                <a:spcPct val="50000"/>
              </a:spcBef>
              <a:spcAft>
                <a:spcPct val="0"/>
              </a:spcAft>
              <a:buClrTx/>
              <a:buSzTx/>
              <a:buFontTx/>
              <a:buNone/>
            </a:pPr>
            <a:endPara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grpSp>
        <p:nvGrpSpPr>
          <p:cNvPr id="38919" name="Group 36"/>
          <p:cNvGrpSpPr/>
          <p:nvPr/>
        </p:nvGrpSpPr>
        <p:grpSpPr bwMode="auto">
          <a:xfrm>
            <a:off x="2306320" y="1968500"/>
            <a:ext cx="2668588" cy="2865438"/>
            <a:chOff x="2518" y="356"/>
            <a:chExt cx="1681" cy="1805"/>
          </a:xfrm>
        </p:grpSpPr>
        <p:sp>
          <p:nvSpPr>
            <p:cNvPr id="38953" name="Text Box 37"/>
            <p:cNvSpPr txBox="1">
              <a:spLocks noChangeArrowheads="1"/>
            </p:cNvSpPr>
            <p:nvPr/>
          </p:nvSpPr>
          <p:spPr bwMode="auto">
            <a:xfrm>
              <a:off x="2523" y="356"/>
              <a:ext cx="3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ea typeface="黑体" panose="02010609060101010101" pitchFamily="49" charset="-122"/>
                </a:rPr>
                <a:t>F</a:t>
              </a:r>
              <a:r>
                <a:rPr kumimoji="0" lang="en-US" altLang="zh-CN">
                  <a:solidFill>
                    <a:srgbClr val="000000"/>
                  </a:solidFill>
                </a:rPr>
                <a:t> </a:t>
              </a:r>
              <a:endParaRPr kumimoji="0" lang="en-US" altLang="zh-CN">
                <a:solidFill>
                  <a:srgbClr val="000000"/>
                </a:solidFill>
              </a:endParaRPr>
            </a:p>
          </p:txBody>
        </p:sp>
        <p:sp>
          <p:nvSpPr>
            <p:cNvPr id="38954" name="Text Box 38"/>
            <p:cNvSpPr txBox="1">
              <a:spLocks noChangeArrowheads="1"/>
            </p:cNvSpPr>
            <p:nvPr/>
          </p:nvSpPr>
          <p:spPr bwMode="auto">
            <a:xfrm>
              <a:off x="3714" y="366"/>
              <a:ext cx="48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ea typeface="黑体" panose="02010609060101010101" pitchFamily="49" charset="-122"/>
                </a:rPr>
                <a:t>F′</a:t>
              </a:r>
              <a:r>
                <a:rPr kumimoji="0" lang="en-US" altLang="zh-CN">
                  <a:solidFill>
                    <a:srgbClr val="000000"/>
                  </a:solidFill>
                </a:rPr>
                <a:t> </a:t>
              </a:r>
              <a:endParaRPr kumimoji="0" lang="en-US" altLang="zh-CN">
                <a:solidFill>
                  <a:srgbClr val="000000"/>
                </a:solidFill>
              </a:endParaRPr>
            </a:p>
          </p:txBody>
        </p:sp>
        <p:grpSp>
          <p:nvGrpSpPr>
            <p:cNvPr id="38955" name="Group 39"/>
            <p:cNvGrpSpPr/>
            <p:nvPr/>
          </p:nvGrpSpPr>
          <p:grpSpPr bwMode="auto">
            <a:xfrm>
              <a:off x="2518" y="698"/>
              <a:ext cx="373" cy="1463"/>
              <a:chOff x="978" y="1160"/>
              <a:chExt cx="373" cy="1463"/>
            </a:xfrm>
          </p:grpSpPr>
          <p:sp>
            <p:nvSpPr>
              <p:cNvPr id="38966" name="Text Box 40"/>
              <p:cNvSpPr txBox="1">
                <a:spLocks noChangeArrowheads="1"/>
              </p:cNvSpPr>
              <p:nvPr/>
            </p:nvSpPr>
            <p:spPr bwMode="auto">
              <a:xfrm>
                <a:off x="995" y="1160"/>
                <a:ext cx="3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latin typeface="Arial" panose="020B0604020202020204" pitchFamily="34" charset="0"/>
                  </a:rPr>
                  <a:t>·</a:t>
                </a:r>
                <a:r>
                  <a:rPr kumimoji="0" lang="en-US" altLang="zh-CN">
                    <a:solidFill>
                      <a:srgbClr val="000000"/>
                    </a:solidFill>
                  </a:rPr>
                  <a:t> </a:t>
                </a:r>
                <a:endParaRPr kumimoji="0" lang="en-US" altLang="zh-CN">
                  <a:solidFill>
                    <a:srgbClr val="000000"/>
                  </a:solidFill>
                </a:endParaRPr>
              </a:p>
            </p:txBody>
          </p:sp>
          <p:sp>
            <p:nvSpPr>
              <p:cNvPr id="38967" name="Text Box 41"/>
              <p:cNvSpPr txBox="1">
                <a:spLocks noChangeArrowheads="1"/>
              </p:cNvSpPr>
              <p:nvPr/>
            </p:nvSpPr>
            <p:spPr bwMode="auto">
              <a:xfrm>
                <a:off x="978" y="1504"/>
                <a:ext cx="3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ea typeface="黑体" panose="02010609060101010101" pitchFamily="49" charset="-122"/>
                  </a:rPr>
                  <a:t>+</a:t>
                </a:r>
                <a:r>
                  <a:rPr kumimoji="0" lang="en-US" altLang="zh-CN">
                    <a:solidFill>
                      <a:srgbClr val="000000"/>
                    </a:solidFill>
                  </a:rPr>
                  <a:t> </a:t>
                </a:r>
                <a:endParaRPr kumimoji="0" lang="en-US" altLang="zh-CN">
                  <a:solidFill>
                    <a:srgbClr val="000000"/>
                  </a:solidFill>
                </a:endParaRPr>
              </a:p>
            </p:txBody>
          </p:sp>
          <p:sp>
            <p:nvSpPr>
              <p:cNvPr id="38968" name="Text Box 42"/>
              <p:cNvSpPr txBox="1">
                <a:spLocks noChangeArrowheads="1"/>
              </p:cNvSpPr>
              <p:nvPr/>
            </p:nvSpPr>
            <p:spPr bwMode="auto">
              <a:xfrm>
                <a:off x="992" y="1907"/>
                <a:ext cx="3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ea typeface="黑体" panose="02010609060101010101" pitchFamily="49" charset="-122"/>
                  </a:rPr>
                  <a:t>1</a:t>
                </a:r>
                <a:r>
                  <a:rPr kumimoji="0" lang="en-US" altLang="zh-CN">
                    <a:solidFill>
                      <a:srgbClr val="000000"/>
                    </a:solidFill>
                  </a:rPr>
                  <a:t> </a:t>
                </a:r>
                <a:endParaRPr kumimoji="0" lang="en-US" altLang="zh-CN">
                  <a:solidFill>
                    <a:srgbClr val="000000"/>
                  </a:solidFill>
                </a:endParaRPr>
              </a:p>
            </p:txBody>
          </p:sp>
          <p:sp>
            <p:nvSpPr>
              <p:cNvPr id="38969" name="Text Box 43"/>
              <p:cNvSpPr txBox="1">
                <a:spLocks noChangeArrowheads="1"/>
              </p:cNvSpPr>
              <p:nvPr/>
            </p:nvSpPr>
            <p:spPr bwMode="auto">
              <a:xfrm>
                <a:off x="994" y="2296"/>
                <a:ext cx="3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ea typeface="黑体" panose="02010609060101010101" pitchFamily="49" charset="-122"/>
                  </a:rPr>
                  <a:t>0</a:t>
                </a:r>
                <a:r>
                  <a:rPr kumimoji="0" lang="en-US" altLang="zh-CN">
                    <a:solidFill>
                      <a:srgbClr val="000000"/>
                    </a:solidFill>
                  </a:rPr>
                  <a:t> </a:t>
                </a:r>
                <a:endParaRPr kumimoji="0" lang="en-US" altLang="zh-CN">
                  <a:solidFill>
                    <a:srgbClr val="000000"/>
                  </a:solidFill>
                </a:endParaRPr>
              </a:p>
            </p:txBody>
          </p:sp>
        </p:grpSp>
        <p:grpSp>
          <p:nvGrpSpPr>
            <p:cNvPr id="38956" name="Group 44"/>
            <p:cNvGrpSpPr/>
            <p:nvPr/>
          </p:nvGrpSpPr>
          <p:grpSpPr bwMode="auto">
            <a:xfrm>
              <a:off x="3722" y="695"/>
              <a:ext cx="373" cy="1463"/>
              <a:chOff x="2182" y="1157"/>
              <a:chExt cx="373" cy="1463"/>
            </a:xfrm>
          </p:grpSpPr>
          <p:sp>
            <p:nvSpPr>
              <p:cNvPr id="38962" name="Text Box 45"/>
              <p:cNvSpPr txBox="1">
                <a:spLocks noChangeArrowheads="1"/>
              </p:cNvSpPr>
              <p:nvPr/>
            </p:nvSpPr>
            <p:spPr bwMode="auto">
              <a:xfrm>
                <a:off x="2199" y="1157"/>
                <a:ext cx="3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rPr>
                  <a:t>+ </a:t>
                </a:r>
                <a:endParaRPr kumimoji="0" lang="en-US" altLang="zh-CN">
                  <a:solidFill>
                    <a:srgbClr val="000000"/>
                  </a:solidFill>
                </a:endParaRPr>
              </a:p>
            </p:txBody>
          </p:sp>
          <p:sp>
            <p:nvSpPr>
              <p:cNvPr id="38963" name="Text Box 46"/>
              <p:cNvSpPr txBox="1">
                <a:spLocks noChangeArrowheads="1"/>
              </p:cNvSpPr>
              <p:nvPr/>
            </p:nvSpPr>
            <p:spPr bwMode="auto">
              <a:xfrm>
                <a:off x="2182" y="1501"/>
                <a:ext cx="3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latin typeface="Arial" panose="020B0604020202020204" pitchFamily="34" charset="0"/>
                    <a:ea typeface="黑体" panose="02010609060101010101" pitchFamily="49" charset="-122"/>
                  </a:rPr>
                  <a:t>·</a:t>
                </a:r>
                <a:r>
                  <a:rPr kumimoji="0" lang="en-US" altLang="zh-CN">
                    <a:solidFill>
                      <a:srgbClr val="000000"/>
                    </a:solidFill>
                  </a:rPr>
                  <a:t> </a:t>
                </a:r>
                <a:endParaRPr kumimoji="0" lang="en-US" altLang="zh-CN">
                  <a:solidFill>
                    <a:srgbClr val="000000"/>
                  </a:solidFill>
                </a:endParaRPr>
              </a:p>
            </p:txBody>
          </p:sp>
          <p:sp>
            <p:nvSpPr>
              <p:cNvPr id="38964" name="Text Box 47"/>
              <p:cNvSpPr txBox="1">
                <a:spLocks noChangeArrowheads="1"/>
              </p:cNvSpPr>
              <p:nvPr/>
            </p:nvSpPr>
            <p:spPr bwMode="auto">
              <a:xfrm>
                <a:off x="2196" y="1904"/>
                <a:ext cx="3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ea typeface="黑体" panose="02010609060101010101" pitchFamily="49" charset="-122"/>
                  </a:rPr>
                  <a:t>0</a:t>
                </a:r>
                <a:r>
                  <a:rPr kumimoji="0" lang="en-US" altLang="zh-CN">
                    <a:solidFill>
                      <a:srgbClr val="000000"/>
                    </a:solidFill>
                  </a:rPr>
                  <a:t> </a:t>
                </a:r>
                <a:endParaRPr kumimoji="0" lang="en-US" altLang="zh-CN">
                  <a:solidFill>
                    <a:srgbClr val="000000"/>
                  </a:solidFill>
                </a:endParaRPr>
              </a:p>
            </p:txBody>
          </p:sp>
          <p:sp>
            <p:nvSpPr>
              <p:cNvPr id="38965" name="Text Box 48"/>
              <p:cNvSpPr txBox="1">
                <a:spLocks noChangeArrowheads="1"/>
              </p:cNvSpPr>
              <p:nvPr/>
            </p:nvSpPr>
            <p:spPr bwMode="auto">
              <a:xfrm>
                <a:off x="2198" y="2293"/>
                <a:ext cx="3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ea typeface="黑体" panose="02010609060101010101" pitchFamily="49" charset="-122"/>
                  </a:rPr>
                  <a:t>1</a:t>
                </a:r>
                <a:endParaRPr kumimoji="0" lang="en-US" altLang="zh-CN">
                  <a:solidFill>
                    <a:srgbClr val="000000"/>
                  </a:solidFill>
                </a:endParaRPr>
              </a:p>
            </p:txBody>
          </p:sp>
        </p:grpSp>
        <p:grpSp>
          <p:nvGrpSpPr>
            <p:cNvPr id="38957" name="Group 49"/>
            <p:cNvGrpSpPr/>
            <p:nvPr/>
          </p:nvGrpSpPr>
          <p:grpSpPr bwMode="auto">
            <a:xfrm>
              <a:off x="2929" y="863"/>
              <a:ext cx="720" cy="1123"/>
              <a:chOff x="1389" y="1325"/>
              <a:chExt cx="720" cy="1123"/>
            </a:xfrm>
          </p:grpSpPr>
          <p:sp>
            <p:nvSpPr>
              <p:cNvPr id="38958" name="Line 50"/>
              <p:cNvSpPr>
                <a:spLocks noChangeShapeType="1"/>
              </p:cNvSpPr>
              <p:nvPr/>
            </p:nvSpPr>
            <p:spPr bwMode="auto">
              <a:xfrm>
                <a:off x="1389" y="1325"/>
                <a:ext cx="72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8959" name="Line 51"/>
              <p:cNvSpPr>
                <a:spLocks noChangeShapeType="1"/>
              </p:cNvSpPr>
              <p:nvPr/>
            </p:nvSpPr>
            <p:spPr bwMode="auto">
              <a:xfrm>
                <a:off x="1389" y="1666"/>
                <a:ext cx="72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8960" name="Line 52"/>
              <p:cNvSpPr>
                <a:spLocks noChangeShapeType="1"/>
              </p:cNvSpPr>
              <p:nvPr/>
            </p:nvSpPr>
            <p:spPr bwMode="auto">
              <a:xfrm>
                <a:off x="1389" y="2065"/>
                <a:ext cx="72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8961" name="Line 53"/>
              <p:cNvSpPr>
                <a:spLocks noChangeShapeType="1"/>
              </p:cNvSpPr>
              <p:nvPr/>
            </p:nvSpPr>
            <p:spPr bwMode="auto">
              <a:xfrm>
                <a:off x="1389" y="2448"/>
                <a:ext cx="72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sp>
        <p:nvSpPr>
          <p:cNvPr id="102463" name="Line 63"/>
          <p:cNvSpPr>
            <a:spLocks noChangeShapeType="1"/>
          </p:cNvSpPr>
          <p:nvPr/>
        </p:nvSpPr>
        <p:spPr bwMode="auto">
          <a:xfrm>
            <a:off x="4895533" y="5176838"/>
            <a:ext cx="1143000" cy="0"/>
          </a:xfrm>
          <a:prstGeom prst="line">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464" name="Line 64"/>
          <p:cNvSpPr>
            <a:spLocks noChangeShapeType="1"/>
          </p:cNvSpPr>
          <p:nvPr/>
        </p:nvSpPr>
        <p:spPr bwMode="auto">
          <a:xfrm>
            <a:off x="4870133" y="5781675"/>
            <a:ext cx="1143000" cy="0"/>
          </a:xfrm>
          <a:prstGeom prst="line">
            <a:avLst/>
          </a:prstGeom>
          <a:noFill/>
          <a:ln w="28575">
            <a:solidFill>
              <a:schemeClr val="fo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nvGrpSpPr>
          <p:cNvPr id="102505" name="Group 105"/>
          <p:cNvGrpSpPr/>
          <p:nvPr/>
        </p:nvGrpSpPr>
        <p:grpSpPr bwMode="auto">
          <a:xfrm>
            <a:off x="4895533" y="2465388"/>
            <a:ext cx="2035175" cy="2322512"/>
            <a:chOff x="1985" y="1003"/>
            <a:chExt cx="1282" cy="1463"/>
          </a:xfrm>
        </p:grpSpPr>
        <p:sp>
          <p:nvSpPr>
            <p:cNvPr id="38945" name="Line 59"/>
            <p:cNvSpPr>
              <a:spLocks noChangeShapeType="1"/>
            </p:cNvSpPr>
            <p:nvPr/>
          </p:nvSpPr>
          <p:spPr bwMode="auto">
            <a:xfrm>
              <a:off x="1985" y="1189"/>
              <a:ext cx="720" cy="0"/>
            </a:xfrm>
            <a:prstGeom prst="line">
              <a:avLst/>
            </a:prstGeom>
            <a:noFill/>
            <a:ln w="28575">
              <a:solidFill>
                <a:schemeClr val="tx1"/>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8946" name="Line 60"/>
            <p:cNvSpPr>
              <a:spLocks noChangeShapeType="1"/>
            </p:cNvSpPr>
            <p:nvPr/>
          </p:nvSpPr>
          <p:spPr bwMode="auto">
            <a:xfrm>
              <a:off x="1985" y="1530"/>
              <a:ext cx="720" cy="0"/>
            </a:xfrm>
            <a:prstGeom prst="line">
              <a:avLst/>
            </a:prstGeom>
            <a:noFill/>
            <a:ln w="28575">
              <a:solidFill>
                <a:schemeClr val="tx1"/>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8947" name="Line 61"/>
            <p:cNvSpPr>
              <a:spLocks noChangeShapeType="1"/>
            </p:cNvSpPr>
            <p:nvPr/>
          </p:nvSpPr>
          <p:spPr bwMode="auto">
            <a:xfrm>
              <a:off x="1985" y="1929"/>
              <a:ext cx="720" cy="0"/>
            </a:xfrm>
            <a:prstGeom prst="line">
              <a:avLst/>
            </a:prstGeom>
            <a:noFill/>
            <a:ln w="28575">
              <a:solidFill>
                <a:schemeClr val="tx1"/>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8948" name="Line 62"/>
            <p:cNvSpPr>
              <a:spLocks noChangeShapeType="1"/>
            </p:cNvSpPr>
            <p:nvPr/>
          </p:nvSpPr>
          <p:spPr bwMode="auto">
            <a:xfrm>
              <a:off x="1985" y="2312"/>
              <a:ext cx="720" cy="0"/>
            </a:xfrm>
            <a:prstGeom prst="line">
              <a:avLst/>
            </a:prstGeom>
            <a:noFill/>
            <a:ln w="28575">
              <a:solidFill>
                <a:schemeClr val="tx1"/>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38949" name="Text Box 66"/>
            <p:cNvSpPr txBox="1">
              <a:spLocks noChangeArrowheads="1"/>
            </p:cNvSpPr>
            <p:nvPr/>
          </p:nvSpPr>
          <p:spPr bwMode="auto">
            <a:xfrm>
              <a:off x="2911" y="1003"/>
              <a:ext cx="3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rPr>
                <a:t>+ </a:t>
              </a:r>
              <a:endParaRPr kumimoji="0" lang="en-US" altLang="zh-CN">
                <a:solidFill>
                  <a:srgbClr val="000000"/>
                </a:solidFill>
              </a:endParaRPr>
            </a:p>
          </p:txBody>
        </p:sp>
        <p:sp>
          <p:nvSpPr>
            <p:cNvPr id="38950" name="Text Box 67"/>
            <p:cNvSpPr txBox="1">
              <a:spLocks noChangeArrowheads="1"/>
            </p:cNvSpPr>
            <p:nvPr/>
          </p:nvSpPr>
          <p:spPr bwMode="auto">
            <a:xfrm>
              <a:off x="2894" y="1347"/>
              <a:ext cx="3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latin typeface="Arial" panose="020B0604020202020204" pitchFamily="34" charset="0"/>
                  <a:ea typeface="黑体" panose="02010609060101010101" pitchFamily="49" charset="-122"/>
                </a:rPr>
                <a:t>·</a:t>
              </a:r>
              <a:r>
                <a:rPr kumimoji="0" lang="en-US" altLang="zh-CN">
                  <a:solidFill>
                    <a:srgbClr val="000000"/>
                  </a:solidFill>
                </a:rPr>
                <a:t> </a:t>
              </a:r>
              <a:endParaRPr kumimoji="0" lang="en-US" altLang="zh-CN">
                <a:solidFill>
                  <a:srgbClr val="000000"/>
                </a:solidFill>
              </a:endParaRPr>
            </a:p>
          </p:txBody>
        </p:sp>
        <p:sp>
          <p:nvSpPr>
            <p:cNvPr id="38951" name="Text Box 68"/>
            <p:cNvSpPr txBox="1">
              <a:spLocks noChangeArrowheads="1"/>
            </p:cNvSpPr>
            <p:nvPr/>
          </p:nvSpPr>
          <p:spPr bwMode="auto">
            <a:xfrm>
              <a:off x="2908" y="1750"/>
              <a:ext cx="3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ea typeface="黑体" panose="02010609060101010101" pitchFamily="49" charset="-122"/>
                </a:rPr>
                <a:t>0</a:t>
              </a:r>
              <a:r>
                <a:rPr kumimoji="0" lang="en-US" altLang="zh-CN">
                  <a:solidFill>
                    <a:srgbClr val="000000"/>
                  </a:solidFill>
                </a:rPr>
                <a:t> </a:t>
              </a:r>
              <a:endParaRPr kumimoji="0" lang="en-US" altLang="zh-CN">
                <a:solidFill>
                  <a:srgbClr val="000000"/>
                </a:solidFill>
              </a:endParaRPr>
            </a:p>
          </p:txBody>
        </p:sp>
        <p:sp>
          <p:nvSpPr>
            <p:cNvPr id="38952" name="Text Box 69"/>
            <p:cNvSpPr txBox="1">
              <a:spLocks noChangeArrowheads="1"/>
            </p:cNvSpPr>
            <p:nvPr/>
          </p:nvSpPr>
          <p:spPr bwMode="auto">
            <a:xfrm>
              <a:off x="2910" y="2139"/>
              <a:ext cx="3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ea typeface="黑体" panose="02010609060101010101" pitchFamily="49" charset="-122"/>
                </a:rPr>
                <a:t>1</a:t>
              </a:r>
              <a:endParaRPr kumimoji="0" lang="en-US" altLang="zh-CN">
                <a:solidFill>
                  <a:srgbClr val="000000"/>
                </a:solidFill>
              </a:endParaRPr>
            </a:p>
          </p:txBody>
        </p:sp>
      </p:grpSp>
      <p:sp>
        <p:nvSpPr>
          <p:cNvPr id="102470" name="Text Box 70"/>
          <p:cNvSpPr txBox="1">
            <a:spLocks noChangeArrowheads="1"/>
          </p:cNvSpPr>
          <p:nvPr/>
        </p:nvSpPr>
        <p:spPr bwMode="auto">
          <a:xfrm>
            <a:off x="6338570" y="5408613"/>
            <a:ext cx="5651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ea typeface="黑体" panose="02010609060101010101" pitchFamily="49" charset="-122"/>
              </a:rPr>
              <a:t>A</a:t>
            </a:r>
            <a:r>
              <a:rPr kumimoji="0" lang="en-US" altLang="zh-CN">
                <a:solidFill>
                  <a:srgbClr val="000000"/>
                </a:solidFill>
              </a:rPr>
              <a:t> </a:t>
            </a:r>
            <a:endParaRPr kumimoji="0" lang="en-US" altLang="zh-CN">
              <a:solidFill>
                <a:srgbClr val="000000"/>
              </a:solidFill>
            </a:endParaRPr>
          </a:p>
        </p:txBody>
      </p:sp>
      <p:grpSp>
        <p:nvGrpSpPr>
          <p:cNvPr id="102471" name="Group 71"/>
          <p:cNvGrpSpPr/>
          <p:nvPr/>
        </p:nvGrpSpPr>
        <p:grpSpPr bwMode="auto">
          <a:xfrm>
            <a:off x="6338570" y="4864100"/>
            <a:ext cx="565150" cy="519113"/>
            <a:chOff x="992" y="3103"/>
            <a:chExt cx="356" cy="327"/>
          </a:xfrm>
        </p:grpSpPr>
        <p:sp>
          <p:nvSpPr>
            <p:cNvPr id="38943" name="Text Box 72"/>
            <p:cNvSpPr txBox="1">
              <a:spLocks noChangeArrowheads="1"/>
            </p:cNvSpPr>
            <p:nvPr/>
          </p:nvSpPr>
          <p:spPr bwMode="auto">
            <a:xfrm>
              <a:off x="992" y="3103"/>
              <a:ext cx="3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ea typeface="黑体" panose="02010609060101010101" pitchFamily="49" charset="-122"/>
                </a:rPr>
                <a:t>A</a:t>
              </a:r>
              <a:endParaRPr kumimoji="0" lang="en-US" altLang="zh-CN">
                <a:solidFill>
                  <a:srgbClr val="000000"/>
                </a:solidFill>
              </a:endParaRPr>
            </a:p>
          </p:txBody>
        </p:sp>
        <p:sp>
          <p:nvSpPr>
            <p:cNvPr id="38944" name="Line 73"/>
            <p:cNvSpPr>
              <a:spLocks noChangeShapeType="1"/>
            </p:cNvSpPr>
            <p:nvPr/>
          </p:nvSpPr>
          <p:spPr bwMode="auto">
            <a:xfrm>
              <a:off x="1022" y="3125"/>
              <a:ext cx="20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102477" name="Group 77"/>
          <p:cNvGrpSpPr/>
          <p:nvPr/>
        </p:nvGrpSpPr>
        <p:grpSpPr bwMode="auto">
          <a:xfrm>
            <a:off x="6317933" y="2016125"/>
            <a:ext cx="565150" cy="519113"/>
            <a:chOff x="2230" y="828"/>
            <a:chExt cx="356" cy="327"/>
          </a:xfrm>
        </p:grpSpPr>
        <p:sp>
          <p:nvSpPr>
            <p:cNvPr id="38941" name="Text Box 78"/>
            <p:cNvSpPr txBox="1">
              <a:spLocks noChangeArrowheads="1"/>
            </p:cNvSpPr>
            <p:nvPr/>
          </p:nvSpPr>
          <p:spPr bwMode="auto">
            <a:xfrm>
              <a:off x="2230" y="828"/>
              <a:ext cx="3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ea typeface="黑体" panose="02010609060101010101" pitchFamily="49" charset="-122"/>
                </a:rPr>
                <a:t>F</a:t>
              </a:r>
              <a:r>
                <a:rPr kumimoji="0" lang="en-US" altLang="zh-CN">
                  <a:solidFill>
                    <a:srgbClr val="000000"/>
                  </a:solidFill>
                </a:rPr>
                <a:t> </a:t>
              </a:r>
              <a:endParaRPr kumimoji="0" lang="en-US" altLang="zh-CN">
                <a:solidFill>
                  <a:srgbClr val="000000"/>
                </a:solidFill>
              </a:endParaRPr>
            </a:p>
          </p:txBody>
        </p:sp>
        <p:sp>
          <p:nvSpPr>
            <p:cNvPr id="38942" name="Line 79"/>
            <p:cNvSpPr>
              <a:spLocks noChangeShapeType="1"/>
            </p:cNvSpPr>
            <p:nvPr/>
          </p:nvSpPr>
          <p:spPr bwMode="auto">
            <a:xfrm>
              <a:off x="2260" y="835"/>
              <a:ext cx="157"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102485" name="Text Box 85"/>
          <p:cNvSpPr txBox="1">
            <a:spLocks noChangeArrowheads="1"/>
          </p:cNvSpPr>
          <p:nvPr/>
        </p:nvSpPr>
        <p:spPr bwMode="auto">
          <a:xfrm>
            <a:off x="2352358" y="4927600"/>
            <a:ext cx="5651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ea typeface="黑体" panose="02010609060101010101" pitchFamily="49" charset="-122"/>
              </a:rPr>
              <a:t>A</a:t>
            </a:r>
            <a:r>
              <a:rPr kumimoji="0" lang="en-US" altLang="zh-CN">
                <a:solidFill>
                  <a:srgbClr val="000000"/>
                </a:solidFill>
              </a:rPr>
              <a:t> </a:t>
            </a:r>
            <a:endParaRPr kumimoji="0" lang="en-US" altLang="zh-CN">
              <a:solidFill>
                <a:srgbClr val="000000"/>
              </a:solidFill>
            </a:endParaRPr>
          </a:p>
        </p:txBody>
      </p:sp>
      <p:grpSp>
        <p:nvGrpSpPr>
          <p:cNvPr id="102486" name="Group 86"/>
          <p:cNvGrpSpPr/>
          <p:nvPr/>
        </p:nvGrpSpPr>
        <p:grpSpPr bwMode="auto">
          <a:xfrm>
            <a:off x="2353945" y="5591175"/>
            <a:ext cx="565150" cy="519113"/>
            <a:chOff x="992" y="3103"/>
            <a:chExt cx="356" cy="327"/>
          </a:xfrm>
        </p:grpSpPr>
        <p:sp>
          <p:nvSpPr>
            <p:cNvPr id="38939" name="Text Box 87"/>
            <p:cNvSpPr txBox="1">
              <a:spLocks noChangeArrowheads="1"/>
            </p:cNvSpPr>
            <p:nvPr/>
          </p:nvSpPr>
          <p:spPr bwMode="auto">
            <a:xfrm>
              <a:off x="992" y="3103"/>
              <a:ext cx="3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ea typeface="黑体" panose="02010609060101010101" pitchFamily="49" charset="-122"/>
                </a:rPr>
                <a:t>A</a:t>
              </a:r>
              <a:endParaRPr kumimoji="0" lang="en-US" altLang="zh-CN">
                <a:solidFill>
                  <a:srgbClr val="000000"/>
                </a:solidFill>
              </a:endParaRPr>
            </a:p>
          </p:txBody>
        </p:sp>
        <p:sp>
          <p:nvSpPr>
            <p:cNvPr id="38940" name="Line 88"/>
            <p:cNvSpPr>
              <a:spLocks noChangeShapeType="1"/>
            </p:cNvSpPr>
            <p:nvPr/>
          </p:nvSpPr>
          <p:spPr bwMode="auto">
            <a:xfrm>
              <a:off x="1022" y="3125"/>
              <a:ext cx="20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102496" name="Text Box 96"/>
          <p:cNvSpPr txBox="1">
            <a:spLocks noChangeArrowheads="1"/>
          </p:cNvSpPr>
          <p:nvPr/>
        </p:nvSpPr>
        <p:spPr bwMode="auto">
          <a:xfrm>
            <a:off x="4243070" y="4900613"/>
            <a:ext cx="5651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ea typeface="黑体" panose="02010609060101010101" pitchFamily="49" charset="-122"/>
              </a:rPr>
              <a:t>A</a:t>
            </a:r>
            <a:endParaRPr kumimoji="0" lang="en-US" altLang="zh-CN">
              <a:solidFill>
                <a:srgbClr val="000000"/>
              </a:solidFill>
            </a:endParaRPr>
          </a:p>
        </p:txBody>
      </p:sp>
      <p:grpSp>
        <p:nvGrpSpPr>
          <p:cNvPr id="102506" name="Group 106"/>
          <p:cNvGrpSpPr/>
          <p:nvPr/>
        </p:nvGrpSpPr>
        <p:grpSpPr bwMode="auto">
          <a:xfrm>
            <a:off x="4243070" y="5445125"/>
            <a:ext cx="565150" cy="519113"/>
            <a:chOff x="1574" y="2880"/>
            <a:chExt cx="356" cy="327"/>
          </a:xfrm>
        </p:grpSpPr>
        <p:sp>
          <p:nvSpPr>
            <p:cNvPr id="38937" name="Text Box 94"/>
            <p:cNvSpPr txBox="1">
              <a:spLocks noChangeArrowheads="1"/>
            </p:cNvSpPr>
            <p:nvPr/>
          </p:nvSpPr>
          <p:spPr bwMode="auto">
            <a:xfrm>
              <a:off x="1574" y="2880"/>
              <a:ext cx="3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a:solidFill>
                    <a:srgbClr val="000000"/>
                  </a:solidFill>
                  <a:ea typeface="黑体" panose="02010609060101010101" pitchFamily="49" charset="-122"/>
                </a:rPr>
                <a:t>A</a:t>
              </a:r>
              <a:r>
                <a:rPr kumimoji="0" lang="en-US" altLang="zh-CN">
                  <a:solidFill>
                    <a:srgbClr val="000000"/>
                  </a:solidFill>
                </a:rPr>
                <a:t> </a:t>
              </a:r>
              <a:endParaRPr kumimoji="0" lang="en-US" altLang="zh-CN">
                <a:solidFill>
                  <a:srgbClr val="000000"/>
                </a:solidFill>
              </a:endParaRPr>
            </a:p>
          </p:txBody>
        </p:sp>
        <p:sp>
          <p:nvSpPr>
            <p:cNvPr id="38938" name="Line 97"/>
            <p:cNvSpPr>
              <a:spLocks noChangeShapeType="1"/>
            </p:cNvSpPr>
            <p:nvPr/>
          </p:nvSpPr>
          <p:spPr bwMode="auto">
            <a:xfrm>
              <a:off x="1604" y="2927"/>
              <a:ext cx="20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sp>
        <p:nvSpPr>
          <p:cNvPr id="102502" name="Line 102"/>
          <p:cNvSpPr>
            <a:spLocks noChangeShapeType="1"/>
          </p:cNvSpPr>
          <p:nvPr/>
        </p:nvSpPr>
        <p:spPr bwMode="auto">
          <a:xfrm>
            <a:off x="2984183" y="5184775"/>
            <a:ext cx="1143000" cy="0"/>
          </a:xfrm>
          <a:prstGeom prst="line">
            <a:avLst/>
          </a:prstGeom>
          <a:noFill/>
          <a:ln w="28575">
            <a:solidFill>
              <a:schemeClr val="tx1"/>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503" name="Line 103"/>
          <p:cNvSpPr>
            <a:spLocks noChangeShapeType="1"/>
          </p:cNvSpPr>
          <p:nvPr/>
        </p:nvSpPr>
        <p:spPr bwMode="auto">
          <a:xfrm>
            <a:off x="2958783" y="5789613"/>
            <a:ext cx="1143000" cy="0"/>
          </a:xfrm>
          <a:prstGeom prst="line">
            <a:avLst/>
          </a:prstGeom>
          <a:noFill/>
          <a:ln w="28575">
            <a:solidFill>
              <a:schemeClr val="tx1"/>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 name="Text Box 4"/>
          <p:cNvSpPr txBox="1">
            <a:spLocks noChangeArrowheads="1"/>
          </p:cNvSpPr>
          <p:nvPr/>
        </p:nvSpPr>
        <p:spPr bwMode="auto">
          <a:xfrm>
            <a:off x="1547455" y="17789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主题二</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逻辑代数</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基础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bldLst>
      <p:bldP spid="14" grpId="0" bldLvl="0" animBg="1" autoUpdateAnimBg="0"/>
      <p:bldP spid="7" grpId="0" bldLvl="0" animBg="1" autoUpdateAnimBg="0"/>
      <p:bldP spid="3" grpId="0" bldLvl="0" animBg="1"/>
      <p:bldP spid="2" grpId="0" bldLvl="0" animBg="1"/>
      <p:bldP spid="102463" grpId="0" bldLvl="0" animBg="1"/>
      <p:bldP spid="102464" grpId="0" bldLvl="0" animBg="1"/>
      <p:bldP spid="102470" grpId="0" bldLvl="0" animBg="1"/>
      <p:bldP spid="102485" grpId="0" bldLvl="0" animBg="1"/>
      <p:bldP spid="102496" grpId="0" bldLvl="0" animBg="1"/>
      <p:bldP spid="102502" grpId="0" bldLvl="0" animBg="1"/>
      <p:bldP spid="102503" grpId="0" bldLvl="0" animBg="1"/>
      <p:bldP spid="4" grpId="0" bldLvl="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142"/>
          <p:cNvSpPr txBox="1">
            <a:spLocks noChangeArrowheads="1"/>
          </p:cNvSpPr>
          <p:nvPr/>
        </p:nvSpPr>
        <p:spPr bwMode="auto">
          <a:xfrm>
            <a:off x="225863" y="139617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2.6 </a:t>
            </a:r>
            <a:r>
              <a:rPr kumimoji="0" lang="zh-CN" altLang="en-US" dirty="0">
                <a:solidFill>
                  <a:srgbClr val="000000"/>
                </a:solidFill>
                <a:latin typeface="黑体" panose="02010609060101010101" pitchFamily="49" charset="-122"/>
                <a:ea typeface="黑体" panose="02010609060101010101" pitchFamily="49" charset="-122"/>
              </a:rPr>
              <a:t>原函数、反函数与</a:t>
            </a:r>
            <a:r>
              <a:rPr kumimoji="0" lang="zh-CN" altLang="en-US" dirty="0">
                <a:solidFill>
                  <a:srgbClr val="000000"/>
                </a:solidFill>
                <a:latin typeface="黑体" panose="02010609060101010101" pitchFamily="49" charset="-122"/>
                <a:ea typeface="黑体" panose="02010609060101010101" pitchFamily="49" charset="-122"/>
              </a:rPr>
              <a:t>对偶函数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7" name="Text Box 142"/>
          <p:cNvSpPr txBox="1">
            <a:spLocks noChangeArrowheads="1"/>
          </p:cNvSpPr>
          <p:nvPr>
            <p:custDataLst>
              <p:tags r:id="rId1"/>
            </p:custDataLst>
          </p:nvPr>
        </p:nvSpPr>
        <p:spPr bwMode="auto">
          <a:xfrm>
            <a:off x="644963" y="2224850"/>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zh-CN" altLang="en-US" sz="2400" dirty="0">
                <a:solidFill>
                  <a:srgbClr val="000000"/>
                </a:solidFill>
                <a:latin typeface="黑体" panose="02010609060101010101" pitchFamily="49" charset="-122"/>
                <a:ea typeface="黑体" panose="02010609060101010101" pitchFamily="49" charset="-122"/>
              </a:rPr>
              <a:t>标准与或</a:t>
            </a:r>
            <a:r>
              <a:rPr kumimoji="0" lang="zh-CN" altLang="en-US" sz="2400" dirty="0">
                <a:solidFill>
                  <a:srgbClr val="000000"/>
                </a:solidFill>
                <a:latin typeface="黑体" panose="02010609060101010101" pitchFamily="49" charset="-122"/>
                <a:ea typeface="黑体" panose="02010609060101010101" pitchFamily="49" charset="-122"/>
              </a:rPr>
              <a:t>式之间的</a:t>
            </a:r>
            <a:r>
              <a:rPr kumimoji="0" lang="zh-CN" altLang="en-US" sz="2400" dirty="0">
                <a:solidFill>
                  <a:srgbClr val="000000"/>
                </a:solidFill>
                <a:latin typeface="黑体" panose="02010609060101010101" pitchFamily="49" charset="-122"/>
                <a:ea typeface="黑体" panose="02010609060101010101" pitchFamily="49" charset="-122"/>
              </a:rPr>
              <a:t>关联</a:t>
            </a:r>
            <a:endParaRPr kumimoji="0" lang="zh-CN" altLang="en-US" sz="2400" dirty="0">
              <a:solidFill>
                <a:srgbClr val="000000"/>
              </a:solidFill>
              <a:latin typeface="黑体" panose="02010609060101010101" pitchFamily="49" charset="-122"/>
              <a:ea typeface="黑体" panose="02010609060101010101" pitchFamily="49" charset="-122"/>
            </a:endParaRPr>
          </a:p>
        </p:txBody>
      </p:sp>
      <p:graphicFrame>
        <p:nvGraphicFramePr>
          <p:cNvPr id="68706" name="Object 98"/>
          <p:cNvGraphicFramePr>
            <a:graphicFrameLocks noChangeAspect="1"/>
          </p:cNvGraphicFramePr>
          <p:nvPr/>
        </p:nvGraphicFramePr>
        <p:xfrm>
          <a:off x="2458694" y="3277712"/>
          <a:ext cx="3556635" cy="582930"/>
        </p:xfrm>
        <a:graphic>
          <a:graphicData uri="http://schemas.openxmlformats.org/presentationml/2006/ole">
            <mc:AlternateContent xmlns:mc="http://schemas.openxmlformats.org/markup-compatibility/2006">
              <mc:Choice xmlns:v="urn:schemas-microsoft-com:vml" Requires="v">
                <p:oleObj spid="_x0000_s27025" name="Equation" r:id="rId2" imgW="1625600" imgH="266700" progId="Equation.DSMT4">
                  <p:embed/>
                </p:oleObj>
              </mc:Choice>
              <mc:Fallback>
                <p:oleObj name="Equation" r:id="rId2" imgW="1625600" imgH="266700" progId="Equation.DSMT4">
                  <p:embed/>
                  <p:pic>
                    <p:nvPicPr>
                      <p:cNvPr id="0" name="图片 26995"/>
                      <p:cNvPicPr>
                        <a:picLocks noChangeAspect="1" noChangeArrowheads="1"/>
                      </p:cNvPicPr>
                      <p:nvPr/>
                    </p:nvPicPr>
                    <p:blipFill>
                      <a:blip r:embed="rId3"/>
                      <a:srcRect/>
                      <a:stretch>
                        <a:fillRect/>
                      </a:stretch>
                    </p:blipFill>
                    <p:spPr bwMode="auto">
                      <a:xfrm>
                        <a:off x="2458694" y="3277712"/>
                        <a:ext cx="3556635" cy="582930"/>
                      </a:xfrm>
                      <a:prstGeom prst="rect">
                        <a:avLst/>
                      </a:prstGeom>
                      <a:solidFill>
                        <a:srgbClr val="FF99CC">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2715" name="Object 11"/>
          <p:cNvGraphicFramePr>
            <a:graphicFrameLocks noChangeAspect="1"/>
          </p:cNvGraphicFramePr>
          <p:nvPr/>
        </p:nvGraphicFramePr>
        <p:xfrm>
          <a:off x="959168" y="4453255"/>
          <a:ext cx="6802120" cy="581025"/>
        </p:xfrm>
        <a:graphic>
          <a:graphicData uri="http://schemas.openxmlformats.org/presentationml/2006/ole">
            <mc:AlternateContent xmlns:mc="http://schemas.openxmlformats.org/markup-compatibility/2006">
              <mc:Choice xmlns:v="urn:schemas-microsoft-com:vml" Requires="v">
                <p:oleObj spid="_x0000_s18586" name="Equation" r:id="rId4" imgW="3124200" imgH="266700" progId="Equation.DSMT4">
                  <p:embed/>
                </p:oleObj>
              </mc:Choice>
              <mc:Fallback>
                <p:oleObj name="Equation" r:id="rId4" imgW="3124200" imgH="266700" progId="Equation.DSMT4">
                  <p:embed/>
                  <p:pic>
                    <p:nvPicPr>
                      <p:cNvPr id="0" name="Object 11"/>
                      <p:cNvPicPr>
                        <a:picLocks noChangeAspect="1" noChangeArrowheads="1"/>
                      </p:cNvPicPr>
                      <p:nvPr/>
                    </p:nvPicPr>
                    <p:blipFill>
                      <a:blip r:embed="rId5"/>
                      <a:srcRect/>
                      <a:stretch>
                        <a:fillRect/>
                      </a:stretch>
                    </p:blipFill>
                    <p:spPr bwMode="auto">
                      <a:xfrm>
                        <a:off x="959168" y="4453255"/>
                        <a:ext cx="6802120" cy="581025"/>
                      </a:xfrm>
                      <a:prstGeom prst="rect">
                        <a:avLst/>
                      </a:prstGeom>
                      <a:solidFill>
                        <a:srgbClr val="FF99CC">
                          <a:alpha val="50195"/>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Text Box 4"/>
          <p:cNvSpPr txBox="1">
            <a:spLocks noChangeArrowheads="1"/>
          </p:cNvSpPr>
          <p:nvPr/>
        </p:nvSpPr>
        <p:spPr bwMode="auto">
          <a:xfrm>
            <a:off x="1547455" y="17789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主题二</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逻辑代数</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基础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bldLst>
      <p:bldP spid="14" grpId="0" bldLvl="0" animBg="1" autoUpdateAnimBg="0"/>
      <p:bldP spid="7" grpId="0" bldLvl="0" animBg="1" autoUpdateAnimBg="0"/>
      <p:bldP spid="4" grpId="0" bldLvl="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142"/>
          <p:cNvSpPr txBox="1">
            <a:spLocks noChangeArrowheads="1"/>
          </p:cNvSpPr>
          <p:nvPr/>
        </p:nvSpPr>
        <p:spPr bwMode="auto">
          <a:xfrm>
            <a:off x="225863" y="111042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2.7 </a:t>
            </a:r>
            <a:r>
              <a:rPr kumimoji="0" lang="zh-CN" altLang="en-US" dirty="0">
                <a:solidFill>
                  <a:srgbClr val="000000"/>
                </a:solidFill>
                <a:latin typeface="黑体" panose="02010609060101010101" pitchFamily="49" charset="-122"/>
                <a:ea typeface="黑体" panose="02010609060101010101" pitchFamily="49" charset="-122"/>
              </a:rPr>
              <a:t>逻辑函数的</a:t>
            </a:r>
            <a:r>
              <a:rPr kumimoji="0" lang="zh-CN" altLang="en-US" dirty="0">
                <a:solidFill>
                  <a:srgbClr val="000000"/>
                </a:solidFill>
                <a:latin typeface="黑体" panose="02010609060101010101" pitchFamily="49" charset="-122"/>
                <a:ea typeface="黑体" panose="02010609060101010101" pitchFamily="49" charset="-122"/>
              </a:rPr>
              <a:t>化简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7" name="Text Box 142"/>
          <p:cNvSpPr txBox="1">
            <a:spLocks noChangeArrowheads="1"/>
          </p:cNvSpPr>
          <p:nvPr>
            <p:custDataLst>
              <p:tags r:id="rId1"/>
            </p:custDataLst>
          </p:nvPr>
        </p:nvSpPr>
        <p:spPr bwMode="auto">
          <a:xfrm>
            <a:off x="578288" y="169843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dirty="0">
                <a:solidFill>
                  <a:srgbClr val="000000"/>
                </a:solidFill>
                <a:latin typeface="黑体" panose="02010609060101010101" pitchFamily="49" charset="-122"/>
                <a:ea typeface="黑体" panose="02010609060101010101" pitchFamily="49" charset="-122"/>
              </a:rPr>
              <a:t>公式法</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4" name="Text Box 4"/>
          <p:cNvSpPr txBox="1">
            <a:spLocks noChangeArrowheads="1"/>
          </p:cNvSpPr>
          <p:nvPr/>
        </p:nvSpPr>
        <p:spPr bwMode="auto">
          <a:xfrm>
            <a:off x="1547455" y="23504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主题二</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逻辑代数</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基础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2" name="Text Box 142"/>
          <p:cNvSpPr txBox="1">
            <a:spLocks noChangeArrowheads="1"/>
          </p:cNvSpPr>
          <p:nvPr>
            <p:custDataLst>
              <p:tags r:id="rId2"/>
            </p:custDataLst>
          </p:nvPr>
        </p:nvSpPr>
        <p:spPr bwMode="auto">
          <a:xfrm>
            <a:off x="578288" y="2224850"/>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zh-CN" altLang="en-US" sz="2400" dirty="0">
                <a:solidFill>
                  <a:srgbClr val="000000"/>
                </a:solidFill>
                <a:latin typeface="黑体" panose="02010609060101010101" pitchFamily="49" charset="-122"/>
                <a:ea typeface="黑体" panose="02010609060101010101" pitchFamily="49" charset="-122"/>
              </a:rPr>
              <a:t>卡诺图</a:t>
            </a:r>
            <a:r>
              <a:rPr kumimoji="0" lang="zh-CN" altLang="en-US" sz="2400" dirty="0">
                <a:solidFill>
                  <a:srgbClr val="000000"/>
                </a:solidFill>
                <a:latin typeface="黑体" panose="02010609060101010101" pitchFamily="49" charset="-122"/>
                <a:ea typeface="黑体" panose="02010609060101010101" pitchFamily="49" charset="-122"/>
              </a:rPr>
              <a:t>法</a:t>
            </a:r>
            <a:endParaRPr kumimoji="0" lang="zh-CN" altLang="en-US" sz="2400" dirty="0">
              <a:solidFill>
                <a:srgbClr val="000000"/>
              </a:solidFill>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3"/>
          <a:srcRect t="1989"/>
          <a:stretch>
            <a:fillRect/>
          </a:stretch>
        </p:blipFill>
        <p:spPr>
          <a:xfrm>
            <a:off x="578485" y="2685415"/>
            <a:ext cx="4394835" cy="3254375"/>
          </a:xfrm>
          <a:prstGeom prst="rect">
            <a:avLst/>
          </a:prstGeom>
        </p:spPr>
      </p:pic>
      <p:pic>
        <p:nvPicPr>
          <p:cNvPr id="5" name="图片 4"/>
          <p:cNvPicPr>
            <a:picLocks noChangeAspect="1"/>
          </p:cNvPicPr>
          <p:nvPr/>
        </p:nvPicPr>
        <p:blipFill>
          <a:blip r:embed="rId4"/>
          <a:stretch>
            <a:fillRect/>
          </a:stretch>
        </p:blipFill>
        <p:spPr>
          <a:xfrm>
            <a:off x="4243705" y="2534285"/>
            <a:ext cx="4000500" cy="3404870"/>
          </a:xfrm>
          <a:prstGeom prst="rect">
            <a:avLst/>
          </a:prstGeom>
        </p:spPr>
      </p:pic>
    </p:spTree>
  </p:cSld>
  <p:clrMapOvr>
    <a:masterClrMapping/>
  </p:clrMapOvr>
  <p:timing>
    <p:tnLst>
      <p:par>
        <p:cTn id="1" dur="indefinite" restart="never" nodeType="tmRoot"/>
      </p:par>
    </p:tnLst>
    <p:bldLst>
      <p:bldP spid="14" grpId="0" bldLvl="0" animBg="1" autoUpdateAnimBg="0"/>
      <p:bldP spid="7" grpId="0" bldLvl="0" animBg="1" autoUpdateAnimBg="0"/>
      <p:bldP spid="4" grpId="0" bldLvl="0" animBg="1" autoUpdateAnimBg="0"/>
      <p:bldP spid="2" grpId="0" bldLvl="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142"/>
          <p:cNvSpPr txBox="1">
            <a:spLocks noChangeArrowheads="1"/>
          </p:cNvSpPr>
          <p:nvPr/>
        </p:nvSpPr>
        <p:spPr bwMode="auto">
          <a:xfrm>
            <a:off x="301428" y="111042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3.1 SSI</a:t>
            </a:r>
            <a:r>
              <a:rPr kumimoji="0" lang="zh-CN" altLang="en-US" dirty="0">
                <a:solidFill>
                  <a:srgbClr val="000000"/>
                </a:solidFill>
                <a:latin typeface="黑体" panose="02010609060101010101" pitchFamily="49" charset="-122"/>
                <a:ea typeface="黑体" panose="02010609060101010101" pitchFamily="49" charset="-122"/>
              </a:rPr>
              <a:t>组合逻辑电路的分析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7" name="Text Box 142"/>
          <p:cNvSpPr txBox="1">
            <a:spLocks noChangeArrowheads="1"/>
          </p:cNvSpPr>
          <p:nvPr>
            <p:custDataLst>
              <p:tags r:id="rId1"/>
            </p:custDataLst>
          </p:nvPr>
        </p:nvSpPr>
        <p:spPr bwMode="auto">
          <a:xfrm>
            <a:off x="537648" y="1760030"/>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dirty="0">
                <a:solidFill>
                  <a:srgbClr val="000000"/>
                </a:solidFill>
                <a:latin typeface="黑体" panose="02010609060101010101" pitchFamily="49" charset="-122"/>
                <a:ea typeface="黑体" panose="02010609060101010101" pitchFamily="49" charset="-122"/>
              </a:rPr>
              <a:t>分析</a:t>
            </a:r>
            <a:r>
              <a:rPr kumimoji="0" lang="zh-CN" altLang="en-US" sz="2400" dirty="0">
                <a:solidFill>
                  <a:srgbClr val="000000"/>
                </a:solidFill>
                <a:latin typeface="黑体" panose="02010609060101010101" pitchFamily="49" charset="-122"/>
                <a:ea typeface="黑体" panose="02010609060101010101" pitchFamily="49" charset="-122"/>
              </a:rPr>
              <a:t>步骤</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4" name="Text Box 4"/>
          <p:cNvSpPr txBox="1">
            <a:spLocks noChangeArrowheads="1"/>
          </p:cNvSpPr>
          <p:nvPr/>
        </p:nvSpPr>
        <p:spPr bwMode="auto">
          <a:xfrm>
            <a:off x="1547455" y="23504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63722" name="Text Box 234"/>
          <p:cNvSpPr txBox="1">
            <a:spLocks noChangeArrowheads="1"/>
          </p:cNvSpPr>
          <p:nvPr>
            <p:custDataLst>
              <p:tags r:id="rId2"/>
            </p:custDataLst>
          </p:nvPr>
        </p:nvSpPr>
        <p:spPr bwMode="auto">
          <a:xfrm>
            <a:off x="838200" y="2386330"/>
            <a:ext cx="7788910" cy="534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0" lang="en-US" altLang="zh-CN" sz="2400" b="1" baseline="0" dirty="0">
                <a:solidFill>
                  <a:schemeClr val="hlink"/>
                </a:solidFill>
                <a:ea typeface="楷体_GB2312" pitchFamily="49" charset="-122"/>
              </a:rPr>
              <a:t>(a)</a:t>
            </a:r>
            <a:r>
              <a:rPr kumimoji="0" lang="zh-CN" altLang="en-US" sz="2400" b="1" baseline="0" dirty="0">
                <a:solidFill>
                  <a:schemeClr val="hlink"/>
                </a:solidFill>
                <a:ea typeface="楷体_GB2312" pitchFamily="49" charset="-122"/>
              </a:rPr>
              <a:t>从输入端开始，逐级推导函数表达式，再变换、化简</a:t>
            </a:r>
            <a:endParaRPr kumimoji="0" lang="zh-CN" altLang="en-US" sz="2400" b="1" baseline="0" dirty="0">
              <a:solidFill>
                <a:schemeClr val="hlink"/>
              </a:solidFill>
              <a:ea typeface="楷体_GB2312" pitchFamily="49" charset="-122"/>
            </a:endParaRPr>
          </a:p>
        </p:txBody>
      </p:sp>
      <p:sp>
        <p:nvSpPr>
          <p:cNvPr id="63723" name="Text Box 235"/>
          <p:cNvSpPr txBox="1">
            <a:spLocks noChangeArrowheads="1"/>
          </p:cNvSpPr>
          <p:nvPr>
            <p:custDataLst>
              <p:tags r:id="rId3"/>
            </p:custDataLst>
          </p:nvPr>
        </p:nvSpPr>
        <p:spPr bwMode="auto">
          <a:xfrm>
            <a:off x="837941" y="3100538"/>
            <a:ext cx="28003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r>
              <a:rPr kumimoji="0" lang="en-US" altLang="zh-CN" sz="2400" b="1" baseline="0" dirty="0">
                <a:solidFill>
                  <a:schemeClr val="hlink"/>
                </a:solidFill>
                <a:ea typeface="楷体_GB2312" pitchFamily="49" charset="-122"/>
              </a:rPr>
              <a:t>(b) </a:t>
            </a:r>
            <a:r>
              <a:rPr kumimoji="0" lang="zh-CN" altLang="en-US" sz="2400" b="1" baseline="0" dirty="0">
                <a:solidFill>
                  <a:schemeClr val="hlink"/>
                </a:solidFill>
                <a:ea typeface="楷体_GB2312" pitchFamily="49" charset="-122"/>
              </a:rPr>
              <a:t>列真值表  </a:t>
            </a:r>
            <a:endParaRPr kumimoji="0" lang="zh-CN" altLang="en-US" sz="2400" b="1" baseline="0" dirty="0">
              <a:solidFill>
                <a:schemeClr val="hlink"/>
              </a:solidFill>
              <a:ea typeface="楷体_GB2312" pitchFamily="49" charset="-122"/>
            </a:endParaRPr>
          </a:p>
        </p:txBody>
      </p:sp>
      <p:sp>
        <p:nvSpPr>
          <p:cNvPr id="63726" name="Text Box 238"/>
          <p:cNvSpPr txBox="1">
            <a:spLocks noChangeArrowheads="1"/>
          </p:cNvSpPr>
          <p:nvPr>
            <p:custDataLst>
              <p:tags r:id="rId4"/>
            </p:custDataLst>
          </p:nvPr>
        </p:nvSpPr>
        <p:spPr bwMode="auto">
          <a:xfrm>
            <a:off x="4162109" y="3100538"/>
            <a:ext cx="33226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r>
              <a:rPr kumimoji="0" lang="en-US" altLang="zh-CN" sz="2400" b="1" baseline="0">
                <a:solidFill>
                  <a:schemeClr val="hlink"/>
                </a:solidFill>
                <a:ea typeface="楷体_GB2312" pitchFamily="49" charset="-122"/>
              </a:rPr>
              <a:t>(c)</a:t>
            </a:r>
            <a:r>
              <a:rPr kumimoji="0" lang="zh-CN" altLang="en-US" sz="2400" b="1" baseline="0">
                <a:solidFill>
                  <a:schemeClr val="hlink"/>
                </a:solidFill>
                <a:ea typeface="楷体_GB2312" pitchFamily="49" charset="-122"/>
              </a:rPr>
              <a:t>确定逻辑功能 </a:t>
            </a:r>
            <a:endParaRPr kumimoji="0" lang="zh-CN" altLang="en-US" sz="2400" b="1" baseline="0">
              <a:solidFill>
                <a:schemeClr val="hlink"/>
              </a:solidFill>
              <a:ea typeface="楷体_GB2312" pitchFamily="49" charset="-122"/>
            </a:endParaRPr>
          </a:p>
        </p:txBody>
      </p:sp>
      <p:grpSp>
        <p:nvGrpSpPr>
          <p:cNvPr id="7236" name="Group 68"/>
          <p:cNvGrpSpPr/>
          <p:nvPr/>
        </p:nvGrpSpPr>
        <p:grpSpPr bwMode="auto">
          <a:xfrm>
            <a:off x="1148715" y="4081780"/>
            <a:ext cx="6770688" cy="539750"/>
            <a:chOff x="598" y="3318"/>
            <a:chExt cx="4265" cy="340"/>
          </a:xfrm>
        </p:grpSpPr>
        <p:sp>
          <p:nvSpPr>
            <p:cNvPr id="7183" name="Line 9"/>
            <p:cNvSpPr>
              <a:spLocks noChangeShapeType="1"/>
            </p:cNvSpPr>
            <p:nvPr>
              <p:custDataLst>
                <p:tags r:id="rId5"/>
              </p:custDataLst>
            </p:nvPr>
          </p:nvSpPr>
          <p:spPr bwMode="auto">
            <a:xfrm>
              <a:off x="3057" y="3488"/>
              <a:ext cx="1" cy="1"/>
            </a:xfrm>
            <a:prstGeom prst="line">
              <a:avLst/>
            </a:prstGeom>
            <a:noFill/>
            <a:ln w="190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84" name="Line 10"/>
            <p:cNvSpPr>
              <a:spLocks noChangeShapeType="1"/>
            </p:cNvSpPr>
            <p:nvPr>
              <p:custDataLst>
                <p:tags r:id="rId6"/>
              </p:custDataLst>
            </p:nvPr>
          </p:nvSpPr>
          <p:spPr bwMode="auto">
            <a:xfrm>
              <a:off x="3129" y="3473"/>
              <a:ext cx="1" cy="1"/>
            </a:xfrm>
            <a:prstGeom prst="line">
              <a:avLst/>
            </a:prstGeom>
            <a:noFill/>
            <a:ln w="190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85" name="Line 12"/>
            <p:cNvSpPr>
              <a:spLocks noChangeShapeType="1"/>
            </p:cNvSpPr>
            <p:nvPr>
              <p:custDataLst>
                <p:tags r:id="rId7"/>
              </p:custDataLst>
            </p:nvPr>
          </p:nvSpPr>
          <p:spPr bwMode="auto">
            <a:xfrm>
              <a:off x="3057" y="3458"/>
              <a:ext cx="1" cy="1"/>
            </a:xfrm>
            <a:prstGeom prst="line">
              <a:avLst/>
            </a:prstGeom>
            <a:noFill/>
            <a:ln w="19050">
              <a:solidFill>
                <a:srgbClr val="0000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86" name="Rectangle 38"/>
            <p:cNvSpPr>
              <a:spLocks noChangeArrowheads="1"/>
            </p:cNvSpPr>
            <p:nvPr>
              <p:custDataLst>
                <p:tags r:id="rId8"/>
              </p:custDataLst>
            </p:nvPr>
          </p:nvSpPr>
          <p:spPr bwMode="auto">
            <a:xfrm>
              <a:off x="598" y="3318"/>
              <a:ext cx="839" cy="340"/>
            </a:xfrm>
            <a:prstGeom prst="rect">
              <a:avLst/>
            </a:prstGeom>
            <a:noFill/>
            <a:ln w="25400">
              <a:solidFill>
                <a:srgbClr val="8000FF"/>
              </a:solidFill>
              <a:miter lim="800000"/>
            </a:ln>
            <a:extLst>
              <a:ext uri="{909E8E84-426E-40DD-AFC4-6F175D3DCCD1}">
                <a14:hiddenFill xmlns:a14="http://schemas.microsoft.com/office/drawing/2010/main">
                  <a:solidFill>
                    <a:srgbClr val="FFFFFF"/>
                  </a:solidFill>
                </a14:hiddenFill>
              </a:ext>
            </a:extLst>
          </p:spPr>
          <p:txBody>
            <a:bodyPr/>
            <a:lstStyle>
              <a:lvl1pPr>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pPr algn="ctr">
                <a:buFont typeface="Arial" panose="020B0604020202020204" pitchFamily="34" charset="0"/>
                <a:buNone/>
              </a:pPr>
              <a:endParaRPr kumimoji="0" lang="zh-CN" altLang="en-US" b="1" baseline="0">
                <a:solidFill>
                  <a:srgbClr val="000000"/>
                </a:solidFill>
              </a:endParaRPr>
            </a:p>
          </p:txBody>
        </p:sp>
        <p:sp>
          <p:nvSpPr>
            <p:cNvPr id="7187" name="Rectangle 39"/>
            <p:cNvSpPr>
              <a:spLocks noChangeArrowheads="1"/>
            </p:cNvSpPr>
            <p:nvPr>
              <p:custDataLst>
                <p:tags r:id="rId9"/>
              </p:custDataLst>
            </p:nvPr>
          </p:nvSpPr>
          <p:spPr bwMode="auto">
            <a:xfrm>
              <a:off x="1731" y="3318"/>
              <a:ext cx="839" cy="340"/>
            </a:xfrm>
            <a:prstGeom prst="rect">
              <a:avLst/>
            </a:prstGeom>
            <a:noFill/>
            <a:ln w="25400">
              <a:solidFill>
                <a:srgbClr val="8000FF"/>
              </a:solidFill>
              <a:miter lim="800000"/>
            </a:ln>
            <a:extLst>
              <a:ext uri="{909E8E84-426E-40DD-AFC4-6F175D3DCCD1}">
                <a14:hiddenFill xmlns:a14="http://schemas.microsoft.com/office/drawing/2010/main">
                  <a:solidFill>
                    <a:srgbClr val="FFFFFF"/>
                  </a:solidFill>
                </a14:hiddenFill>
              </a:ext>
            </a:extLst>
          </p:spPr>
          <p:txBody>
            <a:bodyPr/>
            <a:lstStyle>
              <a:lvl1pPr>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pPr algn="ctr">
                <a:buFont typeface="Arial" panose="020B0604020202020204" pitchFamily="34" charset="0"/>
                <a:buNone/>
              </a:pPr>
              <a:endParaRPr kumimoji="0" lang="zh-CN" altLang="en-US" b="1" baseline="0">
                <a:solidFill>
                  <a:srgbClr val="000000"/>
                </a:solidFill>
              </a:endParaRPr>
            </a:p>
          </p:txBody>
        </p:sp>
        <p:sp>
          <p:nvSpPr>
            <p:cNvPr id="7188" name="Rectangle 41"/>
            <p:cNvSpPr>
              <a:spLocks noChangeArrowheads="1"/>
            </p:cNvSpPr>
            <p:nvPr>
              <p:custDataLst>
                <p:tags r:id="rId10"/>
              </p:custDataLst>
            </p:nvPr>
          </p:nvSpPr>
          <p:spPr bwMode="auto">
            <a:xfrm>
              <a:off x="2865" y="3318"/>
              <a:ext cx="839" cy="340"/>
            </a:xfrm>
            <a:prstGeom prst="rect">
              <a:avLst/>
            </a:prstGeom>
            <a:noFill/>
            <a:ln w="25400">
              <a:solidFill>
                <a:srgbClr val="8000FF"/>
              </a:solidFill>
              <a:miter lim="800000"/>
            </a:ln>
            <a:extLst>
              <a:ext uri="{909E8E84-426E-40DD-AFC4-6F175D3DCCD1}">
                <a14:hiddenFill xmlns:a14="http://schemas.microsoft.com/office/drawing/2010/main">
                  <a:solidFill>
                    <a:srgbClr val="FFFFFF"/>
                  </a:solidFill>
                </a14:hiddenFill>
              </a:ext>
            </a:extLst>
          </p:spPr>
          <p:txBody>
            <a:bodyPr/>
            <a:lstStyle>
              <a:lvl1pPr>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pPr algn="ctr">
                <a:buFont typeface="Arial" panose="020B0604020202020204" pitchFamily="34" charset="0"/>
                <a:buNone/>
              </a:pPr>
              <a:endParaRPr kumimoji="0" lang="zh-CN" altLang="en-US" b="1" baseline="0">
                <a:solidFill>
                  <a:srgbClr val="000000"/>
                </a:solidFill>
              </a:endParaRPr>
            </a:p>
          </p:txBody>
        </p:sp>
        <p:sp>
          <p:nvSpPr>
            <p:cNvPr id="7189" name="Rectangle 42"/>
            <p:cNvSpPr>
              <a:spLocks noChangeArrowheads="1"/>
            </p:cNvSpPr>
            <p:nvPr>
              <p:custDataLst>
                <p:tags r:id="rId11"/>
              </p:custDataLst>
            </p:nvPr>
          </p:nvSpPr>
          <p:spPr bwMode="auto">
            <a:xfrm>
              <a:off x="3999" y="3318"/>
              <a:ext cx="839" cy="340"/>
            </a:xfrm>
            <a:prstGeom prst="rect">
              <a:avLst/>
            </a:prstGeom>
            <a:noFill/>
            <a:ln w="25400">
              <a:solidFill>
                <a:srgbClr val="8000FF"/>
              </a:solidFill>
              <a:miter lim="800000"/>
            </a:ln>
            <a:extLst>
              <a:ext uri="{909E8E84-426E-40DD-AFC4-6F175D3DCCD1}">
                <a14:hiddenFill xmlns:a14="http://schemas.microsoft.com/office/drawing/2010/main">
                  <a:solidFill>
                    <a:srgbClr val="FFFFFF"/>
                  </a:solidFill>
                </a14:hiddenFill>
              </a:ext>
            </a:extLst>
          </p:spPr>
          <p:txBody>
            <a:bodyPr/>
            <a:lstStyle>
              <a:lvl1pPr>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pPr algn="ctr">
                <a:buFont typeface="Arial" panose="020B0604020202020204" pitchFamily="34" charset="0"/>
                <a:buNone/>
              </a:pPr>
              <a:endParaRPr kumimoji="0" lang="zh-CN" altLang="en-US" b="1" baseline="0">
                <a:solidFill>
                  <a:srgbClr val="000000"/>
                </a:solidFill>
              </a:endParaRPr>
            </a:p>
          </p:txBody>
        </p:sp>
        <p:sp>
          <p:nvSpPr>
            <p:cNvPr id="7190" name="Line 43"/>
            <p:cNvSpPr>
              <a:spLocks noChangeShapeType="1"/>
            </p:cNvSpPr>
            <p:nvPr>
              <p:custDataLst>
                <p:tags r:id="rId12"/>
              </p:custDataLst>
            </p:nvPr>
          </p:nvSpPr>
          <p:spPr bwMode="auto">
            <a:xfrm flipH="1">
              <a:off x="2583" y="3487"/>
              <a:ext cx="268" cy="1"/>
            </a:xfrm>
            <a:prstGeom prst="line">
              <a:avLst/>
            </a:prstGeom>
            <a:noFill/>
            <a:ln w="19050">
              <a:solidFill>
                <a:srgbClr val="0000FF"/>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91" name="Rectangle 47"/>
            <p:cNvSpPr>
              <a:spLocks noChangeArrowheads="1"/>
            </p:cNvSpPr>
            <p:nvPr>
              <p:custDataLst>
                <p:tags r:id="rId13"/>
              </p:custDataLst>
            </p:nvPr>
          </p:nvSpPr>
          <p:spPr bwMode="auto">
            <a:xfrm>
              <a:off x="617" y="3348"/>
              <a:ext cx="780"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spAutoFit/>
            </a:bodyPr>
            <a:lstStyle>
              <a:lvl1pPr>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pPr algn="ctr">
                <a:lnSpc>
                  <a:spcPct val="110000"/>
                </a:lnSpc>
                <a:buFont typeface="Arial" panose="020B0604020202020204" pitchFamily="34" charset="0"/>
                <a:buNone/>
              </a:pPr>
              <a:r>
                <a:rPr kumimoji="0" lang="zh-CN" altLang="en-US" sz="2400" b="1" baseline="0">
                  <a:solidFill>
                    <a:srgbClr val="000000"/>
                  </a:solidFill>
                  <a:ea typeface="楷体_GB2312" pitchFamily="49" charset="-122"/>
                </a:rPr>
                <a:t>组合电路</a:t>
              </a:r>
              <a:endParaRPr kumimoji="0" lang="zh-CN" altLang="en-US" sz="2400" b="1" baseline="0">
                <a:solidFill>
                  <a:srgbClr val="000000"/>
                </a:solidFill>
                <a:ea typeface="楷体_GB2312" pitchFamily="49" charset="-122"/>
              </a:endParaRPr>
            </a:p>
          </p:txBody>
        </p:sp>
        <p:sp>
          <p:nvSpPr>
            <p:cNvPr id="7192" name="Rectangle 49"/>
            <p:cNvSpPr>
              <a:spLocks noChangeArrowheads="1"/>
            </p:cNvSpPr>
            <p:nvPr>
              <p:custDataLst>
                <p:tags r:id="rId14"/>
              </p:custDataLst>
            </p:nvPr>
          </p:nvSpPr>
          <p:spPr bwMode="auto">
            <a:xfrm>
              <a:off x="1880" y="3354"/>
              <a:ext cx="585"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pPr algn="ctr">
                <a:lnSpc>
                  <a:spcPct val="110000"/>
                </a:lnSpc>
                <a:buFont typeface="Arial" panose="020B0604020202020204" pitchFamily="34" charset="0"/>
                <a:buNone/>
              </a:pPr>
              <a:r>
                <a:rPr kumimoji="0" lang="zh-CN" altLang="en-US" sz="2400" b="1" baseline="0">
                  <a:solidFill>
                    <a:srgbClr val="000000"/>
                  </a:solidFill>
                  <a:ea typeface="楷体_GB2312" pitchFamily="49" charset="-122"/>
                </a:rPr>
                <a:t>表达式</a:t>
              </a:r>
              <a:endParaRPr kumimoji="0" lang="zh-CN" altLang="en-US" sz="2400" b="1" baseline="0">
                <a:solidFill>
                  <a:srgbClr val="000000"/>
                </a:solidFill>
                <a:ea typeface="楷体_GB2312" pitchFamily="49" charset="-122"/>
              </a:endParaRPr>
            </a:p>
          </p:txBody>
        </p:sp>
        <p:sp>
          <p:nvSpPr>
            <p:cNvPr id="7193" name="Rectangle 51"/>
            <p:cNvSpPr>
              <a:spLocks noChangeArrowheads="1"/>
            </p:cNvSpPr>
            <p:nvPr>
              <p:custDataLst>
                <p:tags r:id="rId15"/>
              </p:custDataLst>
            </p:nvPr>
          </p:nvSpPr>
          <p:spPr bwMode="auto">
            <a:xfrm>
              <a:off x="2938" y="3320"/>
              <a:ext cx="720"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pPr algn="ctr">
                <a:lnSpc>
                  <a:spcPct val="120000"/>
                </a:lnSpc>
                <a:buFont typeface="Arial" panose="020B0604020202020204" pitchFamily="34" charset="0"/>
                <a:buNone/>
              </a:pPr>
              <a:r>
                <a:rPr kumimoji="0" lang="zh-CN" altLang="en-US" sz="2400" b="1" baseline="0">
                  <a:solidFill>
                    <a:srgbClr val="000000"/>
                  </a:solidFill>
                  <a:ea typeface="楷体_GB2312" pitchFamily="49" charset="-122"/>
                </a:rPr>
                <a:t>真值表</a:t>
              </a:r>
              <a:endParaRPr kumimoji="0" lang="zh-CN" altLang="en-US" sz="2400" b="1" baseline="0">
                <a:solidFill>
                  <a:srgbClr val="000000"/>
                </a:solidFill>
                <a:ea typeface="楷体_GB2312" pitchFamily="49" charset="-122"/>
              </a:endParaRPr>
            </a:p>
          </p:txBody>
        </p:sp>
        <p:sp>
          <p:nvSpPr>
            <p:cNvPr id="7194" name="Rectangle 52"/>
            <p:cNvSpPr>
              <a:spLocks noChangeArrowheads="1"/>
            </p:cNvSpPr>
            <p:nvPr>
              <p:custDataLst>
                <p:tags r:id="rId16"/>
              </p:custDataLst>
            </p:nvPr>
          </p:nvSpPr>
          <p:spPr bwMode="auto">
            <a:xfrm>
              <a:off x="3983" y="3366"/>
              <a:ext cx="8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pPr algn="ctr">
                <a:buFont typeface="Arial" panose="020B0604020202020204" pitchFamily="34" charset="0"/>
                <a:buNone/>
              </a:pPr>
              <a:r>
                <a:rPr kumimoji="0" lang="zh-CN" altLang="en-US" sz="2400" b="1" baseline="0">
                  <a:solidFill>
                    <a:srgbClr val="000000"/>
                  </a:solidFill>
                  <a:ea typeface="楷体_GB2312" pitchFamily="49" charset="-122"/>
                </a:rPr>
                <a:t>功能描述</a:t>
              </a:r>
              <a:endParaRPr kumimoji="0" lang="zh-CN" altLang="en-US" sz="2400" b="1" baseline="0">
                <a:solidFill>
                  <a:srgbClr val="000000"/>
                </a:solidFill>
                <a:ea typeface="楷体_GB2312" pitchFamily="49" charset="-122"/>
              </a:endParaRPr>
            </a:p>
          </p:txBody>
        </p:sp>
        <p:sp>
          <p:nvSpPr>
            <p:cNvPr id="7195" name="Line 43"/>
            <p:cNvSpPr>
              <a:spLocks noChangeShapeType="1"/>
            </p:cNvSpPr>
            <p:nvPr>
              <p:custDataLst>
                <p:tags r:id="rId17"/>
              </p:custDataLst>
            </p:nvPr>
          </p:nvSpPr>
          <p:spPr bwMode="auto">
            <a:xfrm flipH="1">
              <a:off x="1452" y="3487"/>
              <a:ext cx="268" cy="1"/>
            </a:xfrm>
            <a:prstGeom prst="line">
              <a:avLst/>
            </a:prstGeom>
            <a:noFill/>
            <a:ln w="19050">
              <a:solidFill>
                <a:srgbClr val="0000FF"/>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96" name="Line 43"/>
            <p:cNvSpPr>
              <a:spLocks noChangeShapeType="1"/>
            </p:cNvSpPr>
            <p:nvPr>
              <p:custDataLst>
                <p:tags r:id="rId18"/>
              </p:custDataLst>
            </p:nvPr>
          </p:nvSpPr>
          <p:spPr bwMode="auto">
            <a:xfrm flipH="1">
              <a:off x="3715" y="3487"/>
              <a:ext cx="268" cy="1"/>
            </a:xfrm>
            <a:prstGeom prst="line">
              <a:avLst/>
            </a:prstGeom>
            <a:noFill/>
            <a:ln w="19050">
              <a:solidFill>
                <a:srgbClr val="0000FF"/>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iming>
    <p:tnLst>
      <p:par>
        <p:cTn id="1" dur="indefinite" restart="never" nodeType="tmRoot"/>
      </p:par>
    </p:tnLst>
    <p:bldLst>
      <p:bldP spid="14" grpId="0" bldLvl="0" animBg="1" autoUpdateAnimBg="0"/>
      <p:bldP spid="7" grpId="0" bldLvl="0" animBg="1" autoUpdateAnimBg="0"/>
      <p:bldP spid="4" grpId="0" bldLvl="0" animBg="1" autoUpdateAnimBg="0"/>
      <p:bldP spid="63722" grpId="0" bldLvl="0" animBg="1" autoUpdateAnimBg="0"/>
      <p:bldP spid="63723" grpId="0" bldLvl="0" animBg="1" autoUpdateAnimBg="0"/>
      <p:bldP spid="63726" grpId="0" bldLvl="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142"/>
          <p:cNvSpPr txBox="1">
            <a:spLocks noChangeArrowheads="1"/>
          </p:cNvSpPr>
          <p:nvPr/>
        </p:nvSpPr>
        <p:spPr bwMode="auto">
          <a:xfrm>
            <a:off x="301428" y="111042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3.1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SSI</a:t>
            </a:r>
            <a:r>
              <a:rPr kumimoji="0" lang="zh-CN" altLang="en-US" dirty="0">
                <a:solidFill>
                  <a:srgbClr val="000000"/>
                </a:solidFill>
                <a:latin typeface="黑体" panose="02010609060101010101" pitchFamily="49" charset="-122"/>
                <a:ea typeface="黑体" panose="02010609060101010101" pitchFamily="49" charset="-122"/>
              </a:rPr>
              <a:t>组合逻辑电路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7" name="Text Box 142"/>
          <p:cNvSpPr txBox="1">
            <a:spLocks noChangeArrowheads="1"/>
          </p:cNvSpPr>
          <p:nvPr>
            <p:custDataLst>
              <p:tags r:id="rId1"/>
            </p:custDataLst>
          </p:nvPr>
        </p:nvSpPr>
        <p:spPr bwMode="auto">
          <a:xfrm>
            <a:off x="537648" y="1760030"/>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dirty="0">
                <a:solidFill>
                  <a:srgbClr val="000000"/>
                </a:solidFill>
                <a:latin typeface="黑体" panose="02010609060101010101" pitchFamily="49" charset="-122"/>
                <a:ea typeface="黑体" panose="02010609060101010101" pitchFamily="49" charset="-122"/>
              </a:rPr>
              <a:t>半加器</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4" name="Text Box 4"/>
          <p:cNvSpPr txBox="1">
            <a:spLocks noChangeArrowheads="1"/>
          </p:cNvSpPr>
          <p:nvPr/>
        </p:nvSpPr>
        <p:spPr bwMode="auto">
          <a:xfrm>
            <a:off x="1547455" y="23504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pic>
        <p:nvPicPr>
          <p:cNvPr id="57356" name="Picture 12"/>
          <p:cNvPicPr>
            <a:picLocks noChangeAspect="1" noChangeArrowheads="1"/>
          </p:cNvPicPr>
          <p:nvPr>
            <p:custDataLst>
              <p:tags r:id="rId2"/>
            </p:custDataLst>
          </p:nvPr>
        </p:nvPicPr>
        <p:blipFill>
          <a:blip r:embed="rId3" cstate="print">
            <a:extLst>
              <a:ext uri="{28A0092B-C50C-407E-A947-70E740481C1C}">
                <a14:useLocalDpi xmlns:a14="http://schemas.microsoft.com/office/drawing/2010/main" val="0"/>
              </a:ext>
            </a:extLst>
          </a:blip>
          <a:srcRect l="27606" t="16071" r="66669" b="77141"/>
          <a:stretch>
            <a:fillRect/>
          </a:stretch>
        </p:blipFill>
        <p:spPr bwMode="auto">
          <a:xfrm>
            <a:off x="845185" y="2596515"/>
            <a:ext cx="2914650" cy="2224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6484" name="Group 164"/>
          <p:cNvGraphicFramePr>
            <a:graphicFrameLocks noGrp="1"/>
          </p:cNvGraphicFramePr>
          <p:nvPr>
            <p:custDataLst>
              <p:tags r:id="rId4"/>
            </p:custDataLst>
          </p:nvPr>
        </p:nvGraphicFramePr>
        <p:xfrm>
          <a:off x="5231191" y="2220595"/>
          <a:ext cx="2806700" cy="3072384"/>
        </p:xfrm>
        <a:graphic>
          <a:graphicData uri="http://schemas.openxmlformats.org/drawingml/2006/table">
            <a:tbl>
              <a:tblPr/>
              <a:tblGrid>
                <a:gridCol w="1263650"/>
                <a:gridCol w="1543050"/>
              </a:tblGrid>
              <a:tr h="511969">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952500"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527175"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898650" algn="l">
                        <a:spcBef>
                          <a:spcPct val="20000"/>
                        </a:spcBef>
                        <a:defRPr kumimoji="1">
                          <a:solidFill>
                            <a:schemeClr val="tx1"/>
                          </a:solidFill>
                          <a:latin typeface="Times New Roman" panose="02020603050405020304" pitchFamily="18" charset="0"/>
                          <a:ea typeface="宋体" panose="02010600030101010101" pitchFamily="2" charset="-122"/>
                        </a:defRPr>
                      </a:lvl4pPr>
                      <a:lvl5pPr marL="2317750" algn="l">
                        <a:spcBef>
                          <a:spcPct val="20000"/>
                        </a:spcBef>
                        <a:defRPr kumimoji="1">
                          <a:solidFill>
                            <a:schemeClr val="tx1"/>
                          </a:solidFill>
                          <a:latin typeface="Times New Roman" panose="02020603050405020304" pitchFamily="18" charset="0"/>
                          <a:ea typeface="宋体" panose="02010600030101010101" pitchFamily="2" charset="-122"/>
                        </a:defRPr>
                      </a:lvl5pPr>
                      <a:lvl6pPr marL="27749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32321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6893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41465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20000"/>
                        </a:spcBef>
                        <a:spcAft>
                          <a:spcPct val="0"/>
                        </a:spcAft>
                        <a:buClrTx/>
                        <a:buSzTx/>
                        <a:buFontTx/>
                        <a:buNone/>
                      </a:pPr>
                      <a:r>
                        <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输入</a:t>
                      </a: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952500"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527175"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898650" algn="l">
                        <a:spcBef>
                          <a:spcPct val="20000"/>
                        </a:spcBef>
                        <a:defRPr kumimoji="1">
                          <a:solidFill>
                            <a:schemeClr val="tx1"/>
                          </a:solidFill>
                          <a:latin typeface="Times New Roman" panose="02020603050405020304" pitchFamily="18" charset="0"/>
                          <a:ea typeface="宋体" panose="02010600030101010101" pitchFamily="2" charset="-122"/>
                        </a:defRPr>
                      </a:lvl4pPr>
                      <a:lvl5pPr marL="2317750" algn="l">
                        <a:spcBef>
                          <a:spcPct val="20000"/>
                        </a:spcBef>
                        <a:defRPr kumimoji="1">
                          <a:solidFill>
                            <a:schemeClr val="tx1"/>
                          </a:solidFill>
                          <a:latin typeface="Times New Roman" panose="02020603050405020304" pitchFamily="18" charset="0"/>
                          <a:ea typeface="宋体" panose="02010600030101010101" pitchFamily="2" charset="-122"/>
                        </a:defRPr>
                      </a:lvl5pPr>
                      <a:lvl6pPr marL="27749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32321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6893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41465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20000"/>
                        </a:spcBef>
                        <a:spcAft>
                          <a:spcPct val="0"/>
                        </a:spcAft>
                        <a:buClrTx/>
                        <a:buSzTx/>
                        <a:buFontTx/>
                        <a:buNone/>
                      </a:pPr>
                      <a:r>
                        <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输出</a:t>
                      </a: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1969">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952500"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527175"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898650" algn="l">
                        <a:spcBef>
                          <a:spcPct val="20000"/>
                        </a:spcBef>
                        <a:defRPr kumimoji="1">
                          <a:solidFill>
                            <a:schemeClr val="tx1"/>
                          </a:solidFill>
                          <a:latin typeface="Times New Roman" panose="02020603050405020304" pitchFamily="18" charset="0"/>
                          <a:ea typeface="宋体" panose="02010600030101010101" pitchFamily="2" charset="-122"/>
                        </a:defRPr>
                      </a:lvl4pPr>
                      <a:lvl5pPr marL="2317750" algn="l">
                        <a:spcBef>
                          <a:spcPct val="20000"/>
                        </a:spcBef>
                        <a:defRPr kumimoji="1">
                          <a:solidFill>
                            <a:schemeClr val="tx1"/>
                          </a:solidFill>
                          <a:latin typeface="Times New Roman" panose="02020603050405020304" pitchFamily="18" charset="0"/>
                          <a:ea typeface="宋体" panose="02010600030101010101" pitchFamily="2" charset="-122"/>
                        </a:defRPr>
                      </a:lvl5pPr>
                      <a:lvl6pPr marL="27749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32321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6893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41465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2000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A     B</a:t>
                      </a:r>
                      <a:endPar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952500"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527175"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898650" algn="l">
                        <a:spcBef>
                          <a:spcPct val="20000"/>
                        </a:spcBef>
                        <a:defRPr kumimoji="1">
                          <a:solidFill>
                            <a:schemeClr val="tx1"/>
                          </a:solidFill>
                          <a:latin typeface="Times New Roman" panose="02020603050405020304" pitchFamily="18" charset="0"/>
                          <a:ea typeface="宋体" panose="02010600030101010101" pitchFamily="2" charset="-122"/>
                        </a:defRPr>
                      </a:lvl4pPr>
                      <a:lvl5pPr marL="2317750" algn="l">
                        <a:spcBef>
                          <a:spcPct val="20000"/>
                        </a:spcBef>
                        <a:defRPr kumimoji="1">
                          <a:solidFill>
                            <a:schemeClr val="tx1"/>
                          </a:solidFill>
                          <a:latin typeface="Times New Roman" panose="02020603050405020304" pitchFamily="18" charset="0"/>
                          <a:ea typeface="宋体" panose="02010600030101010101" pitchFamily="2" charset="-122"/>
                        </a:defRPr>
                      </a:lvl5pPr>
                      <a:lvl6pPr marL="27749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32321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6893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41465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20000"/>
                        </a:spcBef>
                        <a:spcAft>
                          <a:spcPct val="0"/>
                        </a:spcAft>
                        <a:buClrTx/>
                        <a:buSzTx/>
                        <a:buFontTx/>
                        <a:buNone/>
                      </a:pPr>
                      <a:r>
                        <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C     S</a:t>
                      </a:r>
                      <a:endParaRPr kumimoji="1"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1969">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952500"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527175"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898650" algn="l">
                        <a:spcBef>
                          <a:spcPct val="20000"/>
                        </a:spcBef>
                        <a:defRPr kumimoji="1">
                          <a:solidFill>
                            <a:schemeClr val="tx1"/>
                          </a:solidFill>
                          <a:latin typeface="Times New Roman" panose="02020603050405020304" pitchFamily="18" charset="0"/>
                          <a:ea typeface="宋体" panose="02010600030101010101" pitchFamily="2" charset="-122"/>
                        </a:defRPr>
                      </a:lvl4pPr>
                      <a:lvl5pPr marL="2317750" algn="l">
                        <a:spcBef>
                          <a:spcPct val="20000"/>
                        </a:spcBef>
                        <a:defRPr kumimoji="1">
                          <a:solidFill>
                            <a:schemeClr val="tx1"/>
                          </a:solidFill>
                          <a:latin typeface="Times New Roman" panose="02020603050405020304" pitchFamily="18" charset="0"/>
                          <a:ea typeface="宋体" panose="02010600030101010101" pitchFamily="2" charset="-122"/>
                        </a:defRPr>
                      </a:lvl5pPr>
                      <a:lvl6pPr marL="27749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32321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6893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41465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20000"/>
                        </a:spcBef>
                        <a:spcAft>
                          <a:spcPct val="0"/>
                        </a:spcAft>
                        <a:buClrTx/>
                        <a:buSzTx/>
                        <a:buFontTx/>
                        <a:buNone/>
                      </a:pPr>
                      <a:r>
                        <a:rPr kumimoji="1" lang="en-US" altLang="zh-CN" sz="28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0       0</a:t>
                      </a:r>
                      <a:endParaRPr kumimoji="1" lang="en-US" altLang="zh-CN" sz="28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L="19050" marR="1905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952500"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527175"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898650" algn="l">
                        <a:spcBef>
                          <a:spcPct val="20000"/>
                        </a:spcBef>
                        <a:defRPr kumimoji="1">
                          <a:solidFill>
                            <a:schemeClr val="tx1"/>
                          </a:solidFill>
                          <a:latin typeface="Times New Roman" panose="02020603050405020304" pitchFamily="18" charset="0"/>
                          <a:ea typeface="宋体" panose="02010600030101010101" pitchFamily="2" charset="-122"/>
                        </a:defRPr>
                      </a:lvl4pPr>
                      <a:lvl5pPr marL="2317750" algn="l">
                        <a:spcBef>
                          <a:spcPct val="20000"/>
                        </a:spcBef>
                        <a:defRPr kumimoji="1">
                          <a:solidFill>
                            <a:schemeClr val="tx1"/>
                          </a:solidFill>
                          <a:latin typeface="Times New Roman" panose="02020603050405020304" pitchFamily="18" charset="0"/>
                          <a:ea typeface="宋体" panose="02010600030101010101" pitchFamily="2" charset="-122"/>
                        </a:defRPr>
                      </a:lvl5pPr>
                      <a:lvl6pPr marL="27749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32321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6893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41465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0     0</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1969">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952500"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527175"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898650" algn="l">
                        <a:spcBef>
                          <a:spcPct val="20000"/>
                        </a:spcBef>
                        <a:defRPr kumimoji="1">
                          <a:solidFill>
                            <a:schemeClr val="tx1"/>
                          </a:solidFill>
                          <a:latin typeface="Times New Roman" panose="02020603050405020304" pitchFamily="18" charset="0"/>
                          <a:ea typeface="宋体" panose="02010600030101010101" pitchFamily="2" charset="-122"/>
                        </a:defRPr>
                      </a:lvl4pPr>
                      <a:lvl5pPr marL="2317750" algn="l">
                        <a:spcBef>
                          <a:spcPct val="20000"/>
                        </a:spcBef>
                        <a:defRPr kumimoji="1">
                          <a:solidFill>
                            <a:schemeClr val="tx1"/>
                          </a:solidFill>
                          <a:latin typeface="Times New Roman" panose="02020603050405020304" pitchFamily="18" charset="0"/>
                          <a:ea typeface="宋体" panose="02010600030101010101" pitchFamily="2" charset="-122"/>
                        </a:defRPr>
                      </a:lvl5pPr>
                      <a:lvl6pPr marL="27749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32321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6893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41465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20000"/>
                        </a:spcBef>
                        <a:spcAft>
                          <a:spcPct val="0"/>
                        </a:spcAft>
                        <a:buClrTx/>
                        <a:buSzTx/>
                        <a:buFontTx/>
                        <a:buNone/>
                      </a:pPr>
                      <a:r>
                        <a:rPr kumimoji="1" lang="en-US" altLang="zh-CN" sz="28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0       1</a:t>
                      </a:r>
                      <a:endParaRPr kumimoji="1" lang="en-US" altLang="zh-CN" sz="28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L="19050" marR="1905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952500"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527175"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898650" algn="l">
                        <a:spcBef>
                          <a:spcPct val="20000"/>
                        </a:spcBef>
                        <a:defRPr kumimoji="1">
                          <a:solidFill>
                            <a:schemeClr val="tx1"/>
                          </a:solidFill>
                          <a:latin typeface="Times New Roman" panose="02020603050405020304" pitchFamily="18" charset="0"/>
                          <a:ea typeface="宋体" panose="02010600030101010101" pitchFamily="2" charset="-122"/>
                        </a:defRPr>
                      </a:lvl4pPr>
                      <a:lvl5pPr marL="2317750" algn="l">
                        <a:spcBef>
                          <a:spcPct val="20000"/>
                        </a:spcBef>
                        <a:defRPr kumimoji="1">
                          <a:solidFill>
                            <a:schemeClr val="tx1"/>
                          </a:solidFill>
                          <a:latin typeface="Times New Roman" panose="02020603050405020304" pitchFamily="18" charset="0"/>
                          <a:ea typeface="宋体" panose="02010600030101010101" pitchFamily="2" charset="-122"/>
                        </a:defRPr>
                      </a:lvl5pPr>
                      <a:lvl6pPr marL="27749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32321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6893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41465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0     1</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1969">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952500"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527175"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898650" algn="l">
                        <a:spcBef>
                          <a:spcPct val="20000"/>
                        </a:spcBef>
                        <a:defRPr kumimoji="1">
                          <a:solidFill>
                            <a:schemeClr val="tx1"/>
                          </a:solidFill>
                          <a:latin typeface="Times New Roman" panose="02020603050405020304" pitchFamily="18" charset="0"/>
                          <a:ea typeface="宋体" panose="02010600030101010101" pitchFamily="2" charset="-122"/>
                        </a:defRPr>
                      </a:lvl4pPr>
                      <a:lvl5pPr marL="2317750" algn="l">
                        <a:spcBef>
                          <a:spcPct val="20000"/>
                        </a:spcBef>
                        <a:defRPr kumimoji="1">
                          <a:solidFill>
                            <a:schemeClr val="tx1"/>
                          </a:solidFill>
                          <a:latin typeface="Times New Roman" panose="02020603050405020304" pitchFamily="18" charset="0"/>
                          <a:ea typeface="宋体" panose="02010600030101010101" pitchFamily="2" charset="-122"/>
                        </a:defRPr>
                      </a:lvl5pPr>
                      <a:lvl6pPr marL="27749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32321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6893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41465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20000"/>
                        </a:spcBef>
                        <a:spcAft>
                          <a:spcPct val="0"/>
                        </a:spcAft>
                        <a:buClrTx/>
                        <a:buSzTx/>
                        <a:buFontTx/>
                        <a:buNone/>
                      </a:pPr>
                      <a:r>
                        <a:rPr kumimoji="1" lang="en-US" altLang="zh-CN" sz="28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1       0</a:t>
                      </a:r>
                      <a:endParaRPr kumimoji="1" lang="en-US" altLang="zh-CN" sz="28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L="19050" marR="1905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952500"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527175"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898650" algn="l">
                        <a:spcBef>
                          <a:spcPct val="20000"/>
                        </a:spcBef>
                        <a:defRPr kumimoji="1">
                          <a:solidFill>
                            <a:schemeClr val="tx1"/>
                          </a:solidFill>
                          <a:latin typeface="Times New Roman" panose="02020603050405020304" pitchFamily="18" charset="0"/>
                          <a:ea typeface="宋体" panose="02010600030101010101" pitchFamily="2" charset="-122"/>
                        </a:defRPr>
                      </a:lvl4pPr>
                      <a:lvl5pPr marL="2317750" algn="l">
                        <a:spcBef>
                          <a:spcPct val="20000"/>
                        </a:spcBef>
                        <a:defRPr kumimoji="1">
                          <a:solidFill>
                            <a:schemeClr val="tx1"/>
                          </a:solidFill>
                          <a:latin typeface="Times New Roman" panose="02020603050405020304" pitchFamily="18" charset="0"/>
                          <a:ea typeface="宋体" panose="02010600030101010101" pitchFamily="2" charset="-122"/>
                        </a:defRPr>
                      </a:lvl5pPr>
                      <a:lvl6pPr marL="27749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32321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6893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41465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0     1</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1969">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952500"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527175"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898650" algn="l">
                        <a:spcBef>
                          <a:spcPct val="20000"/>
                        </a:spcBef>
                        <a:defRPr kumimoji="1">
                          <a:solidFill>
                            <a:schemeClr val="tx1"/>
                          </a:solidFill>
                          <a:latin typeface="Times New Roman" panose="02020603050405020304" pitchFamily="18" charset="0"/>
                          <a:ea typeface="宋体" panose="02010600030101010101" pitchFamily="2" charset="-122"/>
                        </a:defRPr>
                      </a:lvl4pPr>
                      <a:lvl5pPr marL="2317750" algn="l">
                        <a:spcBef>
                          <a:spcPct val="20000"/>
                        </a:spcBef>
                        <a:defRPr kumimoji="1">
                          <a:solidFill>
                            <a:schemeClr val="tx1"/>
                          </a:solidFill>
                          <a:latin typeface="Times New Roman" panose="02020603050405020304" pitchFamily="18" charset="0"/>
                          <a:ea typeface="宋体" panose="02010600030101010101" pitchFamily="2" charset="-122"/>
                        </a:defRPr>
                      </a:lvl5pPr>
                      <a:lvl6pPr marL="27749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32321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6893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41465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20000"/>
                        </a:spcBef>
                        <a:spcAft>
                          <a:spcPct val="0"/>
                        </a:spcAft>
                        <a:buClrTx/>
                        <a:buSzTx/>
                        <a:buFontTx/>
                        <a:buNone/>
                      </a:pPr>
                      <a:r>
                        <a:rPr kumimoji="1" lang="en-US" altLang="zh-CN" sz="28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1       1</a:t>
                      </a:r>
                      <a:endParaRPr kumimoji="1" lang="en-US" altLang="zh-CN" sz="28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endParaRPr>
                    </a:p>
                  </a:txBody>
                  <a:tcPr marL="19050" marR="1905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952500"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527175"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898650" algn="l">
                        <a:spcBef>
                          <a:spcPct val="20000"/>
                        </a:spcBef>
                        <a:defRPr kumimoji="1">
                          <a:solidFill>
                            <a:schemeClr val="tx1"/>
                          </a:solidFill>
                          <a:latin typeface="Times New Roman" panose="02020603050405020304" pitchFamily="18" charset="0"/>
                          <a:ea typeface="宋体" panose="02010600030101010101" pitchFamily="2" charset="-122"/>
                        </a:defRPr>
                      </a:lvl4pPr>
                      <a:lvl5pPr marL="2317750" algn="l">
                        <a:spcBef>
                          <a:spcPct val="20000"/>
                        </a:spcBef>
                        <a:defRPr kumimoji="1">
                          <a:solidFill>
                            <a:schemeClr val="tx1"/>
                          </a:solidFill>
                          <a:latin typeface="Times New Roman" panose="02020603050405020304" pitchFamily="18" charset="0"/>
                          <a:ea typeface="宋体" panose="02010600030101010101" pitchFamily="2" charset="-122"/>
                        </a:defRPr>
                      </a:lvl5pPr>
                      <a:lvl6pPr marL="27749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32321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6893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4146550"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0000"/>
                        </a:lnSpc>
                        <a:spcBef>
                          <a:spcPct val="20000"/>
                        </a:spcBef>
                        <a:spcAft>
                          <a:spcPct val="0"/>
                        </a:spcAft>
                        <a:buClrTx/>
                        <a:buSzTx/>
                        <a:buFontTx/>
                        <a:buNone/>
                      </a:pPr>
                      <a:r>
                        <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a:t>
                      </a:r>
                      <a:endParaRPr kumimoji="1"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bldLst>
      <p:bldP spid="14" grpId="0" bldLvl="0" animBg="1" autoUpdateAnimBg="0"/>
      <p:bldP spid="7" grpId="0" bldLvl="0" animBg="1" autoUpdateAnimBg="0"/>
      <p:bldP spid="4" grpId="0" bldLvl="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142"/>
          <p:cNvSpPr txBox="1">
            <a:spLocks noChangeArrowheads="1"/>
          </p:cNvSpPr>
          <p:nvPr/>
        </p:nvSpPr>
        <p:spPr bwMode="auto">
          <a:xfrm>
            <a:off x="301428" y="111042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3.1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SSI</a:t>
            </a:r>
            <a:r>
              <a:rPr kumimoji="0" lang="zh-CN" altLang="en-US" dirty="0">
                <a:solidFill>
                  <a:srgbClr val="000000"/>
                </a:solidFill>
                <a:latin typeface="黑体" panose="02010609060101010101" pitchFamily="49" charset="-122"/>
                <a:ea typeface="黑体" panose="02010609060101010101" pitchFamily="49" charset="-122"/>
              </a:rPr>
              <a:t>组合逻辑电路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7" name="Text Box 142"/>
          <p:cNvSpPr txBox="1">
            <a:spLocks noChangeArrowheads="1"/>
          </p:cNvSpPr>
          <p:nvPr>
            <p:custDataLst>
              <p:tags r:id="rId1"/>
            </p:custDataLst>
          </p:nvPr>
        </p:nvSpPr>
        <p:spPr bwMode="auto">
          <a:xfrm>
            <a:off x="537648" y="1760030"/>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zh-CN" altLang="en-US" sz="2400" dirty="0">
                <a:solidFill>
                  <a:srgbClr val="000000"/>
                </a:solidFill>
                <a:latin typeface="黑体" panose="02010609060101010101" pitchFamily="49" charset="-122"/>
                <a:ea typeface="黑体" panose="02010609060101010101" pitchFamily="49" charset="-122"/>
              </a:rPr>
              <a:t>全加器</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4" name="Text Box 4"/>
          <p:cNvSpPr txBox="1">
            <a:spLocks noChangeArrowheads="1"/>
          </p:cNvSpPr>
          <p:nvPr/>
        </p:nvSpPr>
        <p:spPr bwMode="auto">
          <a:xfrm>
            <a:off x="1547455" y="23504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pic>
        <p:nvPicPr>
          <p:cNvPr id="18441" name="Picture 2" descr="33"/>
          <p:cNvPicPr>
            <a:picLocks noChangeAspect="1" noChangeArrowheads="1"/>
          </p:cNvPicPr>
          <p:nvPr>
            <p:custDataLst>
              <p:tags r:id="rId2"/>
            </p:custDataLst>
          </p:nvPr>
        </p:nvPicPr>
        <p:blipFill>
          <a:blip r:embed="rId3" cstate="print">
            <a:extLst>
              <a:ext uri="{28A0092B-C50C-407E-A947-70E740481C1C}">
                <a14:useLocalDpi xmlns:a14="http://schemas.microsoft.com/office/drawing/2010/main" val="0"/>
              </a:ext>
            </a:extLst>
          </a:blip>
          <a:srcRect/>
          <a:stretch>
            <a:fillRect/>
          </a:stretch>
        </p:blipFill>
        <p:spPr bwMode="auto">
          <a:xfrm>
            <a:off x="846138" y="2441894"/>
            <a:ext cx="6940550" cy="339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bldLst>
      <p:bldP spid="14" grpId="0" bldLvl="0" animBg="1" autoUpdateAnimBg="0"/>
      <p:bldP spid="7" grpId="0" bldLvl="0" animBg="1" autoUpdateAnimBg="0"/>
      <p:bldP spid="4" grpId="0" bldLvl="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142"/>
          <p:cNvSpPr txBox="1">
            <a:spLocks noChangeArrowheads="1"/>
          </p:cNvSpPr>
          <p:nvPr/>
        </p:nvSpPr>
        <p:spPr bwMode="auto">
          <a:xfrm>
            <a:off x="301428" y="111042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3.1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SSI</a:t>
            </a:r>
            <a:r>
              <a:rPr kumimoji="0" lang="zh-CN" altLang="en-US" dirty="0">
                <a:solidFill>
                  <a:srgbClr val="000000"/>
                </a:solidFill>
                <a:latin typeface="黑体" panose="02010609060101010101" pitchFamily="49" charset="-122"/>
                <a:ea typeface="黑体" panose="02010609060101010101" pitchFamily="49" charset="-122"/>
              </a:rPr>
              <a:t>组合逻辑电路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7" name="Text Box 142"/>
          <p:cNvSpPr txBox="1">
            <a:spLocks noChangeArrowheads="1"/>
          </p:cNvSpPr>
          <p:nvPr>
            <p:custDataLst>
              <p:tags r:id="rId1"/>
            </p:custDataLst>
          </p:nvPr>
        </p:nvSpPr>
        <p:spPr bwMode="auto">
          <a:xfrm>
            <a:off x="537648" y="1760030"/>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(3)1</a:t>
            </a:r>
            <a:r>
              <a:rPr kumimoji="0" lang="zh-CN" altLang="en-US" sz="2400" dirty="0">
                <a:solidFill>
                  <a:srgbClr val="000000"/>
                </a:solidFill>
                <a:latin typeface="黑体" panose="02010609060101010101" pitchFamily="49" charset="-122"/>
                <a:ea typeface="黑体" panose="02010609060101010101" pitchFamily="49" charset="-122"/>
              </a:rPr>
              <a:t>位</a:t>
            </a:r>
            <a:r>
              <a:rPr kumimoji="0" lang="zh-CN" altLang="en-US" sz="2400" dirty="0">
                <a:solidFill>
                  <a:srgbClr val="000000"/>
                </a:solidFill>
                <a:latin typeface="黑体" panose="02010609060101010101" pitchFamily="49" charset="-122"/>
                <a:ea typeface="黑体" panose="02010609060101010101" pitchFamily="49" charset="-122"/>
              </a:rPr>
              <a:t>比较器</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4" name="Text Box 4"/>
          <p:cNvSpPr txBox="1">
            <a:spLocks noChangeArrowheads="1"/>
          </p:cNvSpPr>
          <p:nvPr/>
        </p:nvSpPr>
        <p:spPr bwMode="auto">
          <a:xfrm>
            <a:off x="1547455" y="23504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pic>
        <p:nvPicPr>
          <p:cNvPr id="21513" name="Picture 2" descr="333"/>
          <p:cNvPicPr>
            <a:picLocks noChangeAspect="1" noChangeArrowheads="1"/>
          </p:cNvPicPr>
          <p:nvPr>
            <p:custDataLst>
              <p:tags r:id="rId2"/>
            </p:custDataLst>
          </p:nvPr>
        </p:nvPicPr>
        <p:blipFill>
          <a:blip r:embed="rId3" cstate="print">
            <a:extLst>
              <a:ext uri="{28A0092B-C50C-407E-A947-70E740481C1C}">
                <a14:useLocalDpi xmlns:a14="http://schemas.microsoft.com/office/drawing/2010/main" val="0"/>
              </a:ext>
            </a:extLst>
          </a:blip>
          <a:srcRect/>
          <a:stretch>
            <a:fillRect/>
          </a:stretch>
        </p:blipFill>
        <p:spPr bwMode="auto">
          <a:xfrm>
            <a:off x="708660" y="2704465"/>
            <a:ext cx="3566795" cy="2461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1793" name="Group 113"/>
          <p:cNvGraphicFramePr>
            <a:graphicFrameLocks noGrp="1"/>
          </p:cNvGraphicFramePr>
          <p:nvPr>
            <p:custDataLst>
              <p:tags r:id="rId4"/>
            </p:custDataLst>
          </p:nvPr>
        </p:nvGraphicFramePr>
        <p:xfrm>
          <a:off x="4944428" y="2220279"/>
          <a:ext cx="3598862" cy="3310256"/>
        </p:xfrm>
        <a:graphic>
          <a:graphicData uri="http://schemas.openxmlformats.org/drawingml/2006/table">
            <a:tbl>
              <a:tblPr/>
              <a:tblGrid>
                <a:gridCol w="928687"/>
                <a:gridCol w="2670175"/>
              </a:tblGrid>
              <a:tr h="551180">
                <a:tc>
                  <a:txBody>
                    <a:bodyPr/>
                    <a:lstStyle>
                      <a:lvl1pPr>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输  入</a:t>
                      </a: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50" marB="1905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输            出</a:t>
                      </a:r>
                      <a:endParaRPr kumimoji="0"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50" marB="1905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609599">
                <a:tc>
                  <a:txBody>
                    <a:bodyPr/>
                    <a:lstStyle>
                      <a:lvl1pPr>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A   B</a:t>
                      </a: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50" marB="1905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r>
                        <a:rPr kumimoji="0" lang="en-US" altLang="zh-CN" sz="2800" b="0" i="1"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A</a:t>
                      </a:r>
                      <a:r>
                        <a:rPr kumimoji="0" lang="en-US" altLang="zh-CN" sz="2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&lt;</a:t>
                      </a:r>
                      <a:r>
                        <a:rPr kumimoji="0" lang="en-US" altLang="zh-CN" sz="2800" b="0" i="1"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B</a:t>
                      </a: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r>
                        <a:rPr kumimoji="0" lang="en-US" altLang="zh-CN" sz="2800" b="0" i="1"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A</a:t>
                      </a:r>
                      <a:r>
                        <a:rPr kumimoji="0" lang="en-US" altLang="zh-CN" sz="2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a:t>
                      </a:r>
                      <a:r>
                        <a:rPr kumimoji="0" lang="en-US" altLang="zh-CN" sz="2800" b="0" i="1"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B</a:t>
                      </a: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r>
                        <a:rPr kumimoji="0" lang="en-US" altLang="zh-CN" sz="2800" b="0" i="1"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A</a:t>
                      </a:r>
                      <a:r>
                        <a:rPr kumimoji="0" lang="en-US" altLang="zh-CN" sz="28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&gt;</a:t>
                      </a:r>
                      <a:r>
                        <a:rPr kumimoji="0" lang="en-US" altLang="zh-CN" sz="2800" b="0" i="1"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B</a:t>
                      </a:r>
                      <a:endParaRPr kumimoji="0" lang="en-US" altLang="zh-CN" sz="28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50" marB="1905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96888">
                <a:tc>
                  <a:txBody>
                    <a:bodyPr/>
                    <a:lstStyle>
                      <a:lvl1pPr>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0   0</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50" marB="1905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0        1        0</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50" marB="1905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550863">
                <a:tc>
                  <a:txBody>
                    <a:bodyPr/>
                    <a:lstStyle>
                      <a:lvl1pPr>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50" marB="1905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1        0        0 </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50" marB="1905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550863">
                <a:tc>
                  <a:txBody>
                    <a:bodyPr/>
                    <a:lstStyle>
                      <a:lvl1pPr>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50" marB="1905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0        0        1 </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50" marB="1905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550863">
                <a:tc>
                  <a:txBody>
                    <a:bodyPr/>
                    <a:lstStyle>
                      <a:lvl1pPr>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1   1</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50" marB="1905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marL="742950" indent="-285750">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0        1        0</a:t>
                      </a:r>
                      <a:endParaRPr kumimoji="0" lang="en-US" altLang="zh-CN"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50" marB="19050" anchor="ctr" anchorCtr="1"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bldLst>
      <p:bldP spid="14" grpId="0" bldLvl="0" animBg="1" autoUpdateAnimBg="0"/>
      <p:bldP spid="7" grpId="0" bldLvl="0" animBg="1" autoUpdateAnimBg="0"/>
      <p:bldP spid="4" grpId="0" bldLvl="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142"/>
          <p:cNvSpPr txBox="1">
            <a:spLocks noChangeArrowheads="1"/>
          </p:cNvSpPr>
          <p:nvPr/>
        </p:nvSpPr>
        <p:spPr bwMode="auto">
          <a:xfrm>
            <a:off x="301428" y="142157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3.2 SSI</a:t>
            </a:r>
            <a:r>
              <a:rPr kumimoji="0" lang="zh-CN" altLang="en-US" dirty="0">
                <a:solidFill>
                  <a:srgbClr val="000000"/>
                </a:solidFill>
                <a:latin typeface="黑体" panose="02010609060101010101" pitchFamily="49" charset="-122"/>
                <a:ea typeface="黑体" panose="02010609060101010101" pitchFamily="49" charset="-122"/>
              </a:rPr>
              <a:t>组合逻辑电路的</a:t>
            </a:r>
            <a:r>
              <a:rPr kumimoji="0" lang="zh-CN" altLang="en-US" dirty="0">
                <a:solidFill>
                  <a:srgbClr val="000000"/>
                </a:solidFill>
                <a:latin typeface="黑体" panose="02010609060101010101" pitchFamily="49" charset="-122"/>
                <a:ea typeface="黑体" panose="02010609060101010101" pitchFamily="49" charset="-122"/>
              </a:rPr>
              <a:t>设计</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7" name="Text Box 142"/>
          <p:cNvSpPr txBox="1">
            <a:spLocks noChangeArrowheads="1"/>
          </p:cNvSpPr>
          <p:nvPr>
            <p:custDataLst>
              <p:tags r:id="rId1"/>
            </p:custDataLst>
          </p:nvPr>
        </p:nvSpPr>
        <p:spPr bwMode="auto">
          <a:xfrm>
            <a:off x="462083" y="219500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(1)</a:t>
            </a:r>
            <a:r>
              <a:rPr kumimoji="0" lang="zh-CN" altLang="en-US" dirty="0">
                <a:solidFill>
                  <a:srgbClr val="000000"/>
                </a:solidFill>
                <a:latin typeface="黑体" panose="02010609060101010101" pitchFamily="49" charset="-122"/>
                <a:ea typeface="黑体" panose="02010609060101010101" pitchFamily="49" charset="-122"/>
              </a:rPr>
              <a:t>设计步骤</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4" name="Text Box 4"/>
          <p:cNvSpPr txBox="1">
            <a:spLocks noChangeArrowheads="1"/>
          </p:cNvSpPr>
          <p:nvPr/>
        </p:nvSpPr>
        <p:spPr bwMode="auto">
          <a:xfrm>
            <a:off x="1546820" y="52524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62558" name="Text Box 94"/>
          <p:cNvSpPr txBox="1">
            <a:spLocks noChangeArrowheads="1"/>
          </p:cNvSpPr>
          <p:nvPr>
            <p:custDataLst>
              <p:tags r:id="rId2"/>
            </p:custDataLst>
          </p:nvPr>
        </p:nvSpPr>
        <p:spPr bwMode="auto">
          <a:xfrm>
            <a:off x="896938" y="2811630"/>
            <a:ext cx="767715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r>
              <a:rPr kumimoji="0" lang="en-US" altLang="zh-CN" b="1" baseline="0">
                <a:solidFill>
                  <a:schemeClr val="hlink"/>
                </a:solidFill>
              </a:rPr>
              <a:t>(</a:t>
            </a:r>
            <a:r>
              <a:rPr kumimoji="0" lang="en-US" altLang="zh-CN" b="1" baseline="0">
                <a:solidFill>
                  <a:schemeClr val="hlink"/>
                </a:solidFill>
              </a:rPr>
              <a:t>a)</a:t>
            </a:r>
            <a:r>
              <a:rPr kumimoji="0" lang="zh-CN" altLang="en-US" b="1" baseline="0">
                <a:solidFill>
                  <a:schemeClr val="hlink"/>
                </a:solidFill>
              </a:rPr>
              <a:t>列真值表；</a:t>
            </a:r>
            <a:endParaRPr kumimoji="0" lang="zh-CN" altLang="en-US" b="1" baseline="0">
              <a:solidFill>
                <a:schemeClr val="hlink"/>
              </a:solidFill>
            </a:endParaRPr>
          </a:p>
        </p:txBody>
      </p:sp>
      <p:sp>
        <p:nvSpPr>
          <p:cNvPr id="62559" name="Text Box 95"/>
          <p:cNvSpPr txBox="1">
            <a:spLocks noChangeArrowheads="1"/>
          </p:cNvSpPr>
          <p:nvPr>
            <p:custDataLst>
              <p:tags r:id="rId3"/>
            </p:custDataLst>
          </p:nvPr>
        </p:nvSpPr>
        <p:spPr bwMode="auto">
          <a:xfrm>
            <a:off x="900113" y="3506866"/>
            <a:ext cx="3732212"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r>
              <a:rPr kumimoji="0" lang="en-US" altLang="zh-CN" b="1" baseline="0">
                <a:solidFill>
                  <a:schemeClr val="hlink"/>
                </a:solidFill>
              </a:rPr>
              <a:t>(b)</a:t>
            </a:r>
            <a:r>
              <a:rPr kumimoji="0" lang="zh-CN" altLang="en-US" b="1" baseline="0">
                <a:solidFill>
                  <a:schemeClr val="hlink"/>
                </a:solidFill>
              </a:rPr>
              <a:t>写最简表达式； </a:t>
            </a:r>
            <a:endParaRPr kumimoji="0" lang="zh-CN" altLang="en-US" b="1" baseline="0">
              <a:solidFill>
                <a:schemeClr val="hlink"/>
              </a:solidFill>
            </a:endParaRPr>
          </a:p>
        </p:txBody>
      </p:sp>
      <p:sp>
        <p:nvSpPr>
          <p:cNvPr id="62584" name="Text Box 120"/>
          <p:cNvSpPr txBox="1">
            <a:spLocks noChangeArrowheads="1"/>
          </p:cNvSpPr>
          <p:nvPr>
            <p:custDataLst>
              <p:tags r:id="rId4"/>
            </p:custDataLst>
          </p:nvPr>
        </p:nvSpPr>
        <p:spPr bwMode="auto">
          <a:xfrm>
            <a:off x="881063" y="4202102"/>
            <a:ext cx="4622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r>
              <a:rPr kumimoji="0" lang="en-US" altLang="zh-CN" b="1" baseline="0">
                <a:solidFill>
                  <a:schemeClr val="hlink"/>
                </a:solidFill>
              </a:rPr>
              <a:t>(c)</a:t>
            </a:r>
            <a:r>
              <a:rPr kumimoji="0" lang="zh-CN" altLang="en-US" b="1" baseline="0">
                <a:solidFill>
                  <a:schemeClr val="hlink"/>
                </a:solidFill>
              </a:rPr>
              <a:t>画逻辑电路</a:t>
            </a:r>
            <a:endParaRPr kumimoji="0" lang="zh-CN" altLang="en-US" b="1" baseline="0">
              <a:solidFill>
                <a:schemeClr val="hlink"/>
              </a:solidFill>
            </a:endParaRPr>
          </a:p>
        </p:txBody>
      </p:sp>
    </p:spTree>
  </p:cSld>
  <p:clrMapOvr>
    <a:masterClrMapping/>
  </p:clrMapOvr>
  <p:timing>
    <p:tnLst>
      <p:par>
        <p:cTn id="1" dur="indefinite" restart="never" nodeType="tmRoot"/>
      </p:par>
    </p:tnLst>
    <p:bldLst>
      <p:bldP spid="14" grpId="0" bldLvl="0" animBg="1" autoUpdateAnimBg="0"/>
      <p:bldP spid="7" grpId="0" bldLvl="0" animBg="1" autoUpdateAnimBg="0"/>
      <p:bldP spid="4" grpId="0" bldLvl="0" animBg="1" autoUpdateAnimBg="0"/>
      <p:bldP spid="62558" grpId="0" bldLvl="0" animBg="1" autoUpdateAnimBg="0"/>
      <p:bldP spid="62559" grpId="0" bldLvl="0" animBg="1" autoUpdateAnimBg="0"/>
      <p:bldP spid="62584" grpId="0" bldLvl="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142"/>
          <p:cNvSpPr txBox="1">
            <a:spLocks noChangeArrowheads="1"/>
          </p:cNvSpPr>
          <p:nvPr/>
        </p:nvSpPr>
        <p:spPr bwMode="auto">
          <a:xfrm>
            <a:off x="197923" y="85515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3.3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MSI</a:t>
            </a:r>
            <a:r>
              <a:rPr kumimoji="0" lang="zh-CN" altLang="en-US" dirty="0">
                <a:solidFill>
                  <a:srgbClr val="000000"/>
                </a:solidFill>
                <a:latin typeface="黑体" panose="02010609060101010101" pitchFamily="49" charset="-122"/>
                <a:ea typeface="黑体" panose="02010609060101010101" pitchFamily="49" charset="-122"/>
              </a:rPr>
              <a:t>组合逻辑电路</a:t>
            </a:r>
            <a:r>
              <a:rPr kumimoji="0" lang="zh-CN" altLang="en-US" dirty="0">
                <a:solidFill>
                  <a:srgbClr val="000000"/>
                </a:solidFill>
                <a:latin typeface="黑体" panose="02010609060101010101" pitchFamily="49" charset="-122"/>
                <a:ea typeface="黑体" panose="02010609060101010101" pitchFamily="49" charset="-122"/>
              </a:rPr>
              <a:t>模块</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4" name="Text Box 4"/>
          <p:cNvSpPr txBox="1">
            <a:spLocks noChangeArrowheads="1"/>
          </p:cNvSpPr>
          <p:nvPr/>
        </p:nvSpPr>
        <p:spPr bwMode="auto">
          <a:xfrm>
            <a:off x="1669375" y="1474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2" name="Text Box 142"/>
          <p:cNvSpPr txBox="1">
            <a:spLocks noChangeArrowheads="1"/>
          </p:cNvSpPr>
          <p:nvPr>
            <p:custDataLst>
              <p:tags r:id="rId1"/>
            </p:custDataLst>
          </p:nvPr>
        </p:nvSpPr>
        <p:spPr bwMode="auto">
          <a:xfrm>
            <a:off x="404933" y="137712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(1)8—3</a:t>
            </a:r>
            <a:r>
              <a:rPr kumimoji="0" lang="zh-CN" altLang="en-US" sz="2400" dirty="0">
                <a:solidFill>
                  <a:srgbClr val="000000"/>
                </a:solidFill>
                <a:latin typeface="黑体" panose="02010609060101010101" pitchFamily="49" charset="-122"/>
                <a:ea typeface="黑体" panose="02010609060101010101" pitchFamily="49" charset="-122"/>
              </a:rPr>
              <a:t>普通编码器</a:t>
            </a:r>
            <a:endParaRPr kumimoji="0" lang="zh-CN" altLang="en-US" sz="2400" dirty="0">
              <a:solidFill>
                <a:srgbClr val="000000"/>
              </a:solidFill>
              <a:latin typeface="黑体" panose="02010609060101010101" pitchFamily="49" charset="-122"/>
              <a:ea typeface="黑体" panose="02010609060101010101" pitchFamily="49" charset="-122"/>
            </a:endParaRPr>
          </a:p>
        </p:txBody>
      </p:sp>
      <p:pic>
        <p:nvPicPr>
          <p:cNvPr id="12" name="Picture 2" descr="11"/>
          <p:cNvPicPr>
            <a:picLocks noChangeAspect="1" noChangeArrowheads="1"/>
          </p:cNvPicPr>
          <p:nvPr>
            <p:custDataLst>
              <p:tags r:id="rId2"/>
            </p:custDataLst>
          </p:nvPr>
        </p:nvPicPr>
        <p:blipFill>
          <a:blip r:embed="rId3" cstate="print">
            <a:extLst>
              <a:ext uri="{28A0092B-C50C-407E-A947-70E740481C1C}">
                <a14:useLocalDpi xmlns:a14="http://schemas.microsoft.com/office/drawing/2010/main" val="0"/>
              </a:ext>
            </a:extLst>
          </a:blip>
          <a:srcRect/>
          <a:stretch>
            <a:fillRect/>
          </a:stretch>
        </p:blipFill>
        <p:spPr bwMode="auto">
          <a:xfrm>
            <a:off x="713740" y="1999615"/>
            <a:ext cx="3136265" cy="371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52617" name="Group 41"/>
          <p:cNvGraphicFramePr>
            <a:graphicFrameLocks noGrp="1"/>
          </p:cNvGraphicFramePr>
          <p:nvPr>
            <p:custDataLst>
              <p:tags r:id="rId4"/>
            </p:custDataLst>
          </p:nvPr>
        </p:nvGraphicFramePr>
        <p:xfrm>
          <a:off x="4166332" y="1846952"/>
          <a:ext cx="4806950" cy="4244340"/>
        </p:xfrm>
        <a:graphic>
          <a:graphicData uri="http://schemas.openxmlformats.org/drawingml/2006/table">
            <a:tbl>
              <a:tblPr/>
              <a:tblGrid>
                <a:gridCol w="3381375"/>
                <a:gridCol w="1425575"/>
              </a:tblGrid>
              <a:tr h="493395">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输            入</a:t>
                      </a: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输       出</a:t>
                      </a: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520065">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a:t>
                      </a:r>
                      <a:r>
                        <a:rPr kumimoji="0" lang="en-US" altLang="zh-CN" sz="24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0</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a:t>
                      </a:r>
                      <a:r>
                        <a:rPr kumimoji="0" lang="en-US" altLang="zh-CN" sz="24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1</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a:t>
                      </a:r>
                      <a:r>
                        <a:rPr kumimoji="0" lang="en-US" altLang="zh-CN" sz="24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2</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a:t>
                      </a:r>
                      <a:r>
                        <a:rPr kumimoji="0" lang="en-US" altLang="zh-CN" sz="24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3</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a:t>
                      </a:r>
                      <a:r>
                        <a:rPr kumimoji="0" lang="en-US" altLang="zh-CN" sz="24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4</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a:t>
                      </a:r>
                      <a:r>
                        <a:rPr kumimoji="0" lang="en-US" altLang="zh-CN" sz="24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5 </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a:t>
                      </a:r>
                      <a:r>
                        <a:rPr kumimoji="0" lang="en-US" altLang="zh-CN" sz="24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6   </a:t>
                      </a:r>
                      <a:r>
                        <a:rPr kumimoji="0"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a:t>
                      </a:r>
                      <a:r>
                        <a:rPr kumimoji="0" lang="en-US" altLang="zh-CN" sz="2400" b="0" i="0" u="none" strike="noStrike" cap="none" normalizeH="0" baseline="-25000" dirty="0">
                          <a:ln>
                            <a:noFill/>
                          </a:ln>
                          <a:solidFill>
                            <a:srgbClr val="FF00FF"/>
                          </a:solidFill>
                          <a:effectLst/>
                          <a:latin typeface="Times New Roman" panose="02020603050405020304" pitchFamily="18" charset="0"/>
                          <a:ea typeface="宋体" panose="02010600030101010101" pitchFamily="2" charset="-122"/>
                        </a:rPr>
                        <a:t>7</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B</a:t>
                      </a: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C</a:t>
                      </a:r>
                      <a:endParaRPr kumimoji="0"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03844">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1</a:t>
                      </a: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0    0    0    0    0   0   0</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0    0    0    </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03844">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0   </a:t>
                      </a:r>
                      <a:r>
                        <a:rPr kumimoji="0" lang="en-US" altLang="zh-CN" sz="2400" b="0"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rPr>
                        <a:t>1</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0    0    0    0   0   0</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0    0    1   </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03844">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    </a:t>
                      </a: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1</a:t>
                      </a: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0    0    0   0   0</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0    1    0    </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03844">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0   0    0    </a:t>
                      </a: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1</a:t>
                      </a: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0    0   0   0</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0    1    1</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03844">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0   0    0    0    </a:t>
                      </a: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1</a:t>
                      </a: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0   0   0</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1    0    0</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03844">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0   0    0    0    0    </a:t>
                      </a: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1</a:t>
                      </a: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1    0    1</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03844">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0   0    0    0    0    0  </a:t>
                      </a: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 1</a:t>
                      </a: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1    1    0</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03844">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0   0    0    0    0    0   0   </a:t>
                      </a:r>
                      <a:r>
                        <a:rPr kumimoji="0" lang="en-US" altLang="zh-CN" sz="2400" b="0"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rPr>
                        <a:t>1</a:t>
                      </a:r>
                      <a:endParaRPr kumimoji="0" lang="en-US" altLang="zh-CN" sz="2400" b="0"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0" u="none" strike="noStrike" cap="none" normalizeH="0" baseline="0" dirty="0">
                          <a:ln>
                            <a:noFill/>
                          </a:ln>
                          <a:solidFill>
                            <a:srgbClr val="FF00FF"/>
                          </a:solidFill>
                          <a:effectLst/>
                          <a:latin typeface="Times New Roman" panose="02020603050405020304" pitchFamily="18" charset="0"/>
                          <a:ea typeface="宋体" panose="02010600030101010101" pitchFamily="2" charset="-122"/>
                        </a:rPr>
                        <a:t>1    1    1</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bldLst>
      <p:bldP spid="14" grpId="0" bldLvl="0" animBg="1" autoUpdateAnimBg="0"/>
      <p:bldP spid="4" grpId="0" bldLvl="0" animBg="1" autoUpdateAnimBg="0"/>
      <p:bldP spid="2" grpId="0" bldLvl="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142"/>
          <p:cNvSpPr txBox="1">
            <a:spLocks noChangeArrowheads="1"/>
          </p:cNvSpPr>
          <p:nvPr/>
        </p:nvSpPr>
        <p:spPr bwMode="auto">
          <a:xfrm>
            <a:off x="197923" y="85515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3.3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MSI</a:t>
            </a:r>
            <a:r>
              <a:rPr kumimoji="0" lang="zh-CN" altLang="en-US" dirty="0">
                <a:solidFill>
                  <a:srgbClr val="000000"/>
                </a:solidFill>
                <a:latin typeface="黑体" panose="02010609060101010101" pitchFamily="49" charset="-122"/>
                <a:ea typeface="黑体" panose="02010609060101010101" pitchFamily="49" charset="-122"/>
              </a:rPr>
              <a:t>组合逻辑电路</a:t>
            </a:r>
            <a:r>
              <a:rPr kumimoji="0" lang="zh-CN" altLang="en-US" dirty="0">
                <a:solidFill>
                  <a:srgbClr val="000000"/>
                </a:solidFill>
                <a:latin typeface="黑体" panose="02010609060101010101" pitchFamily="49" charset="-122"/>
                <a:ea typeface="黑体" panose="02010609060101010101" pitchFamily="49" charset="-122"/>
              </a:rPr>
              <a:t>模块</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4" name="Text Box 4"/>
          <p:cNvSpPr txBox="1">
            <a:spLocks noChangeArrowheads="1"/>
          </p:cNvSpPr>
          <p:nvPr/>
        </p:nvSpPr>
        <p:spPr bwMode="auto">
          <a:xfrm>
            <a:off x="1669375" y="1474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2" name="Text Box 142"/>
          <p:cNvSpPr txBox="1">
            <a:spLocks noChangeArrowheads="1"/>
          </p:cNvSpPr>
          <p:nvPr>
            <p:custDataLst>
              <p:tags r:id="rId1"/>
            </p:custDataLst>
          </p:nvPr>
        </p:nvSpPr>
        <p:spPr bwMode="auto">
          <a:xfrm>
            <a:off x="404933" y="137712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(1)8—3</a:t>
            </a:r>
            <a:r>
              <a:rPr kumimoji="0" lang="zh-CN" altLang="en-US" sz="2400" dirty="0">
                <a:solidFill>
                  <a:srgbClr val="000000"/>
                </a:solidFill>
                <a:latin typeface="黑体" panose="02010609060101010101" pitchFamily="49" charset="-122"/>
                <a:ea typeface="黑体" panose="02010609060101010101" pitchFamily="49" charset="-122"/>
              </a:rPr>
              <a:t>普通编码器</a:t>
            </a:r>
            <a:endParaRPr kumimoji="0" lang="zh-CN" altLang="en-US" sz="2400" dirty="0">
              <a:solidFill>
                <a:srgbClr val="000000"/>
              </a:solidFill>
              <a:latin typeface="黑体" panose="02010609060101010101" pitchFamily="49" charset="-122"/>
              <a:ea typeface="黑体" panose="02010609060101010101" pitchFamily="49" charset="-122"/>
            </a:endParaRPr>
          </a:p>
        </p:txBody>
      </p:sp>
      <p:pic>
        <p:nvPicPr>
          <p:cNvPr id="12" name="Picture 2" descr="11"/>
          <p:cNvPicPr>
            <a:picLocks noChangeAspect="1" noChangeArrowheads="1"/>
          </p:cNvPicPr>
          <p:nvPr>
            <p:custDataLst>
              <p:tags r:id="rId2"/>
            </p:custDataLst>
          </p:nvPr>
        </p:nvPicPr>
        <p:blipFill>
          <a:blip r:embed="rId3" cstate="print">
            <a:extLst>
              <a:ext uri="{28A0092B-C50C-407E-A947-70E740481C1C}">
                <a14:useLocalDpi xmlns:a14="http://schemas.microsoft.com/office/drawing/2010/main" val="0"/>
              </a:ext>
            </a:extLst>
          </a:blip>
          <a:srcRect/>
          <a:stretch>
            <a:fillRect/>
          </a:stretch>
        </p:blipFill>
        <p:spPr bwMode="auto">
          <a:xfrm>
            <a:off x="713740" y="1999615"/>
            <a:ext cx="3136265" cy="371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52617" name="Group 41"/>
          <p:cNvGraphicFramePr>
            <a:graphicFrameLocks noGrp="1"/>
          </p:cNvGraphicFramePr>
          <p:nvPr>
            <p:custDataLst>
              <p:tags r:id="rId4"/>
            </p:custDataLst>
          </p:nvPr>
        </p:nvGraphicFramePr>
        <p:xfrm>
          <a:off x="4166332" y="1846952"/>
          <a:ext cx="4806950" cy="4244340"/>
        </p:xfrm>
        <a:graphic>
          <a:graphicData uri="http://schemas.openxmlformats.org/drawingml/2006/table">
            <a:tbl>
              <a:tblPr/>
              <a:tblGrid>
                <a:gridCol w="3381375"/>
                <a:gridCol w="1425575"/>
              </a:tblGrid>
              <a:tr h="493395">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输            入</a:t>
                      </a: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输       出</a:t>
                      </a: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520065">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a:t>
                      </a:r>
                      <a:r>
                        <a:rPr kumimoji="0" lang="en-US" altLang="zh-CN" sz="24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0</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a:t>
                      </a:r>
                      <a:r>
                        <a:rPr kumimoji="0" lang="en-US" altLang="zh-CN" sz="24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1</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a:t>
                      </a:r>
                      <a:r>
                        <a:rPr kumimoji="0" lang="en-US" altLang="zh-CN" sz="24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2</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a:t>
                      </a:r>
                      <a:r>
                        <a:rPr kumimoji="0" lang="en-US" altLang="zh-CN" sz="24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3</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a:t>
                      </a:r>
                      <a:r>
                        <a:rPr kumimoji="0" lang="en-US" altLang="zh-CN" sz="24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4</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a:t>
                      </a:r>
                      <a:r>
                        <a:rPr kumimoji="0" lang="en-US" altLang="zh-CN" sz="24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5 </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a:t>
                      </a:r>
                      <a:r>
                        <a:rPr kumimoji="0" lang="en-US" altLang="zh-CN" sz="24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6   </a:t>
                      </a:r>
                      <a:r>
                        <a:rPr kumimoji="0" lang="en-US" altLang="zh-CN" sz="2400" b="0"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I</a:t>
                      </a:r>
                      <a:r>
                        <a:rPr kumimoji="0" lang="en-US" altLang="zh-CN" sz="2400" b="0" i="0" u="none" strike="noStrike" cap="none" normalizeH="0" baseline="-25000" dirty="0">
                          <a:ln>
                            <a:noFill/>
                          </a:ln>
                          <a:solidFill>
                            <a:srgbClr val="FF00FF"/>
                          </a:solidFill>
                          <a:effectLst/>
                          <a:latin typeface="Times New Roman" panose="02020603050405020304" pitchFamily="18" charset="0"/>
                          <a:ea typeface="宋体" panose="02010600030101010101" pitchFamily="2" charset="-122"/>
                        </a:rPr>
                        <a:t>7</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B</a:t>
                      </a: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C</a:t>
                      </a:r>
                      <a:endParaRPr kumimoji="0" lang="en-US" altLang="zh-CN" sz="2400" b="0"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03844">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1</a:t>
                      </a: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0    0    0    0    0   0   0</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0    0    0    </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03844">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0   </a:t>
                      </a:r>
                      <a:r>
                        <a:rPr kumimoji="0" lang="en-US" altLang="zh-CN" sz="2400" b="0"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rPr>
                        <a:t>1</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0    0    0    0   0   0</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0    0    1   </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03844">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    </a:t>
                      </a: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1</a:t>
                      </a: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0    0    0   0   0</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0    1    0    </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03844">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0   0    0    </a:t>
                      </a: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1</a:t>
                      </a: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0    0   0   0</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0    1    1</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03844">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0   0    0    0    </a:t>
                      </a: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1</a:t>
                      </a: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0   0   0</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1    0    0</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03844">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0   0    0    0    0    </a:t>
                      </a: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1</a:t>
                      </a: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1    0    1</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03844">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0   0    0    0    0    0  </a:t>
                      </a:r>
                      <a:r>
                        <a:rPr kumimoji="0" lang="en-US" altLang="zh-CN" sz="2400" b="0"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 1</a:t>
                      </a: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1    1    0</a:t>
                      </a: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403844">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0   0    0    0    0    0   0   </a:t>
                      </a:r>
                      <a:r>
                        <a:rPr kumimoji="0" lang="en-US" altLang="zh-CN" sz="2400" b="0"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rPr>
                        <a:t>1</a:t>
                      </a:r>
                      <a:endParaRPr kumimoji="0" lang="en-US" altLang="zh-CN" sz="2400" b="0" i="0" u="none" strike="noStrike" cap="none" normalizeH="0" baseline="0" dirty="0">
                        <a:ln>
                          <a:noFill/>
                        </a:ln>
                        <a:solidFill>
                          <a:schemeClr val="accent2"/>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1pPr>
                      <a:lvl2pPr algn="l">
                        <a:lnSpc>
                          <a:spcPct val="120000"/>
                        </a:lnSpc>
                        <a:spcBef>
                          <a:spcPct val="20000"/>
                        </a:spcBef>
                        <a:defRPr kumimoji="1" sz="2800">
                          <a:solidFill>
                            <a:schemeClr val="tx1"/>
                          </a:solidFill>
                          <a:latin typeface="Times New Roman" panose="02020603050405020304" pitchFamily="18" charset="0"/>
                          <a:ea typeface="宋体" panose="02010600030101010101" pitchFamily="2" charset="-122"/>
                        </a:defRPr>
                      </a:lvl2pPr>
                      <a:lvl3pPr algn="l">
                        <a:lnSpc>
                          <a:spcPct val="120000"/>
                        </a:lnSpc>
                        <a:spcBef>
                          <a:spcPct val="20000"/>
                        </a:spcBef>
                        <a:defRPr kumimoji="1" sz="24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altLang="zh-CN" sz="2400" b="0" i="0" u="none" strike="noStrike" cap="none" normalizeH="0" baseline="0" dirty="0">
                          <a:ln>
                            <a:noFill/>
                          </a:ln>
                          <a:solidFill>
                            <a:srgbClr val="FF00FF"/>
                          </a:solidFill>
                          <a:effectLst/>
                          <a:latin typeface="Times New Roman" panose="02020603050405020304" pitchFamily="18" charset="0"/>
                          <a:ea typeface="宋体" panose="02010600030101010101" pitchFamily="2" charset="-122"/>
                        </a:rPr>
                        <a:t>1    1    1</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endPar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19050" marR="19050" marT="19047" marB="19047"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bldLst>
      <p:bldP spid="14" grpId="0" bldLvl="0" animBg="1" autoUpdateAnimBg="0"/>
      <p:bldP spid="4" grpId="0" bldLvl="0" animBg="1" autoUpdateAnimBg="0"/>
      <p:bldP spid="2" grpId="0" bldLvl="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437" name="Picture 3" descr="22"/>
          <p:cNvPicPr>
            <a:picLocks noChangeAspect="1" noChangeArrowheads="1"/>
          </p:cNvPicPr>
          <p:nvPr>
            <p:custDataLst>
              <p:tags r:id="rId1"/>
            </p:custDataLst>
          </p:nvPr>
        </p:nvPicPr>
        <p:blipFill>
          <a:blip r:embed="rId2" cstate="print">
            <a:extLst>
              <a:ext uri="{28A0092B-C50C-407E-A947-70E740481C1C}">
                <a14:useLocalDpi xmlns:a14="http://schemas.microsoft.com/office/drawing/2010/main" val="0"/>
              </a:ext>
            </a:extLst>
          </a:blip>
          <a:srcRect l="8278" t="69000" r="22417" b="3322"/>
          <a:stretch>
            <a:fillRect/>
          </a:stretch>
        </p:blipFill>
        <p:spPr bwMode="auto">
          <a:xfrm>
            <a:off x="2191826" y="1625675"/>
            <a:ext cx="4924425" cy="368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0" name="Text Box 4"/>
          <p:cNvSpPr txBox="1">
            <a:spLocks noChangeArrowheads="1"/>
          </p:cNvSpPr>
          <p:nvPr>
            <p:custDataLst>
              <p:tags r:id="rId3"/>
            </p:custDataLst>
          </p:nvPr>
        </p:nvSpPr>
        <p:spPr bwMode="auto">
          <a:xfrm>
            <a:off x="4306373" y="5245175"/>
            <a:ext cx="12715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zh-CN" altLang="en-US" sz="2400" b="1" baseline="0"/>
              <a:t>输出端</a:t>
            </a:r>
            <a:endParaRPr kumimoji="0" lang="zh-CN" altLang="en-US" sz="2400" b="1" baseline="0"/>
          </a:p>
        </p:txBody>
      </p:sp>
      <p:sp>
        <p:nvSpPr>
          <p:cNvPr id="18441" name="Text Box 6"/>
          <p:cNvSpPr txBox="1">
            <a:spLocks noChangeArrowheads="1"/>
          </p:cNvSpPr>
          <p:nvPr>
            <p:custDataLst>
              <p:tags r:id="rId4"/>
            </p:custDataLst>
          </p:nvPr>
        </p:nvSpPr>
        <p:spPr bwMode="auto">
          <a:xfrm>
            <a:off x="1440939" y="5245175"/>
            <a:ext cx="24717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zh-CN" altLang="en-US" sz="2400" b="1" baseline="0"/>
              <a:t>输出有效标志端</a:t>
            </a:r>
            <a:endParaRPr kumimoji="0" lang="zh-CN" altLang="en-US" sz="2400" b="1" baseline="0"/>
          </a:p>
        </p:txBody>
      </p:sp>
      <p:sp>
        <p:nvSpPr>
          <p:cNvPr id="18442" name="Text Box 7"/>
          <p:cNvSpPr txBox="1">
            <a:spLocks noChangeArrowheads="1"/>
          </p:cNvSpPr>
          <p:nvPr>
            <p:custDataLst>
              <p:tags r:id="rId5"/>
            </p:custDataLst>
          </p:nvPr>
        </p:nvSpPr>
        <p:spPr bwMode="auto">
          <a:xfrm>
            <a:off x="6879714" y="3383037"/>
            <a:ext cx="1990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zh-CN" altLang="en-US" sz="2400" b="1" baseline="0"/>
              <a:t>输出使能端</a:t>
            </a:r>
            <a:endParaRPr kumimoji="0" lang="zh-CN" altLang="en-US" sz="2400" b="1" baseline="0"/>
          </a:p>
        </p:txBody>
      </p:sp>
      <p:sp>
        <p:nvSpPr>
          <p:cNvPr id="153608" name="Text Box 8"/>
          <p:cNvSpPr txBox="1">
            <a:spLocks noChangeArrowheads="1"/>
          </p:cNvSpPr>
          <p:nvPr>
            <p:custDataLst>
              <p:tags r:id="rId6"/>
            </p:custDataLst>
          </p:nvPr>
        </p:nvSpPr>
        <p:spPr bwMode="auto">
          <a:xfrm>
            <a:off x="6312976" y="1735212"/>
            <a:ext cx="2047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zh-CN" altLang="en-US" sz="2400" b="1" baseline="0">
                <a:solidFill>
                  <a:schemeClr val="accent2"/>
                </a:solidFill>
              </a:rPr>
              <a:t>低电平</a:t>
            </a:r>
            <a:r>
              <a:rPr kumimoji="0" lang="zh-CN" altLang="en-US" sz="2400" b="1" baseline="0"/>
              <a:t>有效</a:t>
            </a:r>
            <a:endParaRPr kumimoji="0" lang="zh-CN" altLang="en-US" sz="2400" b="1" baseline="0"/>
          </a:p>
        </p:txBody>
      </p:sp>
      <p:sp>
        <p:nvSpPr>
          <p:cNvPr id="18444" name="Text Box 9"/>
          <p:cNvSpPr txBox="1">
            <a:spLocks noChangeArrowheads="1"/>
          </p:cNvSpPr>
          <p:nvPr>
            <p:custDataLst>
              <p:tags r:id="rId7"/>
            </p:custDataLst>
          </p:nvPr>
        </p:nvSpPr>
        <p:spPr bwMode="auto">
          <a:xfrm>
            <a:off x="615436" y="3972000"/>
            <a:ext cx="2055812" cy="49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pPr>
              <a:lnSpc>
                <a:spcPct val="110000"/>
              </a:lnSpc>
            </a:pPr>
            <a:r>
              <a:rPr kumimoji="0" lang="en-US" altLang="zh-CN" sz="2400" b="1" baseline="0"/>
              <a:t>EN (Enable)</a:t>
            </a:r>
            <a:endParaRPr kumimoji="0" lang="en-US" altLang="zh-CN" sz="2400" b="1" baseline="0"/>
          </a:p>
        </p:txBody>
      </p:sp>
      <p:sp>
        <p:nvSpPr>
          <p:cNvPr id="18445" name="Text Box 13"/>
          <p:cNvSpPr txBox="1">
            <a:spLocks noChangeArrowheads="1"/>
          </p:cNvSpPr>
          <p:nvPr>
            <p:custDataLst>
              <p:tags r:id="rId8"/>
            </p:custDataLst>
          </p:nvPr>
        </p:nvSpPr>
        <p:spPr bwMode="auto">
          <a:xfrm>
            <a:off x="594801" y="3365575"/>
            <a:ext cx="2022475" cy="49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Ins="0">
            <a:spAutoFit/>
          </a:bodyPr>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pPr>
              <a:lnSpc>
                <a:spcPct val="110000"/>
              </a:lnSpc>
            </a:pPr>
            <a:r>
              <a:rPr kumimoji="0" lang="zh-CN" altLang="en-US" sz="2400" b="1" baseline="0"/>
              <a:t>输入使能端</a:t>
            </a:r>
            <a:endParaRPr kumimoji="0" lang="zh-CN" altLang="en-US" sz="2400" b="1" baseline="0"/>
          </a:p>
        </p:txBody>
      </p:sp>
      <p:cxnSp>
        <p:nvCxnSpPr>
          <p:cNvPr id="7" name="直接连接符 6"/>
          <p:cNvCxnSpPr>
            <a:cxnSpLocks noChangeShapeType="1"/>
          </p:cNvCxnSpPr>
          <p:nvPr>
            <p:custDataLst>
              <p:tags r:id="rId9"/>
            </p:custDataLst>
          </p:nvPr>
        </p:nvCxnSpPr>
        <p:spPr bwMode="auto">
          <a:xfrm>
            <a:off x="6014526" y="4878465"/>
            <a:ext cx="1019175" cy="11113"/>
          </a:xfrm>
          <a:prstGeom prst="line">
            <a:avLst/>
          </a:prstGeom>
          <a:noFill/>
          <a:ln w="28575" algn="ctr">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ext Box 8"/>
          <p:cNvSpPr txBox="1">
            <a:spLocks noChangeArrowheads="1"/>
          </p:cNvSpPr>
          <p:nvPr>
            <p:custDataLst>
              <p:tags r:id="rId10"/>
            </p:custDataLst>
          </p:nvPr>
        </p:nvSpPr>
        <p:spPr bwMode="auto">
          <a:xfrm>
            <a:off x="7095614" y="4683200"/>
            <a:ext cx="10239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zh-CN" altLang="en-US" sz="2400" b="1" baseline="0">
                <a:solidFill>
                  <a:srgbClr val="FF0000"/>
                </a:solidFill>
              </a:rPr>
              <a:t>反码</a:t>
            </a:r>
            <a:endParaRPr kumimoji="0" lang="zh-CN" altLang="en-US" sz="2400" b="1" baseline="0">
              <a:solidFill>
                <a:srgbClr val="FF0000"/>
              </a:solidFill>
            </a:endParaRPr>
          </a:p>
        </p:txBody>
      </p:sp>
      <p:cxnSp>
        <p:nvCxnSpPr>
          <p:cNvPr id="17" name="直接连接符 16"/>
          <p:cNvCxnSpPr>
            <a:cxnSpLocks noChangeShapeType="1"/>
          </p:cNvCxnSpPr>
          <p:nvPr>
            <p:custDataLst>
              <p:tags r:id="rId11"/>
            </p:custDataLst>
          </p:nvPr>
        </p:nvCxnSpPr>
        <p:spPr bwMode="auto">
          <a:xfrm flipV="1">
            <a:off x="6613014" y="2192415"/>
            <a:ext cx="522287" cy="944563"/>
          </a:xfrm>
          <a:prstGeom prst="line">
            <a:avLst/>
          </a:prstGeom>
          <a:noFill/>
          <a:ln w="28575" algn="ctr">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矩形 7"/>
          <p:cNvSpPr>
            <a:spLocks noChangeArrowheads="1"/>
          </p:cNvSpPr>
          <p:nvPr>
            <p:custDataLst>
              <p:tags r:id="rId12"/>
            </p:custDataLst>
          </p:nvPr>
        </p:nvSpPr>
        <p:spPr bwMode="auto">
          <a:xfrm>
            <a:off x="3912673" y="4141865"/>
            <a:ext cx="2063750" cy="760413"/>
          </a:xfrm>
          <a:prstGeom prst="rect">
            <a:avLst/>
          </a:prstGeom>
          <a:noFill/>
          <a:ln w="28575" algn="ctr">
            <a:solidFill>
              <a:srgbClr val="FF0000"/>
            </a:solidFill>
            <a:prstDash val="dash"/>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pPr algn="ctr" eaLnBrk="1" hangingPunct="1">
              <a:spcBef>
                <a:spcPct val="50000"/>
              </a:spcBef>
            </a:pPr>
            <a:endParaRPr lang="zh-CN" altLang="en-US"/>
          </a:p>
        </p:txBody>
      </p:sp>
      <p:sp>
        <p:nvSpPr>
          <p:cNvPr id="23" name="矩形 22"/>
          <p:cNvSpPr/>
          <p:nvPr>
            <p:custDataLst>
              <p:tags r:id="rId13"/>
            </p:custDataLst>
          </p:nvPr>
        </p:nvSpPr>
        <p:spPr bwMode="auto">
          <a:xfrm>
            <a:off x="2764911" y="2303537"/>
            <a:ext cx="3814762" cy="1690688"/>
          </a:xfrm>
          <a:prstGeom prst="rect">
            <a:avLst/>
          </a:prstGeom>
          <a:noFill/>
          <a:ln w="28575" cap="flat" cmpd="sng" algn="ctr">
            <a:solidFill>
              <a:schemeClr val="accent2">
                <a:lumMod val="75000"/>
              </a:schemeClr>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eaLnBrk="1" hangingPunct="1">
              <a:spcBef>
                <a:spcPct val="50000"/>
              </a:spcBef>
              <a:defRPr/>
            </a:pPr>
            <a:endParaRPr lang="zh-CN" altLang="en-US"/>
          </a:p>
        </p:txBody>
      </p:sp>
      <p:sp>
        <p:nvSpPr>
          <p:cNvPr id="19" name="矩形 18"/>
          <p:cNvSpPr/>
          <p:nvPr>
            <p:custDataLst>
              <p:tags r:id="rId14"/>
            </p:custDataLst>
          </p:nvPr>
        </p:nvSpPr>
        <p:spPr bwMode="auto">
          <a:xfrm>
            <a:off x="2764914" y="4141865"/>
            <a:ext cx="1025525" cy="747713"/>
          </a:xfrm>
          <a:prstGeom prst="rect">
            <a:avLst/>
          </a:prstGeom>
          <a:noFill/>
          <a:ln w="28575" cap="flat" cmpd="sng" algn="ctr">
            <a:solidFill>
              <a:schemeClr val="accent2">
                <a:lumMod val="75000"/>
              </a:schemeClr>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algn="ctr" eaLnBrk="1" hangingPunct="1">
              <a:spcBef>
                <a:spcPct val="50000"/>
              </a:spcBef>
              <a:defRPr/>
            </a:pPr>
            <a:endParaRPr lang="zh-CN" altLang="en-US"/>
          </a:p>
        </p:txBody>
      </p:sp>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4" name="Text Box 142"/>
          <p:cNvSpPr txBox="1">
            <a:spLocks noChangeArrowheads="1"/>
          </p:cNvSpPr>
          <p:nvPr/>
        </p:nvSpPr>
        <p:spPr bwMode="auto">
          <a:xfrm>
            <a:off x="197923" y="85515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3.3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MSI</a:t>
            </a:r>
            <a:r>
              <a:rPr kumimoji="0" lang="zh-CN" altLang="en-US" dirty="0">
                <a:solidFill>
                  <a:srgbClr val="000000"/>
                </a:solidFill>
                <a:latin typeface="黑体" panose="02010609060101010101" pitchFamily="49" charset="-122"/>
                <a:ea typeface="黑体" panose="02010609060101010101" pitchFamily="49" charset="-122"/>
              </a:rPr>
              <a:t>组合逻辑电路</a:t>
            </a:r>
            <a:r>
              <a:rPr kumimoji="0" lang="zh-CN" altLang="en-US" dirty="0">
                <a:solidFill>
                  <a:srgbClr val="000000"/>
                </a:solidFill>
                <a:latin typeface="黑体" panose="02010609060101010101" pitchFamily="49" charset="-122"/>
                <a:ea typeface="黑体" panose="02010609060101010101" pitchFamily="49" charset="-122"/>
              </a:rPr>
              <a:t>模块</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custDataLst>
              <p:tags r:id="rId15"/>
            </p:custDataLst>
          </p:nvPr>
        </p:nvSpPr>
        <p:spPr bwMode="auto">
          <a:xfrm>
            <a:off x="404933" y="137712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(2)8—3</a:t>
            </a:r>
            <a:r>
              <a:rPr kumimoji="0" lang="zh-CN" altLang="en-US" sz="2400" dirty="0">
                <a:solidFill>
                  <a:srgbClr val="000000"/>
                </a:solidFill>
                <a:latin typeface="黑体" panose="02010609060101010101" pitchFamily="49" charset="-122"/>
                <a:ea typeface="黑体" panose="02010609060101010101" pitchFamily="49" charset="-122"/>
              </a:rPr>
              <a:t>优先编码器</a:t>
            </a:r>
            <a:r>
              <a:rPr kumimoji="0" lang="en-US" altLang="zh-CN" sz="2400" dirty="0">
                <a:solidFill>
                  <a:srgbClr val="000000"/>
                </a:solidFill>
                <a:latin typeface="黑体" panose="02010609060101010101" pitchFamily="49" charset="-122"/>
                <a:ea typeface="黑体" panose="02010609060101010101" pitchFamily="49" charset="-122"/>
              </a:rPr>
              <a:t>74148</a:t>
            </a:r>
            <a:endParaRPr kumimoji="0" lang="en-US" altLang="zh-CN" sz="2400" dirty="0">
              <a:solidFill>
                <a:srgbClr val="000000"/>
              </a:solidFill>
              <a:latin typeface="黑体" panose="02010609060101010101" pitchFamily="49" charset="-122"/>
              <a:ea typeface="黑体" panose="02010609060101010101" pitchFamily="49" charset="-122"/>
            </a:endParaRPr>
          </a:p>
        </p:txBody>
      </p:sp>
      <p:sp>
        <p:nvSpPr>
          <p:cNvPr id="6" name="Text Box 4"/>
          <p:cNvSpPr txBox="1">
            <a:spLocks noChangeArrowheads="1"/>
          </p:cNvSpPr>
          <p:nvPr/>
        </p:nvSpPr>
        <p:spPr bwMode="auto">
          <a:xfrm>
            <a:off x="1669375" y="1474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bldLst>
      <p:bldP spid="14" grpId="0" bldLvl="0" animBg="1" autoUpdateAnimBg="0"/>
      <p:bldP spid="5" grpId="0" bldLvl="0" animBg="1" autoUpdateAnimBg="0"/>
      <p:bldP spid="6" grpId="0" bldLvl="0" animBg="1" autoUpdateAnimBg="0"/>
      <p:bldP spid="153608" grpId="0" bldLvl="0" animBg="1"/>
      <p:bldP spid="16" grpId="0" bldLvl="0" animBg="1"/>
      <p:bldP spid="8" grpId="0" bldLvl="0" animBg="1"/>
      <p:bldP spid="23" grpId="0" bldLvl="0" animBg="1"/>
      <p:bldP spid="19"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4" name="Text Box 142"/>
          <p:cNvSpPr txBox="1">
            <a:spLocks noChangeArrowheads="1"/>
          </p:cNvSpPr>
          <p:nvPr/>
        </p:nvSpPr>
        <p:spPr bwMode="auto">
          <a:xfrm>
            <a:off x="197923" y="85515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3.3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MSI</a:t>
            </a:r>
            <a:r>
              <a:rPr kumimoji="0" lang="zh-CN" altLang="en-US" dirty="0">
                <a:solidFill>
                  <a:srgbClr val="000000"/>
                </a:solidFill>
                <a:latin typeface="黑体" panose="02010609060101010101" pitchFamily="49" charset="-122"/>
                <a:ea typeface="黑体" panose="02010609060101010101" pitchFamily="49" charset="-122"/>
              </a:rPr>
              <a:t>组合逻辑电路</a:t>
            </a:r>
            <a:r>
              <a:rPr kumimoji="0" lang="zh-CN" altLang="en-US" dirty="0">
                <a:solidFill>
                  <a:srgbClr val="000000"/>
                </a:solidFill>
                <a:latin typeface="黑体" panose="02010609060101010101" pitchFamily="49" charset="-122"/>
                <a:ea typeface="黑体" panose="02010609060101010101" pitchFamily="49" charset="-122"/>
              </a:rPr>
              <a:t>模块</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custDataLst>
              <p:tags r:id="rId1"/>
            </p:custDataLst>
          </p:nvPr>
        </p:nvSpPr>
        <p:spPr bwMode="auto">
          <a:xfrm>
            <a:off x="404933" y="137712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(2)8—3</a:t>
            </a:r>
            <a:r>
              <a:rPr kumimoji="0" lang="zh-CN" altLang="en-US" sz="2400" dirty="0">
                <a:solidFill>
                  <a:srgbClr val="000000"/>
                </a:solidFill>
                <a:latin typeface="黑体" panose="02010609060101010101" pitchFamily="49" charset="-122"/>
                <a:ea typeface="黑体" panose="02010609060101010101" pitchFamily="49" charset="-122"/>
              </a:rPr>
              <a:t>优先编码器</a:t>
            </a:r>
            <a:r>
              <a:rPr kumimoji="0" lang="en-US" altLang="zh-CN" sz="2400" dirty="0">
                <a:solidFill>
                  <a:srgbClr val="000000"/>
                </a:solidFill>
                <a:latin typeface="黑体" panose="02010609060101010101" pitchFamily="49" charset="-122"/>
                <a:ea typeface="黑体" panose="02010609060101010101" pitchFamily="49" charset="-122"/>
              </a:rPr>
              <a:t>74148</a:t>
            </a:r>
            <a:endParaRPr kumimoji="0" lang="en-US" altLang="zh-CN" sz="2400" dirty="0">
              <a:solidFill>
                <a:srgbClr val="000000"/>
              </a:solidFill>
              <a:latin typeface="黑体" panose="02010609060101010101" pitchFamily="49" charset="-122"/>
              <a:ea typeface="黑体" panose="02010609060101010101" pitchFamily="49" charset="-122"/>
            </a:endParaRPr>
          </a:p>
        </p:txBody>
      </p:sp>
      <p:sp>
        <p:nvSpPr>
          <p:cNvPr id="6" name="Text Box 4"/>
          <p:cNvSpPr txBox="1">
            <a:spLocks noChangeArrowheads="1"/>
          </p:cNvSpPr>
          <p:nvPr/>
        </p:nvSpPr>
        <p:spPr bwMode="auto">
          <a:xfrm>
            <a:off x="1669375" y="1474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pic>
        <p:nvPicPr>
          <p:cNvPr id="9" name="图片 8"/>
          <p:cNvPicPr>
            <a:picLocks noChangeAspect="1"/>
          </p:cNvPicPr>
          <p:nvPr/>
        </p:nvPicPr>
        <p:blipFill>
          <a:blip r:embed="rId2"/>
          <a:srcRect t="12162"/>
          <a:stretch>
            <a:fillRect/>
          </a:stretch>
        </p:blipFill>
        <p:spPr>
          <a:xfrm>
            <a:off x="822960" y="1714500"/>
            <a:ext cx="7762240" cy="4385945"/>
          </a:xfrm>
          <a:prstGeom prst="rect">
            <a:avLst/>
          </a:prstGeom>
        </p:spPr>
      </p:pic>
    </p:spTree>
  </p:cSld>
  <p:clrMapOvr>
    <a:masterClrMapping/>
  </p:clrMapOvr>
  <p:timing>
    <p:tnLst>
      <p:par>
        <p:cTn id="1" dur="indefinite" restart="never" nodeType="tmRoot"/>
      </p:par>
    </p:tnLst>
    <p:bldLst>
      <p:bldP spid="14" grpId="0" bldLvl="0" animBg="1" autoUpdateAnimBg="0"/>
      <p:bldP spid="5" grpId="0" bldLvl="0" animBg="1" autoUpdateAnimBg="0"/>
      <p:bldP spid="6" grpId="0" bldLvl="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tretch>
            <a:fillRect/>
          </a:stretch>
        </p:blipFill>
        <p:spPr>
          <a:xfrm>
            <a:off x="1188720" y="1614805"/>
            <a:ext cx="6882130" cy="4568825"/>
          </a:xfrm>
          <a:prstGeom prst="rect">
            <a:avLst/>
          </a:prstGeom>
        </p:spPr>
      </p:pic>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4" name="Text Box 142"/>
          <p:cNvSpPr txBox="1">
            <a:spLocks noChangeArrowheads="1"/>
          </p:cNvSpPr>
          <p:nvPr/>
        </p:nvSpPr>
        <p:spPr bwMode="auto">
          <a:xfrm>
            <a:off x="197923" y="76625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3.3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MSI</a:t>
            </a:r>
            <a:r>
              <a:rPr kumimoji="0" lang="zh-CN" altLang="en-US" dirty="0">
                <a:solidFill>
                  <a:srgbClr val="000000"/>
                </a:solidFill>
                <a:latin typeface="黑体" panose="02010609060101010101" pitchFamily="49" charset="-122"/>
                <a:ea typeface="黑体" panose="02010609060101010101" pitchFamily="49" charset="-122"/>
              </a:rPr>
              <a:t>组合逻辑电路</a:t>
            </a:r>
            <a:r>
              <a:rPr kumimoji="0" lang="zh-CN" altLang="en-US" dirty="0">
                <a:solidFill>
                  <a:srgbClr val="000000"/>
                </a:solidFill>
                <a:latin typeface="黑体" panose="02010609060101010101" pitchFamily="49" charset="-122"/>
                <a:ea typeface="黑体" panose="02010609060101010101" pitchFamily="49" charset="-122"/>
              </a:rPr>
              <a:t>模块</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custDataLst>
              <p:tags r:id="rId2"/>
            </p:custDataLst>
          </p:nvPr>
        </p:nvSpPr>
        <p:spPr bwMode="auto">
          <a:xfrm>
            <a:off x="404933" y="124377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(3)</a:t>
            </a:r>
            <a:r>
              <a:rPr kumimoji="0" lang="zh-CN" altLang="en-US" sz="2400" b="1" dirty="0">
                <a:sym typeface="+mn-ea"/>
              </a:rPr>
              <a:t>二</a:t>
            </a:r>
            <a:r>
              <a:rPr kumimoji="0" lang="en-US" altLang="zh-CN" sz="2400" b="1" dirty="0">
                <a:latin typeface="Arial" panose="020B0604020202020204" pitchFamily="34" charset="0"/>
                <a:sym typeface="+mn-ea"/>
              </a:rPr>
              <a:t>—</a:t>
            </a:r>
            <a:r>
              <a:rPr kumimoji="0" lang="zh-CN" altLang="en-US" sz="2400" b="1" dirty="0">
                <a:sym typeface="+mn-ea"/>
              </a:rPr>
              <a:t>十进制优先编码器</a:t>
            </a:r>
            <a:r>
              <a:rPr kumimoji="0" lang="en-US" altLang="zh-CN" sz="2400" b="1" dirty="0">
                <a:sym typeface="+mn-ea"/>
              </a:rPr>
              <a:t>74147 </a:t>
            </a:r>
            <a:endParaRPr kumimoji="0" lang="en-US" altLang="zh-CN" sz="2400" dirty="0">
              <a:solidFill>
                <a:srgbClr val="000000"/>
              </a:solidFill>
              <a:latin typeface="黑体" panose="02010609060101010101" pitchFamily="49" charset="-122"/>
              <a:ea typeface="黑体" panose="02010609060101010101" pitchFamily="49" charset="-122"/>
            </a:endParaRPr>
          </a:p>
        </p:txBody>
      </p:sp>
      <p:sp>
        <p:nvSpPr>
          <p:cNvPr id="6" name="Text Box 4"/>
          <p:cNvSpPr txBox="1">
            <a:spLocks noChangeArrowheads="1"/>
          </p:cNvSpPr>
          <p:nvPr/>
        </p:nvSpPr>
        <p:spPr bwMode="auto">
          <a:xfrm>
            <a:off x="1669375" y="1474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bldLst>
      <p:bldP spid="14" grpId="0" bldLvl="0" animBg="1" autoUpdateAnimBg="0"/>
      <p:bldP spid="5" grpId="0" bldLvl="0" animBg="1" autoUpdateAnimBg="0"/>
      <p:bldP spid="6" grpId="0" bldLvl="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558" name="Picture 3"/>
          <p:cNvPicPr>
            <a:picLocks noChangeAspect="1" noChangeArrowheads="1"/>
          </p:cNvPicPr>
          <p:nvPr/>
        </p:nvPicPr>
        <p:blipFill>
          <a:blip r:embed="rId1" cstate="print">
            <a:extLst>
              <a:ext uri="{28A0092B-C50C-407E-A947-70E740481C1C}">
                <a14:useLocalDpi xmlns:a14="http://schemas.microsoft.com/office/drawing/2010/main" val="0"/>
              </a:ext>
            </a:extLst>
          </a:blip>
          <a:srcRect l="81645" t="41299" r="9521" b="44952"/>
          <a:stretch>
            <a:fillRect/>
          </a:stretch>
        </p:blipFill>
        <p:spPr bwMode="auto">
          <a:xfrm>
            <a:off x="471170" y="1541780"/>
            <a:ext cx="3018790" cy="2975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4" name="Text Box 142"/>
          <p:cNvSpPr txBox="1">
            <a:spLocks noChangeArrowheads="1"/>
          </p:cNvSpPr>
          <p:nvPr/>
        </p:nvSpPr>
        <p:spPr bwMode="auto">
          <a:xfrm>
            <a:off x="197923" y="76625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3.3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MSI</a:t>
            </a:r>
            <a:r>
              <a:rPr kumimoji="0" lang="zh-CN" altLang="en-US" dirty="0">
                <a:solidFill>
                  <a:srgbClr val="000000"/>
                </a:solidFill>
                <a:latin typeface="黑体" panose="02010609060101010101" pitchFamily="49" charset="-122"/>
                <a:ea typeface="黑体" panose="02010609060101010101" pitchFamily="49" charset="-122"/>
              </a:rPr>
              <a:t>组合逻辑电路</a:t>
            </a:r>
            <a:r>
              <a:rPr kumimoji="0" lang="zh-CN" altLang="en-US" dirty="0">
                <a:solidFill>
                  <a:srgbClr val="000000"/>
                </a:solidFill>
                <a:latin typeface="黑体" panose="02010609060101010101" pitchFamily="49" charset="-122"/>
                <a:ea typeface="黑体" panose="02010609060101010101" pitchFamily="49" charset="-122"/>
              </a:rPr>
              <a:t>模块</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custDataLst>
              <p:tags r:id="rId2"/>
            </p:custDataLst>
          </p:nvPr>
        </p:nvSpPr>
        <p:spPr bwMode="auto">
          <a:xfrm>
            <a:off x="404933" y="124377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(4)</a:t>
            </a:r>
            <a:r>
              <a:rPr kumimoji="0" lang="zh-CN" altLang="en-US" sz="2400" b="1" dirty="0">
                <a:sym typeface="+mn-ea"/>
              </a:rPr>
              <a:t>双</a:t>
            </a:r>
            <a:r>
              <a:rPr kumimoji="0" lang="en-US" altLang="zh-CN" sz="2400" b="1" dirty="0">
                <a:sym typeface="+mn-ea"/>
              </a:rPr>
              <a:t>2-4</a:t>
            </a:r>
            <a:r>
              <a:rPr kumimoji="0" lang="zh-CN" altLang="en-US" sz="2400" b="1" dirty="0">
                <a:sym typeface="+mn-ea"/>
              </a:rPr>
              <a:t>线译码器</a:t>
            </a:r>
            <a:r>
              <a:rPr kumimoji="0" lang="en-US" altLang="zh-CN" sz="2400" b="1" dirty="0">
                <a:sym typeface="+mn-ea"/>
              </a:rPr>
              <a:t>74139 </a:t>
            </a:r>
            <a:endParaRPr kumimoji="0" lang="en-US" altLang="zh-CN" sz="2400" dirty="0">
              <a:solidFill>
                <a:srgbClr val="000000"/>
              </a:solidFill>
              <a:latin typeface="黑体" panose="02010609060101010101" pitchFamily="49" charset="-122"/>
              <a:ea typeface="黑体" panose="02010609060101010101" pitchFamily="49" charset="-122"/>
            </a:endParaRPr>
          </a:p>
        </p:txBody>
      </p:sp>
      <p:sp>
        <p:nvSpPr>
          <p:cNvPr id="6" name="Text Box 4"/>
          <p:cNvSpPr txBox="1">
            <a:spLocks noChangeArrowheads="1"/>
          </p:cNvSpPr>
          <p:nvPr/>
        </p:nvSpPr>
        <p:spPr bwMode="auto">
          <a:xfrm>
            <a:off x="1669375" y="1474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pic>
        <p:nvPicPr>
          <p:cNvPr id="47"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l="82739" t="33527" r="11679" b="60368"/>
          <a:stretch>
            <a:fillRect/>
          </a:stretch>
        </p:blipFill>
        <p:spPr bwMode="auto">
          <a:xfrm>
            <a:off x="963295" y="4517390"/>
            <a:ext cx="2035175"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2534" name="Group 47"/>
          <p:cNvGrpSpPr/>
          <p:nvPr/>
        </p:nvGrpSpPr>
        <p:grpSpPr bwMode="auto">
          <a:xfrm>
            <a:off x="4051167" y="1671275"/>
            <a:ext cx="4656137" cy="4202112"/>
            <a:chOff x="601" y="889"/>
            <a:chExt cx="2933" cy="2647"/>
          </a:xfrm>
        </p:grpSpPr>
        <p:sp>
          <p:nvSpPr>
            <p:cNvPr id="22538" name="Rectangle 4"/>
            <p:cNvSpPr>
              <a:spLocks noChangeArrowheads="1"/>
            </p:cNvSpPr>
            <p:nvPr>
              <p:custDataLst>
                <p:tags r:id="rId4"/>
              </p:custDataLst>
            </p:nvPr>
          </p:nvSpPr>
          <p:spPr bwMode="auto">
            <a:xfrm>
              <a:off x="1980" y="2842"/>
              <a:ext cx="1554"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19050" rIns="19050" bIns="19050" anchor="ctr" anchorCtr="1"/>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en-US" altLang="zh-CN" baseline="0">
                  <a:solidFill>
                    <a:schemeClr val="tx1"/>
                  </a:solidFill>
                </a:rPr>
                <a:t>1     1     </a:t>
              </a:r>
              <a:r>
                <a:rPr kumimoji="0" lang="en-US" altLang="zh-CN" baseline="0">
                  <a:solidFill>
                    <a:schemeClr val="accent2"/>
                  </a:solidFill>
                </a:rPr>
                <a:t>0</a:t>
              </a:r>
              <a:r>
                <a:rPr kumimoji="0" lang="en-US" altLang="zh-CN" baseline="0">
                  <a:solidFill>
                    <a:schemeClr val="tx1"/>
                  </a:solidFill>
                </a:rPr>
                <a:t>      1</a:t>
              </a:r>
              <a:endParaRPr kumimoji="0" lang="en-US" altLang="zh-CN" baseline="0">
                <a:solidFill>
                  <a:schemeClr val="tx1"/>
                </a:solidFill>
              </a:endParaRPr>
            </a:p>
          </p:txBody>
        </p:sp>
        <p:sp>
          <p:nvSpPr>
            <p:cNvPr id="22539" name="Rectangle 5"/>
            <p:cNvSpPr>
              <a:spLocks noChangeArrowheads="1"/>
            </p:cNvSpPr>
            <p:nvPr>
              <p:custDataLst>
                <p:tags r:id="rId5"/>
              </p:custDataLst>
            </p:nvPr>
          </p:nvSpPr>
          <p:spPr bwMode="auto">
            <a:xfrm>
              <a:off x="1203" y="2842"/>
              <a:ext cx="777"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19050" rIns="19050" bIns="19050" anchor="ctr" anchorCtr="1"/>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en-US" altLang="zh-CN" baseline="0">
                  <a:solidFill>
                    <a:schemeClr val="tx1"/>
                  </a:solidFill>
                </a:rPr>
                <a:t>1     0</a:t>
              </a:r>
              <a:endParaRPr kumimoji="0" lang="en-US" altLang="zh-CN" baseline="0">
                <a:solidFill>
                  <a:schemeClr val="tx1"/>
                </a:solidFill>
              </a:endParaRPr>
            </a:p>
          </p:txBody>
        </p:sp>
        <p:sp>
          <p:nvSpPr>
            <p:cNvPr id="22540" name="Rectangle 6"/>
            <p:cNvSpPr>
              <a:spLocks noChangeArrowheads="1"/>
            </p:cNvSpPr>
            <p:nvPr>
              <p:custDataLst>
                <p:tags r:id="rId6"/>
              </p:custDataLst>
            </p:nvPr>
          </p:nvSpPr>
          <p:spPr bwMode="auto">
            <a:xfrm>
              <a:off x="601" y="2842"/>
              <a:ext cx="602"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19050" rIns="19050" bIns="19050" anchor="ctr" anchorCtr="1"/>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en-US" altLang="zh-CN" baseline="0">
                  <a:solidFill>
                    <a:schemeClr val="tx1"/>
                  </a:solidFill>
                </a:rPr>
                <a:t>0</a:t>
              </a:r>
              <a:endParaRPr kumimoji="0" lang="en-US" altLang="zh-CN" baseline="0">
                <a:solidFill>
                  <a:schemeClr val="tx1"/>
                </a:solidFill>
              </a:endParaRPr>
            </a:p>
          </p:txBody>
        </p:sp>
        <p:sp>
          <p:nvSpPr>
            <p:cNvPr id="22541" name="Rectangle 7"/>
            <p:cNvSpPr>
              <a:spLocks noChangeArrowheads="1"/>
            </p:cNvSpPr>
            <p:nvPr>
              <p:custDataLst>
                <p:tags r:id="rId7"/>
              </p:custDataLst>
            </p:nvPr>
          </p:nvSpPr>
          <p:spPr bwMode="auto">
            <a:xfrm>
              <a:off x="601" y="3189"/>
              <a:ext cx="602"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19050" rIns="19050" bIns="19050" anchor="ctr" anchorCtr="1"/>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en-US" altLang="zh-CN" baseline="0">
                  <a:solidFill>
                    <a:schemeClr val="tx1"/>
                  </a:solidFill>
                </a:rPr>
                <a:t>0</a:t>
              </a:r>
              <a:endParaRPr kumimoji="0" lang="en-US" altLang="zh-CN" baseline="0">
                <a:solidFill>
                  <a:schemeClr val="tx1"/>
                </a:solidFill>
              </a:endParaRPr>
            </a:p>
          </p:txBody>
        </p:sp>
        <p:sp>
          <p:nvSpPr>
            <p:cNvPr id="22542" name="Rectangle 8"/>
            <p:cNvSpPr>
              <a:spLocks noChangeArrowheads="1"/>
            </p:cNvSpPr>
            <p:nvPr>
              <p:custDataLst>
                <p:tags r:id="rId8"/>
              </p:custDataLst>
            </p:nvPr>
          </p:nvSpPr>
          <p:spPr bwMode="auto">
            <a:xfrm>
              <a:off x="601" y="2495"/>
              <a:ext cx="602"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19050" rIns="19050" bIns="19050" anchor="ctr" anchorCtr="1"/>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en-US" altLang="zh-CN" baseline="0">
                  <a:solidFill>
                    <a:schemeClr val="tx1"/>
                  </a:solidFill>
                </a:rPr>
                <a:t>0</a:t>
              </a:r>
              <a:endParaRPr kumimoji="0" lang="en-US" altLang="zh-CN" baseline="0">
                <a:solidFill>
                  <a:schemeClr val="tx1"/>
                </a:solidFill>
              </a:endParaRPr>
            </a:p>
          </p:txBody>
        </p:sp>
        <p:sp>
          <p:nvSpPr>
            <p:cNvPr id="22543" name="Rectangle 9"/>
            <p:cNvSpPr>
              <a:spLocks noChangeArrowheads="1"/>
            </p:cNvSpPr>
            <p:nvPr>
              <p:custDataLst>
                <p:tags r:id="rId9"/>
              </p:custDataLst>
            </p:nvPr>
          </p:nvSpPr>
          <p:spPr bwMode="auto">
            <a:xfrm>
              <a:off x="601" y="2148"/>
              <a:ext cx="602"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19050" rIns="19050" bIns="19050" anchor="ctr" anchorCtr="1"/>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en-US" altLang="zh-CN" baseline="0">
                  <a:solidFill>
                    <a:schemeClr val="tx1"/>
                  </a:solidFill>
                </a:rPr>
                <a:t>0</a:t>
              </a:r>
              <a:endParaRPr kumimoji="0" lang="en-US" altLang="zh-CN" baseline="0">
                <a:solidFill>
                  <a:schemeClr val="tx1"/>
                </a:solidFill>
              </a:endParaRPr>
            </a:p>
          </p:txBody>
        </p:sp>
        <p:sp>
          <p:nvSpPr>
            <p:cNvPr id="22544" name="Rectangle 10"/>
            <p:cNvSpPr>
              <a:spLocks noChangeArrowheads="1"/>
            </p:cNvSpPr>
            <p:nvPr>
              <p:custDataLst>
                <p:tags r:id="rId10"/>
              </p:custDataLst>
            </p:nvPr>
          </p:nvSpPr>
          <p:spPr bwMode="auto">
            <a:xfrm>
              <a:off x="601" y="1835"/>
              <a:ext cx="602" cy="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19050" rIns="19050" bIns="19050" anchor="ctr" anchorCtr="1"/>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en-US" altLang="zh-CN" baseline="0">
                  <a:solidFill>
                    <a:schemeClr val="tx1"/>
                  </a:solidFill>
                </a:rPr>
                <a:t>1</a:t>
              </a:r>
              <a:endParaRPr kumimoji="0" lang="en-US" altLang="zh-CN" baseline="0">
                <a:solidFill>
                  <a:schemeClr val="tx1"/>
                </a:solidFill>
              </a:endParaRPr>
            </a:p>
          </p:txBody>
        </p:sp>
        <p:sp>
          <p:nvSpPr>
            <p:cNvPr id="22545" name="Rectangle 11"/>
            <p:cNvSpPr>
              <a:spLocks noChangeArrowheads="1"/>
            </p:cNvSpPr>
            <p:nvPr>
              <p:custDataLst>
                <p:tags r:id="rId11"/>
              </p:custDataLst>
            </p:nvPr>
          </p:nvSpPr>
          <p:spPr bwMode="auto">
            <a:xfrm>
              <a:off x="601" y="1451"/>
              <a:ext cx="60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19050" rIns="19050" bIns="19050" anchor="ctr" anchorCtr="1"/>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en-US" altLang="zh-CN" i="1" baseline="0">
                  <a:solidFill>
                    <a:schemeClr val="tx1"/>
                  </a:solidFill>
                </a:rPr>
                <a:t>EN</a:t>
              </a:r>
              <a:endParaRPr kumimoji="0" lang="en-US" altLang="zh-CN" i="1" baseline="0">
                <a:solidFill>
                  <a:schemeClr val="tx1"/>
                </a:solidFill>
              </a:endParaRPr>
            </a:p>
          </p:txBody>
        </p:sp>
        <p:sp>
          <p:nvSpPr>
            <p:cNvPr id="22546" name="Rectangle 12"/>
            <p:cNvSpPr>
              <a:spLocks noChangeArrowheads="1"/>
            </p:cNvSpPr>
            <p:nvPr>
              <p:custDataLst>
                <p:tags r:id="rId12"/>
              </p:custDataLst>
            </p:nvPr>
          </p:nvSpPr>
          <p:spPr bwMode="auto">
            <a:xfrm>
              <a:off x="601" y="889"/>
              <a:ext cx="602" cy="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19050" rIns="19050" bIns="19050" anchor="ctr" anchorCtr="1"/>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zh-CN" altLang="en-US" baseline="0">
                  <a:solidFill>
                    <a:schemeClr val="tx1"/>
                  </a:solidFill>
                </a:rPr>
                <a:t>使能输入</a:t>
              </a:r>
              <a:endParaRPr kumimoji="0" lang="zh-CN" altLang="en-US" baseline="0">
                <a:solidFill>
                  <a:schemeClr val="tx1"/>
                </a:solidFill>
              </a:endParaRPr>
            </a:p>
          </p:txBody>
        </p:sp>
        <p:sp>
          <p:nvSpPr>
            <p:cNvPr id="22547" name="Rectangle 13"/>
            <p:cNvSpPr>
              <a:spLocks noChangeArrowheads="1"/>
            </p:cNvSpPr>
            <p:nvPr>
              <p:custDataLst>
                <p:tags r:id="rId13"/>
              </p:custDataLst>
            </p:nvPr>
          </p:nvSpPr>
          <p:spPr bwMode="auto">
            <a:xfrm>
              <a:off x="1980" y="3189"/>
              <a:ext cx="1554"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19050" rIns="19050" bIns="19050" anchor="ctr" anchorCtr="1"/>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en-US" altLang="zh-CN" baseline="0">
                  <a:solidFill>
                    <a:schemeClr val="tx1"/>
                  </a:solidFill>
                </a:rPr>
                <a:t>1     1     1      </a:t>
              </a:r>
              <a:r>
                <a:rPr kumimoji="0" lang="en-US" altLang="zh-CN" baseline="0">
                  <a:solidFill>
                    <a:schemeClr val="accent2"/>
                  </a:solidFill>
                </a:rPr>
                <a:t>0</a:t>
              </a:r>
              <a:endParaRPr kumimoji="0" lang="en-US" altLang="zh-CN" baseline="0">
                <a:solidFill>
                  <a:schemeClr val="accent2"/>
                </a:solidFill>
              </a:endParaRPr>
            </a:p>
          </p:txBody>
        </p:sp>
        <p:sp>
          <p:nvSpPr>
            <p:cNvPr id="22548" name="Rectangle 14"/>
            <p:cNvSpPr>
              <a:spLocks noChangeArrowheads="1"/>
            </p:cNvSpPr>
            <p:nvPr>
              <p:custDataLst>
                <p:tags r:id="rId14"/>
              </p:custDataLst>
            </p:nvPr>
          </p:nvSpPr>
          <p:spPr bwMode="auto">
            <a:xfrm>
              <a:off x="1203" y="3189"/>
              <a:ext cx="777"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19050" rIns="19050" bIns="19050" anchor="ctr" anchorCtr="1"/>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en-US" altLang="zh-CN" baseline="0">
                  <a:solidFill>
                    <a:schemeClr val="tx1"/>
                  </a:solidFill>
                </a:rPr>
                <a:t>1     1</a:t>
              </a:r>
              <a:endParaRPr kumimoji="0" lang="en-US" altLang="zh-CN" baseline="0">
                <a:solidFill>
                  <a:schemeClr val="tx1"/>
                </a:solidFill>
              </a:endParaRPr>
            </a:p>
          </p:txBody>
        </p:sp>
        <p:sp>
          <p:nvSpPr>
            <p:cNvPr id="22549" name="Rectangle 15"/>
            <p:cNvSpPr>
              <a:spLocks noChangeArrowheads="1"/>
            </p:cNvSpPr>
            <p:nvPr>
              <p:custDataLst>
                <p:tags r:id="rId15"/>
              </p:custDataLst>
            </p:nvPr>
          </p:nvSpPr>
          <p:spPr bwMode="auto">
            <a:xfrm>
              <a:off x="1980" y="2495"/>
              <a:ext cx="1554"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19050" rIns="19050" bIns="19050" anchor="ctr" anchorCtr="1"/>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en-US" altLang="zh-CN" baseline="0">
                  <a:solidFill>
                    <a:schemeClr val="tx1"/>
                  </a:solidFill>
                </a:rPr>
                <a:t>1     </a:t>
              </a:r>
              <a:r>
                <a:rPr kumimoji="0" lang="en-US" altLang="zh-CN" baseline="0">
                  <a:solidFill>
                    <a:schemeClr val="accent2"/>
                  </a:solidFill>
                </a:rPr>
                <a:t>0  </a:t>
              </a:r>
              <a:r>
                <a:rPr kumimoji="0" lang="en-US" altLang="zh-CN" baseline="0">
                  <a:solidFill>
                    <a:schemeClr val="tx1"/>
                  </a:solidFill>
                </a:rPr>
                <a:t>   1      1</a:t>
              </a:r>
              <a:endParaRPr kumimoji="0" lang="en-US" altLang="zh-CN" baseline="0">
                <a:solidFill>
                  <a:schemeClr val="tx1"/>
                </a:solidFill>
              </a:endParaRPr>
            </a:p>
          </p:txBody>
        </p:sp>
        <p:sp>
          <p:nvSpPr>
            <p:cNvPr id="22550" name="Rectangle 16"/>
            <p:cNvSpPr>
              <a:spLocks noChangeArrowheads="1"/>
            </p:cNvSpPr>
            <p:nvPr>
              <p:custDataLst>
                <p:tags r:id="rId16"/>
              </p:custDataLst>
            </p:nvPr>
          </p:nvSpPr>
          <p:spPr bwMode="auto">
            <a:xfrm>
              <a:off x="1203" y="2495"/>
              <a:ext cx="777"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19050" rIns="19050" bIns="19050" anchor="ctr" anchorCtr="1"/>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en-US" altLang="zh-CN" baseline="0">
                  <a:solidFill>
                    <a:schemeClr val="tx1"/>
                  </a:solidFill>
                </a:rPr>
                <a:t>0     1</a:t>
              </a:r>
              <a:endParaRPr kumimoji="0" lang="en-US" altLang="zh-CN" baseline="0">
                <a:solidFill>
                  <a:schemeClr val="tx1"/>
                </a:solidFill>
              </a:endParaRPr>
            </a:p>
          </p:txBody>
        </p:sp>
        <p:sp>
          <p:nvSpPr>
            <p:cNvPr id="22551" name="Rectangle 17"/>
            <p:cNvSpPr>
              <a:spLocks noChangeArrowheads="1"/>
            </p:cNvSpPr>
            <p:nvPr>
              <p:custDataLst>
                <p:tags r:id="rId17"/>
              </p:custDataLst>
            </p:nvPr>
          </p:nvSpPr>
          <p:spPr bwMode="auto">
            <a:xfrm>
              <a:off x="1980" y="2148"/>
              <a:ext cx="1554"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19050" rIns="19050" bIns="19050" anchor="ctr" anchorCtr="1"/>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en-US" altLang="zh-CN" baseline="0">
                  <a:solidFill>
                    <a:schemeClr val="accent2"/>
                  </a:solidFill>
                </a:rPr>
                <a:t>0</a:t>
              </a:r>
              <a:r>
                <a:rPr kumimoji="0" lang="en-US" altLang="zh-CN" baseline="0">
                  <a:solidFill>
                    <a:schemeClr val="tx1"/>
                  </a:solidFill>
                </a:rPr>
                <a:t>     1     1      1 </a:t>
              </a:r>
              <a:endParaRPr kumimoji="0" lang="en-US" altLang="zh-CN" baseline="0">
                <a:solidFill>
                  <a:schemeClr val="tx1"/>
                </a:solidFill>
              </a:endParaRPr>
            </a:p>
          </p:txBody>
        </p:sp>
        <p:sp>
          <p:nvSpPr>
            <p:cNvPr id="22552" name="Rectangle 18"/>
            <p:cNvSpPr>
              <a:spLocks noChangeArrowheads="1"/>
            </p:cNvSpPr>
            <p:nvPr>
              <p:custDataLst>
                <p:tags r:id="rId18"/>
              </p:custDataLst>
            </p:nvPr>
          </p:nvSpPr>
          <p:spPr bwMode="auto">
            <a:xfrm>
              <a:off x="1203" y="2148"/>
              <a:ext cx="777" cy="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19050" rIns="19050" bIns="19050" anchor="ctr" anchorCtr="1"/>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en-US" altLang="zh-CN" baseline="0">
                  <a:solidFill>
                    <a:schemeClr val="tx1"/>
                  </a:solidFill>
                </a:rPr>
                <a:t>0     0</a:t>
              </a:r>
              <a:endParaRPr kumimoji="0" lang="en-US" altLang="zh-CN" baseline="0">
                <a:solidFill>
                  <a:schemeClr val="tx1"/>
                </a:solidFill>
              </a:endParaRPr>
            </a:p>
          </p:txBody>
        </p:sp>
        <p:sp>
          <p:nvSpPr>
            <p:cNvPr id="22553" name="Rectangle 19"/>
            <p:cNvSpPr>
              <a:spLocks noChangeArrowheads="1"/>
            </p:cNvSpPr>
            <p:nvPr>
              <p:custDataLst>
                <p:tags r:id="rId19"/>
              </p:custDataLst>
            </p:nvPr>
          </p:nvSpPr>
          <p:spPr bwMode="auto">
            <a:xfrm>
              <a:off x="1980" y="1835"/>
              <a:ext cx="1554" cy="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19050" rIns="19050" bIns="19050" anchor="ctr" anchorCtr="1"/>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en-US" altLang="zh-CN" baseline="0">
                  <a:solidFill>
                    <a:schemeClr val="tx1"/>
                  </a:solidFill>
                </a:rPr>
                <a:t>1     1     1      1  </a:t>
              </a:r>
              <a:endParaRPr kumimoji="0" lang="en-US" altLang="zh-CN" baseline="0">
                <a:solidFill>
                  <a:schemeClr val="tx1"/>
                </a:solidFill>
              </a:endParaRPr>
            </a:p>
          </p:txBody>
        </p:sp>
        <p:sp>
          <p:nvSpPr>
            <p:cNvPr id="22554" name="Rectangle 20"/>
            <p:cNvSpPr>
              <a:spLocks noChangeArrowheads="1"/>
            </p:cNvSpPr>
            <p:nvPr>
              <p:custDataLst>
                <p:tags r:id="rId20"/>
              </p:custDataLst>
            </p:nvPr>
          </p:nvSpPr>
          <p:spPr bwMode="auto">
            <a:xfrm>
              <a:off x="1203" y="1835"/>
              <a:ext cx="777" cy="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19050" rIns="19050" bIns="19050" anchor="ctr" anchorCtr="1"/>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en-US" altLang="zh-CN" i="1" baseline="0">
                  <a:solidFill>
                    <a:schemeClr val="tx1"/>
                  </a:solidFill>
                  <a:cs typeface="Times New Roman" panose="02020603050405020304" pitchFamily="18" charset="0"/>
                </a:rPr>
                <a:t>Ø</a:t>
              </a:r>
              <a:r>
                <a:rPr kumimoji="0" lang="en-US" altLang="zh-CN" i="1" baseline="0">
                  <a:solidFill>
                    <a:schemeClr val="tx1"/>
                  </a:solidFill>
                </a:rPr>
                <a:t>     </a:t>
              </a:r>
              <a:r>
                <a:rPr kumimoji="0" lang="en-US" altLang="zh-CN" i="1" baseline="0">
                  <a:solidFill>
                    <a:schemeClr val="tx1"/>
                  </a:solidFill>
                  <a:cs typeface="Times New Roman" panose="02020603050405020304" pitchFamily="18" charset="0"/>
                </a:rPr>
                <a:t>Ø</a:t>
              </a:r>
              <a:endParaRPr kumimoji="0" lang="en-US" altLang="zh-CN" i="1" baseline="0">
                <a:solidFill>
                  <a:schemeClr val="tx1"/>
                </a:solidFill>
              </a:endParaRPr>
            </a:p>
          </p:txBody>
        </p:sp>
        <p:sp>
          <p:nvSpPr>
            <p:cNvPr id="22555" name="Rectangle 21"/>
            <p:cNvSpPr>
              <a:spLocks noChangeArrowheads="1"/>
            </p:cNvSpPr>
            <p:nvPr>
              <p:custDataLst>
                <p:tags r:id="rId21"/>
              </p:custDataLst>
            </p:nvPr>
          </p:nvSpPr>
          <p:spPr bwMode="auto">
            <a:xfrm>
              <a:off x="1980" y="1451"/>
              <a:ext cx="155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19050" rIns="19050" bIns="19050" anchor="ctr" anchorCtr="1"/>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en-US" altLang="zh-CN" i="1" baseline="0">
                  <a:solidFill>
                    <a:schemeClr val="tx1"/>
                  </a:solidFill>
                </a:rPr>
                <a:t>Y</a:t>
              </a:r>
              <a:r>
                <a:rPr kumimoji="0" lang="en-US" altLang="zh-CN" baseline="-25000">
                  <a:solidFill>
                    <a:schemeClr val="hlink"/>
                  </a:solidFill>
                </a:rPr>
                <a:t>0</a:t>
              </a:r>
              <a:r>
                <a:rPr kumimoji="0" lang="en-US" altLang="zh-CN" baseline="0">
                  <a:solidFill>
                    <a:schemeClr val="tx1"/>
                  </a:solidFill>
                </a:rPr>
                <a:t>    </a:t>
              </a:r>
              <a:r>
                <a:rPr kumimoji="0" lang="en-US" altLang="zh-CN" i="1" baseline="0">
                  <a:solidFill>
                    <a:schemeClr val="tx1"/>
                  </a:solidFill>
                </a:rPr>
                <a:t>Y</a:t>
              </a:r>
              <a:r>
                <a:rPr kumimoji="0" lang="en-US" altLang="zh-CN" baseline="-25000">
                  <a:solidFill>
                    <a:schemeClr val="hlink"/>
                  </a:solidFill>
                </a:rPr>
                <a:t>1</a:t>
              </a:r>
              <a:r>
                <a:rPr kumimoji="0" lang="en-US" altLang="zh-CN" baseline="0">
                  <a:solidFill>
                    <a:schemeClr val="tx1"/>
                  </a:solidFill>
                </a:rPr>
                <a:t>   </a:t>
              </a:r>
              <a:r>
                <a:rPr kumimoji="0" lang="en-US" altLang="zh-CN" i="1" baseline="0">
                  <a:solidFill>
                    <a:schemeClr val="tx1"/>
                  </a:solidFill>
                </a:rPr>
                <a:t>Y</a:t>
              </a:r>
              <a:r>
                <a:rPr kumimoji="0" lang="en-US" altLang="zh-CN" baseline="-25000">
                  <a:solidFill>
                    <a:schemeClr val="hlink"/>
                  </a:solidFill>
                </a:rPr>
                <a:t>2</a:t>
              </a:r>
              <a:r>
                <a:rPr kumimoji="0" lang="en-US" altLang="zh-CN" baseline="-25000">
                  <a:solidFill>
                    <a:schemeClr val="tx1"/>
                  </a:solidFill>
                </a:rPr>
                <a:t>    </a:t>
              </a:r>
              <a:r>
                <a:rPr kumimoji="0" lang="en-US" altLang="zh-CN" i="1" baseline="0">
                  <a:solidFill>
                    <a:schemeClr val="tx1"/>
                  </a:solidFill>
                </a:rPr>
                <a:t>Y</a:t>
              </a:r>
              <a:r>
                <a:rPr kumimoji="0" lang="en-US" altLang="zh-CN" baseline="-25000">
                  <a:solidFill>
                    <a:schemeClr val="hlink"/>
                  </a:solidFill>
                </a:rPr>
                <a:t>3</a:t>
              </a:r>
              <a:endParaRPr kumimoji="0" lang="en-US" altLang="zh-CN" baseline="-25000">
                <a:solidFill>
                  <a:schemeClr val="hlink"/>
                </a:solidFill>
              </a:endParaRPr>
            </a:p>
          </p:txBody>
        </p:sp>
        <p:sp>
          <p:nvSpPr>
            <p:cNvPr id="22556" name="Rectangle 22"/>
            <p:cNvSpPr>
              <a:spLocks noChangeArrowheads="1"/>
            </p:cNvSpPr>
            <p:nvPr>
              <p:custDataLst>
                <p:tags r:id="rId22"/>
              </p:custDataLst>
            </p:nvPr>
          </p:nvSpPr>
          <p:spPr bwMode="auto">
            <a:xfrm>
              <a:off x="1203" y="1451"/>
              <a:ext cx="777"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19050" rIns="19050" bIns="19050" anchor="ctr" anchorCtr="1"/>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en-US" altLang="zh-CN" i="1" baseline="0">
                  <a:solidFill>
                    <a:schemeClr val="tx1"/>
                  </a:solidFill>
                </a:rPr>
                <a:t>A</a:t>
              </a:r>
              <a:r>
                <a:rPr kumimoji="0" lang="en-US" altLang="zh-CN" baseline="-25000">
                  <a:solidFill>
                    <a:schemeClr val="tx1"/>
                  </a:solidFill>
                </a:rPr>
                <a:t>1</a:t>
              </a:r>
              <a:r>
                <a:rPr kumimoji="0" lang="en-US" altLang="zh-CN" baseline="0">
                  <a:solidFill>
                    <a:schemeClr val="tx1"/>
                  </a:solidFill>
                </a:rPr>
                <a:t>   </a:t>
              </a:r>
              <a:r>
                <a:rPr kumimoji="0" lang="en-US" altLang="zh-CN" i="1" baseline="0">
                  <a:solidFill>
                    <a:schemeClr val="tx1"/>
                  </a:solidFill>
                </a:rPr>
                <a:t>A</a:t>
              </a:r>
              <a:r>
                <a:rPr kumimoji="0" lang="en-US" altLang="zh-CN" baseline="-25000">
                  <a:solidFill>
                    <a:schemeClr val="tx1"/>
                  </a:solidFill>
                </a:rPr>
                <a:t>0</a:t>
              </a:r>
              <a:r>
                <a:rPr kumimoji="0" lang="en-US" altLang="zh-CN" baseline="0">
                  <a:solidFill>
                    <a:schemeClr val="tx1"/>
                  </a:solidFill>
                </a:rPr>
                <a:t>  </a:t>
              </a:r>
              <a:endParaRPr kumimoji="0" lang="en-US" altLang="zh-CN" baseline="0">
                <a:solidFill>
                  <a:schemeClr val="tx1"/>
                </a:solidFill>
              </a:endParaRPr>
            </a:p>
          </p:txBody>
        </p:sp>
        <p:sp>
          <p:nvSpPr>
            <p:cNvPr id="22557" name="Rectangle 23"/>
            <p:cNvSpPr>
              <a:spLocks noChangeArrowheads="1"/>
            </p:cNvSpPr>
            <p:nvPr>
              <p:custDataLst>
                <p:tags r:id="rId23"/>
              </p:custDataLst>
            </p:nvPr>
          </p:nvSpPr>
          <p:spPr bwMode="auto">
            <a:xfrm>
              <a:off x="1980" y="889"/>
              <a:ext cx="1554" cy="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19050" rIns="19050" bIns="19050" anchor="ctr" anchorCtr="1"/>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zh-CN" altLang="en-US" baseline="0">
                  <a:solidFill>
                    <a:schemeClr val="tx1"/>
                  </a:solidFill>
                </a:rPr>
                <a:t>输        出</a:t>
              </a:r>
              <a:endParaRPr kumimoji="0" lang="zh-CN" altLang="en-US" baseline="0">
                <a:solidFill>
                  <a:schemeClr val="tx1"/>
                </a:solidFill>
              </a:endParaRPr>
            </a:p>
          </p:txBody>
        </p:sp>
        <p:sp>
          <p:nvSpPr>
            <p:cNvPr id="22558" name="Rectangle 24"/>
            <p:cNvSpPr>
              <a:spLocks noChangeArrowheads="1"/>
            </p:cNvSpPr>
            <p:nvPr>
              <p:custDataLst>
                <p:tags r:id="rId24"/>
              </p:custDataLst>
            </p:nvPr>
          </p:nvSpPr>
          <p:spPr bwMode="auto">
            <a:xfrm>
              <a:off x="1203" y="889"/>
              <a:ext cx="777" cy="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19050" rIns="19050" bIns="19050" anchor="ctr" anchorCtr="1"/>
            <a:lstStyle>
              <a:lvl1pPr>
                <a:defRPr kumimoji="1" sz="2800" baseline="50000">
                  <a:solidFill>
                    <a:srgbClr val="000000"/>
                  </a:solidFill>
                  <a:latin typeface="Times New Roman" panose="02020603050405020304" pitchFamily="18" charset="0"/>
                  <a:ea typeface="宋体" panose="02010600030101010101" pitchFamily="2" charset="-122"/>
                </a:defRPr>
              </a:lvl1pPr>
              <a:lvl2pPr marL="742950" indent="-285750">
                <a:defRPr kumimoji="1" sz="2800" baseline="50000">
                  <a:solidFill>
                    <a:srgbClr val="000000"/>
                  </a:solidFill>
                  <a:latin typeface="Times New Roman" panose="02020603050405020304" pitchFamily="18" charset="0"/>
                  <a:ea typeface="宋体" panose="02010600030101010101" pitchFamily="2" charset="-122"/>
                </a:defRPr>
              </a:lvl2pPr>
              <a:lvl3pPr marL="1143000" indent="-228600">
                <a:defRPr kumimoji="1" sz="2800" baseline="50000">
                  <a:solidFill>
                    <a:srgbClr val="000000"/>
                  </a:solidFill>
                  <a:latin typeface="Times New Roman" panose="02020603050405020304" pitchFamily="18" charset="0"/>
                  <a:ea typeface="宋体" panose="02010600030101010101" pitchFamily="2" charset="-122"/>
                </a:defRPr>
              </a:lvl3pPr>
              <a:lvl4pPr marL="1600200" indent="-228600">
                <a:defRPr kumimoji="1" sz="2800" baseline="50000">
                  <a:solidFill>
                    <a:srgbClr val="000000"/>
                  </a:solidFill>
                  <a:latin typeface="Times New Roman" panose="02020603050405020304" pitchFamily="18" charset="0"/>
                  <a:ea typeface="宋体" panose="02010600030101010101" pitchFamily="2" charset="-122"/>
                </a:defRPr>
              </a:lvl4pPr>
              <a:lvl5pPr marL="2057400" indent="-228600">
                <a:defRPr kumimoji="1" sz="2800" baseline="500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aseline="50000">
                  <a:solidFill>
                    <a:srgbClr val="000000"/>
                  </a:solidFill>
                  <a:latin typeface="Times New Roman" panose="02020603050405020304" pitchFamily="18" charset="0"/>
                  <a:ea typeface="宋体" panose="02010600030101010101" pitchFamily="2" charset="-122"/>
                </a:defRPr>
              </a:lvl9pPr>
            </a:lstStyle>
            <a:p>
              <a:r>
                <a:rPr kumimoji="0" lang="zh-CN" altLang="en-US" baseline="0">
                  <a:solidFill>
                    <a:schemeClr val="tx1"/>
                  </a:solidFill>
                </a:rPr>
                <a:t>输  入</a:t>
              </a:r>
              <a:endParaRPr kumimoji="0" lang="zh-CN" altLang="en-US" baseline="0">
                <a:solidFill>
                  <a:schemeClr val="tx1"/>
                </a:solidFill>
              </a:endParaRPr>
            </a:p>
          </p:txBody>
        </p:sp>
        <p:sp>
          <p:nvSpPr>
            <p:cNvPr id="22559" name="Line 25"/>
            <p:cNvSpPr>
              <a:spLocks noChangeShapeType="1"/>
            </p:cNvSpPr>
            <p:nvPr>
              <p:custDataLst>
                <p:tags r:id="rId25"/>
              </p:custDataLst>
            </p:nvPr>
          </p:nvSpPr>
          <p:spPr bwMode="auto">
            <a:xfrm>
              <a:off x="601" y="1451"/>
              <a:ext cx="293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560" name="Line 26"/>
            <p:cNvSpPr>
              <a:spLocks noChangeShapeType="1"/>
            </p:cNvSpPr>
            <p:nvPr>
              <p:custDataLst>
                <p:tags r:id="rId26"/>
              </p:custDataLst>
            </p:nvPr>
          </p:nvSpPr>
          <p:spPr bwMode="auto">
            <a:xfrm>
              <a:off x="601" y="1835"/>
              <a:ext cx="293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561" name="Line 27"/>
            <p:cNvSpPr>
              <a:spLocks noChangeShapeType="1"/>
            </p:cNvSpPr>
            <p:nvPr>
              <p:custDataLst>
                <p:tags r:id="rId27"/>
              </p:custDataLst>
            </p:nvPr>
          </p:nvSpPr>
          <p:spPr bwMode="auto">
            <a:xfrm>
              <a:off x="601" y="2148"/>
              <a:ext cx="293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562" name="Line 28"/>
            <p:cNvSpPr>
              <a:spLocks noChangeShapeType="1"/>
            </p:cNvSpPr>
            <p:nvPr>
              <p:custDataLst>
                <p:tags r:id="rId28"/>
              </p:custDataLst>
            </p:nvPr>
          </p:nvSpPr>
          <p:spPr bwMode="auto">
            <a:xfrm>
              <a:off x="601" y="2495"/>
              <a:ext cx="293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563" name="Line 29"/>
            <p:cNvSpPr>
              <a:spLocks noChangeShapeType="1"/>
            </p:cNvSpPr>
            <p:nvPr>
              <p:custDataLst>
                <p:tags r:id="rId29"/>
              </p:custDataLst>
            </p:nvPr>
          </p:nvSpPr>
          <p:spPr bwMode="auto">
            <a:xfrm>
              <a:off x="601" y="2842"/>
              <a:ext cx="293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564" name="Line 30"/>
            <p:cNvSpPr>
              <a:spLocks noChangeShapeType="1"/>
            </p:cNvSpPr>
            <p:nvPr>
              <p:custDataLst>
                <p:tags r:id="rId30"/>
              </p:custDataLst>
            </p:nvPr>
          </p:nvSpPr>
          <p:spPr bwMode="auto">
            <a:xfrm>
              <a:off x="601" y="3536"/>
              <a:ext cx="2933"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565" name="Line 31"/>
            <p:cNvSpPr>
              <a:spLocks noChangeShapeType="1"/>
            </p:cNvSpPr>
            <p:nvPr>
              <p:custDataLst>
                <p:tags r:id="rId31"/>
              </p:custDataLst>
            </p:nvPr>
          </p:nvSpPr>
          <p:spPr bwMode="auto">
            <a:xfrm>
              <a:off x="601" y="889"/>
              <a:ext cx="0" cy="2647"/>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566" name="Line 32"/>
            <p:cNvSpPr>
              <a:spLocks noChangeShapeType="1"/>
            </p:cNvSpPr>
            <p:nvPr>
              <p:custDataLst>
                <p:tags r:id="rId32"/>
              </p:custDataLst>
            </p:nvPr>
          </p:nvSpPr>
          <p:spPr bwMode="auto">
            <a:xfrm>
              <a:off x="1980" y="889"/>
              <a:ext cx="0" cy="264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567" name="Line 33"/>
            <p:cNvSpPr>
              <a:spLocks noChangeShapeType="1"/>
            </p:cNvSpPr>
            <p:nvPr>
              <p:custDataLst>
                <p:tags r:id="rId33"/>
              </p:custDataLst>
            </p:nvPr>
          </p:nvSpPr>
          <p:spPr bwMode="auto">
            <a:xfrm>
              <a:off x="3534" y="889"/>
              <a:ext cx="0" cy="2647"/>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568" name="Line 34"/>
            <p:cNvSpPr>
              <a:spLocks noChangeShapeType="1"/>
            </p:cNvSpPr>
            <p:nvPr>
              <p:custDataLst>
                <p:tags r:id="rId34"/>
              </p:custDataLst>
            </p:nvPr>
          </p:nvSpPr>
          <p:spPr bwMode="auto">
            <a:xfrm>
              <a:off x="601" y="889"/>
              <a:ext cx="2933"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2569" name="Line 35"/>
            <p:cNvSpPr>
              <a:spLocks noChangeShapeType="1"/>
            </p:cNvSpPr>
            <p:nvPr>
              <p:custDataLst>
                <p:tags r:id="rId35"/>
              </p:custDataLst>
            </p:nvPr>
          </p:nvSpPr>
          <p:spPr bwMode="auto">
            <a:xfrm>
              <a:off x="1203" y="889"/>
              <a:ext cx="0" cy="264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2570" name="Line 36"/>
            <p:cNvSpPr>
              <a:spLocks noChangeShapeType="1"/>
            </p:cNvSpPr>
            <p:nvPr>
              <p:custDataLst>
                <p:tags r:id="rId36"/>
              </p:custDataLst>
            </p:nvPr>
          </p:nvSpPr>
          <p:spPr bwMode="auto">
            <a:xfrm>
              <a:off x="601" y="3189"/>
              <a:ext cx="293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2571" name="Line 37"/>
            <p:cNvSpPr>
              <a:spLocks noChangeShapeType="1"/>
            </p:cNvSpPr>
            <p:nvPr>
              <p:custDataLst>
                <p:tags r:id="rId37"/>
              </p:custDataLst>
            </p:nvPr>
          </p:nvSpPr>
          <p:spPr bwMode="auto">
            <a:xfrm>
              <a:off x="2102" y="1507"/>
              <a:ext cx="147"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72" name="Line 38"/>
            <p:cNvSpPr>
              <a:spLocks noChangeShapeType="1"/>
            </p:cNvSpPr>
            <p:nvPr>
              <p:custDataLst>
                <p:tags r:id="rId38"/>
              </p:custDataLst>
            </p:nvPr>
          </p:nvSpPr>
          <p:spPr bwMode="auto">
            <a:xfrm>
              <a:off x="2517" y="1510"/>
              <a:ext cx="147"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73" name="Line 39"/>
            <p:cNvSpPr>
              <a:spLocks noChangeShapeType="1"/>
            </p:cNvSpPr>
            <p:nvPr>
              <p:custDataLst>
                <p:tags r:id="rId39"/>
              </p:custDataLst>
            </p:nvPr>
          </p:nvSpPr>
          <p:spPr bwMode="auto">
            <a:xfrm>
              <a:off x="2891" y="1510"/>
              <a:ext cx="147"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74" name="Line 40"/>
            <p:cNvSpPr>
              <a:spLocks noChangeShapeType="1"/>
            </p:cNvSpPr>
            <p:nvPr>
              <p:custDataLst>
                <p:tags r:id="rId40"/>
              </p:custDataLst>
            </p:nvPr>
          </p:nvSpPr>
          <p:spPr bwMode="auto">
            <a:xfrm>
              <a:off x="3236" y="1512"/>
              <a:ext cx="147"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575" name="Line 41"/>
            <p:cNvSpPr>
              <a:spLocks noChangeShapeType="1"/>
            </p:cNvSpPr>
            <p:nvPr>
              <p:custDataLst>
                <p:tags r:id="rId41"/>
              </p:custDataLst>
            </p:nvPr>
          </p:nvSpPr>
          <p:spPr bwMode="auto">
            <a:xfrm>
              <a:off x="775" y="1537"/>
              <a:ext cx="282"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Tree>
  </p:cSld>
  <p:clrMapOvr>
    <a:masterClrMapping/>
  </p:clrMapOvr>
  <p:timing>
    <p:tnLst>
      <p:par>
        <p:cTn id="1" dur="indefinite" restart="never" nodeType="tmRoot"/>
      </p:par>
    </p:tnLst>
    <p:bldLst>
      <p:bldP spid="14" grpId="0" bldLvl="0" animBg="1" autoUpdateAnimBg="0"/>
      <p:bldP spid="5" grpId="0" bldLvl="0" animBg="1" autoUpdateAnimBg="0"/>
      <p:bldP spid="6" grpId="0" bldLvl="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4" name="Text Box 142"/>
          <p:cNvSpPr txBox="1">
            <a:spLocks noChangeArrowheads="1"/>
          </p:cNvSpPr>
          <p:nvPr/>
        </p:nvSpPr>
        <p:spPr bwMode="auto">
          <a:xfrm>
            <a:off x="197923" y="76625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3.3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MSI</a:t>
            </a:r>
            <a:r>
              <a:rPr kumimoji="0" lang="zh-CN" altLang="en-US" dirty="0">
                <a:solidFill>
                  <a:srgbClr val="000000"/>
                </a:solidFill>
                <a:latin typeface="黑体" panose="02010609060101010101" pitchFamily="49" charset="-122"/>
                <a:ea typeface="黑体" panose="02010609060101010101" pitchFamily="49" charset="-122"/>
              </a:rPr>
              <a:t>组合逻辑电路</a:t>
            </a:r>
            <a:r>
              <a:rPr kumimoji="0" lang="zh-CN" altLang="en-US" dirty="0">
                <a:solidFill>
                  <a:srgbClr val="000000"/>
                </a:solidFill>
                <a:latin typeface="黑体" panose="02010609060101010101" pitchFamily="49" charset="-122"/>
                <a:ea typeface="黑体" panose="02010609060101010101" pitchFamily="49" charset="-122"/>
              </a:rPr>
              <a:t>模块</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custDataLst>
              <p:tags r:id="rId1"/>
            </p:custDataLst>
          </p:nvPr>
        </p:nvSpPr>
        <p:spPr bwMode="auto">
          <a:xfrm>
            <a:off x="404933" y="124377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(5)</a:t>
            </a:r>
            <a:r>
              <a:rPr kumimoji="0" lang="zh-CN" altLang="en-US" sz="2400" b="1" dirty="0">
                <a:sym typeface="+mn-ea"/>
              </a:rPr>
              <a:t>七段数码管</a:t>
            </a:r>
            <a:r>
              <a:rPr kumimoji="0" lang="en-US" altLang="zh-CN" sz="2400" b="1" dirty="0">
                <a:sym typeface="+mn-ea"/>
              </a:rPr>
              <a:t> </a:t>
            </a:r>
            <a:endParaRPr kumimoji="0" lang="en-US" altLang="zh-CN" sz="2400" dirty="0">
              <a:solidFill>
                <a:srgbClr val="000000"/>
              </a:solidFill>
              <a:latin typeface="黑体" panose="02010609060101010101" pitchFamily="49" charset="-122"/>
              <a:ea typeface="黑体" panose="02010609060101010101" pitchFamily="49" charset="-122"/>
            </a:endParaRPr>
          </a:p>
        </p:txBody>
      </p:sp>
      <p:sp>
        <p:nvSpPr>
          <p:cNvPr id="6" name="Text Box 4"/>
          <p:cNvSpPr txBox="1">
            <a:spLocks noChangeArrowheads="1"/>
          </p:cNvSpPr>
          <p:nvPr/>
        </p:nvSpPr>
        <p:spPr bwMode="auto">
          <a:xfrm>
            <a:off x="1669375" y="1474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grpSp>
        <p:nvGrpSpPr>
          <p:cNvPr id="128037" name="Group 37"/>
          <p:cNvGrpSpPr/>
          <p:nvPr/>
        </p:nvGrpSpPr>
        <p:grpSpPr bwMode="auto">
          <a:xfrm>
            <a:off x="3588385" y="1175385"/>
            <a:ext cx="5404485" cy="2830195"/>
            <a:chOff x="1984" y="168"/>
            <a:chExt cx="3273" cy="1667"/>
          </a:xfrm>
        </p:grpSpPr>
        <p:pic>
          <p:nvPicPr>
            <p:cNvPr id="36880" name="Picture 4"/>
            <p:cNvPicPr>
              <a:picLocks noChangeAspect="1" noChangeArrowheads="1"/>
            </p:cNvPicPr>
            <p:nvPr>
              <p:custDataLst>
                <p:tags r:id="rId2"/>
              </p:custDataLst>
            </p:nvPr>
          </p:nvPicPr>
          <p:blipFill>
            <a:blip r:embed="rId3" cstate="print">
              <a:extLst>
                <a:ext uri="{28A0092B-C50C-407E-A947-70E740481C1C}">
                  <a14:useLocalDpi xmlns:a14="http://schemas.microsoft.com/office/drawing/2010/main" val="0"/>
                </a:ext>
              </a:extLst>
            </a:blip>
            <a:srcRect l="38655" t="3456" r="40900" b="80106"/>
            <a:stretch>
              <a:fillRect/>
            </a:stretch>
          </p:blipFill>
          <p:spPr bwMode="auto">
            <a:xfrm>
              <a:off x="1984" y="168"/>
              <a:ext cx="3273" cy="1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881" name="Line 13"/>
            <p:cNvSpPr>
              <a:spLocks noChangeShapeType="1"/>
            </p:cNvSpPr>
            <p:nvPr>
              <p:custDataLst>
                <p:tags r:id="rId4"/>
              </p:custDataLst>
            </p:nvPr>
          </p:nvSpPr>
          <p:spPr bwMode="auto">
            <a:xfrm>
              <a:off x="4974" y="1103"/>
              <a:ext cx="75" cy="145"/>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sp>
          <p:nvSpPr>
            <p:cNvPr id="36882" name="Line 14"/>
            <p:cNvSpPr>
              <a:spLocks noChangeShapeType="1"/>
            </p:cNvSpPr>
            <p:nvPr>
              <p:custDataLst>
                <p:tags r:id="rId5"/>
              </p:custDataLst>
            </p:nvPr>
          </p:nvSpPr>
          <p:spPr bwMode="auto">
            <a:xfrm>
              <a:off x="4918" y="1103"/>
              <a:ext cx="75" cy="145"/>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sp>
          <p:nvSpPr>
            <p:cNvPr id="36883" name="Line 15"/>
            <p:cNvSpPr>
              <a:spLocks noChangeShapeType="1"/>
            </p:cNvSpPr>
            <p:nvPr>
              <p:custDataLst>
                <p:tags r:id="rId6"/>
              </p:custDataLst>
            </p:nvPr>
          </p:nvSpPr>
          <p:spPr bwMode="auto">
            <a:xfrm>
              <a:off x="4666" y="1103"/>
              <a:ext cx="75" cy="145"/>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sp>
          <p:nvSpPr>
            <p:cNvPr id="36884" name="Line 16"/>
            <p:cNvSpPr>
              <a:spLocks noChangeShapeType="1"/>
            </p:cNvSpPr>
            <p:nvPr>
              <p:custDataLst>
                <p:tags r:id="rId7"/>
              </p:custDataLst>
            </p:nvPr>
          </p:nvSpPr>
          <p:spPr bwMode="auto">
            <a:xfrm>
              <a:off x="4610" y="1103"/>
              <a:ext cx="75" cy="145"/>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sp>
          <p:nvSpPr>
            <p:cNvPr id="36885" name="Line 17"/>
            <p:cNvSpPr>
              <a:spLocks noChangeShapeType="1"/>
            </p:cNvSpPr>
            <p:nvPr>
              <p:custDataLst>
                <p:tags r:id="rId8"/>
              </p:custDataLst>
            </p:nvPr>
          </p:nvSpPr>
          <p:spPr bwMode="auto">
            <a:xfrm>
              <a:off x="4325" y="1103"/>
              <a:ext cx="75" cy="145"/>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sp>
          <p:nvSpPr>
            <p:cNvPr id="36886" name="Line 18"/>
            <p:cNvSpPr>
              <a:spLocks noChangeShapeType="1"/>
            </p:cNvSpPr>
            <p:nvPr>
              <p:custDataLst>
                <p:tags r:id="rId9"/>
              </p:custDataLst>
            </p:nvPr>
          </p:nvSpPr>
          <p:spPr bwMode="auto">
            <a:xfrm>
              <a:off x="4269" y="1103"/>
              <a:ext cx="75" cy="145"/>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sp>
          <p:nvSpPr>
            <p:cNvPr id="36887" name="Line 19"/>
            <p:cNvSpPr>
              <a:spLocks noChangeShapeType="1"/>
            </p:cNvSpPr>
            <p:nvPr>
              <p:custDataLst>
                <p:tags r:id="rId10"/>
              </p:custDataLst>
            </p:nvPr>
          </p:nvSpPr>
          <p:spPr bwMode="auto">
            <a:xfrm>
              <a:off x="4017" y="1103"/>
              <a:ext cx="75" cy="145"/>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sp>
          <p:nvSpPr>
            <p:cNvPr id="36888" name="Line 20"/>
            <p:cNvSpPr>
              <a:spLocks noChangeShapeType="1"/>
            </p:cNvSpPr>
            <p:nvPr>
              <p:custDataLst>
                <p:tags r:id="rId11"/>
              </p:custDataLst>
            </p:nvPr>
          </p:nvSpPr>
          <p:spPr bwMode="auto">
            <a:xfrm>
              <a:off x="3961" y="1103"/>
              <a:ext cx="75" cy="145"/>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sp>
          <p:nvSpPr>
            <p:cNvPr id="36889" name="Line 21"/>
            <p:cNvSpPr>
              <a:spLocks noChangeShapeType="1"/>
            </p:cNvSpPr>
            <p:nvPr>
              <p:custDataLst>
                <p:tags r:id="rId12"/>
              </p:custDataLst>
            </p:nvPr>
          </p:nvSpPr>
          <p:spPr bwMode="auto">
            <a:xfrm>
              <a:off x="3692" y="1103"/>
              <a:ext cx="75" cy="145"/>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sp>
          <p:nvSpPr>
            <p:cNvPr id="36890" name="Line 22"/>
            <p:cNvSpPr>
              <a:spLocks noChangeShapeType="1"/>
            </p:cNvSpPr>
            <p:nvPr>
              <p:custDataLst>
                <p:tags r:id="rId13"/>
              </p:custDataLst>
            </p:nvPr>
          </p:nvSpPr>
          <p:spPr bwMode="auto">
            <a:xfrm>
              <a:off x="3636" y="1103"/>
              <a:ext cx="75" cy="145"/>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sp>
          <p:nvSpPr>
            <p:cNvPr id="36891" name="Line 23"/>
            <p:cNvSpPr>
              <a:spLocks noChangeShapeType="1"/>
            </p:cNvSpPr>
            <p:nvPr>
              <p:custDataLst>
                <p:tags r:id="rId14"/>
              </p:custDataLst>
            </p:nvPr>
          </p:nvSpPr>
          <p:spPr bwMode="auto">
            <a:xfrm>
              <a:off x="3376" y="1103"/>
              <a:ext cx="75" cy="145"/>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sp>
          <p:nvSpPr>
            <p:cNvPr id="36892" name="Line 24"/>
            <p:cNvSpPr>
              <a:spLocks noChangeShapeType="1"/>
            </p:cNvSpPr>
            <p:nvPr>
              <p:custDataLst>
                <p:tags r:id="rId15"/>
              </p:custDataLst>
            </p:nvPr>
          </p:nvSpPr>
          <p:spPr bwMode="auto">
            <a:xfrm>
              <a:off x="3320" y="1103"/>
              <a:ext cx="75" cy="145"/>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sp>
          <p:nvSpPr>
            <p:cNvPr id="36893" name="Line 25"/>
            <p:cNvSpPr>
              <a:spLocks noChangeShapeType="1"/>
            </p:cNvSpPr>
            <p:nvPr>
              <p:custDataLst>
                <p:tags r:id="rId16"/>
              </p:custDataLst>
            </p:nvPr>
          </p:nvSpPr>
          <p:spPr bwMode="auto">
            <a:xfrm>
              <a:off x="3068" y="1103"/>
              <a:ext cx="75" cy="145"/>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sp>
          <p:nvSpPr>
            <p:cNvPr id="36894" name="Line 26"/>
            <p:cNvSpPr>
              <a:spLocks noChangeShapeType="1"/>
            </p:cNvSpPr>
            <p:nvPr>
              <p:custDataLst>
                <p:tags r:id="rId17"/>
              </p:custDataLst>
            </p:nvPr>
          </p:nvSpPr>
          <p:spPr bwMode="auto">
            <a:xfrm>
              <a:off x="3012" y="1103"/>
              <a:ext cx="75" cy="145"/>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sp>
          <p:nvSpPr>
            <p:cNvPr id="36895" name="Line 27"/>
            <p:cNvSpPr>
              <a:spLocks noChangeShapeType="1"/>
            </p:cNvSpPr>
            <p:nvPr>
              <p:custDataLst>
                <p:tags r:id="rId18"/>
              </p:custDataLst>
            </p:nvPr>
          </p:nvSpPr>
          <p:spPr bwMode="auto">
            <a:xfrm>
              <a:off x="2743" y="1103"/>
              <a:ext cx="75" cy="145"/>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sp>
          <p:nvSpPr>
            <p:cNvPr id="36896" name="Line 28"/>
            <p:cNvSpPr>
              <a:spLocks noChangeShapeType="1"/>
            </p:cNvSpPr>
            <p:nvPr>
              <p:custDataLst>
                <p:tags r:id="rId19"/>
              </p:custDataLst>
            </p:nvPr>
          </p:nvSpPr>
          <p:spPr bwMode="auto">
            <a:xfrm>
              <a:off x="2687" y="1103"/>
              <a:ext cx="75" cy="145"/>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endParaRPr lang="zh-CN" altLang="en-US"/>
            </a:p>
          </p:txBody>
        </p:sp>
      </p:grpSp>
      <p:pic>
        <p:nvPicPr>
          <p:cNvPr id="128002" name="Picture 2"/>
          <p:cNvPicPr>
            <a:picLocks noChangeAspect="1" noChangeArrowheads="1"/>
          </p:cNvPicPr>
          <p:nvPr>
            <p:custDataLst>
              <p:tags r:id="rId20"/>
            </p:custDataLst>
          </p:nvPr>
        </p:nvPicPr>
        <p:blipFill>
          <a:blip r:embed="rId21" cstate="print">
            <a:extLst>
              <a:ext uri="{28A0092B-C50C-407E-A947-70E740481C1C}">
                <a14:useLocalDpi xmlns:a14="http://schemas.microsoft.com/office/drawing/2010/main" val="0"/>
              </a:ext>
            </a:extLst>
          </a:blip>
          <a:srcRect l="31378" t="4193" r="61034" b="82579"/>
          <a:stretch>
            <a:fillRect/>
          </a:stretch>
        </p:blipFill>
        <p:spPr bwMode="auto">
          <a:xfrm>
            <a:off x="1954530" y="1644015"/>
            <a:ext cx="1889125" cy="2085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8035" name="Picture 35" descr="7seg"/>
          <p:cNvPicPr>
            <a:picLocks noChangeAspect="1" noChangeArrowheads="1"/>
          </p:cNvPicPr>
          <p:nvPr/>
        </p:nvPicPr>
        <p:blipFill>
          <a:blip r:embed="rId22" cstate="print">
            <a:extLst>
              <a:ext uri="{28A0092B-C50C-407E-A947-70E740481C1C}">
                <a14:useLocalDpi xmlns:a14="http://schemas.microsoft.com/office/drawing/2010/main" val="0"/>
              </a:ext>
            </a:extLst>
          </a:blip>
          <a:srcRect l="34520" r="1512" b="9189"/>
          <a:stretch>
            <a:fillRect/>
          </a:stretch>
        </p:blipFill>
        <p:spPr bwMode="auto">
          <a:xfrm>
            <a:off x="387350" y="1910715"/>
            <a:ext cx="1504315"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7" name="Picture 2"/>
          <p:cNvPicPr>
            <a:picLocks noChangeAspect="1" noChangeArrowheads="1"/>
          </p:cNvPicPr>
          <p:nvPr>
            <p:custDataLst>
              <p:tags r:id="rId23"/>
            </p:custDataLst>
          </p:nvPr>
        </p:nvPicPr>
        <p:blipFill>
          <a:blip r:embed="rId24" cstate="print">
            <a:extLst>
              <a:ext uri="{28A0092B-C50C-407E-A947-70E740481C1C}">
                <a14:useLocalDpi xmlns:a14="http://schemas.microsoft.com/office/drawing/2010/main" val="0"/>
              </a:ext>
            </a:extLst>
          </a:blip>
          <a:srcRect l="59860" t="4495" r="17787" b="75478"/>
          <a:stretch>
            <a:fillRect/>
          </a:stretch>
        </p:blipFill>
        <p:spPr bwMode="auto">
          <a:xfrm>
            <a:off x="2325370" y="3811270"/>
            <a:ext cx="3990975" cy="2265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bldLst>
      <p:bldP spid="14" grpId="0" bldLvl="0" animBg="1" autoUpdateAnimBg="0"/>
      <p:bldP spid="5" grpId="0" bldLvl="0" animBg="1" autoUpdateAnimBg="0"/>
      <p:bldP spid="6" grpId="0" bldLvl="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4" name="Text Box 142"/>
          <p:cNvSpPr txBox="1">
            <a:spLocks noChangeArrowheads="1"/>
          </p:cNvSpPr>
          <p:nvPr/>
        </p:nvSpPr>
        <p:spPr bwMode="auto">
          <a:xfrm>
            <a:off x="197923" y="76625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3.3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MSI</a:t>
            </a:r>
            <a:r>
              <a:rPr kumimoji="0" lang="zh-CN" altLang="en-US" dirty="0">
                <a:solidFill>
                  <a:srgbClr val="000000"/>
                </a:solidFill>
                <a:latin typeface="黑体" panose="02010609060101010101" pitchFamily="49" charset="-122"/>
                <a:ea typeface="黑体" panose="02010609060101010101" pitchFamily="49" charset="-122"/>
              </a:rPr>
              <a:t>组合逻辑电路</a:t>
            </a:r>
            <a:r>
              <a:rPr kumimoji="0" lang="zh-CN" altLang="en-US" dirty="0">
                <a:solidFill>
                  <a:srgbClr val="000000"/>
                </a:solidFill>
                <a:latin typeface="黑体" panose="02010609060101010101" pitchFamily="49" charset="-122"/>
                <a:ea typeface="黑体" panose="02010609060101010101" pitchFamily="49" charset="-122"/>
              </a:rPr>
              <a:t>模块</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custDataLst>
              <p:tags r:id="rId1"/>
            </p:custDataLst>
          </p:nvPr>
        </p:nvSpPr>
        <p:spPr bwMode="auto">
          <a:xfrm>
            <a:off x="404933" y="124377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(6)</a:t>
            </a:r>
            <a:r>
              <a:rPr kumimoji="0" lang="zh-CN" altLang="en-US" sz="2400" b="1" dirty="0">
                <a:sym typeface="+mn-ea"/>
              </a:rPr>
              <a:t>数字显示译码器</a:t>
            </a:r>
            <a:r>
              <a:rPr kumimoji="0" lang="en-US" altLang="zh-CN" sz="2400" b="1" dirty="0">
                <a:sym typeface="+mn-ea"/>
              </a:rPr>
              <a:t>7448 </a:t>
            </a:r>
            <a:endParaRPr kumimoji="0" lang="en-US" altLang="zh-CN" sz="2400" dirty="0">
              <a:solidFill>
                <a:srgbClr val="000000"/>
              </a:solidFill>
              <a:latin typeface="黑体" panose="02010609060101010101" pitchFamily="49" charset="-122"/>
              <a:ea typeface="黑体" panose="02010609060101010101" pitchFamily="49" charset="-122"/>
            </a:endParaRPr>
          </a:p>
        </p:txBody>
      </p:sp>
      <p:sp>
        <p:nvSpPr>
          <p:cNvPr id="6" name="Text Box 4"/>
          <p:cNvSpPr txBox="1">
            <a:spLocks noChangeArrowheads="1"/>
          </p:cNvSpPr>
          <p:nvPr/>
        </p:nvSpPr>
        <p:spPr bwMode="auto">
          <a:xfrm>
            <a:off x="1669375" y="1474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pic>
        <p:nvPicPr>
          <p:cNvPr id="7" name="图片 6"/>
          <p:cNvPicPr>
            <a:picLocks noChangeAspect="1"/>
          </p:cNvPicPr>
          <p:nvPr/>
        </p:nvPicPr>
        <p:blipFill>
          <a:blip r:embed="rId2"/>
          <a:stretch>
            <a:fillRect/>
          </a:stretch>
        </p:blipFill>
        <p:spPr>
          <a:xfrm>
            <a:off x="1086485" y="1873250"/>
            <a:ext cx="6602095" cy="3812540"/>
          </a:xfrm>
          <a:prstGeom prst="rect">
            <a:avLst/>
          </a:prstGeom>
        </p:spPr>
      </p:pic>
    </p:spTree>
  </p:cSld>
  <p:clrMapOvr>
    <a:masterClrMapping/>
  </p:clrMapOvr>
  <p:timing>
    <p:tnLst>
      <p:par>
        <p:cTn id="1" dur="indefinite" restart="never" nodeType="tmRoot"/>
      </p:par>
    </p:tnLst>
    <p:bldLst>
      <p:bldP spid="14" grpId="0" bldLvl="0" animBg="1" autoUpdateAnimBg="0"/>
      <p:bldP spid="5" grpId="0" bldLvl="0" animBg="1" autoUpdateAnimBg="0"/>
      <p:bldP spid="6" grpId="0" bldLvl="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4" name="Text Box 142"/>
          <p:cNvSpPr txBox="1">
            <a:spLocks noChangeArrowheads="1"/>
          </p:cNvSpPr>
          <p:nvPr/>
        </p:nvSpPr>
        <p:spPr bwMode="auto">
          <a:xfrm>
            <a:off x="197923" y="76625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3.3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MSI</a:t>
            </a:r>
            <a:r>
              <a:rPr kumimoji="0" lang="zh-CN" altLang="en-US" dirty="0">
                <a:solidFill>
                  <a:srgbClr val="000000"/>
                </a:solidFill>
                <a:latin typeface="黑体" panose="02010609060101010101" pitchFamily="49" charset="-122"/>
                <a:ea typeface="黑体" panose="02010609060101010101" pitchFamily="49" charset="-122"/>
              </a:rPr>
              <a:t>组合逻辑电路</a:t>
            </a:r>
            <a:r>
              <a:rPr kumimoji="0" lang="zh-CN" altLang="en-US" dirty="0">
                <a:solidFill>
                  <a:srgbClr val="000000"/>
                </a:solidFill>
                <a:latin typeface="黑体" panose="02010609060101010101" pitchFamily="49" charset="-122"/>
                <a:ea typeface="黑体" panose="02010609060101010101" pitchFamily="49" charset="-122"/>
              </a:rPr>
              <a:t>模块</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custDataLst>
              <p:tags r:id="rId1"/>
            </p:custDataLst>
          </p:nvPr>
        </p:nvSpPr>
        <p:spPr bwMode="auto">
          <a:xfrm>
            <a:off x="404933" y="124377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(6)</a:t>
            </a:r>
            <a:r>
              <a:rPr kumimoji="0" lang="zh-CN" altLang="en-US" sz="2400" b="1" dirty="0">
                <a:sym typeface="+mn-ea"/>
              </a:rPr>
              <a:t>数字显示译码器</a:t>
            </a:r>
            <a:r>
              <a:rPr kumimoji="0" lang="en-US" altLang="zh-CN" sz="2400" b="1" dirty="0">
                <a:sym typeface="+mn-ea"/>
              </a:rPr>
              <a:t>7448 </a:t>
            </a:r>
            <a:endParaRPr kumimoji="0" lang="en-US" altLang="zh-CN" sz="2400" dirty="0">
              <a:solidFill>
                <a:srgbClr val="000000"/>
              </a:solidFill>
              <a:latin typeface="黑体" panose="02010609060101010101" pitchFamily="49" charset="-122"/>
              <a:ea typeface="黑体" panose="02010609060101010101" pitchFamily="49" charset="-122"/>
            </a:endParaRPr>
          </a:p>
        </p:txBody>
      </p:sp>
      <p:sp>
        <p:nvSpPr>
          <p:cNvPr id="6" name="Text Box 4"/>
          <p:cNvSpPr txBox="1">
            <a:spLocks noChangeArrowheads="1"/>
          </p:cNvSpPr>
          <p:nvPr/>
        </p:nvSpPr>
        <p:spPr bwMode="auto">
          <a:xfrm>
            <a:off x="1669375" y="1474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pic>
        <p:nvPicPr>
          <p:cNvPr id="8" name="图片 7"/>
          <p:cNvPicPr>
            <a:picLocks noChangeAspect="1"/>
          </p:cNvPicPr>
          <p:nvPr/>
        </p:nvPicPr>
        <p:blipFill>
          <a:blip r:embed="rId2"/>
          <a:srcRect t="16055"/>
          <a:stretch>
            <a:fillRect/>
          </a:stretch>
        </p:blipFill>
        <p:spPr>
          <a:xfrm>
            <a:off x="405130" y="1704340"/>
            <a:ext cx="7969885" cy="4360545"/>
          </a:xfrm>
          <a:prstGeom prst="rect">
            <a:avLst/>
          </a:prstGeom>
        </p:spPr>
      </p:pic>
    </p:spTree>
  </p:cSld>
  <p:clrMapOvr>
    <a:masterClrMapping/>
  </p:clrMapOvr>
  <p:timing>
    <p:tnLst>
      <p:par>
        <p:cTn id="1" dur="indefinite" restart="never" nodeType="tmRoot"/>
      </p:par>
    </p:tnLst>
    <p:bldLst>
      <p:bldP spid="14" grpId="0" bldLvl="0" animBg="1" autoUpdateAnimBg="0"/>
      <p:bldP spid="5" grpId="0" bldLvl="0" animBg="1" autoUpdateAnimBg="0"/>
      <p:bldP spid="6" grpId="0" bldLvl="0" animBg="1"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4" name="Text Box 142"/>
          <p:cNvSpPr txBox="1">
            <a:spLocks noChangeArrowheads="1"/>
          </p:cNvSpPr>
          <p:nvPr/>
        </p:nvSpPr>
        <p:spPr bwMode="auto">
          <a:xfrm>
            <a:off x="197923" y="76625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3.3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MSI</a:t>
            </a:r>
            <a:r>
              <a:rPr kumimoji="0" lang="zh-CN" altLang="en-US" dirty="0">
                <a:solidFill>
                  <a:srgbClr val="000000"/>
                </a:solidFill>
                <a:latin typeface="黑体" panose="02010609060101010101" pitchFamily="49" charset="-122"/>
                <a:ea typeface="黑体" panose="02010609060101010101" pitchFamily="49" charset="-122"/>
              </a:rPr>
              <a:t>组合逻辑电路</a:t>
            </a:r>
            <a:r>
              <a:rPr kumimoji="0" lang="zh-CN" altLang="en-US" dirty="0">
                <a:solidFill>
                  <a:srgbClr val="000000"/>
                </a:solidFill>
                <a:latin typeface="黑体" panose="02010609060101010101" pitchFamily="49" charset="-122"/>
                <a:ea typeface="黑体" panose="02010609060101010101" pitchFamily="49" charset="-122"/>
              </a:rPr>
              <a:t>模块</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custDataLst>
              <p:tags r:id="rId1"/>
            </p:custDataLst>
          </p:nvPr>
        </p:nvSpPr>
        <p:spPr bwMode="auto">
          <a:xfrm>
            <a:off x="404933" y="124377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(6)</a:t>
            </a:r>
            <a:r>
              <a:rPr kumimoji="0" lang="zh-CN" altLang="en-US" sz="2400" b="1" dirty="0">
                <a:sym typeface="+mn-ea"/>
              </a:rPr>
              <a:t>数字显示译码器</a:t>
            </a:r>
            <a:r>
              <a:rPr kumimoji="0" lang="en-US" altLang="zh-CN" sz="2400" b="1" dirty="0">
                <a:sym typeface="+mn-ea"/>
              </a:rPr>
              <a:t>7448 </a:t>
            </a:r>
            <a:endParaRPr kumimoji="0" lang="en-US" altLang="zh-CN" sz="2400" dirty="0">
              <a:solidFill>
                <a:srgbClr val="000000"/>
              </a:solidFill>
              <a:latin typeface="黑体" panose="02010609060101010101" pitchFamily="49" charset="-122"/>
              <a:ea typeface="黑体" panose="02010609060101010101" pitchFamily="49" charset="-122"/>
            </a:endParaRPr>
          </a:p>
        </p:txBody>
      </p:sp>
      <p:sp>
        <p:nvSpPr>
          <p:cNvPr id="6" name="Text Box 4"/>
          <p:cNvSpPr txBox="1">
            <a:spLocks noChangeArrowheads="1"/>
          </p:cNvSpPr>
          <p:nvPr/>
        </p:nvSpPr>
        <p:spPr bwMode="auto">
          <a:xfrm>
            <a:off x="1669375" y="1474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pic>
        <p:nvPicPr>
          <p:cNvPr id="7" name="图片 6"/>
          <p:cNvPicPr>
            <a:picLocks noChangeAspect="1"/>
          </p:cNvPicPr>
          <p:nvPr/>
        </p:nvPicPr>
        <p:blipFill>
          <a:blip r:embed="rId2"/>
          <a:stretch>
            <a:fillRect/>
          </a:stretch>
        </p:blipFill>
        <p:spPr>
          <a:xfrm>
            <a:off x="855980" y="1595755"/>
            <a:ext cx="7432040" cy="4592320"/>
          </a:xfrm>
          <a:prstGeom prst="rect">
            <a:avLst/>
          </a:prstGeom>
        </p:spPr>
      </p:pic>
    </p:spTree>
  </p:cSld>
  <p:clrMapOvr>
    <a:masterClrMapping/>
  </p:clrMapOvr>
  <p:timing>
    <p:tnLst>
      <p:par>
        <p:cTn id="1" dur="indefinite" restart="never" nodeType="tmRoot"/>
      </p:par>
    </p:tnLst>
    <p:bldLst>
      <p:bldP spid="14" grpId="0" bldLvl="0" animBg="1" autoUpdateAnimBg="0"/>
      <p:bldP spid="5" grpId="0" bldLvl="0" animBg="1" autoUpdateAnimBg="0"/>
      <p:bldP spid="6" grpId="0" bldLvl="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4" name="Text Box 142"/>
          <p:cNvSpPr txBox="1">
            <a:spLocks noChangeArrowheads="1"/>
          </p:cNvSpPr>
          <p:nvPr/>
        </p:nvSpPr>
        <p:spPr bwMode="auto">
          <a:xfrm>
            <a:off x="197923" y="76625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3.3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MSI</a:t>
            </a:r>
            <a:r>
              <a:rPr kumimoji="0" lang="zh-CN" altLang="en-US" dirty="0">
                <a:solidFill>
                  <a:srgbClr val="000000"/>
                </a:solidFill>
                <a:latin typeface="黑体" panose="02010609060101010101" pitchFamily="49" charset="-122"/>
                <a:ea typeface="黑体" panose="02010609060101010101" pitchFamily="49" charset="-122"/>
              </a:rPr>
              <a:t>组合逻辑电路</a:t>
            </a:r>
            <a:r>
              <a:rPr kumimoji="0" lang="zh-CN" altLang="en-US" dirty="0">
                <a:solidFill>
                  <a:srgbClr val="000000"/>
                </a:solidFill>
                <a:latin typeface="黑体" panose="02010609060101010101" pitchFamily="49" charset="-122"/>
                <a:ea typeface="黑体" panose="02010609060101010101" pitchFamily="49" charset="-122"/>
              </a:rPr>
              <a:t>模块</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custDataLst>
              <p:tags r:id="rId1"/>
            </p:custDataLst>
          </p:nvPr>
        </p:nvSpPr>
        <p:spPr bwMode="auto">
          <a:xfrm>
            <a:off x="404933" y="124377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(7)</a:t>
            </a:r>
            <a:r>
              <a:rPr kumimoji="0" lang="zh-CN" altLang="en-US" sz="2400" dirty="0">
                <a:solidFill>
                  <a:srgbClr val="000000"/>
                </a:solidFill>
                <a:latin typeface="黑体" panose="02010609060101010101" pitchFamily="49" charset="-122"/>
                <a:ea typeface="黑体" panose="02010609060101010101" pitchFamily="49" charset="-122"/>
              </a:rPr>
              <a:t>双四选一</a:t>
            </a:r>
            <a:r>
              <a:rPr kumimoji="0" lang="zh-CN" altLang="en-US" sz="2400" b="1" dirty="0">
                <a:sym typeface="+mn-ea"/>
              </a:rPr>
              <a:t>数据选择器</a:t>
            </a:r>
            <a:r>
              <a:rPr kumimoji="0" lang="en-US" altLang="zh-CN" sz="2400" b="1" dirty="0">
                <a:sym typeface="+mn-ea"/>
              </a:rPr>
              <a:t>74153 </a:t>
            </a:r>
            <a:endParaRPr kumimoji="0" lang="en-US" altLang="zh-CN" sz="2400" dirty="0">
              <a:solidFill>
                <a:srgbClr val="000000"/>
              </a:solidFill>
              <a:latin typeface="黑体" panose="02010609060101010101" pitchFamily="49" charset="-122"/>
              <a:ea typeface="黑体" panose="02010609060101010101" pitchFamily="49" charset="-122"/>
            </a:endParaRPr>
          </a:p>
        </p:txBody>
      </p:sp>
      <p:sp>
        <p:nvSpPr>
          <p:cNvPr id="6" name="Text Box 4"/>
          <p:cNvSpPr txBox="1">
            <a:spLocks noChangeArrowheads="1"/>
          </p:cNvSpPr>
          <p:nvPr/>
        </p:nvSpPr>
        <p:spPr bwMode="auto">
          <a:xfrm>
            <a:off x="1669375" y="1474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pic>
        <p:nvPicPr>
          <p:cNvPr id="50181"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l="13261" t="41249" r="79292" b="44034"/>
          <a:stretch>
            <a:fillRect/>
          </a:stretch>
        </p:blipFill>
        <p:spPr bwMode="auto">
          <a:xfrm>
            <a:off x="2458085" y="1704340"/>
            <a:ext cx="3420110" cy="4280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bldLst>
      <p:bldP spid="14" grpId="0" bldLvl="0" animBg="1" autoUpdateAnimBg="0"/>
      <p:bldP spid="5" grpId="0" bldLvl="0" animBg="1" autoUpdateAnimBg="0"/>
      <p:bldP spid="6" grpId="0" bldLvl="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4" name="Text Box 142"/>
          <p:cNvSpPr txBox="1">
            <a:spLocks noChangeArrowheads="1"/>
          </p:cNvSpPr>
          <p:nvPr/>
        </p:nvSpPr>
        <p:spPr bwMode="auto">
          <a:xfrm>
            <a:off x="197923" y="76625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3.3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MSI</a:t>
            </a:r>
            <a:r>
              <a:rPr kumimoji="0" lang="zh-CN" altLang="en-US" dirty="0">
                <a:solidFill>
                  <a:srgbClr val="000000"/>
                </a:solidFill>
                <a:latin typeface="黑体" panose="02010609060101010101" pitchFamily="49" charset="-122"/>
                <a:ea typeface="黑体" panose="02010609060101010101" pitchFamily="49" charset="-122"/>
              </a:rPr>
              <a:t>组合逻辑电路</a:t>
            </a:r>
            <a:r>
              <a:rPr kumimoji="0" lang="zh-CN" altLang="en-US" dirty="0">
                <a:solidFill>
                  <a:srgbClr val="000000"/>
                </a:solidFill>
                <a:latin typeface="黑体" panose="02010609060101010101" pitchFamily="49" charset="-122"/>
                <a:ea typeface="黑体" panose="02010609060101010101" pitchFamily="49" charset="-122"/>
              </a:rPr>
              <a:t>模块</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custDataLst>
              <p:tags r:id="rId1"/>
            </p:custDataLst>
          </p:nvPr>
        </p:nvSpPr>
        <p:spPr bwMode="auto">
          <a:xfrm>
            <a:off x="404933" y="124377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(8)</a:t>
            </a:r>
            <a:r>
              <a:rPr kumimoji="0" lang="zh-CN" altLang="en-US" sz="2400" dirty="0">
                <a:solidFill>
                  <a:srgbClr val="000000"/>
                </a:solidFill>
                <a:latin typeface="黑体" panose="02010609060101010101" pitchFamily="49" charset="-122"/>
                <a:ea typeface="黑体" panose="02010609060101010101" pitchFamily="49" charset="-122"/>
              </a:rPr>
              <a:t>八选一</a:t>
            </a:r>
            <a:r>
              <a:rPr kumimoji="0" lang="zh-CN" altLang="en-US" sz="2400" b="1" dirty="0">
                <a:sym typeface="+mn-ea"/>
              </a:rPr>
              <a:t>数据选择器</a:t>
            </a:r>
            <a:r>
              <a:rPr kumimoji="0" lang="en-US" altLang="zh-CN" sz="2400" b="1" dirty="0">
                <a:sym typeface="+mn-ea"/>
              </a:rPr>
              <a:t>74151 </a:t>
            </a:r>
            <a:endParaRPr kumimoji="0" lang="en-US" altLang="zh-CN" sz="2400" dirty="0">
              <a:solidFill>
                <a:srgbClr val="000000"/>
              </a:solidFill>
              <a:latin typeface="黑体" panose="02010609060101010101" pitchFamily="49" charset="-122"/>
              <a:ea typeface="黑体" panose="02010609060101010101" pitchFamily="49" charset="-122"/>
            </a:endParaRPr>
          </a:p>
        </p:txBody>
      </p:sp>
      <p:sp>
        <p:nvSpPr>
          <p:cNvPr id="6" name="Text Box 4"/>
          <p:cNvSpPr txBox="1">
            <a:spLocks noChangeArrowheads="1"/>
          </p:cNvSpPr>
          <p:nvPr/>
        </p:nvSpPr>
        <p:spPr bwMode="auto">
          <a:xfrm>
            <a:off x="1669375" y="1474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pic>
        <p:nvPicPr>
          <p:cNvPr id="7" name="图片 6"/>
          <p:cNvPicPr>
            <a:picLocks noChangeAspect="1"/>
          </p:cNvPicPr>
          <p:nvPr/>
        </p:nvPicPr>
        <p:blipFill>
          <a:blip r:embed="rId2"/>
          <a:stretch>
            <a:fillRect/>
          </a:stretch>
        </p:blipFill>
        <p:spPr>
          <a:xfrm>
            <a:off x="1169670" y="1661795"/>
            <a:ext cx="6673850" cy="4550410"/>
          </a:xfrm>
          <a:prstGeom prst="rect">
            <a:avLst/>
          </a:prstGeom>
        </p:spPr>
      </p:pic>
    </p:spTree>
  </p:cSld>
  <p:clrMapOvr>
    <a:masterClrMapping/>
  </p:clrMapOvr>
  <p:timing>
    <p:tnLst>
      <p:par>
        <p:cTn id="1" dur="indefinite" restart="never" nodeType="tmRoot"/>
      </p:par>
    </p:tnLst>
    <p:bldLst>
      <p:bldP spid="14" grpId="0" bldLvl="0" animBg="1" autoUpdateAnimBg="0"/>
      <p:bldP spid="5" grpId="0" bldLvl="0" animBg="1" autoUpdateAnimBg="0"/>
      <p:bldP spid="6" grpId="0" bldLvl="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4" name="Text Box 142"/>
          <p:cNvSpPr txBox="1">
            <a:spLocks noChangeArrowheads="1"/>
          </p:cNvSpPr>
          <p:nvPr/>
        </p:nvSpPr>
        <p:spPr bwMode="auto">
          <a:xfrm>
            <a:off x="197923" y="76625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3.3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MSI</a:t>
            </a:r>
            <a:r>
              <a:rPr kumimoji="0" lang="zh-CN" altLang="en-US" dirty="0">
                <a:solidFill>
                  <a:srgbClr val="000000"/>
                </a:solidFill>
                <a:latin typeface="黑体" panose="02010609060101010101" pitchFamily="49" charset="-122"/>
                <a:ea typeface="黑体" panose="02010609060101010101" pitchFamily="49" charset="-122"/>
              </a:rPr>
              <a:t>组合逻辑电路</a:t>
            </a:r>
            <a:r>
              <a:rPr kumimoji="0" lang="zh-CN" altLang="en-US" dirty="0">
                <a:solidFill>
                  <a:srgbClr val="000000"/>
                </a:solidFill>
                <a:latin typeface="黑体" panose="02010609060101010101" pitchFamily="49" charset="-122"/>
                <a:ea typeface="黑体" panose="02010609060101010101" pitchFamily="49" charset="-122"/>
              </a:rPr>
              <a:t>模块</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custDataLst>
              <p:tags r:id="rId1"/>
            </p:custDataLst>
          </p:nvPr>
        </p:nvSpPr>
        <p:spPr bwMode="auto">
          <a:xfrm>
            <a:off x="404933" y="1243775"/>
            <a:ext cx="718343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(8)</a:t>
            </a:r>
            <a:r>
              <a:rPr kumimoji="0" lang="zh-CN" altLang="en-US" sz="2400" dirty="0">
                <a:solidFill>
                  <a:srgbClr val="000000"/>
                </a:solidFill>
                <a:latin typeface="黑体" panose="02010609060101010101" pitchFamily="49" charset="-122"/>
                <a:ea typeface="黑体" panose="02010609060101010101" pitchFamily="49" charset="-122"/>
              </a:rPr>
              <a:t>八选一</a:t>
            </a:r>
            <a:r>
              <a:rPr kumimoji="0" lang="zh-CN" altLang="en-US" sz="2400" b="1" dirty="0">
                <a:sym typeface="+mn-ea"/>
              </a:rPr>
              <a:t>数据选择器</a:t>
            </a:r>
            <a:r>
              <a:rPr kumimoji="0" lang="en-US" altLang="zh-CN" sz="2400" b="1" dirty="0">
                <a:sym typeface="+mn-ea"/>
              </a:rPr>
              <a:t>74151 </a:t>
            </a:r>
            <a:endParaRPr kumimoji="0" lang="en-US" altLang="zh-CN" sz="2400" dirty="0">
              <a:solidFill>
                <a:srgbClr val="000000"/>
              </a:solidFill>
              <a:latin typeface="黑体" panose="02010609060101010101" pitchFamily="49" charset="-122"/>
              <a:ea typeface="黑体" panose="02010609060101010101" pitchFamily="49" charset="-122"/>
            </a:endParaRPr>
          </a:p>
        </p:txBody>
      </p:sp>
      <p:sp>
        <p:nvSpPr>
          <p:cNvPr id="6" name="Text Box 4"/>
          <p:cNvSpPr txBox="1">
            <a:spLocks noChangeArrowheads="1"/>
          </p:cNvSpPr>
          <p:nvPr/>
        </p:nvSpPr>
        <p:spPr bwMode="auto">
          <a:xfrm>
            <a:off x="1669375" y="1474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pic>
        <p:nvPicPr>
          <p:cNvPr id="8" name="图片 7"/>
          <p:cNvPicPr>
            <a:picLocks noChangeAspect="1"/>
          </p:cNvPicPr>
          <p:nvPr/>
        </p:nvPicPr>
        <p:blipFill>
          <a:blip r:embed="rId2"/>
          <a:stretch>
            <a:fillRect/>
          </a:stretch>
        </p:blipFill>
        <p:spPr>
          <a:xfrm>
            <a:off x="1179195" y="1704340"/>
            <a:ext cx="6483985" cy="4404360"/>
          </a:xfrm>
          <a:prstGeom prst="rect">
            <a:avLst/>
          </a:prstGeom>
        </p:spPr>
      </p:pic>
    </p:spTree>
  </p:cSld>
  <p:clrMapOvr>
    <a:masterClrMapping/>
  </p:clrMapOvr>
  <p:timing>
    <p:tnLst>
      <p:par>
        <p:cTn id="1" dur="indefinite" restart="never" nodeType="tmRoot"/>
      </p:par>
    </p:tnLst>
    <p:bldLst>
      <p:bldP spid="14" grpId="0" bldLvl="0" animBg="1" autoUpdateAnimBg="0"/>
      <p:bldP spid="5" grpId="0" bldLvl="0" animBg="1" autoUpdateAnimBg="0"/>
      <p:bldP spid="6" grpId="0" bldLvl="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4" name="Text Box 142"/>
          <p:cNvSpPr txBox="1">
            <a:spLocks noChangeArrowheads="1"/>
          </p:cNvSpPr>
          <p:nvPr/>
        </p:nvSpPr>
        <p:spPr bwMode="auto">
          <a:xfrm>
            <a:off x="197923" y="76625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3.3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MSI</a:t>
            </a:r>
            <a:r>
              <a:rPr kumimoji="0" lang="zh-CN" altLang="en-US" dirty="0">
                <a:solidFill>
                  <a:srgbClr val="000000"/>
                </a:solidFill>
                <a:latin typeface="黑体" panose="02010609060101010101" pitchFamily="49" charset="-122"/>
                <a:ea typeface="黑体" panose="02010609060101010101" pitchFamily="49" charset="-122"/>
              </a:rPr>
              <a:t>组合逻辑电路</a:t>
            </a:r>
            <a:r>
              <a:rPr kumimoji="0" lang="zh-CN" altLang="en-US" dirty="0">
                <a:solidFill>
                  <a:srgbClr val="000000"/>
                </a:solidFill>
                <a:latin typeface="黑体" panose="02010609060101010101" pitchFamily="49" charset="-122"/>
                <a:ea typeface="黑体" panose="02010609060101010101" pitchFamily="49" charset="-122"/>
              </a:rPr>
              <a:t>模块</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custDataLst>
              <p:tags r:id="rId1"/>
            </p:custDataLst>
          </p:nvPr>
        </p:nvSpPr>
        <p:spPr bwMode="auto">
          <a:xfrm>
            <a:off x="405130" y="124396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(9)</a:t>
            </a:r>
            <a:r>
              <a:rPr kumimoji="0" lang="en-US" altLang="zh-CN" sz="2400" b="1" dirty="0">
                <a:solidFill>
                  <a:srgbClr val="000000"/>
                </a:solidFill>
                <a:latin typeface="黑体" panose="02010609060101010101" pitchFamily="49" charset="-122"/>
                <a:ea typeface="黑体" panose="02010609060101010101" pitchFamily="49" charset="-122"/>
                <a:sym typeface="+mn-ea"/>
              </a:rPr>
              <a:t>利用数据选择器实现任意逻辑函数（</a:t>
            </a:r>
            <a:r>
              <a:rPr kumimoji="0" lang="en-US" altLang="zh-CN" sz="2400" b="1" dirty="0">
                <a:solidFill>
                  <a:srgbClr val="FF0000"/>
                </a:solidFill>
                <a:latin typeface="黑体" panose="02010609060101010101" pitchFamily="49" charset="-122"/>
                <a:ea typeface="黑体" panose="02010609060101010101" pitchFamily="49" charset="-122"/>
                <a:sym typeface="+mn-ea"/>
              </a:rPr>
              <a:t>卡诺图降维</a:t>
            </a:r>
            <a:r>
              <a:rPr kumimoji="0" lang="zh-CN" altLang="en-US" sz="2400" dirty="0">
                <a:solidFill>
                  <a:srgbClr val="000000"/>
                </a:solidFill>
                <a:latin typeface="黑体" panose="02010609060101010101" pitchFamily="49" charset="-122"/>
                <a:ea typeface="黑体" panose="02010609060101010101" pitchFamily="49" charset="-122"/>
              </a:rPr>
              <a:t>）</a:t>
            </a:r>
            <a:r>
              <a:rPr kumimoji="0" lang="en-US" altLang="zh-CN" sz="2400" b="1" dirty="0">
                <a:sym typeface="+mn-ea"/>
              </a:rPr>
              <a:t> </a:t>
            </a:r>
            <a:endParaRPr kumimoji="0" lang="en-US" altLang="zh-CN" sz="2400" dirty="0">
              <a:solidFill>
                <a:srgbClr val="000000"/>
              </a:solidFill>
              <a:latin typeface="黑体" panose="02010609060101010101" pitchFamily="49" charset="-122"/>
              <a:ea typeface="黑体" panose="02010609060101010101" pitchFamily="49" charset="-122"/>
            </a:endParaRPr>
          </a:p>
        </p:txBody>
      </p:sp>
      <p:sp>
        <p:nvSpPr>
          <p:cNvPr id="6" name="Text Box 4"/>
          <p:cNvSpPr txBox="1">
            <a:spLocks noChangeArrowheads="1"/>
          </p:cNvSpPr>
          <p:nvPr/>
        </p:nvSpPr>
        <p:spPr bwMode="auto">
          <a:xfrm>
            <a:off x="1669375" y="1474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pic>
        <p:nvPicPr>
          <p:cNvPr id="7" name="图片 6"/>
          <p:cNvPicPr>
            <a:picLocks noChangeAspect="1"/>
          </p:cNvPicPr>
          <p:nvPr/>
        </p:nvPicPr>
        <p:blipFill>
          <a:blip r:embed="rId2"/>
          <a:stretch>
            <a:fillRect/>
          </a:stretch>
        </p:blipFill>
        <p:spPr>
          <a:xfrm>
            <a:off x="1269365" y="1704340"/>
            <a:ext cx="6180455" cy="4249420"/>
          </a:xfrm>
          <a:prstGeom prst="rect">
            <a:avLst/>
          </a:prstGeom>
        </p:spPr>
      </p:pic>
    </p:spTree>
  </p:cSld>
  <p:clrMapOvr>
    <a:masterClrMapping/>
  </p:clrMapOvr>
  <p:timing>
    <p:tnLst>
      <p:par>
        <p:cTn id="1" dur="indefinite" restart="never" nodeType="tmRoot"/>
      </p:par>
    </p:tnLst>
    <p:bldLst>
      <p:bldP spid="14" grpId="0" bldLvl="0" animBg="1" autoUpdateAnimBg="0"/>
      <p:bldP spid="5" grpId="0" bldLvl="0" animBg="1" autoUpdateAnimBg="0"/>
      <p:bldP spid="6" grpId="0" bldLvl="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4" name="Text Box 142"/>
          <p:cNvSpPr txBox="1">
            <a:spLocks noChangeArrowheads="1"/>
          </p:cNvSpPr>
          <p:nvPr/>
        </p:nvSpPr>
        <p:spPr bwMode="auto">
          <a:xfrm>
            <a:off x="197923" y="76625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3.3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MSI</a:t>
            </a:r>
            <a:r>
              <a:rPr kumimoji="0" lang="zh-CN" altLang="en-US" dirty="0">
                <a:solidFill>
                  <a:srgbClr val="000000"/>
                </a:solidFill>
                <a:latin typeface="黑体" panose="02010609060101010101" pitchFamily="49" charset="-122"/>
                <a:ea typeface="黑体" panose="02010609060101010101" pitchFamily="49" charset="-122"/>
              </a:rPr>
              <a:t>组合逻辑电路</a:t>
            </a:r>
            <a:r>
              <a:rPr kumimoji="0" lang="zh-CN" altLang="en-US" dirty="0">
                <a:solidFill>
                  <a:srgbClr val="000000"/>
                </a:solidFill>
                <a:latin typeface="黑体" panose="02010609060101010101" pitchFamily="49" charset="-122"/>
                <a:ea typeface="黑体" panose="02010609060101010101" pitchFamily="49" charset="-122"/>
              </a:rPr>
              <a:t>模块</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custDataLst>
              <p:tags r:id="rId1"/>
            </p:custDataLst>
          </p:nvPr>
        </p:nvSpPr>
        <p:spPr bwMode="auto">
          <a:xfrm>
            <a:off x="405130" y="124396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(9)</a:t>
            </a:r>
            <a:r>
              <a:rPr kumimoji="0" lang="en-US" altLang="zh-CN" sz="2400" b="1" dirty="0">
                <a:solidFill>
                  <a:srgbClr val="000000"/>
                </a:solidFill>
                <a:latin typeface="黑体" panose="02010609060101010101" pitchFamily="49" charset="-122"/>
                <a:ea typeface="黑体" panose="02010609060101010101" pitchFamily="49" charset="-122"/>
                <a:sym typeface="+mn-ea"/>
              </a:rPr>
              <a:t>利用数据选择器实现任意逻辑函数（</a:t>
            </a:r>
            <a:r>
              <a:rPr kumimoji="0" lang="en-US" altLang="zh-CN" sz="2400" b="1" dirty="0">
                <a:solidFill>
                  <a:srgbClr val="FF0000"/>
                </a:solidFill>
                <a:latin typeface="黑体" panose="02010609060101010101" pitchFamily="49" charset="-122"/>
                <a:ea typeface="黑体" panose="02010609060101010101" pitchFamily="49" charset="-122"/>
                <a:sym typeface="+mn-ea"/>
              </a:rPr>
              <a:t>卡诺图降维</a:t>
            </a:r>
            <a:r>
              <a:rPr kumimoji="0" lang="zh-CN" altLang="en-US" sz="2400" dirty="0">
                <a:solidFill>
                  <a:srgbClr val="000000"/>
                </a:solidFill>
                <a:latin typeface="黑体" panose="02010609060101010101" pitchFamily="49" charset="-122"/>
                <a:ea typeface="黑体" panose="02010609060101010101" pitchFamily="49" charset="-122"/>
              </a:rPr>
              <a:t>）</a:t>
            </a:r>
            <a:r>
              <a:rPr kumimoji="0" lang="en-US" altLang="zh-CN" sz="2400" b="1" dirty="0">
                <a:sym typeface="+mn-ea"/>
              </a:rPr>
              <a:t> </a:t>
            </a:r>
            <a:endParaRPr kumimoji="0" lang="en-US" altLang="zh-CN" sz="2400" dirty="0">
              <a:solidFill>
                <a:srgbClr val="000000"/>
              </a:solidFill>
              <a:latin typeface="黑体" panose="02010609060101010101" pitchFamily="49" charset="-122"/>
              <a:ea typeface="黑体" panose="02010609060101010101" pitchFamily="49" charset="-122"/>
            </a:endParaRPr>
          </a:p>
        </p:txBody>
      </p:sp>
      <p:sp>
        <p:nvSpPr>
          <p:cNvPr id="6" name="Text Box 4"/>
          <p:cNvSpPr txBox="1">
            <a:spLocks noChangeArrowheads="1"/>
          </p:cNvSpPr>
          <p:nvPr/>
        </p:nvSpPr>
        <p:spPr bwMode="auto">
          <a:xfrm>
            <a:off x="1669375" y="1474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pic>
        <p:nvPicPr>
          <p:cNvPr id="8" name="图片 7"/>
          <p:cNvPicPr>
            <a:picLocks noChangeAspect="1"/>
          </p:cNvPicPr>
          <p:nvPr/>
        </p:nvPicPr>
        <p:blipFill>
          <a:blip r:embed="rId2"/>
          <a:stretch>
            <a:fillRect/>
          </a:stretch>
        </p:blipFill>
        <p:spPr>
          <a:xfrm>
            <a:off x="1324610" y="1656080"/>
            <a:ext cx="5999480" cy="4269105"/>
          </a:xfrm>
          <a:prstGeom prst="rect">
            <a:avLst/>
          </a:prstGeom>
        </p:spPr>
      </p:pic>
    </p:spTree>
  </p:cSld>
  <p:clrMapOvr>
    <a:masterClrMapping/>
  </p:clrMapOvr>
  <p:timing>
    <p:tnLst>
      <p:par>
        <p:cTn id="1" dur="indefinite" restart="never" nodeType="tmRoot"/>
      </p:par>
    </p:tnLst>
    <p:bldLst>
      <p:bldP spid="14" grpId="0" bldLvl="0" animBg="1" autoUpdateAnimBg="0"/>
      <p:bldP spid="5" grpId="0" bldLvl="0" animBg="1" autoUpdateAnimBg="0"/>
      <p:bldP spid="6" grpId="0" bldLvl="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4" name="Text Box 142"/>
          <p:cNvSpPr txBox="1">
            <a:spLocks noChangeArrowheads="1"/>
          </p:cNvSpPr>
          <p:nvPr/>
        </p:nvSpPr>
        <p:spPr bwMode="auto">
          <a:xfrm>
            <a:off x="197923" y="76625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3.3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MSI</a:t>
            </a:r>
            <a:r>
              <a:rPr kumimoji="0" lang="zh-CN" altLang="en-US" dirty="0">
                <a:solidFill>
                  <a:srgbClr val="000000"/>
                </a:solidFill>
                <a:latin typeface="黑体" panose="02010609060101010101" pitchFamily="49" charset="-122"/>
                <a:ea typeface="黑体" panose="02010609060101010101" pitchFamily="49" charset="-122"/>
              </a:rPr>
              <a:t>组合逻辑电路</a:t>
            </a:r>
            <a:r>
              <a:rPr kumimoji="0" lang="zh-CN" altLang="en-US" dirty="0">
                <a:solidFill>
                  <a:srgbClr val="000000"/>
                </a:solidFill>
                <a:latin typeface="黑体" panose="02010609060101010101" pitchFamily="49" charset="-122"/>
                <a:ea typeface="黑体" panose="02010609060101010101" pitchFamily="49" charset="-122"/>
              </a:rPr>
              <a:t>模块</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custDataLst>
              <p:tags r:id="rId1"/>
            </p:custDataLst>
          </p:nvPr>
        </p:nvSpPr>
        <p:spPr bwMode="auto">
          <a:xfrm>
            <a:off x="405130" y="124396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(10)</a:t>
            </a:r>
            <a:r>
              <a:rPr kumimoji="0" lang="zh-CN" altLang="en-US" sz="2400" dirty="0">
                <a:solidFill>
                  <a:srgbClr val="000000"/>
                </a:solidFill>
                <a:latin typeface="黑体" panose="02010609060101010101" pitchFamily="49" charset="-122"/>
                <a:ea typeface="黑体" panose="02010609060101010101" pitchFamily="49" charset="-122"/>
              </a:rPr>
              <a:t>数据比较器</a:t>
            </a:r>
            <a:r>
              <a:rPr kumimoji="0" lang="en-US" altLang="zh-CN" sz="2400" b="1" dirty="0">
                <a:sym typeface="+mn-ea"/>
              </a:rPr>
              <a:t> 7485</a:t>
            </a:r>
            <a:endParaRPr kumimoji="0" lang="en-US" altLang="zh-CN" sz="2400" dirty="0">
              <a:solidFill>
                <a:srgbClr val="000000"/>
              </a:solidFill>
              <a:latin typeface="黑体" panose="02010609060101010101" pitchFamily="49" charset="-122"/>
              <a:ea typeface="黑体" panose="02010609060101010101" pitchFamily="49" charset="-122"/>
            </a:endParaRPr>
          </a:p>
        </p:txBody>
      </p:sp>
      <p:sp>
        <p:nvSpPr>
          <p:cNvPr id="6" name="Text Box 4"/>
          <p:cNvSpPr txBox="1">
            <a:spLocks noChangeArrowheads="1"/>
          </p:cNvSpPr>
          <p:nvPr/>
        </p:nvSpPr>
        <p:spPr bwMode="auto">
          <a:xfrm>
            <a:off x="1669375" y="1474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pic>
        <p:nvPicPr>
          <p:cNvPr id="23559" name="Picture 92"/>
          <p:cNvPicPr>
            <a:picLocks noChangeAspect="1" noChangeArrowheads="1"/>
          </p:cNvPicPr>
          <p:nvPr/>
        </p:nvPicPr>
        <p:blipFill>
          <a:blip r:embed="rId2" cstate="print">
            <a:extLst>
              <a:ext uri="{28A0092B-C50C-407E-A947-70E740481C1C}">
                <a14:useLocalDpi xmlns:a14="http://schemas.microsoft.com/office/drawing/2010/main" val="0"/>
              </a:ext>
            </a:extLst>
          </a:blip>
          <a:srcRect l="3433" t="61368" r="87567" b="24211"/>
          <a:stretch>
            <a:fillRect/>
          </a:stretch>
        </p:blipFill>
        <p:spPr bwMode="auto">
          <a:xfrm>
            <a:off x="2611755" y="1838960"/>
            <a:ext cx="4081145" cy="4142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bldLst>
      <p:bldP spid="14" grpId="0" bldLvl="0" animBg="1" autoUpdateAnimBg="0"/>
      <p:bldP spid="5" grpId="0" bldLvl="0" animBg="1" autoUpdateAnimBg="0"/>
      <p:bldP spid="6" grpId="0" bldLvl="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4" name="Text Box 142"/>
          <p:cNvSpPr txBox="1">
            <a:spLocks noChangeArrowheads="1"/>
          </p:cNvSpPr>
          <p:nvPr/>
        </p:nvSpPr>
        <p:spPr bwMode="auto">
          <a:xfrm>
            <a:off x="197923" y="76625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3.3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MSI</a:t>
            </a:r>
            <a:r>
              <a:rPr kumimoji="0" lang="zh-CN" altLang="en-US" dirty="0">
                <a:solidFill>
                  <a:srgbClr val="000000"/>
                </a:solidFill>
                <a:latin typeface="黑体" panose="02010609060101010101" pitchFamily="49" charset="-122"/>
                <a:ea typeface="黑体" panose="02010609060101010101" pitchFamily="49" charset="-122"/>
              </a:rPr>
              <a:t>组合逻辑电路</a:t>
            </a:r>
            <a:r>
              <a:rPr kumimoji="0" lang="zh-CN" altLang="en-US" dirty="0">
                <a:solidFill>
                  <a:srgbClr val="000000"/>
                </a:solidFill>
                <a:latin typeface="黑体" panose="02010609060101010101" pitchFamily="49" charset="-122"/>
                <a:ea typeface="黑体" panose="02010609060101010101" pitchFamily="49" charset="-122"/>
              </a:rPr>
              <a:t>模块</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custDataLst>
              <p:tags r:id="rId1"/>
            </p:custDataLst>
          </p:nvPr>
        </p:nvSpPr>
        <p:spPr bwMode="auto">
          <a:xfrm>
            <a:off x="405130" y="124396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(10)</a:t>
            </a:r>
            <a:r>
              <a:rPr kumimoji="0" lang="zh-CN" altLang="en-US" sz="2400" dirty="0">
                <a:solidFill>
                  <a:srgbClr val="000000"/>
                </a:solidFill>
                <a:latin typeface="黑体" panose="02010609060101010101" pitchFamily="49" charset="-122"/>
                <a:ea typeface="黑体" panose="02010609060101010101" pitchFamily="49" charset="-122"/>
              </a:rPr>
              <a:t>数据比较器</a:t>
            </a:r>
            <a:r>
              <a:rPr kumimoji="0" lang="en-US" altLang="zh-CN" sz="2400" b="1" dirty="0">
                <a:sym typeface="+mn-ea"/>
              </a:rPr>
              <a:t> 7485</a:t>
            </a:r>
            <a:endParaRPr kumimoji="0" lang="en-US" altLang="zh-CN" sz="2400" dirty="0">
              <a:solidFill>
                <a:srgbClr val="000000"/>
              </a:solidFill>
              <a:latin typeface="黑体" panose="02010609060101010101" pitchFamily="49" charset="-122"/>
              <a:ea typeface="黑体" panose="02010609060101010101" pitchFamily="49" charset="-122"/>
            </a:endParaRPr>
          </a:p>
        </p:txBody>
      </p:sp>
      <p:sp>
        <p:nvSpPr>
          <p:cNvPr id="6" name="Text Box 4"/>
          <p:cNvSpPr txBox="1">
            <a:spLocks noChangeArrowheads="1"/>
          </p:cNvSpPr>
          <p:nvPr/>
        </p:nvSpPr>
        <p:spPr bwMode="auto">
          <a:xfrm>
            <a:off x="1669375" y="1474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pic>
        <p:nvPicPr>
          <p:cNvPr id="7" name="图片 6"/>
          <p:cNvPicPr>
            <a:picLocks noChangeAspect="1"/>
          </p:cNvPicPr>
          <p:nvPr/>
        </p:nvPicPr>
        <p:blipFill>
          <a:blip r:embed="rId2"/>
          <a:stretch>
            <a:fillRect/>
          </a:stretch>
        </p:blipFill>
        <p:spPr>
          <a:xfrm>
            <a:off x="1028700" y="1600200"/>
            <a:ext cx="7454900" cy="4692650"/>
          </a:xfrm>
          <a:prstGeom prst="rect">
            <a:avLst/>
          </a:prstGeom>
        </p:spPr>
      </p:pic>
    </p:spTree>
  </p:cSld>
  <p:clrMapOvr>
    <a:masterClrMapping/>
  </p:clrMapOvr>
  <p:timing>
    <p:tnLst>
      <p:par>
        <p:cTn id="1" dur="indefinite" restart="never" nodeType="tmRoot"/>
      </p:par>
    </p:tnLst>
    <p:bldLst>
      <p:bldP spid="14" grpId="0" bldLvl="0" animBg="1" autoUpdateAnimBg="0"/>
      <p:bldP spid="5" grpId="0" bldLvl="0" animBg="1" autoUpdateAnimBg="0"/>
      <p:bldP spid="6" grpId="0" bldLvl="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tretch>
            <a:fillRect/>
          </a:stretch>
        </p:blipFill>
        <p:spPr>
          <a:xfrm>
            <a:off x="857885" y="1571625"/>
            <a:ext cx="7332980" cy="4605020"/>
          </a:xfrm>
          <a:prstGeom prst="rect">
            <a:avLst/>
          </a:prstGeom>
        </p:spPr>
      </p:pic>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4" name="Text Box 142"/>
          <p:cNvSpPr txBox="1">
            <a:spLocks noChangeArrowheads="1"/>
          </p:cNvSpPr>
          <p:nvPr/>
        </p:nvSpPr>
        <p:spPr bwMode="auto">
          <a:xfrm>
            <a:off x="197923" y="76625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3.3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MSI</a:t>
            </a:r>
            <a:r>
              <a:rPr kumimoji="0" lang="zh-CN" altLang="en-US" dirty="0">
                <a:solidFill>
                  <a:srgbClr val="000000"/>
                </a:solidFill>
                <a:latin typeface="黑体" panose="02010609060101010101" pitchFamily="49" charset="-122"/>
                <a:ea typeface="黑体" panose="02010609060101010101" pitchFamily="49" charset="-122"/>
              </a:rPr>
              <a:t>组合逻辑电路</a:t>
            </a:r>
            <a:r>
              <a:rPr kumimoji="0" lang="zh-CN" altLang="en-US" dirty="0">
                <a:solidFill>
                  <a:srgbClr val="000000"/>
                </a:solidFill>
                <a:latin typeface="黑体" panose="02010609060101010101" pitchFamily="49" charset="-122"/>
                <a:ea typeface="黑体" panose="02010609060101010101" pitchFamily="49" charset="-122"/>
              </a:rPr>
              <a:t>模块</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custDataLst>
              <p:tags r:id="rId2"/>
            </p:custDataLst>
          </p:nvPr>
        </p:nvSpPr>
        <p:spPr bwMode="auto">
          <a:xfrm>
            <a:off x="405130" y="124396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(10)</a:t>
            </a:r>
            <a:r>
              <a:rPr kumimoji="0" lang="zh-CN" altLang="en-US" sz="2400" dirty="0">
                <a:solidFill>
                  <a:srgbClr val="000000"/>
                </a:solidFill>
                <a:latin typeface="黑体" panose="02010609060101010101" pitchFamily="49" charset="-122"/>
                <a:ea typeface="黑体" panose="02010609060101010101" pitchFamily="49" charset="-122"/>
              </a:rPr>
              <a:t>数据比较器</a:t>
            </a:r>
            <a:r>
              <a:rPr kumimoji="0" lang="en-US" altLang="zh-CN" sz="2400" b="1" dirty="0">
                <a:sym typeface="+mn-ea"/>
              </a:rPr>
              <a:t> 7485</a:t>
            </a:r>
            <a:endParaRPr kumimoji="0" lang="en-US" altLang="zh-CN" sz="2400" dirty="0">
              <a:solidFill>
                <a:srgbClr val="000000"/>
              </a:solidFill>
              <a:latin typeface="黑体" panose="02010609060101010101" pitchFamily="49" charset="-122"/>
              <a:ea typeface="黑体" panose="02010609060101010101" pitchFamily="49" charset="-122"/>
            </a:endParaRPr>
          </a:p>
        </p:txBody>
      </p:sp>
      <p:sp>
        <p:nvSpPr>
          <p:cNvPr id="6" name="Text Box 4"/>
          <p:cNvSpPr txBox="1">
            <a:spLocks noChangeArrowheads="1"/>
          </p:cNvSpPr>
          <p:nvPr/>
        </p:nvSpPr>
        <p:spPr bwMode="auto">
          <a:xfrm>
            <a:off x="1669375" y="1474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bldLst>
      <p:bldP spid="14" grpId="0" bldLvl="0" animBg="1" autoUpdateAnimBg="0"/>
      <p:bldP spid="5" grpId="0" bldLvl="0" animBg="1" autoUpdateAnimBg="0"/>
      <p:bldP spid="6" grpId="0" bldLvl="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4" name="Text Box 142"/>
          <p:cNvSpPr txBox="1">
            <a:spLocks noChangeArrowheads="1"/>
          </p:cNvSpPr>
          <p:nvPr/>
        </p:nvSpPr>
        <p:spPr bwMode="auto">
          <a:xfrm>
            <a:off x="197923" y="76625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3.3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MSI</a:t>
            </a:r>
            <a:r>
              <a:rPr kumimoji="0" lang="zh-CN" altLang="en-US" dirty="0">
                <a:solidFill>
                  <a:srgbClr val="000000"/>
                </a:solidFill>
                <a:latin typeface="黑体" panose="02010609060101010101" pitchFamily="49" charset="-122"/>
                <a:ea typeface="黑体" panose="02010609060101010101" pitchFamily="49" charset="-122"/>
              </a:rPr>
              <a:t>组合逻辑电路</a:t>
            </a:r>
            <a:r>
              <a:rPr kumimoji="0" lang="zh-CN" altLang="en-US" dirty="0">
                <a:solidFill>
                  <a:srgbClr val="000000"/>
                </a:solidFill>
                <a:latin typeface="黑体" panose="02010609060101010101" pitchFamily="49" charset="-122"/>
                <a:ea typeface="黑体" panose="02010609060101010101" pitchFamily="49" charset="-122"/>
              </a:rPr>
              <a:t>模块</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custDataLst>
              <p:tags r:id="rId1"/>
            </p:custDataLst>
          </p:nvPr>
        </p:nvSpPr>
        <p:spPr bwMode="auto">
          <a:xfrm>
            <a:off x="405130" y="124396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(11)</a:t>
            </a:r>
            <a:r>
              <a:rPr kumimoji="0" lang="zh-CN" altLang="en-US" sz="2400" b="1" dirty="0">
                <a:latin typeface="黑体" panose="02010609060101010101" pitchFamily="49" charset="-122"/>
                <a:ea typeface="黑体" panose="02010609060101010101" pitchFamily="49" charset="-122"/>
                <a:sym typeface="+mn-ea"/>
              </a:rPr>
              <a:t>四位串行进位全加器</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6" name="Text Box 4"/>
          <p:cNvSpPr txBox="1">
            <a:spLocks noChangeArrowheads="1"/>
          </p:cNvSpPr>
          <p:nvPr/>
        </p:nvSpPr>
        <p:spPr bwMode="auto">
          <a:xfrm>
            <a:off x="1669375" y="1474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pic>
        <p:nvPicPr>
          <p:cNvPr id="80985" name="Picture 89"/>
          <p:cNvPicPr>
            <a:picLocks noChangeAspect="1" noChangeArrowheads="1"/>
          </p:cNvPicPr>
          <p:nvPr/>
        </p:nvPicPr>
        <p:blipFill>
          <a:blip r:embed="rId2" cstate="print">
            <a:extLst>
              <a:ext uri="{28A0092B-C50C-407E-A947-70E740481C1C}">
                <a14:useLocalDpi xmlns:a14="http://schemas.microsoft.com/office/drawing/2010/main" val="0"/>
              </a:ext>
            </a:extLst>
          </a:blip>
          <a:srcRect l="4056" t="7722" r="80380" b="75864"/>
          <a:stretch>
            <a:fillRect/>
          </a:stretch>
        </p:blipFill>
        <p:spPr bwMode="auto">
          <a:xfrm>
            <a:off x="1221740" y="1712595"/>
            <a:ext cx="6243955" cy="4171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bldLst>
      <p:bldP spid="14" grpId="0" bldLvl="0" animBg="1" autoUpdateAnimBg="0"/>
      <p:bldP spid="5" grpId="0" bldLvl="0" animBg="1" autoUpdateAnimBg="0"/>
      <p:bldP spid="6" grpId="0" bldLvl="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4" name="Text Box 142"/>
          <p:cNvSpPr txBox="1">
            <a:spLocks noChangeArrowheads="1"/>
          </p:cNvSpPr>
          <p:nvPr/>
        </p:nvSpPr>
        <p:spPr bwMode="auto">
          <a:xfrm>
            <a:off x="197923" y="76625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3.3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MSI</a:t>
            </a:r>
            <a:r>
              <a:rPr kumimoji="0" lang="zh-CN" altLang="en-US" dirty="0">
                <a:solidFill>
                  <a:srgbClr val="000000"/>
                </a:solidFill>
                <a:latin typeface="黑体" panose="02010609060101010101" pitchFamily="49" charset="-122"/>
                <a:ea typeface="黑体" panose="02010609060101010101" pitchFamily="49" charset="-122"/>
              </a:rPr>
              <a:t>组合逻辑电路</a:t>
            </a:r>
            <a:r>
              <a:rPr kumimoji="0" lang="zh-CN" altLang="en-US" dirty="0">
                <a:solidFill>
                  <a:srgbClr val="000000"/>
                </a:solidFill>
                <a:latin typeface="黑体" panose="02010609060101010101" pitchFamily="49" charset="-122"/>
                <a:ea typeface="黑体" panose="02010609060101010101" pitchFamily="49" charset="-122"/>
              </a:rPr>
              <a:t>模块</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5" name="Text Box 142"/>
          <p:cNvSpPr txBox="1">
            <a:spLocks noChangeArrowheads="1"/>
          </p:cNvSpPr>
          <p:nvPr>
            <p:custDataLst>
              <p:tags r:id="rId1"/>
            </p:custDataLst>
          </p:nvPr>
        </p:nvSpPr>
        <p:spPr bwMode="auto">
          <a:xfrm>
            <a:off x="405130" y="124396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(12)</a:t>
            </a:r>
            <a:r>
              <a:rPr kumimoji="0" lang="zh-CN" altLang="en-US" sz="2400" b="1" dirty="0">
                <a:latin typeface="黑体" panose="02010609060101010101" pitchFamily="49" charset="-122"/>
                <a:ea typeface="黑体" panose="02010609060101010101" pitchFamily="49" charset="-122"/>
                <a:sym typeface="+mn-ea"/>
              </a:rPr>
              <a:t>四位</a:t>
            </a:r>
            <a:r>
              <a:rPr kumimoji="0" lang="zh-CN" altLang="en-US" sz="2400" b="1" dirty="0">
                <a:latin typeface="黑体" panose="02010609060101010101" pitchFamily="49" charset="-122"/>
                <a:ea typeface="黑体" panose="02010609060101010101" pitchFamily="49" charset="-122"/>
                <a:sym typeface="+mn-ea"/>
              </a:rPr>
              <a:t>超前进位全加器</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6" name="Text Box 4"/>
          <p:cNvSpPr txBox="1">
            <a:spLocks noChangeArrowheads="1"/>
          </p:cNvSpPr>
          <p:nvPr/>
        </p:nvSpPr>
        <p:spPr bwMode="auto">
          <a:xfrm>
            <a:off x="1669375" y="1474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pic>
        <p:nvPicPr>
          <p:cNvPr id="39942"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35590" t="11333" r="54944" b="73701"/>
          <a:stretch>
            <a:fillRect/>
          </a:stretch>
        </p:blipFill>
        <p:spPr bwMode="auto">
          <a:xfrm>
            <a:off x="2355850" y="1578610"/>
            <a:ext cx="4268470" cy="427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142"/>
          <p:cNvSpPr txBox="1">
            <a:spLocks noChangeArrowheads="1"/>
          </p:cNvSpPr>
          <p:nvPr/>
        </p:nvSpPr>
        <p:spPr bwMode="auto">
          <a:xfrm>
            <a:off x="387153" y="565385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3.4 MSI</a:t>
            </a:r>
            <a:r>
              <a:rPr kumimoji="0" lang="zh-CN" altLang="en-US" dirty="0">
                <a:solidFill>
                  <a:srgbClr val="000000"/>
                </a:solidFill>
                <a:latin typeface="黑体" panose="02010609060101010101" pitchFamily="49" charset="-122"/>
                <a:ea typeface="黑体" panose="02010609060101010101" pitchFamily="49" charset="-122"/>
              </a:rPr>
              <a:t>组合逻辑电路的分析与</a:t>
            </a:r>
            <a:r>
              <a:rPr kumimoji="0" lang="zh-CN" altLang="en-US" dirty="0">
                <a:solidFill>
                  <a:srgbClr val="000000"/>
                </a:solidFill>
                <a:latin typeface="黑体" panose="02010609060101010101" pitchFamily="49" charset="-122"/>
                <a:ea typeface="黑体" panose="02010609060101010101" pitchFamily="49" charset="-122"/>
              </a:rPr>
              <a:t>设计</a:t>
            </a:r>
            <a:endParaRPr kumimoji="0" lang="zh-CN" altLang="en-US" dirty="0">
              <a:solidFill>
                <a:srgbClr val="00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bldLst>
      <p:bldP spid="14" grpId="0" bldLvl="0" animBg="1" autoUpdateAnimBg="0"/>
      <p:bldP spid="5" grpId="0" bldLvl="0" animBg="1" autoUpdateAnimBg="0"/>
      <p:bldP spid="6" grpId="0" bldLvl="0" animBg="1" autoUpdateAnimBg="0"/>
      <p:bldP spid="7" grpId="0" bldLvl="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a:spLocks noGrp="1"/>
          </p:cNvSpPr>
          <p:nvPr>
            <p:ph type="dt" sz="half" idx="10"/>
          </p:nvPr>
        </p:nvSpPr>
        <p:spPr/>
        <p:txBody>
          <a:bodyPr/>
          <a:p>
            <a:pPr>
              <a:defRPr/>
            </a:pPr>
            <a:fld id="{12151A39-E622-4CAB-8F23-9D7E1312046E}" type="datetime3">
              <a:rPr lang="zh-CN" altLang="en-US"/>
            </a:fld>
            <a:endParaRPr lang="en-US" altLang="zh-CN"/>
          </a:p>
        </p:txBody>
      </p:sp>
      <p:sp>
        <p:nvSpPr>
          <p:cNvPr id="3" name="页脚占位符 2"/>
          <p:cNvSpPr>
            <a:spLocks noGrp="1"/>
          </p:cNvSpPr>
          <p:nvPr>
            <p:ph type="ftr" sz="quarter" idx="11"/>
          </p:nvPr>
        </p:nvSpPr>
        <p:spPr/>
        <p:txBody>
          <a:bodyPr/>
          <a:p>
            <a:pPr>
              <a:defRPr/>
            </a:pPr>
            <a:r>
              <a:rPr lang="en-US" altLang="zh-CN"/>
              <a:t>第八章 A/D和D/A变换</a:t>
            </a:r>
            <a:endParaRPr lang="en-US" altLang="zh-CN"/>
          </a:p>
        </p:txBody>
      </p:sp>
      <p:sp>
        <p:nvSpPr>
          <p:cNvPr id="4" name="灯片编号占位符 3"/>
          <p:cNvSpPr>
            <a:spLocks noGrp="1"/>
          </p:cNvSpPr>
          <p:nvPr>
            <p:ph type="sldNum" sz="quarter" idx="12"/>
          </p:nvPr>
        </p:nvSpPr>
        <p:spPr/>
        <p:txBody>
          <a:bodyPr/>
          <a:p>
            <a:pPr>
              <a:defRPr/>
            </a:pPr>
            <a:fld id="{4FAC8121-3220-4895-8B08-BE6E58143BBB}" type="slidenum">
              <a:rPr lang="en-US" altLang="zh-CN"/>
            </a:fld>
            <a:endParaRPr lang="en-US" altLang="zh-CN"/>
          </a:p>
        </p:txBody>
      </p:sp>
      <p:sp>
        <p:nvSpPr>
          <p:cNvPr id="14" name="Text Box 142"/>
          <p:cNvSpPr txBox="1">
            <a:spLocks noChangeArrowheads="1"/>
          </p:cNvSpPr>
          <p:nvPr/>
        </p:nvSpPr>
        <p:spPr bwMode="auto">
          <a:xfrm>
            <a:off x="387153" y="90786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3.5 </a:t>
            </a:r>
            <a:r>
              <a:rPr kumimoji="0" lang="zh-CN" altLang="en-US" dirty="0">
                <a:solidFill>
                  <a:srgbClr val="000000"/>
                </a:solidFill>
                <a:latin typeface="黑体" panose="02010609060101010101" pitchFamily="49" charset="-122"/>
                <a:ea typeface="黑体" panose="02010609060101010101" pitchFamily="49" charset="-122"/>
              </a:rPr>
              <a:t>组合逻辑电路的竞争与</a:t>
            </a:r>
            <a:r>
              <a:rPr kumimoji="0" lang="zh-CN" altLang="en-US" dirty="0">
                <a:solidFill>
                  <a:srgbClr val="000000"/>
                </a:solidFill>
                <a:latin typeface="黑体" panose="02010609060101010101" pitchFamily="49" charset="-122"/>
                <a:ea typeface="黑体" panose="02010609060101010101" pitchFamily="49" charset="-122"/>
              </a:rPr>
              <a:t>冒险</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6" name="Text Box 4"/>
          <p:cNvSpPr txBox="1">
            <a:spLocks noChangeArrowheads="1"/>
          </p:cNvSpPr>
          <p:nvPr/>
        </p:nvSpPr>
        <p:spPr bwMode="auto">
          <a:xfrm>
            <a:off x="1669375" y="26298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sym typeface="+mn-ea"/>
              </a:rPr>
              <a:t>主题三</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 组合逻辑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508635" y="146304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b="1" dirty="0">
                <a:latin typeface="黑体" panose="02010609060101010101" pitchFamily="49" charset="-122"/>
                <a:ea typeface="黑体" panose="02010609060101010101" pitchFamily="49" charset="-122"/>
                <a:sym typeface="+mn-ea"/>
              </a:rPr>
              <a:t>竞争的</a:t>
            </a:r>
            <a:r>
              <a:rPr kumimoji="0" lang="zh-CN" altLang="en-US" sz="2400" b="1" dirty="0">
                <a:latin typeface="黑体" panose="02010609060101010101" pitchFamily="49" charset="-122"/>
                <a:ea typeface="黑体" panose="02010609060101010101" pitchFamily="49" charset="-122"/>
                <a:sym typeface="+mn-ea"/>
              </a:rPr>
              <a:t>概念</a:t>
            </a:r>
            <a:endParaRPr kumimoji="0" lang="zh-CN" altLang="en-US" sz="2400" b="1" dirty="0">
              <a:latin typeface="黑体" panose="02010609060101010101" pitchFamily="49" charset="-122"/>
              <a:ea typeface="黑体" panose="02010609060101010101" pitchFamily="49" charset="-122"/>
              <a:sym typeface="+mn-ea"/>
            </a:endParaRPr>
          </a:p>
        </p:txBody>
      </p:sp>
      <p:sp>
        <p:nvSpPr>
          <p:cNvPr id="9" name="Text Box 142"/>
          <p:cNvSpPr txBox="1">
            <a:spLocks noChangeArrowheads="1"/>
          </p:cNvSpPr>
          <p:nvPr>
            <p:custDataLst>
              <p:tags r:id="rId2"/>
            </p:custDataLst>
          </p:nvPr>
        </p:nvSpPr>
        <p:spPr bwMode="auto">
          <a:xfrm>
            <a:off x="508635" y="195643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zh-CN" altLang="en-US" sz="2400" b="1" dirty="0">
                <a:latin typeface="黑体" panose="02010609060101010101" pitchFamily="49" charset="-122"/>
                <a:ea typeface="黑体" panose="02010609060101010101" pitchFamily="49" charset="-122"/>
                <a:sym typeface="+mn-ea"/>
              </a:rPr>
              <a:t>冒险的概念</a:t>
            </a:r>
            <a:r>
              <a:rPr kumimoji="0" lang="en-US" altLang="zh-CN" sz="2400" b="1" dirty="0">
                <a:latin typeface="黑体" panose="02010609060101010101" pitchFamily="49" charset="-122"/>
                <a:ea typeface="黑体" panose="02010609060101010101" pitchFamily="49" charset="-122"/>
                <a:sym typeface="+mn-ea"/>
              </a:rPr>
              <a:t>——0</a:t>
            </a:r>
            <a:r>
              <a:rPr kumimoji="0" lang="zh-CN" altLang="en-US" sz="2400" b="1" dirty="0">
                <a:latin typeface="黑体" panose="02010609060101010101" pitchFamily="49" charset="-122"/>
                <a:ea typeface="黑体" panose="02010609060101010101" pitchFamily="49" charset="-122"/>
                <a:sym typeface="+mn-ea"/>
              </a:rPr>
              <a:t>型、</a:t>
            </a:r>
            <a:r>
              <a:rPr kumimoji="0" lang="en-US" altLang="zh-CN" sz="2400" b="1" dirty="0">
                <a:latin typeface="黑体" panose="02010609060101010101" pitchFamily="49" charset="-122"/>
                <a:ea typeface="黑体" panose="02010609060101010101" pitchFamily="49" charset="-122"/>
                <a:sym typeface="+mn-ea"/>
              </a:rPr>
              <a:t>1</a:t>
            </a:r>
            <a:r>
              <a:rPr kumimoji="0" lang="zh-CN" altLang="en-US" sz="2400" b="1" dirty="0">
                <a:latin typeface="黑体" panose="02010609060101010101" pitchFamily="49" charset="-122"/>
                <a:ea typeface="黑体" panose="02010609060101010101" pitchFamily="49" charset="-122"/>
                <a:sym typeface="+mn-ea"/>
              </a:rPr>
              <a:t>型</a:t>
            </a:r>
            <a:endParaRPr kumimoji="0" lang="zh-CN" altLang="en-US" sz="2400" b="1" dirty="0">
              <a:latin typeface="黑体" panose="02010609060101010101" pitchFamily="49" charset="-122"/>
              <a:ea typeface="黑体" panose="02010609060101010101" pitchFamily="49" charset="-122"/>
              <a:sym typeface="+mn-ea"/>
            </a:endParaRPr>
          </a:p>
        </p:txBody>
      </p:sp>
      <p:sp>
        <p:nvSpPr>
          <p:cNvPr id="10" name="Text Box 142"/>
          <p:cNvSpPr txBox="1">
            <a:spLocks noChangeArrowheads="1"/>
          </p:cNvSpPr>
          <p:nvPr>
            <p:custDataLst>
              <p:tags r:id="rId3"/>
            </p:custDataLst>
          </p:nvPr>
        </p:nvSpPr>
        <p:spPr bwMode="auto">
          <a:xfrm>
            <a:off x="508635" y="244983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(3)</a:t>
            </a:r>
            <a:r>
              <a:rPr kumimoji="0" lang="zh-CN" altLang="en-US" sz="2400" b="1" dirty="0">
                <a:latin typeface="黑体" panose="02010609060101010101" pitchFamily="49" charset="-122"/>
                <a:ea typeface="黑体" panose="02010609060101010101" pitchFamily="49" charset="-122"/>
                <a:sym typeface="+mn-ea"/>
              </a:rPr>
              <a:t>判别</a:t>
            </a:r>
            <a:endParaRPr kumimoji="0" lang="zh-CN" altLang="en-US" sz="2400" b="1" dirty="0">
              <a:latin typeface="黑体" panose="02010609060101010101" pitchFamily="49" charset="-122"/>
              <a:ea typeface="黑体" panose="02010609060101010101" pitchFamily="49" charset="-122"/>
              <a:sym typeface="+mn-ea"/>
            </a:endParaRPr>
          </a:p>
        </p:txBody>
      </p:sp>
      <p:pic>
        <p:nvPicPr>
          <p:cNvPr id="11" name="图片 10"/>
          <p:cNvPicPr>
            <a:picLocks noChangeAspect="1"/>
          </p:cNvPicPr>
          <p:nvPr/>
        </p:nvPicPr>
        <p:blipFill>
          <a:blip r:embed="rId4"/>
          <a:stretch>
            <a:fillRect/>
          </a:stretch>
        </p:blipFill>
        <p:spPr>
          <a:xfrm>
            <a:off x="1669415" y="2895600"/>
            <a:ext cx="5234940" cy="1066800"/>
          </a:xfrm>
          <a:prstGeom prst="rect">
            <a:avLst/>
          </a:prstGeom>
        </p:spPr>
      </p:pic>
      <p:sp>
        <p:nvSpPr>
          <p:cNvPr id="12" name="Text Box 142"/>
          <p:cNvSpPr txBox="1">
            <a:spLocks noChangeArrowheads="1"/>
          </p:cNvSpPr>
          <p:nvPr>
            <p:custDataLst>
              <p:tags r:id="rId5"/>
            </p:custDataLst>
          </p:nvPr>
        </p:nvSpPr>
        <p:spPr bwMode="auto">
          <a:xfrm>
            <a:off x="3223895" y="3977640"/>
            <a:ext cx="1733550" cy="3987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zh-CN" altLang="en-US" sz="2000" dirty="0">
                <a:solidFill>
                  <a:srgbClr val="000000"/>
                </a:solidFill>
                <a:latin typeface="黑体" panose="02010609060101010101" pitchFamily="49" charset="-122"/>
                <a:ea typeface="黑体" panose="02010609060101010101" pitchFamily="49" charset="-122"/>
              </a:rPr>
              <a:t>卡诺图相切</a:t>
            </a:r>
            <a:endParaRPr kumimoji="0" lang="zh-CN" altLang="en-US" sz="2000" dirty="0">
              <a:solidFill>
                <a:srgbClr val="000000"/>
              </a:solidFill>
              <a:latin typeface="黑体" panose="02010609060101010101" pitchFamily="49" charset="-122"/>
              <a:ea typeface="黑体" panose="02010609060101010101" pitchFamily="49" charset="-122"/>
            </a:endParaRPr>
          </a:p>
        </p:txBody>
      </p:sp>
      <p:sp>
        <p:nvSpPr>
          <p:cNvPr id="13" name="Text Box 142"/>
          <p:cNvSpPr txBox="1">
            <a:spLocks noChangeArrowheads="1"/>
          </p:cNvSpPr>
          <p:nvPr>
            <p:custDataLst>
              <p:tags r:id="rId6"/>
            </p:custDataLst>
          </p:nvPr>
        </p:nvSpPr>
        <p:spPr bwMode="auto">
          <a:xfrm>
            <a:off x="508635" y="444119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(4)</a:t>
            </a:r>
            <a:r>
              <a:rPr kumimoji="0" lang="zh-CN" altLang="en-US" sz="2400" b="1" dirty="0">
                <a:latin typeface="黑体" panose="02010609060101010101" pitchFamily="49" charset="-122"/>
                <a:ea typeface="黑体" panose="02010609060101010101" pitchFamily="49" charset="-122"/>
                <a:sym typeface="+mn-ea"/>
              </a:rPr>
              <a:t>消除</a:t>
            </a:r>
            <a:endParaRPr kumimoji="0" lang="en-US" altLang="zh-CN" sz="2400" b="1" dirty="0">
              <a:latin typeface="黑体" panose="02010609060101010101" pitchFamily="49" charset="-122"/>
              <a:ea typeface="黑体" panose="02010609060101010101" pitchFamily="49" charset="-122"/>
              <a:sym typeface="+mn-ea"/>
            </a:endParaRPr>
          </a:p>
        </p:txBody>
      </p:sp>
      <p:sp>
        <p:nvSpPr>
          <p:cNvPr id="15" name="Text Box 142"/>
          <p:cNvSpPr txBox="1">
            <a:spLocks noChangeArrowheads="1"/>
          </p:cNvSpPr>
          <p:nvPr>
            <p:custDataLst>
              <p:tags r:id="rId7"/>
            </p:custDataLst>
          </p:nvPr>
        </p:nvSpPr>
        <p:spPr bwMode="auto">
          <a:xfrm>
            <a:off x="995045" y="505142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b="1" dirty="0">
                <a:latin typeface="黑体" panose="02010609060101010101" pitchFamily="49" charset="-122"/>
                <a:ea typeface="黑体" panose="02010609060101010101" pitchFamily="49" charset="-122"/>
                <a:sym typeface="+mn-ea"/>
              </a:rPr>
              <a:t>(a)</a:t>
            </a:r>
            <a:r>
              <a:rPr kumimoji="0" lang="zh-CN" altLang="en-US" sz="2400" b="1" dirty="0">
                <a:latin typeface="黑体" panose="02010609060101010101" pitchFamily="49" charset="-122"/>
                <a:ea typeface="黑体" panose="02010609060101010101" pitchFamily="49" charset="-122"/>
                <a:sym typeface="+mn-ea"/>
              </a:rPr>
              <a:t>增加冗余项</a:t>
            </a:r>
            <a:r>
              <a:rPr kumimoji="0" lang="en-US" altLang="zh-CN" sz="2400" b="1" dirty="0">
                <a:latin typeface="黑体" panose="02010609060101010101" pitchFamily="49" charset="-122"/>
                <a:ea typeface="黑体" panose="02010609060101010101" pitchFamily="49" charset="-122"/>
                <a:sym typeface="+mn-ea"/>
              </a:rPr>
              <a:t>  (b)</a:t>
            </a:r>
            <a:r>
              <a:rPr kumimoji="0" lang="zh-CN" altLang="en-US" sz="2400" b="1" dirty="0">
                <a:latin typeface="黑体" panose="02010609060101010101" pitchFamily="49" charset="-122"/>
                <a:ea typeface="黑体" panose="02010609060101010101" pitchFamily="49" charset="-122"/>
                <a:sym typeface="+mn-ea"/>
              </a:rPr>
              <a:t>加滤波电容</a:t>
            </a:r>
            <a:r>
              <a:rPr kumimoji="0" lang="en-US" altLang="zh-CN" sz="2400" b="1" dirty="0">
                <a:latin typeface="黑体" panose="02010609060101010101" pitchFamily="49" charset="-122"/>
                <a:ea typeface="黑体" panose="02010609060101010101" pitchFamily="49" charset="-122"/>
                <a:sym typeface="+mn-ea"/>
              </a:rPr>
              <a:t>  (c)</a:t>
            </a:r>
            <a:r>
              <a:rPr kumimoji="0" lang="zh-CN" altLang="en-US" sz="2400" b="1" dirty="0">
                <a:latin typeface="黑体" panose="02010609060101010101" pitchFamily="49" charset="-122"/>
                <a:ea typeface="黑体" panose="02010609060101010101" pitchFamily="49" charset="-122"/>
                <a:sym typeface="+mn-ea"/>
              </a:rPr>
              <a:t>加取样</a:t>
            </a:r>
            <a:r>
              <a:rPr kumimoji="0" lang="zh-CN" altLang="en-US" sz="2400" b="1" dirty="0">
                <a:latin typeface="黑体" panose="02010609060101010101" pitchFamily="49" charset="-122"/>
                <a:ea typeface="黑体" panose="02010609060101010101" pitchFamily="49" charset="-122"/>
                <a:sym typeface="+mn-ea"/>
              </a:rPr>
              <a:t>脉冲</a:t>
            </a:r>
            <a:endParaRPr kumimoji="0" lang="zh-CN" altLang="en-US" sz="2400" b="1" dirty="0">
              <a:latin typeface="黑体" panose="02010609060101010101" pitchFamily="49" charset="-122"/>
              <a:ea typeface="黑体" panose="02010609060101010101" pitchFamily="49" charset="-122"/>
              <a:sym typeface="+mn-ea"/>
            </a:endParaRPr>
          </a:p>
        </p:txBody>
      </p:sp>
    </p:spTree>
  </p:cSld>
  <p:clrMapOvr>
    <a:masterClrMapping/>
  </p:clrMapOvr>
  <p:timing>
    <p:tnLst>
      <p:par>
        <p:cTn id="1" dur="indefinite" restart="never" nodeType="tmRoot"/>
      </p:par>
    </p:tnLst>
    <p:bldLst>
      <p:bldP spid="14" grpId="0" bldLvl="0" animBg="1" autoUpdateAnimBg="0"/>
      <p:bldP spid="6" grpId="0" bldLvl="0" animBg="1" autoUpdateAnimBg="0"/>
      <p:bldP spid="8" grpId="0" bldLvl="0" animBg="1" autoUpdateAnimBg="0"/>
      <p:bldP spid="9" grpId="0" bldLvl="0" animBg="1" autoUpdateAnimBg="0"/>
      <p:bldP spid="10" grpId="0" bldLvl="0" animBg="1" autoUpdateAnimBg="0"/>
      <p:bldP spid="12" grpId="0" bldLvl="0" animBg="1" autoUpdateAnimBg="0"/>
      <p:bldP spid="13" grpId="0" bldLvl="0" animBg="1" autoUpdateAnimBg="0"/>
      <p:bldP spid="15" grpId="0" bldLvl="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2995" y="25219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主题四 </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触发器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12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4.1 </a:t>
            </a:r>
            <a:r>
              <a:rPr kumimoji="0" lang="zh-CN" altLang="en-US" dirty="0">
                <a:solidFill>
                  <a:srgbClr val="000000"/>
                </a:solidFill>
                <a:latin typeface="黑体" panose="02010609060101010101" pitchFamily="49" charset="-122"/>
                <a:ea typeface="黑体" panose="02010609060101010101" pitchFamily="49" charset="-122"/>
              </a:rPr>
              <a:t>基本</a:t>
            </a:r>
            <a:r>
              <a:rPr kumimoji="0" lang="en-US" altLang="zh-CN" dirty="0">
                <a:solidFill>
                  <a:srgbClr val="000000"/>
                </a:solidFill>
                <a:latin typeface="黑体" panose="02010609060101010101" pitchFamily="49" charset="-122"/>
                <a:ea typeface="黑体" panose="02010609060101010101" pitchFamily="49" charset="-122"/>
              </a:rPr>
              <a:t>RS</a:t>
            </a:r>
            <a:r>
              <a:rPr kumimoji="0" lang="zh-CN" altLang="en-US" dirty="0">
                <a:solidFill>
                  <a:srgbClr val="000000"/>
                </a:solidFill>
                <a:latin typeface="黑体" panose="02010609060101010101" pitchFamily="49" charset="-122"/>
                <a:ea typeface="黑体" panose="02010609060101010101" pitchFamily="49" charset="-122"/>
              </a:rPr>
              <a:t>触发器 </a:t>
            </a:r>
            <a:endParaRPr kumimoji="0" lang="zh-CN" altLang="en-US" dirty="0">
              <a:solidFill>
                <a:srgbClr val="000000"/>
              </a:solidFill>
              <a:latin typeface="黑体" panose="02010609060101010101" pitchFamily="49" charset="-122"/>
              <a:ea typeface="黑体" panose="02010609060101010101" pitchFamily="49" charset="-122"/>
            </a:endParaRPr>
          </a:p>
        </p:txBody>
      </p:sp>
      <p:grpSp>
        <p:nvGrpSpPr>
          <p:cNvPr id="97384" name="Group 104"/>
          <p:cNvGrpSpPr/>
          <p:nvPr/>
        </p:nvGrpSpPr>
        <p:grpSpPr bwMode="auto">
          <a:xfrm>
            <a:off x="827088" y="2091373"/>
            <a:ext cx="3284537" cy="3600450"/>
            <a:chOff x="521" y="1402"/>
            <a:chExt cx="2069" cy="2268"/>
          </a:xfrm>
        </p:grpSpPr>
        <p:sp>
          <p:nvSpPr>
            <p:cNvPr id="12310" name="Text Box 82"/>
            <p:cNvSpPr txBox="1">
              <a:spLocks noChangeArrowheads="1"/>
            </p:cNvSpPr>
            <p:nvPr/>
          </p:nvSpPr>
          <p:spPr bwMode="auto">
            <a:xfrm>
              <a:off x="770" y="3343"/>
              <a:ext cx="146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latin typeface="宋体" panose="02010600030101010101" pitchFamily="2" charset="-122"/>
                </a:rPr>
                <a:t>(a) </a:t>
              </a:r>
              <a:r>
                <a:rPr lang="zh-CN" altLang="en-US" sz="2800">
                  <a:latin typeface="宋体" panose="02010600030101010101" pitchFamily="2" charset="-122"/>
                </a:rPr>
                <a:t>逻辑电路</a:t>
              </a:r>
              <a:endParaRPr lang="zh-CN" altLang="en-US" sz="2800">
                <a:latin typeface="宋体" panose="02010600030101010101" pitchFamily="2" charset="-122"/>
              </a:endParaRPr>
            </a:p>
          </p:txBody>
        </p:sp>
        <p:sp>
          <p:nvSpPr>
            <p:cNvPr id="12311" name="Text Box 76"/>
            <p:cNvSpPr txBox="1">
              <a:spLocks noChangeArrowheads="1"/>
            </p:cNvSpPr>
            <p:nvPr/>
          </p:nvSpPr>
          <p:spPr bwMode="auto">
            <a:xfrm>
              <a:off x="1833" y="1402"/>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i="1"/>
                <a:t>Q</a:t>
              </a:r>
              <a:endParaRPr lang="en-US" altLang="zh-CN" sz="2800" i="1"/>
            </a:p>
          </p:txBody>
        </p:sp>
        <p:sp>
          <p:nvSpPr>
            <p:cNvPr id="12312" name="Text Box 78"/>
            <p:cNvSpPr txBox="1">
              <a:spLocks noChangeArrowheads="1"/>
            </p:cNvSpPr>
            <p:nvPr/>
          </p:nvSpPr>
          <p:spPr bwMode="auto">
            <a:xfrm>
              <a:off x="806" y="3046"/>
              <a:ext cx="33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i="1">
                  <a:solidFill>
                    <a:schemeClr val="accent2"/>
                  </a:solidFill>
                </a:rPr>
                <a:t>S</a:t>
              </a:r>
              <a:r>
                <a:rPr lang="en-US" altLang="zh-CN" sz="2800" baseline="-25000">
                  <a:solidFill>
                    <a:schemeClr val="accent2"/>
                  </a:solidFill>
                </a:rPr>
                <a:t>D</a:t>
              </a:r>
              <a:endParaRPr lang="en-US" altLang="zh-CN" sz="2800" baseline="-25000">
                <a:solidFill>
                  <a:schemeClr val="accent2"/>
                </a:solidFill>
              </a:endParaRPr>
            </a:p>
          </p:txBody>
        </p:sp>
        <p:sp>
          <p:nvSpPr>
            <p:cNvPr id="12313" name="Rectangle 54"/>
            <p:cNvSpPr>
              <a:spLocks noChangeArrowheads="1"/>
            </p:cNvSpPr>
            <p:nvPr/>
          </p:nvSpPr>
          <p:spPr bwMode="auto">
            <a:xfrm>
              <a:off x="867" y="2193"/>
              <a:ext cx="432" cy="522"/>
            </a:xfrm>
            <a:prstGeom prst="rect">
              <a:avLst/>
            </a:prstGeom>
            <a:solidFill>
              <a:srgbClr val="800080">
                <a:alpha val="50195"/>
              </a:srgbClr>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p>
          </p:txBody>
        </p:sp>
        <p:sp>
          <p:nvSpPr>
            <p:cNvPr id="12314" name="Text Box 55"/>
            <p:cNvSpPr txBox="1">
              <a:spLocks noChangeArrowheads="1"/>
            </p:cNvSpPr>
            <p:nvPr/>
          </p:nvSpPr>
          <p:spPr bwMode="auto">
            <a:xfrm>
              <a:off x="917" y="2206"/>
              <a:ext cx="38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t>&amp;</a:t>
              </a:r>
              <a:endParaRPr lang="en-US" altLang="zh-CN" sz="3200"/>
            </a:p>
          </p:txBody>
        </p:sp>
        <p:sp>
          <p:nvSpPr>
            <p:cNvPr id="12315" name="Text Box 56"/>
            <p:cNvSpPr txBox="1">
              <a:spLocks noChangeArrowheads="1"/>
            </p:cNvSpPr>
            <p:nvPr/>
          </p:nvSpPr>
          <p:spPr bwMode="auto">
            <a:xfrm>
              <a:off x="521" y="2283"/>
              <a:ext cx="35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t>G</a:t>
              </a:r>
              <a:r>
                <a:rPr lang="en-US" altLang="zh-CN" sz="2800" baseline="-25000"/>
                <a:t>1</a:t>
              </a:r>
              <a:endParaRPr lang="en-US" altLang="zh-CN" sz="2800" baseline="-25000"/>
            </a:p>
          </p:txBody>
        </p:sp>
        <p:sp>
          <p:nvSpPr>
            <p:cNvPr id="12316" name="Oval 57"/>
            <p:cNvSpPr>
              <a:spLocks noChangeArrowheads="1"/>
            </p:cNvSpPr>
            <p:nvPr/>
          </p:nvSpPr>
          <p:spPr bwMode="auto">
            <a:xfrm>
              <a:off x="1039" y="2092"/>
              <a:ext cx="96" cy="96"/>
            </a:xfrm>
            <a:prstGeom prst="ellipse">
              <a:avLst/>
            </a:prstGeom>
            <a:noFill/>
            <a:ln w="28575">
              <a:solidFill>
                <a:schemeClr val="tx1"/>
              </a:solidFill>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2317" name="Line 58"/>
            <p:cNvSpPr>
              <a:spLocks noChangeShapeType="1"/>
            </p:cNvSpPr>
            <p:nvPr/>
          </p:nvSpPr>
          <p:spPr bwMode="auto">
            <a:xfrm flipV="1">
              <a:off x="1087" y="1708"/>
              <a:ext cx="0" cy="38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8" name="Line 59"/>
            <p:cNvSpPr>
              <a:spLocks noChangeShapeType="1"/>
            </p:cNvSpPr>
            <p:nvPr/>
          </p:nvSpPr>
          <p:spPr bwMode="auto">
            <a:xfrm>
              <a:off x="951" y="2714"/>
              <a:ext cx="0" cy="27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19" name="Line 60"/>
            <p:cNvSpPr>
              <a:spLocks noChangeShapeType="1"/>
            </p:cNvSpPr>
            <p:nvPr/>
          </p:nvSpPr>
          <p:spPr bwMode="auto">
            <a:xfrm>
              <a:off x="1174" y="2714"/>
              <a:ext cx="0" cy="25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0" name="Rectangle 61"/>
            <p:cNvSpPr>
              <a:spLocks noChangeArrowheads="1"/>
            </p:cNvSpPr>
            <p:nvPr/>
          </p:nvSpPr>
          <p:spPr bwMode="auto">
            <a:xfrm>
              <a:off x="1798" y="2188"/>
              <a:ext cx="432" cy="522"/>
            </a:xfrm>
            <a:prstGeom prst="rect">
              <a:avLst/>
            </a:prstGeom>
            <a:solidFill>
              <a:srgbClr val="800080">
                <a:alpha val="50195"/>
              </a:srgbClr>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a:p>
          </p:txBody>
        </p:sp>
        <p:sp>
          <p:nvSpPr>
            <p:cNvPr id="12321" name="Text Box 62"/>
            <p:cNvSpPr txBox="1">
              <a:spLocks noChangeArrowheads="1"/>
            </p:cNvSpPr>
            <p:nvPr/>
          </p:nvSpPr>
          <p:spPr bwMode="auto">
            <a:xfrm>
              <a:off x="1859" y="2206"/>
              <a:ext cx="38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t>&amp;</a:t>
              </a:r>
              <a:endParaRPr lang="en-US" altLang="zh-CN" sz="3200"/>
            </a:p>
          </p:txBody>
        </p:sp>
        <p:sp>
          <p:nvSpPr>
            <p:cNvPr id="12322" name="Text Box 63"/>
            <p:cNvSpPr txBox="1">
              <a:spLocks noChangeArrowheads="1"/>
            </p:cNvSpPr>
            <p:nvPr/>
          </p:nvSpPr>
          <p:spPr bwMode="auto">
            <a:xfrm>
              <a:off x="2236" y="2274"/>
              <a:ext cx="35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t>G</a:t>
              </a:r>
              <a:r>
                <a:rPr lang="en-US" altLang="zh-CN" sz="2800" baseline="-25000"/>
                <a:t>2</a:t>
              </a:r>
              <a:endParaRPr lang="en-US" altLang="zh-CN" sz="2800" baseline="-25000"/>
            </a:p>
          </p:txBody>
        </p:sp>
        <p:sp>
          <p:nvSpPr>
            <p:cNvPr id="12323" name="Oval 64"/>
            <p:cNvSpPr>
              <a:spLocks noChangeArrowheads="1"/>
            </p:cNvSpPr>
            <p:nvPr/>
          </p:nvSpPr>
          <p:spPr bwMode="auto">
            <a:xfrm>
              <a:off x="1942" y="2085"/>
              <a:ext cx="96" cy="96"/>
            </a:xfrm>
            <a:prstGeom prst="ellipse">
              <a:avLst/>
            </a:prstGeom>
            <a:noFill/>
            <a:ln w="28575">
              <a:solidFill>
                <a:schemeClr val="tx1"/>
              </a:solidFill>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2324" name="Line 65"/>
            <p:cNvSpPr>
              <a:spLocks noChangeShapeType="1"/>
            </p:cNvSpPr>
            <p:nvPr/>
          </p:nvSpPr>
          <p:spPr bwMode="auto">
            <a:xfrm flipV="1">
              <a:off x="1990" y="1708"/>
              <a:ext cx="0" cy="38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5" name="Line 66"/>
            <p:cNvSpPr>
              <a:spLocks noChangeShapeType="1"/>
            </p:cNvSpPr>
            <p:nvPr/>
          </p:nvSpPr>
          <p:spPr bwMode="auto">
            <a:xfrm>
              <a:off x="2126" y="2709"/>
              <a:ext cx="0" cy="26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6" name="Line 67"/>
            <p:cNvSpPr>
              <a:spLocks noChangeShapeType="1"/>
            </p:cNvSpPr>
            <p:nvPr/>
          </p:nvSpPr>
          <p:spPr bwMode="auto">
            <a:xfrm>
              <a:off x="1903" y="2705"/>
              <a:ext cx="0" cy="25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7" name="Line 68"/>
            <p:cNvSpPr>
              <a:spLocks noChangeShapeType="1"/>
            </p:cNvSpPr>
            <p:nvPr/>
          </p:nvSpPr>
          <p:spPr bwMode="auto">
            <a:xfrm flipH="1">
              <a:off x="1771" y="2956"/>
              <a:ext cx="13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8" name="Line 69"/>
            <p:cNvSpPr>
              <a:spLocks noChangeShapeType="1"/>
            </p:cNvSpPr>
            <p:nvPr/>
          </p:nvSpPr>
          <p:spPr bwMode="auto">
            <a:xfrm>
              <a:off x="1174" y="2968"/>
              <a:ext cx="15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29" name="Line 70"/>
            <p:cNvSpPr>
              <a:spLocks noChangeShapeType="1"/>
            </p:cNvSpPr>
            <p:nvPr/>
          </p:nvSpPr>
          <p:spPr bwMode="auto">
            <a:xfrm>
              <a:off x="1092" y="1900"/>
              <a:ext cx="21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30" name="Line 71"/>
            <p:cNvSpPr>
              <a:spLocks noChangeShapeType="1"/>
            </p:cNvSpPr>
            <p:nvPr/>
          </p:nvSpPr>
          <p:spPr bwMode="auto">
            <a:xfrm flipH="1">
              <a:off x="1770" y="1900"/>
              <a:ext cx="21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31" name="Line 73"/>
            <p:cNvSpPr>
              <a:spLocks noChangeShapeType="1"/>
            </p:cNvSpPr>
            <p:nvPr/>
          </p:nvSpPr>
          <p:spPr bwMode="auto">
            <a:xfrm>
              <a:off x="1301" y="1889"/>
              <a:ext cx="474" cy="107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32" name="Line 74"/>
            <p:cNvSpPr>
              <a:spLocks noChangeShapeType="1"/>
            </p:cNvSpPr>
            <p:nvPr/>
          </p:nvSpPr>
          <p:spPr bwMode="auto">
            <a:xfrm flipH="1">
              <a:off x="1327" y="1894"/>
              <a:ext cx="448" cy="107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33" name="Text Box 75"/>
            <p:cNvSpPr txBox="1">
              <a:spLocks noChangeArrowheads="1"/>
            </p:cNvSpPr>
            <p:nvPr/>
          </p:nvSpPr>
          <p:spPr bwMode="auto">
            <a:xfrm>
              <a:off x="943" y="1421"/>
              <a:ext cx="2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i="1"/>
                <a:t>Q</a:t>
              </a:r>
              <a:endParaRPr lang="en-US" altLang="zh-CN" sz="2800" i="1"/>
            </a:p>
          </p:txBody>
        </p:sp>
        <p:sp>
          <p:nvSpPr>
            <p:cNvPr id="12334" name="Line 77"/>
            <p:cNvSpPr>
              <a:spLocks noChangeShapeType="1"/>
            </p:cNvSpPr>
            <p:nvPr/>
          </p:nvSpPr>
          <p:spPr bwMode="auto">
            <a:xfrm>
              <a:off x="1894" y="1468"/>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35" name="Line 79"/>
            <p:cNvSpPr>
              <a:spLocks noChangeShapeType="1"/>
            </p:cNvSpPr>
            <p:nvPr/>
          </p:nvSpPr>
          <p:spPr bwMode="auto">
            <a:xfrm>
              <a:off x="864" y="3080"/>
              <a:ext cx="144"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36" name="Text Box 80"/>
            <p:cNvSpPr txBox="1">
              <a:spLocks noChangeArrowheads="1"/>
            </p:cNvSpPr>
            <p:nvPr/>
          </p:nvSpPr>
          <p:spPr bwMode="auto">
            <a:xfrm>
              <a:off x="1996" y="3024"/>
              <a:ext cx="36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i="1">
                  <a:solidFill>
                    <a:schemeClr val="accent2"/>
                  </a:solidFill>
                </a:rPr>
                <a:t>R</a:t>
              </a:r>
              <a:r>
                <a:rPr lang="en-US" altLang="zh-CN" sz="2800" baseline="-25000">
                  <a:solidFill>
                    <a:schemeClr val="accent2"/>
                  </a:solidFill>
                </a:rPr>
                <a:t>D</a:t>
              </a:r>
              <a:endParaRPr lang="en-US" altLang="zh-CN" sz="2800" baseline="-25000">
                <a:solidFill>
                  <a:schemeClr val="accent2"/>
                </a:solidFill>
              </a:endParaRPr>
            </a:p>
          </p:txBody>
        </p:sp>
        <p:sp>
          <p:nvSpPr>
            <p:cNvPr id="12337" name="Line 81"/>
            <p:cNvSpPr>
              <a:spLocks noChangeShapeType="1"/>
            </p:cNvSpPr>
            <p:nvPr/>
          </p:nvSpPr>
          <p:spPr bwMode="auto">
            <a:xfrm>
              <a:off x="2039" y="3071"/>
              <a:ext cx="144"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338" name="Oval 83"/>
            <p:cNvSpPr>
              <a:spLocks noChangeArrowheads="1"/>
            </p:cNvSpPr>
            <p:nvPr/>
          </p:nvSpPr>
          <p:spPr bwMode="auto">
            <a:xfrm>
              <a:off x="1067" y="1883"/>
              <a:ext cx="45" cy="45"/>
            </a:xfrm>
            <a:prstGeom prst="ellipse">
              <a:avLst/>
            </a:prstGeom>
            <a:solidFill>
              <a:schemeClr val="hlink"/>
            </a:solidFill>
            <a:ln w="9525">
              <a:solidFill>
                <a:schemeClr va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2339" name="Oval 84"/>
            <p:cNvSpPr>
              <a:spLocks noChangeArrowheads="1"/>
            </p:cNvSpPr>
            <p:nvPr/>
          </p:nvSpPr>
          <p:spPr bwMode="auto">
            <a:xfrm>
              <a:off x="1969" y="1876"/>
              <a:ext cx="45" cy="45"/>
            </a:xfrm>
            <a:prstGeom prst="ellipse">
              <a:avLst/>
            </a:prstGeom>
            <a:solidFill>
              <a:schemeClr val="hlink"/>
            </a:solidFill>
            <a:ln w="9525">
              <a:solidFill>
                <a:schemeClr va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grpSp>
        <p:nvGrpSpPr>
          <p:cNvPr id="97388" name="Group 108"/>
          <p:cNvGrpSpPr/>
          <p:nvPr/>
        </p:nvGrpSpPr>
        <p:grpSpPr bwMode="auto">
          <a:xfrm>
            <a:off x="4776788" y="1943100"/>
            <a:ext cx="1408112" cy="519113"/>
            <a:chOff x="3009" y="1224"/>
            <a:chExt cx="887" cy="327"/>
          </a:xfrm>
        </p:grpSpPr>
        <p:sp>
          <p:nvSpPr>
            <p:cNvPr id="12307" name="Text Box 89"/>
            <p:cNvSpPr txBox="1">
              <a:spLocks noChangeArrowheads="1"/>
            </p:cNvSpPr>
            <p:nvPr/>
          </p:nvSpPr>
          <p:spPr bwMode="auto">
            <a:xfrm>
              <a:off x="3009" y="1224"/>
              <a:ext cx="88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800" i="1">
                  <a:solidFill>
                    <a:srgbClr val="000000"/>
                  </a:solidFill>
                </a:rPr>
                <a:t>S</a:t>
              </a:r>
              <a:r>
                <a:rPr kumimoji="0" lang="en-US" altLang="zh-CN" sz="2800" baseline="-25000">
                  <a:solidFill>
                    <a:srgbClr val="000000"/>
                  </a:solidFill>
                </a:rPr>
                <a:t>D</a:t>
              </a:r>
              <a:r>
                <a:rPr kumimoji="0" lang="zh-CN" altLang="en-US" sz="2800">
                  <a:solidFill>
                    <a:srgbClr val="000000"/>
                  </a:solidFill>
                </a:rPr>
                <a:t>、</a:t>
              </a:r>
              <a:r>
                <a:rPr kumimoji="0" lang="en-US" altLang="zh-CN" sz="2800" i="1">
                  <a:solidFill>
                    <a:srgbClr val="000000"/>
                  </a:solidFill>
                </a:rPr>
                <a:t>R</a:t>
              </a:r>
              <a:r>
                <a:rPr kumimoji="0" lang="en-US" altLang="zh-CN" sz="2800" baseline="-25000">
                  <a:solidFill>
                    <a:srgbClr val="000000"/>
                  </a:solidFill>
                </a:rPr>
                <a:t>D</a:t>
              </a:r>
              <a:endParaRPr kumimoji="0" lang="en-US" altLang="zh-CN" sz="2800">
                <a:solidFill>
                  <a:srgbClr val="000000"/>
                </a:solidFill>
              </a:endParaRPr>
            </a:p>
          </p:txBody>
        </p:sp>
        <p:sp>
          <p:nvSpPr>
            <p:cNvPr id="12308" name="Line 90"/>
            <p:cNvSpPr>
              <a:spLocks noChangeShapeType="1"/>
            </p:cNvSpPr>
            <p:nvPr/>
          </p:nvSpPr>
          <p:spPr bwMode="auto">
            <a:xfrm>
              <a:off x="3067" y="1274"/>
              <a:ext cx="143" cy="0"/>
            </a:xfrm>
            <a:prstGeom prst="line">
              <a:avLst/>
            </a:prstGeom>
            <a:noFill/>
            <a:ln w="28575">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2309" name="Line 91"/>
            <p:cNvSpPr>
              <a:spLocks noChangeShapeType="1"/>
            </p:cNvSpPr>
            <p:nvPr/>
          </p:nvSpPr>
          <p:spPr bwMode="auto">
            <a:xfrm flipV="1">
              <a:off x="3519" y="1274"/>
              <a:ext cx="130" cy="0"/>
            </a:xfrm>
            <a:prstGeom prst="line">
              <a:avLst/>
            </a:prstGeom>
            <a:noFill/>
            <a:ln w="28575">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97372" name="Text Box 92"/>
          <p:cNvSpPr txBox="1">
            <a:spLocks noChangeArrowheads="1"/>
          </p:cNvSpPr>
          <p:nvPr/>
        </p:nvSpPr>
        <p:spPr bwMode="auto">
          <a:xfrm>
            <a:off x="5992813" y="1884363"/>
            <a:ext cx="26130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800" b="1">
                <a:solidFill>
                  <a:srgbClr val="000000"/>
                </a:solidFill>
                <a:latin typeface="宋体" panose="02010600030101010101" pitchFamily="2" charset="-122"/>
              </a:rPr>
              <a:t>：输入端</a:t>
            </a:r>
            <a:endParaRPr kumimoji="0" lang="zh-CN" altLang="en-US" sz="2800" b="1">
              <a:solidFill>
                <a:srgbClr val="000000"/>
              </a:solidFill>
              <a:latin typeface="宋体" panose="02010600030101010101" pitchFamily="2" charset="-122"/>
            </a:endParaRPr>
          </a:p>
        </p:txBody>
      </p:sp>
      <p:sp>
        <p:nvSpPr>
          <p:cNvPr id="97373" name="Text Box 93"/>
          <p:cNvSpPr txBox="1">
            <a:spLocks noChangeArrowheads="1"/>
          </p:cNvSpPr>
          <p:nvPr/>
        </p:nvSpPr>
        <p:spPr bwMode="auto">
          <a:xfrm>
            <a:off x="4776788" y="2533650"/>
            <a:ext cx="30559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800" b="1">
                <a:solidFill>
                  <a:srgbClr val="FF0000"/>
                </a:solidFill>
                <a:latin typeface="宋体" panose="02010600030101010101" pitchFamily="2" charset="-122"/>
              </a:rPr>
              <a:t>直接置</a:t>
            </a:r>
            <a:r>
              <a:rPr kumimoji="0" lang="en-US" altLang="zh-CN" sz="2800" b="1">
                <a:solidFill>
                  <a:srgbClr val="FF0000"/>
                </a:solidFill>
                <a:latin typeface="宋体" panose="02010600030101010101" pitchFamily="2" charset="-122"/>
              </a:rPr>
              <a:t>1(</a:t>
            </a:r>
            <a:r>
              <a:rPr kumimoji="0" lang="zh-CN" altLang="en-US" sz="2800" b="1">
                <a:solidFill>
                  <a:srgbClr val="FF0000"/>
                </a:solidFill>
                <a:latin typeface="宋体" panose="02010600030101010101" pitchFamily="2" charset="-122"/>
              </a:rPr>
              <a:t>或</a:t>
            </a:r>
            <a:r>
              <a:rPr kumimoji="0" lang="en-US" altLang="zh-CN" sz="2800" b="1">
                <a:solidFill>
                  <a:srgbClr val="FF0000"/>
                </a:solidFill>
                <a:latin typeface="宋体" panose="02010600030101010101" pitchFamily="2" charset="-122"/>
              </a:rPr>
              <a:t>0)</a:t>
            </a:r>
            <a:r>
              <a:rPr kumimoji="0" lang="zh-CN" altLang="en-US" sz="2800" b="1">
                <a:solidFill>
                  <a:srgbClr val="FF0000"/>
                </a:solidFill>
                <a:latin typeface="宋体" panose="02010600030101010101" pitchFamily="2" charset="-122"/>
              </a:rPr>
              <a:t>端</a:t>
            </a:r>
            <a:r>
              <a:rPr kumimoji="0" lang="zh-CN" altLang="en-US" sz="2800" b="1">
                <a:solidFill>
                  <a:srgbClr val="000000"/>
                </a:solidFill>
                <a:latin typeface="宋体" panose="02010600030101010101" pitchFamily="2" charset="-122"/>
              </a:rPr>
              <a:t> </a:t>
            </a:r>
            <a:endParaRPr kumimoji="0" lang="zh-CN" altLang="en-US" sz="2800" b="1">
              <a:solidFill>
                <a:srgbClr val="000000"/>
              </a:solidFill>
              <a:latin typeface="宋体" panose="02010600030101010101" pitchFamily="2" charset="-122"/>
            </a:endParaRPr>
          </a:p>
        </p:txBody>
      </p:sp>
      <p:sp>
        <p:nvSpPr>
          <p:cNvPr id="97374" name="Text Box 94"/>
          <p:cNvSpPr txBox="1">
            <a:spLocks noChangeArrowheads="1"/>
          </p:cNvSpPr>
          <p:nvPr/>
        </p:nvSpPr>
        <p:spPr bwMode="auto">
          <a:xfrm>
            <a:off x="4749800" y="3062288"/>
            <a:ext cx="38560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800" b="1">
                <a:solidFill>
                  <a:srgbClr val="FF0000"/>
                </a:solidFill>
                <a:latin typeface="宋体" panose="02010600030101010101" pitchFamily="2" charset="-122"/>
              </a:rPr>
              <a:t>直接置位</a:t>
            </a:r>
            <a:r>
              <a:rPr kumimoji="0" lang="en-US" altLang="zh-CN" sz="2800" b="1">
                <a:solidFill>
                  <a:srgbClr val="FF0000"/>
                </a:solidFill>
                <a:latin typeface="宋体" panose="02010600030101010101" pitchFamily="2" charset="-122"/>
              </a:rPr>
              <a:t>(</a:t>
            </a:r>
            <a:r>
              <a:rPr kumimoji="0" lang="zh-CN" altLang="en-US" sz="2800" b="1">
                <a:solidFill>
                  <a:srgbClr val="FF0000"/>
                </a:solidFill>
                <a:latin typeface="宋体" panose="02010600030101010101" pitchFamily="2" charset="-122"/>
              </a:rPr>
              <a:t>或复位</a:t>
            </a:r>
            <a:r>
              <a:rPr kumimoji="0" lang="en-US" altLang="zh-CN" sz="2800" b="1">
                <a:solidFill>
                  <a:srgbClr val="FF0000"/>
                </a:solidFill>
                <a:latin typeface="宋体" panose="02010600030101010101" pitchFamily="2" charset="-122"/>
              </a:rPr>
              <a:t>)</a:t>
            </a:r>
            <a:r>
              <a:rPr kumimoji="0" lang="zh-CN" altLang="en-US" sz="2800" b="1">
                <a:solidFill>
                  <a:srgbClr val="FF0000"/>
                </a:solidFill>
                <a:latin typeface="宋体" panose="02010600030101010101" pitchFamily="2" charset="-122"/>
              </a:rPr>
              <a:t>端 </a:t>
            </a:r>
            <a:endParaRPr kumimoji="0" lang="zh-CN" altLang="en-US" sz="2800" b="1">
              <a:solidFill>
                <a:srgbClr val="FF0000"/>
              </a:solidFill>
              <a:latin typeface="宋体" panose="02010600030101010101" pitchFamily="2" charset="-122"/>
            </a:endParaRPr>
          </a:p>
        </p:txBody>
      </p:sp>
      <p:sp>
        <p:nvSpPr>
          <p:cNvPr id="97375" name="Text Box 95"/>
          <p:cNvSpPr txBox="1">
            <a:spLocks noChangeArrowheads="1"/>
          </p:cNvSpPr>
          <p:nvPr/>
        </p:nvSpPr>
        <p:spPr bwMode="auto">
          <a:xfrm>
            <a:off x="4818063" y="4135438"/>
            <a:ext cx="24844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800" b="1">
                <a:solidFill>
                  <a:schemeClr val="accent2"/>
                </a:solidFill>
                <a:latin typeface="宋体" panose="02010600030101010101" pitchFamily="2" charset="-122"/>
              </a:rPr>
              <a:t>数据输入端</a:t>
            </a:r>
            <a:r>
              <a:rPr kumimoji="0" lang="zh-CN" altLang="en-US" sz="2800" b="1">
                <a:solidFill>
                  <a:srgbClr val="000000"/>
                </a:solidFill>
                <a:latin typeface="宋体" panose="02010600030101010101" pitchFamily="2" charset="-122"/>
              </a:rPr>
              <a:t> </a:t>
            </a:r>
            <a:endParaRPr kumimoji="0" lang="zh-CN" altLang="en-US" sz="2800" b="1">
              <a:solidFill>
                <a:srgbClr val="000000"/>
              </a:solidFill>
              <a:latin typeface="宋体" panose="02010600030101010101" pitchFamily="2" charset="-122"/>
            </a:endParaRPr>
          </a:p>
        </p:txBody>
      </p:sp>
      <p:sp>
        <p:nvSpPr>
          <p:cNvPr id="97376" name="Text Box 96"/>
          <p:cNvSpPr txBox="1">
            <a:spLocks noChangeArrowheads="1"/>
          </p:cNvSpPr>
          <p:nvPr/>
        </p:nvSpPr>
        <p:spPr bwMode="auto">
          <a:xfrm>
            <a:off x="4770438" y="4664075"/>
            <a:ext cx="24844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800" b="1">
                <a:solidFill>
                  <a:schemeClr val="accent2"/>
                </a:solidFill>
                <a:latin typeface="宋体" panose="02010600030101010101" pitchFamily="2" charset="-122"/>
              </a:rPr>
              <a:t>激励输入端 </a:t>
            </a:r>
            <a:endParaRPr kumimoji="0" lang="zh-CN" altLang="en-US" sz="2800" b="1">
              <a:solidFill>
                <a:schemeClr val="accent2"/>
              </a:solidFill>
              <a:latin typeface="宋体" panose="02010600030101010101" pitchFamily="2" charset="-122"/>
            </a:endParaRPr>
          </a:p>
        </p:txBody>
      </p:sp>
      <p:sp>
        <p:nvSpPr>
          <p:cNvPr id="97377" name="Text Box 97"/>
          <p:cNvSpPr txBox="1">
            <a:spLocks noChangeArrowheads="1"/>
          </p:cNvSpPr>
          <p:nvPr/>
        </p:nvSpPr>
        <p:spPr bwMode="auto">
          <a:xfrm>
            <a:off x="4818063" y="5194300"/>
            <a:ext cx="24844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800" b="1">
                <a:solidFill>
                  <a:srgbClr val="990099"/>
                </a:solidFill>
                <a:latin typeface="宋体" panose="02010600030101010101" pitchFamily="2" charset="-122"/>
              </a:rPr>
              <a:t>触发输入端 </a:t>
            </a:r>
            <a:endParaRPr kumimoji="0" lang="zh-CN" altLang="en-US" sz="2800" b="1">
              <a:solidFill>
                <a:srgbClr val="990099"/>
              </a:solidFill>
              <a:latin typeface="宋体" panose="02010600030101010101" pitchFamily="2" charset="-122"/>
            </a:endParaRPr>
          </a:p>
        </p:txBody>
      </p:sp>
      <p:sp>
        <p:nvSpPr>
          <p:cNvPr id="97378" name="Text Box 98"/>
          <p:cNvSpPr txBox="1">
            <a:spLocks noChangeArrowheads="1"/>
          </p:cNvSpPr>
          <p:nvPr/>
        </p:nvSpPr>
        <p:spPr bwMode="auto">
          <a:xfrm>
            <a:off x="4791075" y="3608388"/>
            <a:ext cx="24844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800" b="1">
                <a:solidFill>
                  <a:srgbClr val="FF0000"/>
                </a:solidFill>
                <a:latin typeface="宋体" panose="02010600030101010101" pitchFamily="2" charset="-122"/>
              </a:rPr>
              <a:t>控制输入端 </a:t>
            </a:r>
            <a:endParaRPr kumimoji="0" lang="zh-CN" altLang="en-US" sz="2800" b="1">
              <a:solidFill>
                <a:srgbClr val="FF0000"/>
              </a:solidFill>
              <a:latin typeface="宋体" panose="02010600030101010101" pitchFamily="2" charset="-122"/>
            </a:endParaRPr>
          </a:p>
        </p:txBody>
      </p:sp>
    </p:spTree>
  </p:cSld>
  <p:clrMapOvr>
    <a:masterClrMapping/>
  </p:clrMapOvr>
  <p:timing>
    <p:tnLst>
      <p:par>
        <p:cTn id="1" dur="indefinite" restart="never" nodeType="tmRoot"/>
      </p:par>
    </p:tnLst>
    <p:bldLst>
      <p:bldP spid="13" grpId="0" bldLvl="0" animBg="1" autoUpdateAnimBg="0"/>
      <p:bldP spid="14" grpId="0" bldLvl="0" animBg="1" autoUpdateAnimBg="0"/>
      <p:bldP spid="97372" grpId="0" bldLvl="0" animBg="1" autoUpdateAnimBg="0"/>
      <p:bldP spid="97373" grpId="0" bldLvl="0" animBg="1" autoUpdateAnimBg="0"/>
      <p:bldP spid="97374" grpId="0" bldLvl="0" animBg="1" autoUpdateAnimBg="0"/>
      <p:bldP spid="97375" grpId="0" bldLvl="0" animBg="1" autoUpdateAnimBg="0"/>
      <p:bldP spid="97376" grpId="0" bldLvl="0" animBg="1" autoUpdateAnimBg="0"/>
      <p:bldP spid="97377" grpId="0" bldLvl="0" animBg="1" autoUpdateAnimBg="0"/>
      <p:bldP spid="97378" grpId="0" bldLvl="0" animBg="1"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2995" y="25219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主题四 </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触发器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413188" y="74847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4.1 </a:t>
            </a:r>
            <a:r>
              <a:rPr kumimoji="0" lang="zh-CN" altLang="en-US" dirty="0">
                <a:solidFill>
                  <a:srgbClr val="000000"/>
                </a:solidFill>
                <a:latin typeface="黑体" panose="02010609060101010101" pitchFamily="49" charset="-122"/>
                <a:ea typeface="黑体" panose="02010609060101010101" pitchFamily="49" charset="-122"/>
              </a:rPr>
              <a:t>基本</a:t>
            </a:r>
            <a:r>
              <a:rPr kumimoji="0" lang="en-US" altLang="zh-CN" dirty="0">
                <a:solidFill>
                  <a:srgbClr val="000000"/>
                </a:solidFill>
                <a:latin typeface="黑体" panose="02010609060101010101" pitchFamily="49" charset="-122"/>
                <a:ea typeface="黑体" panose="02010609060101010101" pitchFamily="49" charset="-122"/>
              </a:rPr>
              <a:t>RS</a:t>
            </a:r>
            <a:r>
              <a:rPr kumimoji="0" lang="zh-CN" altLang="en-US" dirty="0">
                <a:solidFill>
                  <a:srgbClr val="000000"/>
                </a:solidFill>
                <a:latin typeface="黑体" panose="02010609060101010101" pitchFamily="49" charset="-122"/>
                <a:ea typeface="黑体" panose="02010609060101010101" pitchFamily="49" charset="-122"/>
              </a:rPr>
              <a:t>触发器 </a:t>
            </a:r>
            <a:endParaRPr kumimoji="0" lang="zh-CN" altLang="en-US" dirty="0">
              <a:solidFill>
                <a:srgbClr val="000000"/>
              </a:solidFill>
              <a:latin typeface="黑体" panose="02010609060101010101" pitchFamily="49" charset="-122"/>
              <a:ea typeface="黑体" panose="02010609060101010101" pitchFamily="49" charset="-122"/>
            </a:endParaRPr>
          </a:p>
        </p:txBody>
      </p:sp>
      <p:graphicFrame>
        <p:nvGraphicFramePr>
          <p:cNvPr id="4" name="表格 3"/>
          <p:cNvGraphicFramePr/>
          <p:nvPr>
            <p:custDataLst>
              <p:tags r:id="rId1"/>
            </p:custDataLst>
          </p:nvPr>
        </p:nvGraphicFramePr>
        <p:xfrm>
          <a:off x="413385" y="1270635"/>
          <a:ext cx="4441825" cy="4869180"/>
        </p:xfrm>
        <a:graphic>
          <a:graphicData uri="http://schemas.openxmlformats.org/drawingml/2006/table">
            <a:tbl>
              <a:tblPr firstRow="1" bandRow="1">
                <a:tableStyleId>{21E4AEA4-8DFA-4A89-87EB-49C32662AFE0}</a:tableStyleId>
              </a:tblPr>
              <a:tblGrid>
                <a:gridCol w="888365"/>
                <a:gridCol w="888365"/>
                <a:gridCol w="888365"/>
                <a:gridCol w="888365"/>
                <a:gridCol w="888365"/>
              </a:tblGrid>
              <a:tr h="480060">
                <a:tc>
                  <a:txBody>
                    <a:bodyPr/>
                    <a:p>
                      <a:pPr indent="0" algn="ctr" fontAlgn="auto">
                        <a:buNone/>
                      </a:pPr>
                      <a:r>
                        <a:rPr lang="en-US" altLang="zh-CN" sz="2400" i="1">
                          <a:solidFill>
                            <a:srgbClr val="FFFF00"/>
                          </a:solidFill>
                        </a:rPr>
                        <a:t>S</a:t>
                      </a:r>
                      <a:r>
                        <a:rPr lang="en-US" altLang="zh-CN" sz="2400" i="1" baseline="-25000">
                          <a:solidFill>
                            <a:srgbClr val="FFFF00"/>
                          </a:solidFill>
                        </a:rPr>
                        <a:t>D</a:t>
                      </a:r>
                      <a:endParaRPr lang="en-US" altLang="zh-CN" sz="2400" i="1" baseline="-25000">
                        <a:solidFill>
                          <a:srgbClr val="FFFF00"/>
                        </a:solidFill>
                      </a:endParaRPr>
                    </a:p>
                  </a:txBody>
                  <a:tcPr anchor="ctr" anchorCtr="0"/>
                </a:tc>
                <a:tc>
                  <a:txBody>
                    <a:bodyPr/>
                    <a:p>
                      <a:pPr indent="0" algn="ctr" fontAlgn="auto">
                        <a:buNone/>
                      </a:pPr>
                      <a:r>
                        <a:rPr lang="en-US" altLang="zh-CN" sz="2400" i="1">
                          <a:solidFill>
                            <a:srgbClr val="FFFF00"/>
                          </a:solidFill>
                        </a:rPr>
                        <a:t>R</a:t>
                      </a:r>
                      <a:r>
                        <a:rPr lang="en-US" altLang="zh-CN" sz="2400" i="1" baseline="-25000">
                          <a:solidFill>
                            <a:srgbClr val="FFFF00"/>
                          </a:solidFill>
                        </a:rPr>
                        <a:t>D</a:t>
                      </a:r>
                      <a:endParaRPr lang="en-US" altLang="zh-CN" sz="2400" i="1" baseline="-25000">
                        <a:solidFill>
                          <a:srgbClr val="FFFF00"/>
                        </a:solidFill>
                      </a:endParaRPr>
                    </a:p>
                  </a:txBody>
                  <a:tcPr anchor="ctr" anchorCtr="0"/>
                </a:tc>
                <a:tc>
                  <a:txBody>
                    <a:bodyPr/>
                    <a:p>
                      <a:pPr indent="0" algn="ctr" fontAlgn="auto">
                        <a:buNone/>
                      </a:pPr>
                      <a:r>
                        <a:rPr lang="en-US" altLang="zh-CN" sz="2400" i="1">
                          <a:solidFill>
                            <a:srgbClr val="FFFF00"/>
                          </a:solidFill>
                        </a:rPr>
                        <a:t>Q</a:t>
                      </a:r>
                      <a:r>
                        <a:rPr lang="en-US" altLang="zh-CN" sz="2400" i="1" baseline="30000">
                          <a:solidFill>
                            <a:srgbClr val="FFFF00"/>
                          </a:solidFill>
                        </a:rPr>
                        <a:t>n</a:t>
                      </a:r>
                      <a:endParaRPr lang="en-US" altLang="zh-CN" sz="2400" i="1" baseline="30000">
                        <a:solidFill>
                          <a:srgbClr val="FFFF00"/>
                        </a:solidFill>
                      </a:endParaRPr>
                    </a:p>
                  </a:txBody>
                  <a:tcPr anchor="ctr" anchorCtr="0"/>
                </a:tc>
                <a:tc>
                  <a:txBody>
                    <a:bodyPr/>
                    <a:p>
                      <a:pPr indent="0" algn="ctr" fontAlgn="auto">
                        <a:buNone/>
                      </a:pPr>
                      <a:r>
                        <a:rPr lang="en-US" altLang="zh-CN" sz="2400" i="1">
                          <a:solidFill>
                            <a:srgbClr val="FFFF00"/>
                          </a:solidFill>
                        </a:rPr>
                        <a:t>Q</a:t>
                      </a:r>
                      <a:r>
                        <a:rPr lang="en-US" altLang="zh-CN" sz="2400" i="1" baseline="30000">
                          <a:solidFill>
                            <a:srgbClr val="FFFF00"/>
                          </a:solidFill>
                        </a:rPr>
                        <a:t>n+1</a:t>
                      </a:r>
                      <a:endParaRPr lang="en-US" altLang="zh-CN" sz="2400" i="1" baseline="30000">
                        <a:solidFill>
                          <a:srgbClr val="FFFF00"/>
                        </a:solidFill>
                      </a:endParaRPr>
                    </a:p>
                  </a:txBody>
                  <a:tcPr anchor="ctr" anchorCtr="0"/>
                </a:tc>
                <a:tc>
                  <a:txBody>
                    <a:bodyPr/>
                    <a:p>
                      <a:pPr indent="0" algn="ctr" fontAlgn="auto">
                        <a:buNone/>
                      </a:pPr>
                      <a:r>
                        <a:rPr lang="zh-CN" altLang="en-US" sz="2400">
                          <a:solidFill>
                            <a:srgbClr val="FFFF00"/>
                          </a:solidFill>
                          <a:latin typeface="微软雅黑" panose="020B0503020204020204" charset="-122"/>
                          <a:ea typeface="微软雅黑" panose="020B0503020204020204" charset="-122"/>
                        </a:rPr>
                        <a:t>功能</a:t>
                      </a:r>
                      <a:endParaRPr lang="zh-CN" altLang="en-US" sz="2400">
                        <a:solidFill>
                          <a:srgbClr val="FFFF00"/>
                        </a:solidFill>
                        <a:latin typeface="微软雅黑" panose="020B0503020204020204" charset="-122"/>
                        <a:ea typeface="微软雅黑" panose="020B0503020204020204" charset="-122"/>
                      </a:endParaRPr>
                    </a:p>
                  </a:txBody>
                  <a:tcPr anchor="ctr" anchorCtr="0"/>
                </a:tc>
              </a:tr>
              <a:tr h="480060">
                <a:tc>
                  <a:txBody>
                    <a:bodyPr/>
                    <a:p>
                      <a:pPr indent="0" algn="ctr" fontAlgn="auto">
                        <a:buNone/>
                      </a:pPr>
                      <a:r>
                        <a:rPr lang="en-US" altLang="zh-CN" sz="3000"/>
                        <a:t>0</a:t>
                      </a:r>
                      <a:endParaRPr lang="en-US" altLang="zh-CN" sz="3000"/>
                    </a:p>
                  </a:txBody>
                  <a:tcPr anchor="ctr" anchorCtr="0"/>
                </a:tc>
                <a:tc>
                  <a:txBody>
                    <a:bodyPr/>
                    <a:p>
                      <a:pPr indent="0" algn="ctr" fontAlgn="auto">
                        <a:buNone/>
                      </a:pPr>
                      <a:r>
                        <a:rPr lang="en-US" altLang="zh-CN" sz="3000"/>
                        <a:t>0</a:t>
                      </a:r>
                      <a:endParaRPr lang="en-US" altLang="zh-CN" sz="3000"/>
                    </a:p>
                  </a:txBody>
                  <a:tcPr anchor="ctr" anchorCtr="0"/>
                </a:tc>
                <a:tc>
                  <a:txBody>
                    <a:bodyPr/>
                    <a:p>
                      <a:pPr indent="0" algn="ctr" fontAlgn="auto">
                        <a:buNone/>
                      </a:pPr>
                      <a:r>
                        <a:rPr lang="en-US" altLang="zh-CN" sz="3000">
                          <a:solidFill>
                            <a:schemeClr val="accent6"/>
                          </a:solidFill>
                        </a:rPr>
                        <a:t>0</a:t>
                      </a:r>
                      <a:endParaRPr lang="en-US" altLang="zh-CN" sz="3000">
                        <a:solidFill>
                          <a:schemeClr val="accent6"/>
                        </a:solidFill>
                      </a:endParaRPr>
                    </a:p>
                  </a:txBody>
                  <a:tcPr anchor="ctr" anchorCtr="0"/>
                </a:tc>
                <a:tc>
                  <a:txBody>
                    <a:bodyPr/>
                    <a:p>
                      <a:pPr indent="0" algn="ctr" fontAlgn="auto">
                        <a:buNone/>
                      </a:pPr>
                      <a:r>
                        <a:rPr lang="en-US" altLang="zh-CN" sz="3000">
                          <a:solidFill>
                            <a:srgbClr val="7030A0"/>
                          </a:solidFill>
                          <a:sym typeface="+mn-ea"/>
                        </a:rPr>
                        <a:t>1*</a:t>
                      </a:r>
                      <a:endParaRPr lang="zh-CN" altLang="en-US" sz="3000" b="1">
                        <a:solidFill>
                          <a:srgbClr val="FF0000"/>
                        </a:solidFill>
                        <a:latin typeface="Arial" panose="020B0604020202020204" pitchFamily="34" charset="0"/>
                      </a:endParaRPr>
                    </a:p>
                  </a:txBody>
                  <a:tcPr anchor="ctr" anchorCtr="0"/>
                </a:tc>
                <a:tc>
                  <a:txBody>
                    <a:bodyPr/>
                    <a:p>
                      <a:pPr indent="0" algn="ctr" fontAlgn="auto">
                        <a:buNone/>
                      </a:pPr>
                      <a:r>
                        <a:rPr lang="zh-CN" altLang="en-US" sz="2400" b="1">
                          <a:solidFill>
                            <a:srgbClr val="FF0000"/>
                          </a:solidFill>
                          <a:latin typeface="微软雅黑" panose="020B0503020204020204" charset="-122"/>
                          <a:ea typeface="微软雅黑" panose="020B0503020204020204" charset="-122"/>
                        </a:rPr>
                        <a:t>禁止</a:t>
                      </a:r>
                      <a:endParaRPr lang="zh-CN" altLang="en-US" sz="2400" b="1">
                        <a:solidFill>
                          <a:srgbClr val="FF0000"/>
                        </a:solidFill>
                        <a:latin typeface="微软雅黑" panose="020B0503020204020204" charset="-122"/>
                        <a:ea typeface="微软雅黑" panose="020B0503020204020204" charset="-122"/>
                      </a:endParaRPr>
                    </a:p>
                  </a:txBody>
                  <a:tcPr anchor="ctr" anchorCtr="0"/>
                </a:tc>
              </a:tr>
              <a:tr h="480060">
                <a:tc>
                  <a:txBody>
                    <a:bodyPr/>
                    <a:p>
                      <a:pPr indent="0" algn="ctr" fontAlgn="auto">
                        <a:buNone/>
                      </a:pPr>
                      <a:r>
                        <a:rPr lang="en-US" altLang="zh-CN" sz="3000"/>
                        <a:t>0</a:t>
                      </a:r>
                      <a:endParaRPr lang="en-US" altLang="zh-CN" sz="3000"/>
                    </a:p>
                  </a:txBody>
                  <a:tcPr anchor="ctr" anchorCtr="0"/>
                </a:tc>
                <a:tc>
                  <a:txBody>
                    <a:bodyPr/>
                    <a:p>
                      <a:pPr indent="0" algn="ctr" fontAlgn="auto">
                        <a:buNone/>
                      </a:pPr>
                      <a:r>
                        <a:rPr lang="en-US" altLang="zh-CN" sz="3000"/>
                        <a:t>0</a:t>
                      </a:r>
                      <a:endParaRPr lang="en-US" altLang="zh-CN" sz="3000"/>
                    </a:p>
                  </a:txBody>
                  <a:tcPr anchor="ctr" anchorCtr="0"/>
                </a:tc>
                <a:tc>
                  <a:txBody>
                    <a:bodyPr/>
                    <a:p>
                      <a:pPr indent="0" algn="ctr" fontAlgn="auto">
                        <a:buNone/>
                      </a:pPr>
                      <a:r>
                        <a:rPr lang="en-US" altLang="zh-CN" sz="3000">
                          <a:solidFill>
                            <a:schemeClr val="accent6"/>
                          </a:solidFill>
                        </a:rPr>
                        <a:t>1</a:t>
                      </a:r>
                      <a:endParaRPr lang="en-US" altLang="zh-CN" sz="3000">
                        <a:solidFill>
                          <a:schemeClr val="accent6"/>
                        </a:solidFill>
                      </a:endParaRPr>
                    </a:p>
                  </a:txBody>
                  <a:tcPr anchor="ctr" anchorCtr="0"/>
                </a:tc>
                <a:tc>
                  <a:txBody>
                    <a:bodyPr/>
                    <a:p>
                      <a:pPr indent="0" algn="ctr" fontAlgn="auto">
                        <a:buNone/>
                      </a:pPr>
                      <a:r>
                        <a:rPr lang="en-US" altLang="zh-CN" sz="3000">
                          <a:solidFill>
                            <a:srgbClr val="7030A0"/>
                          </a:solidFill>
                          <a:sym typeface="+mn-ea"/>
                        </a:rPr>
                        <a:t>1*</a:t>
                      </a:r>
                      <a:endParaRPr lang="zh-CN" altLang="en-US" sz="3000"/>
                    </a:p>
                  </a:txBody>
                  <a:tcPr anchor="ctr" anchorCtr="0"/>
                </a:tc>
                <a:tc>
                  <a:txBody>
                    <a:bodyPr/>
                    <a:p>
                      <a:pPr indent="0" algn="ctr" fontAlgn="auto">
                        <a:buNone/>
                      </a:pPr>
                      <a:r>
                        <a:rPr lang="zh-CN" altLang="en-US" sz="2400" b="1">
                          <a:solidFill>
                            <a:srgbClr val="FF0000"/>
                          </a:solidFill>
                          <a:latin typeface="微软雅黑" panose="020B0503020204020204" charset="-122"/>
                          <a:ea typeface="微软雅黑" panose="020B0503020204020204" charset="-122"/>
                          <a:sym typeface="+mn-ea"/>
                        </a:rPr>
                        <a:t>禁止</a:t>
                      </a:r>
                      <a:endParaRPr lang="zh-CN" altLang="en-US" sz="2400" b="1">
                        <a:solidFill>
                          <a:srgbClr val="FF0000"/>
                        </a:solidFill>
                        <a:latin typeface="微软雅黑" panose="020B0503020204020204" charset="-122"/>
                        <a:ea typeface="微软雅黑" panose="020B0503020204020204" charset="-122"/>
                        <a:sym typeface="+mn-ea"/>
                      </a:endParaRPr>
                    </a:p>
                  </a:txBody>
                  <a:tcPr anchor="ctr" anchorCtr="0"/>
                </a:tc>
              </a:tr>
              <a:tr h="480060">
                <a:tc>
                  <a:txBody>
                    <a:bodyPr/>
                    <a:p>
                      <a:pPr indent="0" algn="ctr" fontAlgn="auto">
                        <a:buNone/>
                      </a:pPr>
                      <a:r>
                        <a:rPr lang="en-US" altLang="zh-CN" sz="3000"/>
                        <a:t>0</a:t>
                      </a:r>
                      <a:endParaRPr lang="en-US" altLang="zh-CN" sz="3000"/>
                    </a:p>
                  </a:txBody>
                  <a:tcPr anchor="ctr" anchorCtr="0"/>
                </a:tc>
                <a:tc>
                  <a:txBody>
                    <a:bodyPr/>
                    <a:p>
                      <a:pPr indent="0" algn="ctr" fontAlgn="auto">
                        <a:buNone/>
                      </a:pPr>
                      <a:r>
                        <a:rPr lang="en-US" altLang="zh-CN" sz="3000"/>
                        <a:t>1</a:t>
                      </a:r>
                      <a:endParaRPr lang="en-US" altLang="zh-CN" sz="3000"/>
                    </a:p>
                  </a:txBody>
                  <a:tcPr anchor="ctr" anchorCtr="0"/>
                </a:tc>
                <a:tc>
                  <a:txBody>
                    <a:bodyPr/>
                    <a:p>
                      <a:pPr indent="0" algn="ctr" fontAlgn="auto">
                        <a:buNone/>
                      </a:pPr>
                      <a:r>
                        <a:rPr lang="en-US" altLang="zh-CN" sz="3000">
                          <a:solidFill>
                            <a:schemeClr val="accent6"/>
                          </a:solidFill>
                        </a:rPr>
                        <a:t>0</a:t>
                      </a:r>
                      <a:endParaRPr lang="en-US" altLang="zh-CN" sz="3000">
                        <a:solidFill>
                          <a:schemeClr val="accent6"/>
                        </a:solidFill>
                      </a:endParaRPr>
                    </a:p>
                  </a:txBody>
                  <a:tcPr anchor="ctr" anchorCtr="0"/>
                </a:tc>
                <a:tc>
                  <a:txBody>
                    <a:bodyPr/>
                    <a:p>
                      <a:pPr indent="0" algn="ctr" fontAlgn="auto">
                        <a:buNone/>
                      </a:pPr>
                      <a:r>
                        <a:rPr lang="en-US" altLang="zh-CN" sz="3000">
                          <a:solidFill>
                            <a:srgbClr val="7030A0"/>
                          </a:solidFill>
                        </a:rPr>
                        <a:t>1</a:t>
                      </a:r>
                      <a:endParaRPr lang="en-US" altLang="zh-CN" sz="3000">
                        <a:solidFill>
                          <a:srgbClr val="7030A0"/>
                        </a:solidFill>
                      </a:endParaRPr>
                    </a:p>
                  </a:txBody>
                  <a:tcPr anchor="ctr" anchorCtr="0"/>
                </a:tc>
                <a:tc>
                  <a:txBody>
                    <a:bodyPr/>
                    <a:p>
                      <a:pPr indent="0" algn="ctr" fontAlgn="auto">
                        <a:buNone/>
                      </a:pPr>
                      <a:r>
                        <a:rPr lang="zh-CN" altLang="en-US" sz="2400" b="1">
                          <a:solidFill>
                            <a:srgbClr val="FF0000"/>
                          </a:solidFill>
                          <a:latin typeface="微软雅黑" panose="020B0503020204020204" charset="-122"/>
                          <a:ea typeface="微软雅黑" panose="020B0503020204020204" charset="-122"/>
                        </a:rPr>
                        <a:t>置1</a:t>
                      </a:r>
                      <a:endParaRPr lang="en-US" altLang="zh-CN" sz="2400"/>
                    </a:p>
                  </a:txBody>
                  <a:tcPr anchor="ctr" anchorCtr="0"/>
                </a:tc>
              </a:tr>
              <a:tr h="480060">
                <a:tc>
                  <a:txBody>
                    <a:bodyPr/>
                    <a:p>
                      <a:pPr indent="0" algn="ctr" fontAlgn="auto">
                        <a:buNone/>
                      </a:pPr>
                      <a:r>
                        <a:rPr lang="en-US" altLang="zh-CN" sz="3000"/>
                        <a:t>0</a:t>
                      </a:r>
                      <a:endParaRPr lang="en-US" altLang="zh-CN" sz="3000"/>
                    </a:p>
                  </a:txBody>
                  <a:tcPr anchor="ctr" anchorCtr="0"/>
                </a:tc>
                <a:tc>
                  <a:txBody>
                    <a:bodyPr/>
                    <a:p>
                      <a:pPr indent="0" algn="ctr" fontAlgn="auto">
                        <a:buNone/>
                      </a:pPr>
                      <a:r>
                        <a:rPr lang="en-US" altLang="zh-CN" sz="3000"/>
                        <a:t>1</a:t>
                      </a:r>
                      <a:endParaRPr lang="en-US" altLang="zh-CN" sz="3000"/>
                    </a:p>
                  </a:txBody>
                  <a:tcPr anchor="ctr" anchorCtr="0"/>
                </a:tc>
                <a:tc>
                  <a:txBody>
                    <a:bodyPr/>
                    <a:p>
                      <a:pPr indent="0" algn="ctr" fontAlgn="auto">
                        <a:buNone/>
                      </a:pPr>
                      <a:r>
                        <a:rPr lang="en-US" altLang="zh-CN" sz="3000">
                          <a:solidFill>
                            <a:schemeClr val="accent6"/>
                          </a:solidFill>
                        </a:rPr>
                        <a:t>1</a:t>
                      </a:r>
                      <a:endParaRPr lang="en-US" altLang="zh-CN" sz="3000">
                        <a:solidFill>
                          <a:schemeClr val="accent6"/>
                        </a:solidFill>
                      </a:endParaRPr>
                    </a:p>
                  </a:txBody>
                  <a:tcPr anchor="ctr" anchorCtr="0"/>
                </a:tc>
                <a:tc>
                  <a:txBody>
                    <a:bodyPr/>
                    <a:p>
                      <a:pPr indent="0" algn="ctr" fontAlgn="auto">
                        <a:buNone/>
                      </a:pPr>
                      <a:r>
                        <a:rPr lang="en-US" altLang="zh-CN" sz="3000">
                          <a:solidFill>
                            <a:srgbClr val="7030A0"/>
                          </a:solidFill>
                        </a:rPr>
                        <a:t>1</a:t>
                      </a:r>
                      <a:endParaRPr lang="en-US" altLang="zh-CN" sz="3000">
                        <a:solidFill>
                          <a:srgbClr val="7030A0"/>
                        </a:solidFill>
                      </a:endParaRPr>
                    </a:p>
                  </a:txBody>
                  <a:tcPr anchor="ctr" anchorCtr="0"/>
                </a:tc>
                <a:tc>
                  <a:txBody>
                    <a:bodyPr/>
                    <a:p>
                      <a:pPr indent="0" algn="ctr" fontAlgn="auto">
                        <a:buNone/>
                      </a:pPr>
                      <a:r>
                        <a:rPr lang="zh-CN" altLang="en-US" sz="2400" b="1">
                          <a:solidFill>
                            <a:srgbClr val="FF0000"/>
                          </a:solidFill>
                          <a:latin typeface="微软雅黑" panose="020B0503020204020204" charset="-122"/>
                          <a:ea typeface="微软雅黑" panose="020B0503020204020204" charset="-122"/>
                          <a:sym typeface="+mn-ea"/>
                        </a:rPr>
                        <a:t>置1</a:t>
                      </a:r>
                      <a:endParaRPr lang="zh-CN" altLang="en-US" sz="2400"/>
                    </a:p>
                  </a:txBody>
                  <a:tcPr anchor="ctr" anchorCtr="0"/>
                </a:tc>
              </a:tr>
              <a:tr h="480060">
                <a:tc>
                  <a:txBody>
                    <a:bodyPr/>
                    <a:p>
                      <a:pPr indent="0" algn="ctr" fontAlgn="auto">
                        <a:buNone/>
                      </a:pPr>
                      <a:r>
                        <a:rPr lang="en-US" altLang="zh-CN" sz="3000"/>
                        <a:t>1</a:t>
                      </a:r>
                      <a:endParaRPr lang="en-US" altLang="zh-CN" sz="3000"/>
                    </a:p>
                  </a:txBody>
                  <a:tcPr anchor="ctr" anchorCtr="0"/>
                </a:tc>
                <a:tc>
                  <a:txBody>
                    <a:bodyPr/>
                    <a:p>
                      <a:pPr indent="0" algn="ctr" fontAlgn="auto">
                        <a:buNone/>
                      </a:pPr>
                      <a:r>
                        <a:rPr lang="en-US" altLang="zh-CN" sz="3000"/>
                        <a:t>0</a:t>
                      </a:r>
                      <a:endParaRPr lang="en-US" altLang="zh-CN" sz="3000"/>
                    </a:p>
                  </a:txBody>
                  <a:tcPr anchor="ctr" anchorCtr="0"/>
                </a:tc>
                <a:tc>
                  <a:txBody>
                    <a:bodyPr/>
                    <a:p>
                      <a:pPr indent="0" algn="ctr" fontAlgn="auto">
                        <a:buNone/>
                      </a:pPr>
                      <a:r>
                        <a:rPr lang="en-US" altLang="zh-CN" sz="3000">
                          <a:solidFill>
                            <a:schemeClr val="accent6"/>
                          </a:solidFill>
                        </a:rPr>
                        <a:t>0</a:t>
                      </a:r>
                      <a:endParaRPr lang="en-US" altLang="zh-CN" sz="3000">
                        <a:solidFill>
                          <a:schemeClr val="accent6"/>
                        </a:solidFill>
                      </a:endParaRPr>
                    </a:p>
                  </a:txBody>
                  <a:tcPr anchor="ctr" anchorCtr="0"/>
                </a:tc>
                <a:tc>
                  <a:txBody>
                    <a:bodyPr/>
                    <a:p>
                      <a:pPr indent="0" algn="ctr" fontAlgn="auto">
                        <a:buNone/>
                      </a:pPr>
                      <a:r>
                        <a:rPr lang="en-US" altLang="zh-CN" sz="3000">
                          <a:solidFill>
                            <a:srgbClr val="7030A0"/>
                          </a:solidFill>
                        </a:rPr>
                        <a:t>0</a:t>
                      </a:r>
                      <a:endParaRPr lang="en-US" altLang="zh-CN" sz="3000">
                        <a:solidFill>
                          <a:srgbClr val="7030A0"/>
                        </a:solidFill>
                      </a:endParaRPr>
                    </a:p>
                  </a:txBody>
                  <a:tcPr anchor="ctr" anchorCtr="0"/>
                </a:tc>
                <a:tc>
                  <a:txBody>
                    <a:bodyPr/>
                    <a:p>
                      <a:pPr indent="0" algn="ctr" fontAlgn="auto">
                        <a:buNone/>
                      </a:pPr>
                      <a:r>
                        <a:rPr lang="zh-CN" altLang="en-US" sz="2400" b="1">
                          <a:solidFill>
                            <a:srgbClr val="FF0000"/>
                          </a:solidFill>
                          <a:latin typeface="微软雅黑" panose="020B0503020204020204" charset="-122"/>
                          <a:ea typeface="微软雅黑" panose="020B0503020204020204" charset="-122"/>
                          <a:sym typeface="+mn-ea"/>
                        </a:rPr>
                        <a:t>置</a:t>
                      </a:r>
                      <a:r>
                        <a:rPr lang="en-US" altLang="zh-CN" sz="2400" b="1">
                          <a:solidFill>
                            <a:srgbClr val="FF0000"/>
                          </a:solidFill>
                          <a:latin typeface="微软雅黑" panose="020B0503020204020204" charset="-122"/>
                          <a:ea typeface="微软雅黑" panose="020B0503020204020204" charset="-122"/>
                          <a:sym typeface="+mn-ea"/>
                        </a:rPr>
                        <a:t>0</a:t>
                      </a:r>
                      <a:endParaRPr lang="zh-CN" altLang="en-US" sz="2400" b="1">
                        <a:solidFill>
                          <a:srgbClr val="FF0000"/>
                        </a:solidFill>
                        <a:latin typeface="微软雅黑" panose="020B0503020204020204" charset="-122"/>
                        <a:ea typeface="微软雅黑" panose="020B0503020204020204" charset="-122"/>
                        <a:sym typeface="+mn-ea"/>
                      </a:endParaRPr>
                    </a:p>
                  </a:txBody>
                  <a:tcPr anchor="ctr" anchorCtr="0"/>
                </a:tc>
              </a:tr>
              <a:tr h="480060">
                <a:tc>
                  <a:txBody>
                    <a:bodyPr/>
                    <a:p>
                      <a:pPr indent="0" algn="ctr" fontAlgn="auto">
                        <a:buNone/>
                      </a:pPr>
                      <a:r>
                        <a:rPr lang="en-US" altLang="zh-CN" sz="3000"/>
                        <a:t>1</a:t>
                      </a:r>
                      <a:endParaRPr lang="en-US" altLang="zh-CN" sz="3000"/>
                    </a:p>
                  </a:txBody>
                  <a:tcPr anchor="ctr" anchorCtr="0"/>
                </a:tc>
                <a:tc>
                  <a:txBody>
                    <a:bodyPr/>
                    <a:p>
                      <a:pPr indent="0" algn="ctr" fontAlgn="auto">
                        <a:buNone/>
                      </a:pPr>
                      <a:r>
                        <a:rPr lang="en-US" altLang="zh-CN" sz="3000"/>
                        <a:t>0</a:t>
                      </a:r>
                      <a:endParaRPr lang="en-US" altLang="zh-CN" sz="3000"/>
                    </a:p>
                  </a:txBody>
                  <a:tcPr anchor="ctr" anchorCtr="0"/>
                </a:tc>
                <a:tc>
                  <a:txBody>
                    <a:bodyPr/>
                    <a:p>
                      <a:pPr indent="0" algn="ctr" fontAlgn="auto">
                        <a:buNone/>
                      </a:pPr>
                      <a:r>
                        <a:rPr lang="en-US" altLang="zh-CN" sz="3000">
                          <a:solidFill>
                            <a:schemeClr val="accent6"/>
                          </a:solidFill>
                        </a:rPr>
                        <a:t>1</a:t>
                      </a:r>
                      <a:endParaRPr lang="en-US" altLang="zh-CN" sz="3000">
                        <a:solidFill>
                          <a:schemeClr val="accent6"/>
                        </a:solidFill>
                      </a:endParaRPr>
                    </a:p>
                  </a:txBody>
                  <a:tcPr anchor="ctr" anchorCtr="0"/>
                </a:tc>
                <a:tc>
                  <a:txBody>
                    <a:bodyPr/>
                    <a:p>
                      <a:pPr indent="0" algn="ctr" fontAlgn="auto">
                        <a:buNone/>
                      </a:pPr>
                      <a:r>
                        <a:rPr lang="en-US" altLang="zh-CN" sz="3000">
                          <a:solidFill>
                            <a:srgbClr val="7030A0"/>
                          </a:solidFill>
                        </a:rPr>
                        <a:t>0</a:t>
                      </a:r>
                      <a:endParaRPr lang="en-US" altLang="zh-CN" sz="3000">
                        <a:solidFill>
                          <a:srgbClr val="7030A0"/>
                        </a:solidFill>
                      </a:endParaRPr>
                    </a:p>
                  </a:txBody>
                  <a:tcPr anchor="ctr" anchorCtr="0"/>
                </a:tc>
                <a:tc>
                  <a:txBody>
                    <a:bodyPr/>
                    <a:p>
                      <a:pPr indent="0" algn="ctr" fontAlgn="auto">
                        <a:buNone/>
                      </a:pPr>
                      <a:r>
                        <a:rPr lang="zh-CN" altLang="en-US" sz="2400" b="1">
                          <a:solidFill>
                            <a:srgbClr val="FF0000"/>
                          </a:solidFill>
                          <a:latin typeface="微软雅黑" panose="020B0503020204020204" charset="-122"/>
                          <a:ea typeface="微软雅黑" panose="020B0503020204020204" charset="-122"/>
                          <a:sym typeface="+mn-ea"/>
                        </a:rPr>
                        <a:t>置</a:t>
                      </a:r>
                      <a:r>
                        <a:rPr lang="en-US" altLang="zh-CN" sz="2400" b="1">
                          <a:solidFill>
                            <a:srgbClr val="FF0000"/>
                          </a:solidFill>
                          <a:latin typeface="微软雅黑" panose="020B0503020204020204" charset="-122"/>
                          <a:ea typeface="微软雅黑" panose="020B0503020204020204" charset="-122"/>
                          <a:sym typeface="+mn-ea"/>
                        </a:rPr>
                        <a:t>0</a:t>
                      </a:r>
                      <a:endParaRPr lang="zh-CN" altLang="en-US" sz="2400" b="1">
                        <a:solidFill>
                          <a:srgbClr val="FF0000"/>
                        </a:solidFill>
                        <a:latin typeface="微软雅黑" panose="020B0503020204020204" charset="-122"/>
                        <a:ea typeface="微软雅黑" panose="020B0503020204020204" charset="-122"/>
                        <a:sym typeface="+mn-ea"/>
                      </a:endParaRPr>
                    </a:p>
                  </a:txBody>
                  <a:tcPr anchor="ctr" anchorCtr="0"/>
                </a:tc>
              </a:tr>
              <a:tr h="480060">
                <a:tc>
                  <a:txBody>
                    <a:bodyPr/>
                    <a:p>
                      <a:pPr indent="0" algn="ctr" fontAlgn="auto">
                        <a:buNone/>
                      </a:pPr>
                      <a:r>
                        <a:rPr lang="en-US" altLang="zh-CN" sz="3000"/>
                        <a:t>1</a:t>
                      </a:r>
                      <a:endParaRPr lang="en-US" altLang="zh-CN" sz="3000"/>
                    </a:p>
                  </a:txBody>
                  <a:tcPr anchor="ctr" anchorCtr="0"/>
                </a:tc>
                <a:tc>
                  <a:txBody>
                    <a:bodyPr/>
                    <a:p>
                      <a:pPr indent="0" algn="ctr" fontAlgn="auto">
                        <a:buNone/>
                      </a:pPr>
                      <a:r>
                        <a:rPr lang="en-US" altLang="zh-CN" sz="3000"/>
                        <a:t>1</a:t>
                      </a:r>
                      <a:endParaRPr lang="en-US" altLang="zh-CN" sz="3000"/>
                    </a:p>
                  </a:txBody>
                  <a:tcPr anchor="ctr" anchorCtr="0"/>
                </a:tc>
                <a:tc>
                  <a:txBody>
                    <a:bodyPr/>
                    <a:p>
                      <a:pPr indent="0" algn="ctr" fontAlgn="auto">
                        <a:buNone/>
                      </a:pPr>
                      <a:r>
                        <a:rPr lang="en-US" altLang="zh-CN" sz="3000">
                          <a:solidFill>
                            <a:schemeClr val="accent6"/>
                          </a:solidFill>
                        </a:rPr>
                        <a:t>0</a:t>
                      </a:r>
                      <a:endParaRPr lang="en-US" altLang="zh-CN" sz="3000">
                        <a:solidFill>
                          <a:schemeClr val="accent6"/>
                        </a:solidFill>
                      </a:endParaRPr>
                    </a:p>
                  </a:txBody>
                  <a:tcPr anchor="ctr" anchorCtr="0"/>
                </a:tc>
                <a:tc>
                  <a:txBody>
                    <a:bodyPr/>
                    <a:p>
                      <a:pPr indent="0" algn="ctr" fontAlgn="auto">
                        <a:buNone/>
                      </a:pPr>
                      <a:r>
                        <a:rPr lang="en-US" altLang="zh-CN" sz="3000">
                          <a:solidFill>
                            <a:srgbClr val="7030A0"/>
                          </a:solidFill>
                        </a:rPr>
                        <a:t>0</a:t>
                      </a:r>
                      <a:endParaRPr lang="en-US" altLang="zh-CN" sz="3000">
                        <a:solidFill>
                          <a:srgbClr val="7030A0"/>
                        </a:solidFill>
                      </a:endParaRPr>
                    </a:p>
                  </a:txBody>
                  <a:tcPr anchor="ctr" anchorCtr="0"/>
                </a:tc>
                <a:tc>
                  <a:txBody>
                    <a:bodyPr/>
                    <a:p>
                      <a:pPr indent="0" algn="ctr" fontAlgn="auto">
                        <a:buNone/>
                      </a:pPr>
                      <a:r>
                        <a:rPr lang="zh-CN" altLang="en-US" sz="2400" b="1">
                          <a:solidFill>
                            <a:srgbClr val="FF0000"/>
                          </a:solidFill>
                          <a:latin typeface="微软雅黑" panose="020B0503020204020204" charset="-122"/>
                          <a:ea typeface="微软雅黑" panose="020B0503020204020204" charset="-122"/>
                          <a:sym typeface="+mn-ea"/>
                        </a:rPr>
                        <a:t>保持</a:t>
                      </a:r>
                      <a:endParaRPr lang="zh-CN" altLang="en-US" sz="2400"/>
                    </a:p>
                  </a:txBody>
                  <a:tcPr anchor="ctr" anchorCtr="0"/>
                </a:tc>
              </a:tr>
              <a:tr h="480060">
                <a:tc>
                  <a:txBody>
                    <a:bodyPr/>
                    <a:p>
                      <a:pPr indent="0" algn="ctr" fontAlgn="auto">
                        <a:buNone/>
                      </a:pPr>
                      <a:r>
                        <a:rPr lang="en-US" altLang="zh-CN" sz="3000"/>
                        <a:t>1</a:t>
                      </a:r>
                      <a:endParaRPr lang="en-US" altLang="zh-CN" sz="3000"/>
                    </a:p>
                  </a:txBody>
                  <a:tcPr anchor="ctr" anchorCtr="0"/>
                </a:tc>
                <a:tc>
                  <a:txBody>
                    <a:bodyPr/>
                    <a:p>
                      <a:pPr indent="0" algn="ctr" fontAlgn="auto">
                        <a:buNone/>
                      </a:pPr>
                      <a:r>
                        <a:rPr lang="en-US" altLang="zh-CN" sz="3000"/>
                        <a:t>1</a:t>
                      </a:r>
                      <a:endParaRPr lang="en-US" altLang="zh-CN" sz="3000"/>
                    </a:p>
                  </a:txBody>
                  <a:tcPr anchor="ctr" anchorCtr="0"/>
                </a:tc>
                <a:tc>
                  <a:txBody>
                    <a:bodyPr/>
                    <a:p>
                      <a:pPr indent="0" algn="ctr" fontAlgn="auto">
                        <a:buNone/>
                      </a:pPr>
                      <a:r>
                        <a:rPr lang="en-US" altLang="zh-CN" sz="3000">
                          <a:solidFill>
                            <a:schemeClr val="accent6"/>
                          </a:solidFill>
                        </a:rPr>
                        <a:t>1</a:t>
                      </a:r>
                      <a:endParaRPr lang="en-US" altLang="zh-CN" sz="3000">
                        <a:solidFill>
                          <a:schemeClr val="accent6"/>
                        </a:solidFill>
                      </a:endParaRPr>
                    </a:p>
                  </a:txBody>
                  <a:tcPr anchor="ctr" anchorCtr="0"/>
                </a:tc>
                <a:tc>
                  <a:txBody>
                    <a:bodyPr/>
                    <a:p>
                      <a:pPr indent="0" algn="ctr" fontAlgn="auto">
                        <a:buNone/>
                      </a:pPr>
                      <a:r>
                        <a:rPr lang="en-US" altLang="zh-CN" sz="3000">
                          <a:solidFill>
                            <a:srgbClr val="7030A0"/>
                          </a:solidFill>
                        </a:rPr>
                        <a:t>1</a:t>
                      </a:r>
                      <a:endParaRPr lang="en-US" altLang="zh-CN" sz="3000">
                        <a:solidFill>
                          <a:srgbClr val="7030A0"/>
                        </a:solidFill>
                      </a:endParaRPr>
                    </a:p>
                  </a:txBody>
                  <a:tcPr anchor="ctr" anchorCtr="0"/>
                </a:tc>
                <a:tc>
                  <a:txBody>
                    <a:bodyPr/>
                    <a:p>
                      <a:pPr indent="0" algn="ctr" fontAlgn="auto">
                        <a:buNone/>
                      </a:pPr>
                      <a:r>
                        <a:rPr lang="zh-CN" altLang="en-US" sz="2400" b="1">
                          <a:solidFill>
                            <a:srgbClr val="FF0000"/>
                          </a:solidFill>
                          <a:latin typeface="微软雅黑" panose="020B0503020204020204" charset="-122"/>
                          <a:ea typeface="微软雅黑" panose="020B0503020204020204" charset="-122"/>
                          <a:sym typeface="+mn-ea"/>
                        </a:rPr>
                        <a:t>保持</a:t>
                      </a:r>
                      <a:endParaRPr lang="zh-CN" altLang="en-US" sz="2400"/>
                    </a:p>
                  </a:txBody>
                  <a:tcPr anchor="ctr" anchorCtr="0"/>
                </a:tc>
              </a:tr>
            </a:tbl>
          </a:graphicData>
        </a:graphic>
      </p:graphicFrame>
      <p:grpSp>
        <p:nvGrpSpPr>
          <p:cNvPr id="111837" name="Group 221"/>
          <p:cNvGrpSpPr/>
          <p:nvPr/>
        </p:nvGrpSpPr>
        <p:grpSpPr bwMode="auto">
          <a:xfrm>
            <a:off x="5186045" y="2686685"/>
            <a:ext cx="4071620" cy="1594285"/>
            <a:chOff x="1455" y="2185"/>
            <a:chExt cx="3034" cy="1004"/>
          </a:xfrm>
        </p:grpSpPr>
        <p:sp>
          <p:nvSpPr>
            <p:cNvPr id="38" name="Text Box 222"/>
            <p:cNvSpPr txBox="1">
              <a:spLocks noChangeArrowheads="1"/>
            </p:cNvSpPr>
            <p:nvPr/>
          </p:nvSpPr>
          <p:spPr bwMode="auto">
            <a:xfrm>
              <a:off x="1557" y="2185"/>
              <a:ext cx="2368"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800" i="1">
                  <a:solidFill>
                    <a:srgbClr val="000000"/>
                  </a:solidFill>
                  <a:cs typeface="Times New Roman" panose="02020603050405020304" pitchFamily="18" charset="0"/>
                </a:rPr>
                <a:t>Q</a:t>
              </a:r>
              <a:r>
                <a:rPr kumimoji="0" lang="en-US" altLang="zh-CN" sz="2800" i="1" baseline="30000">
                  <a:solidFill>
                    <a:srgbClr val="000000"/>
                  </a:solidFill>
                </a:rPr>
                <a:t>n</a:t>
              </a:r>
              <a:r>
                <a:rPr kumimoji="0" lang="en-US" altLang="zh-CN" sz="2800" baseline="30000">
                  <a:solidFill>
                    <a:srgbClr val="000000"/>
                  </a:solidFill>
                </a:rPr>
                <a:t>+1 </a:t>
              </a:r>
              <a:r>
                <a:rPr kumimoji="0" lang="en-US" altLang="zh-CN" sz="2800">
                  <a:solidFill>
                    <a:srgbClr val="000000"/>
                  </a:solidFill>
                </a:rPr>
                <a:t>= </a:t>
              </a:r>
              <a:r>
                <a:rPr kumimoji="0" lang="en-US" altLang="zh-CN" sz="2800" i="1">
                  <a:solidFill>
                    <a:srgbClr val="000000"/>
                  </a:solidFill>
                </a:rPr>
                <a:t>S</a:t>
              </a:r>
              <a:r>
                <a:rPr kumimoji="0" lang="en-US" altLang="zh-CN" sz="2800" baseline="-25000">
                  <a:solidFill>
                    <a:srgbClr val="000000"/>
                  </a:solidFill>
                </a:rPr>
                <a:t>D </a:t>
              </a:r>
              <a:r>
                <a:rPr kumimoji="0" lang="en-US" altLang="zh-CN" sz="2800">
                  <a:solidFill>
                    <a:srgbClr val="000000"/>
                  </a:solidFill>
                </a:rPr>
                <a:t>+ </a:t>
              </a:r>
              <a:r>
                <a:rPr kumimoji="0" lang="en-US" altLang="zh-CN" sz="2800" i="1">
                  <a:solidFill>
                    <a:srgbClr val="000000"/>
                  </a:solidFill>
                </a:rPr>
                <a:t>R</a:t>
              </a:r>
              <a:r>
                <a:rPr kumimoji="0" lang="en-US" altLang="zh-CN" sz="2800" baseline="-25000">
                  <a:solidFill>
                    <a:srgbClr val="000000"/>
                  </a:solidFill>
                </a:rPr>
                <a:t>D</a:t>
              </a:r>
              <a:r>
                <a:rPr kumimoji="0" lang="en-US" altLang="zh-CN" sz="2800">
                  <a:solidFill>
                    <a:srgbClr val="000000"/>
                  </a:solidFill>
                </a:rPr>
                <a:t>Q</a:t>
              </a:r>
              <a:r>
                <a:rPr kumimoji="0" lang="en-US" altLang="zh-CN" sz="2800" baseline="50000">
                  <a:solidFill>
                    <a:srgbClr val="000000"/>
                  </a:solidFill>
                </a:rPr>
                <a:t>n</a:t>
              </a:r>
              <a:r>
                <a:rPr kumimoji="0" lang="en-US" altLang="zh-CN" sz="2800">
                  <a:solidFill>
                    <a:srgbClr val="000000"/>
                  </a:solidFill>
                </a:rPr>
                <a:t> </a:t>
              </a:r>
              <a:endParaRPr kumimoji="0" lang="en-US" altLang="zh-CN" sz="2800">
                <a:solidFill>
                  <a:srgbClr val="000000"/>
                </a:solidFill>
              </a:endParaRPr>
            </a:p>
          </p:txBody>
        </p:sp>
        <p:sp>
          <p:nvSpPr>
            <p:cNvPr id="15373" name="Line 223"/>
            <p:cNvSpPr>
              <a:spLocks noChangeShapeType="1"/>
            </p:cNvSpPr>
            <p:nvPr/>
          </p:nvSpPr>
          <p:spPr bwMode="auto">
            <a:xfrm>
              <a:off x="2234" y="2236"/>
              <a:ext cx="144" cy="0"/>
            </a:xfrm>
            <a:prstGeom prst="line">
              <a:avLst/>
            </a:prstGeom>
            <a:noFill/>
            <a:ln w="28575">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 name="Line 224"/>
            <p:cNvSpPr>
              <a:spLocks noChangeShapeType="1"/>
            </p:cNvSpPr>
            <p:nvPr/>
          </p:nvSpPr>
          <p:spPr bwMode="auto">
            <a:xfrm>
              <a:off x="2232" y="2206"/>
              <a:ext cx="144" cy="0"/>
            </a:xfrm>
            <a:prstGeom prst="line">
              <a:avLst/>
            </a:prstGeom>
            <a:noFill/>
            <a:ln w="28575">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375" name="Line 225"/>
            <p:cNvSpPr>
              <a:spLocks noChangeShapeType="1"/>
            </p:cNvSpPr>
            <p:nvPr/>
          </p:nvSpPr>
          <p:spPr bwMode="auto">
            <a:xfrm>
              <a:off x="2678" y="2234"/>
              <a:ext cx="144" cy="0"/>
            </a:xfrm>
            <a:prstGeom prst="line">
              <a:avLst/>
            </a:prstGeom>
            <a:noFill/>
            <a:ln w="28575">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376" name="Text Box 226"/>
            <p:cNvSpPr txBox="1">
              <a:spLocks noChangeArrowheads="1"/>
            </p:cNvSpPr>
            <p:nvPr/>
          </p:nvSpPr>
          <p:spPr bwMode="auto">
            <a:xfrm>
              <a:off x="1539" y="2589"/>
              <a:ext cx="2950" cy="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800" i="1">
                  <a:solidFill>
                    <a:srgbClr val="000000"/>
                  </a:solidFill>
                </a:rPr>
                <a:t>S</a:t>
              </a:r>
              <a:r>
                <a:rPr kumimoji="0" lang="en-US" altLang="zh-CN" sz="2800" baseline="-25000">
                  <a:solidFill>
                    <a:srgbClr val="000000"/>
                  </a:solidFill>
                </a:rPr>
                <a:t>D</a:t>
              </a:r>
              <a:r>
                <a:rPr kumimoji="0" lang="en-US" altLang="zh-CN" sz="2800">
                  <a:solidFill>
                    <a:srgbClr val="000000"/>
                  </a:solidFill>
                </a:rPr>
                <a:t> + </a:t>
              </a:r>
              <a:r>
                <a:rPr kumimoji="0" lang="en-US" altLang="zh-CN" sz="2800" i="1">
                  <a:solidFill>
                    <a:srgbClr val="000000"/>
                  </a:solidFill>
                </a:rPr>
                <a:t>R</a:t>
              </a:r>
              <a:r>
                <a:rPr kumimoji="0" lang="en-US" altLang="zh-CN" sz="2800" baseline="-25000">
                  <a:solidFill>
                    <a:srgbClr val="000000"/>
                  </a:solidFill>
                </a:rPr>
                <a:t>D </a:t>
              </a:r>
              <a:r>
                <a:rPr kumimoji="0" lang="en-US" altLang="zh-CN" sz="2800">
                  <a:solidFill>
                    <a:srgbClr val="000000"/>
                  </a:solidFill>
                </a:rPr>
                <a:t>= 1</a:t>
              </a:r>
              <a:r>
                <a:rPr kumimoji="0" lang="en-US" altLang="zh-CN" sz="2800">
                  <a:solidFill>
                    <a:srgbClr val="000000"/>
                  </a:solidFill>
                  <a:latin typeface="宋体" panose="02010600030101010101" pitchFamily="2" charset="-122"/>
                </a:rPr>
                <a:t> (</a:t>
              </a:r>
              <a:r>
                <a:rPr kumimoji="0" lang="zh-CN" altLang="en-US" sz="2800">
                  <a:solidFill>
                    <a:srgbClr val="000000"/>
                  </a:solidFill>
                  <a:latin typeface="宋体" panose="02010600030101010101" pitchFamily="2" charset="-122"/>
                </a:rPr>
                <a:t>约束条件</a:t>
              </a:r>
              <a:r>
                <a:rPr kumimoji="0" lang="en-US" altLang="zh-CN" sz="2800">
                  <a:solidFill>
                    <a:srgbClr val="000000"/>
                  </a:solidFill>
                  <a:latin typeface="宋体" panose="02010600030101010101" pitchFamily="2" charset="-122"/>
                </a:rPr>
                <a:t>)</a:t>
              </a:r>
              <a:endParaRPr kumimoji="0" lang="en-US" altLang="zh-CN" sz="2800">
                <a:solidFill>
                  <a:srgbClr val="000000"/>
                </a:solidFill>
                <a:latin typeface="宋体" panose="02010600030101010101" pitchFamily="2" charset="-122"/>
              </a:endParaRPr>
            </a:p>
          </p:txBody>
        </p:sp>
        <p:sp>
          <p:nvSpPr>
            <p:cNvPr id="15377" name="Line 227"/>
            <p:cNvSpPr>
              <a:spLocks noChangeShapeType="1"/>
            </p:cNvSpPr>
            <p:nvPr/>
          </p:nvSpPr>
          <p:spPr bwMode="auto">
            <a:xfrm>
              <a:off x="1608" y="2648"/>
              <a:ext cx="144" cy="0"/>
            </a:xfrm>
            <a:prstGeom prst="line">
              <a:avLst/>
            </a:prstGeom>
            <a:noFill/>
            <a:ln w="28575">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sp>
          <p:nvSpPr>
            <p:cNvPr id="15378" name="Line 228"/>
            <p:cNvSpPr>
              <a:spLocks noChangeShapeType="1"/>
            </p:cNvSpPr>
            <p:nvPr/>
          </p:nvSpPr>
          <p:spPr bwMode="auto">
            <a:xfrm>
              <a:off x="2062" y="2654"/>
              <a:ext cx="144" cy="0"/>
            </a:xfrm>
            <a:prstGeom prst="line">
              <a:avLst/>
            </a:prstGeom>
            <a:noFill/>
            <a:ln w="28575">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5379" name="AutoShape 229"/>
            <p:cNvSpPr/>
            <p:nvPr/>
          </p:nvSpPr>
          <p:spPr bwMode="auto">
            <a:xfrm>
              <a:off x="1455" y="2323"/>
              <a:ext cx="56" cy="533"/>
            </a:xfrm>
            <a:prstGeom prst="leftBrace">
              <a:avLst>
                <a:gd name="adj1" fmla="val 79315"/>
                <a:gd name="adj2" fmla="val 50000"/>
              </a:avLst>
            </a:prstGeom>
            <a:noFill/>
            <a:ln w="28575">
              <a:solidFill>
                <a:schemeClr val="tx2"/>
              </a:solidFill>
              <a:rou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2995" y="25219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主题四 </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触发器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413188" y="89135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4.2 </a:t>
            </a:r>
            <a:r>
              <a:rPr kumimoji="0" lang="zh-CN" altLang="en-US" dirty="0">
                <a:solidFill>
                  <a:srgbClr val="000000"/>
                </a:solidFill>
                <a:latin typeface="黑体" panose="02010609060101010101" pitchFamily="49" charset="-122"/>
                <a:ea typeface="黑体" panose="02010609060101010101" pitchFamily="49" charset="-122"/>
              </a:rPr>
              <a:t>钟控电平</a:t>
            </a:r>
            <a:r>
              <a:rPr kumimoji="0" lang="en-US" altLang="zh-CN" dirty="0">
                <a:solidFill>
                  <a:srgbClr val="000000"/>
                </a:solidFill>
                <a:latin typeface="黑体" panose="02010609060101010101" pitchFamily="49" charset="-122"/>
                <a:ea typeface="黑体" panose="02010609060101010101" pitchFamily="49" charset="-122"/>
              </a:rPr>
              <a:t>SR</a:t>
            </a:r>
            <a:r>
              <a:rPr kumimoji="0" lang="zh-CN" altLang="en-US" dirty="0">
                <a:solidFill>
                  <a:srgbClr val="000000"/>
                </a:solidFill>
                <a:latin typeface="黑体" panose="02010609060101010101" pitchFamily="49" charset="-122"/>
                <a:ea typeface="黑体" panose="02010609060101010101" pitchFamily="49" charset="-122"/>
              </a:rPr>
              <a:t>触发器 </a:t>
            </a:r>
            <a:endParaRPr kumimoji="0" lang="zh-CN" altLang="en-US" dirty="0">
              <a:solidFill>
                <a:srgbClr val="000000"/>
              </a:solidFill>
              <a:latin typeface="黑体" panose="02010609060101010101" pitchFamily="49" charset="-122"/>
              <a:ea typeface="黑体" panose="02010609060101010101" pitchFamily="49" charset="-122"/>
            </a:endParaRPr>
          </a:p>
        </p:txBody>
      </p:sp>
      <p:pic>
        <p:nvPicPr>
          <p:cNvPr id="114804" name="Picture 116"/>
          <p:cNvPicPr>
            <a:picLocks noChangeAspect="1" noChangeArrowheads="1"/>
          </p:cNvPicPr>
          <p:nvPr/>
        </p:nvPicPr>
        <p:blipFill>
          <a:blip r:embed="rId1" cstate="print">
            <a:extLst>
              <a:ext uri="{28A0092B-C50C-407E-A947-70E740481C1C}">
                <a14:useLocalDpi xmlns:a14="http://schemas.microsoft.com/office/drawing/2010/main" val="0"/>
              </a:ext>
            </a:extLst>
          </a:blip>
          <a:srcRect l="35101" t="23468" r="59816" b="61658"/>
          <a:stretch>
            <a:fillRect/>
          </a:stretch>
        </p:blipFill>
        <p:spPr bwMode="auto">
          <a:xfrm>
            <a:off x="2726055" y="1451928"/>
            <a:ext cx="1336675" cy="24765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4805" name="Picture 117"/>
          <p:cNvPicPr>
            <a:picLocks noChangeAspect="1" noChangeArrowheads="1"/>
          </p:cNvPicPr>
          <p:nvPr/>
        </p:nvPicPr>
        <p:blipFill>
          <a:blip r:embed="rId2" cstate="print">
            <a:extLst>
              <a:ext uri="{28A0092B-C50C-407E-A947-70E740481C1C}">
                <a14:useLocalDpi xmlns:a14="http://schemas.microsoft.com/office/drawing/2010/main" val="0"/>
              </a:ext>
            </a:extLst>
          </a:blip>
          <a:srcRect l="46574" t="24156" r="48538" b="61580"/>
          <a:stretch>
            <a:fillRect/>
          </a:stretch>
        </p:blipFill>
        <p:spPr bwMode="auto">
          <a:xfrm>
            <a:off x="4886643" y="1545590"/>
            <a:ext cx="1289050" cy="23828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a:spLocks noChangeArrowheads="1"/>
          </p:cNvSpPr>
          <p:nvPr/>
        </p:nvSpPr>
        <p:spPr bwMode="auto">
          <a:xfrm>
            <a:off x="2248853" y="4109720"/>
            <a:ext cx="4403725" cy="1881188"/>
          </a:xfrm>
          <a:prstGeom prst="rect">
            <a:avLst/>
          </a:prstGeom>
          <a:noFill/>
          <a:ln w="34925"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72039" name="Text Box 7"/>
          <p:cNvSpPr txBox="1">
            <a:spLocks noChangeArrowheads="1"/>
          </p:cNvSpPr>
          <p:nvPr/>
        </p:nvSpPr>
        <p:spPr bwMode="auto">
          <a:xfrm>
            <a:off x="2459673" y="4208145"/>
            <a:ext cx="46529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800" b="1" i="1">
                <a:solidFill>
                  <a:srgbClr val="000000"/>
                </a:solidFill>
                <a:latin typeface="宋体" panose="02010600030101010101" pitchFamily="2" charset="-122"/>
                <a:cs typeface="Times New Roman" panose="02020603050405020304" pitchFamily="18" charset="0"/>
              </a:rPr>
              <a:t> </a:t>
            </a:r>
            <a:r>
              <a:rPr kumimoji="0" lang="en-US" altLang="zh-CN" sz="2800" b="1" i="1">
                <a:solidFill>
                  <a:srgbClr val="000000"/>
                </a:solidFill>
                <a:cs typeface="Times New Roman" panose="02020603050405020304" pitchFamily="18" charset="0"/>
              </a:rPr>
              <a:t>CP </a:t>
            </a:r>
            <a:r>
              <a:rPr kumimoji="0" lang="en-US" altLang="zh-CN" sz="2800" b="1">
                <a:solidFill>
                  <a:srgbClr val="000000"/>
                </a:solidFill>
                <a:cs typeface="Times New Roman" panose="02020603050405020304" pitchFamily="18" charset="0"/>
              </a:rPr>
              <a:t>=0</a:t>
            </a:r>
            <a:r>
              <a:rPr kumimoji="0" lang="zh-CN" altLang="en-US" sz="2800" b="1">
                <a:solidFill>
                  <a:srgbClr val="000000"/>
                </a:solidFill>
                <a:latin typeface="宋体" panose="02010600030101010101" pitchFamily="2" charset="-122"/>
                <a:cs typeface="Times New Roman" panose="02020603050405020304" pitchFamily="18" charset="0"/>
              </a:rPr>
              <a:t>时，</a:t>
            </a:r>
            <a:r>
              <a:rPr kumimoji="0" lang="en-US" altLang="zh-CN" sz="2800" b="1" i="1">
                <a:solidFill>
                  <a:srgbClr val="000000"/>
                </a:solidFill>
                <a:cs typeface="Times New Roman" panose="02020603050405020304" pitchFamily="18" charset="0"/>
              </a:rPr>
              <a:t>Q</a:t>
            </a:r>
            <a:r>
              <a:rPr kumimoji="0" lang="en-US" altLang="zh-CN" sz="2800" b="1" i="1" baseline="50000">
                <a:solidFill>
                  <a:srgbClr val="000000"/>
                </a:solidFill>
                <a:cs typeface="Times New Roman" panose="02020603050405020304" pitchFamily="18" charset="0"/>
              </a:rPr>
              <a:t>n</a:t>
            </a:r>
            <a:r>
              <a:rPr kumimoji="0" lang="en-US" altLang="zh-CN" sz="2800" b="1" baseline="50000">
                <a:solidFill>
                  <a:srgbClr val="000000"/>
                </a:solidFill>
                <a:cs typeface="Times New Roman" panose="02020603050405020304" pitchFamily="18" charset="0"/>
              </a:rPr>
              <a:t>+1</a:t>
            </a:r>
            <a:r>
              <a:rPr kumimoji="0" lang="en-US" altLang="zh-CN" sz="2800" b="1">
                <a:solidFill>
                  <a:srgbClr val="000000"/>
                </a:solidFill>
                <a:cs typeface="Times New Roman" panose="02020603050405020304" pitchFamily="18" charset="0"/>
              </a:rPr>
              <a:t>=</a:t>
            </a:r>
            <a:r>
              <a:rPr kumimoji="0" lang="en-US" altLang="zh-CN" sz="2800" b="1" i="1">
                <a:solidFill>
                  <a:srgbClr val="000000"/>
                </a:solidFill>
                <a:cs typeface="Times New Roman" panose="02020603050405020304" pitchFamily="18" charset="0"/>
              </a:rPr>
              <a:t>Q</a:t>
            </a:r>
            <a:r>
              <a:rPr kumimoji="0" lang="en-US" altLang="zh-CN" sz="2800" b="1" i="1" baseline="50000">
                <a:solidFill>
                  <a:srgbClr val="000000"/>
                </a:solidFill>
                <a:cs typeface="Times New Roman" panose="02020603050405020304" pitchFamily="18" charset="0"/>
              </a:rPr>
              <a:t>n</a:t>
            </a:r>
            <a:r>
              <a:rPr kumimoji="0" lang="en-US" altLang="zh-CN" sz="2800" b="1" i="1">
                <a:solidFill>
                  <a:srgbClr val="000000"/>
                </a:solidFill>
              </a:rPr>
              <a:t> </a:t>
            </a:r>
            <a:endParaRPr kumimoji="0" lang="en-US" altLang="zh-CN" sz="2800" b="1" i="1">
              <a:solidFill>
                <a:srgbClr val="000000"/>
              </a:solidFill>
            </a:endParaRPr>
          </a:p>
        </p:txBody>
      </p:sp>
      <p:grpSp>
        <p:nvGrpSpPr>
          <p:cNvPr id="172062" name="Group 30"/>
          <p:cNvGrpSpPr/>
          <p:nvPr/>
        </p:nvGrpSpPr>
        <p:grpSpPr bwMode="auto">
          <a:xfrm>
            <a:off x="2631123" y="4957445"/>
            <a:ext cx="4232275" cy="1023938"/>
            <a:chOff x="477" y="1452"/>
            <a:chExt cx="2666" cy="645"/>
          </a:xfrm>
        </p:grpSpPr>
        <p:sp>
          <p:nvSpPr>
            <p:cNvPr id="21528" name="Text Box 9"/>
            <p:cNvSpPr txBox="1">
              <a:spLocks noChangeArrowheads="1"/>
            </p:cNvSpPr>
            <p:nvPr/>
          </p:nvSpPr>
          <p:spPr bwMode="auto">
            <a:xfrm>
              <a:off x="1621" y="1452"/>
              <a:ext cx="152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800" b="1" i="1">
                  <a:solidFill>
                    <a:schemeClr val="accent2"/>
                  </a:solidFill>
                  <a:cs typeface="Times New Roman" panose="02020603050405020304" pitchFamily="18" charset="0"/>
                </a:rPr>
                <a:t>Q</a:t>
              </a:r>
              <a:r>
                <a:rPr kumimoji="0" lang="en-US" altLang="zh-CN" sz="2800" b="1" i="1" baseline="50000">
                  <a:solidFill>
                    <a:schemeClr val="accent2"/>
                  </a:solidFill>
                  <a:cs typeface="Times New Roman" panose="02020603050405020304" pitchFamily="18" charset="0"/>
                </a:rPr>
                <a:t>n</a:t>
              </a:r>
              <a:r>
                <a:rPr kumimoji="0" lang="en-US" altLang="zh-CN" sz="2800" b="1" baseline="50000">
                  <a:solidFill>
                    <a:schemeClr val="accent2"/>
                  </a:solidFill>
                  <a:cs typeface="Times New Roman" panose="02020603050405020304" pitchFamily="18" charset="0"/>
                </a:rPr>
                <a:t>+1</a:t>
              </a:r>
              <a:r>
                <a:rPr kumimoji="0" lang="en-US" altLang="zh-CN" sz="2800" b="1">
                  <a:solidFill>
                    <a:schemeClr val="accent2"/>
                  </a:solidFill>
                  <a:cs typeface="Times New Roman" panose="02020603050405020304" pitchFamily="18" charset="0"/>
                </a:rPr>
                <a:t>=</a:t>
              </a:r>
              <a:r>
                <a:rPr kumimoji="0" lang="en-US" altLang="zh-CN" sz="2800" b="1" i="1">
                  <a:solidFill>
                    <a:schemeClr val="accent2"/>
                  </a:solidFill>
                  <a:cs typeface="Times New Roman" panose="02020603050405020304" pitchFamily="18" charset="0"/>
                </a:rPr>
                <a:t>S</a:t>
              </a:r>
              <a:r>
                <a:rPr kumimoji="0" lang="en-US" altLang="zh-CN" sz="2800" b="1">
                  <a:solidFill>
                    <a:schemeClr val="accent2"/>
                  </a:solidFill>
                  <a:cs typeface="Times New Roman" panose="02020603050405020304" pitchFamily="18" charset="0"/>
                </a:rPr>
                <a:t>+</a:t>
              </a:r>
              <a:r>
                <a:rPr kumimoji="0" lang="en-US" altLang="zh-CN" sz="2800" b="1" i="1">
                  <a:solidFill>
                    <a:schemeClr val="accent2"/>
                  </a:solidFill>
                  <a:cs typeface="Times New Roman" panose="02020603050405020304" pitchFamily="18" charset="0"/>
                </a:rPr>
                <a:t>RQ</a:t>
              </a:r>
              <a:r>
                <a:rPr kumimoji="0" lang="en-US" altLang="zh-CN" sz="2800" b="1" i="1" baseline="50000">
                  <a:solidFill>
                    <a:schemeClr val="accent2"/>
                  </a:solidFill>
                  <a:cs typeface="Times New Roman" panose="02020603050405020304" pitchFamily="18" charset="0"/>
                </a:rPr>
                <a:t>n</a:t>
              </a:r>
              <a:r>
                <a:rPr kumimoji="0" lang="en-US" altLang="zh-CN" sz="2800" b="1">
                  <a:solidFill>
                    <a:schemeClr val="accent2"/>
                  </a:solidFill>
                </a:rPr>
                <a:t> </a:t>
              </a:r>
              <a:endParaRPr kumimoji="0" lang="en-US" altLang="zh-CN" sz="2800" b="1">
                <a:solidFill>
                  <a:schemeClr val="accent2"/>
                </a:solidFill>
              </a:endParaRPr>
            </a:p>
          </p:txBody>
        </p:sp>
        <p:sp>
          <p:nvSpPr>
            <p:cNvPr id="21529" name="Line 10"/>
            <p:cNvSpPr>
              <a:spLocks noChangeShapeType="1"/>
            </p:cNvSpPr>
            <p:nvPr/>
          </p:nvSpPr>
          <p:spPr bwMode="auto">
            <a:xfrm>
              <a:off x="2514" y="1511"/>
              <a:ext cx="123" cy="0"/>
            </a:xfrm>
            <a:prstGeom prst="line">
              <a:avLst/>
            </a:prstGeom>
            <a:noFill/>
            <a:ln w="28575">
              <a:solidFill>
                <a:schemeClr val="accent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1530" name="Text Box 11"/>
            <p:cNvSpPr txBox="1">
              <a:spLocks noChangeArrowheads="1"/>
            </p:cNvSpPr>
            <p:nvPr/>
          </p:nvSpPr>
          <p:spPr bwMode="auto">
            <a:xfrm>
              <a:off x="1617" y="1770"/>
              <a:ext cx="93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800" b="1" i="1">
                  <a:solidFill>
                    <a:schemeClr val="accent2"/>
                  </a:solidFill>
                  <a:ea typeface="华文隶书" panose="02010800040101010101" pitchFamily="2" charset="-122"/>
                  <a:cs typeface="Times New Roman" panose="02020603050405020304" pitchFamily="18" charset="0"/>
                </a:rPr>
                <a:t>SR</a:t>
              </a:r>
              <a:r>
                <a:rPr kumimoji="0" lang="en-US" altLang="zh-CN" sz="2800" b="1">
                  <a:solidFill>
                    <a:schemeClr val="accent2"/>
                  </a:solidFill>
                  <a:ea typeface="华文隶书" panose="02010800040101010101" pitchFamily="2" charset="-122"/>
                  <a:cs typeface="Times New Roman" panose="02020603050405020304" pitchFamily="18" charset="0"/>
                </a:rPr>
                <a:t>=0 </a:t>
              </a:r>
              <a:endParaRPr kumimoji="0" lang="en-US" altLang="zh-CN" sz="2800" b="1">
                <a:solidFill>
                  <a:schemeClr val="accent2"/>
                </a:solidFill>
                <a:ea typeface="华文隶书" panose="02010800040101010101" pitchFamily="2" charset="-122"/>
                <a:cs typeface="Times New Roman" panose="02020603050405020304" pitchFamily="18" charset="0"/>
              </a:endParaRPr>
            </a:p>
          </p:txBody>
        </p:sp>
        <p:sp>
          <p:nvSpPr>
            <p:cNvPr id="21531" name="Text Box 12"/>
            <p:cNvSpPr txBox="1">
              <a:spLocks noChangeArrowheads="1"/>
            </p:cNvSpPr>
            <p:nvPr/>
          </p:nvSpPr>
          <p:spPr bwMode="auto">
            <a:xfrm>
              <a:off x="477" y="1624"/>
              <a:ext cx="116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800" b="1" i="1">
                  <a:solidFill>
                    <a:srgbClr val="000000"/>
                  </a:solidFill>
                  <a:cs typeface="Times New Roman" panose="02020603050405020304" pitchFamily="18" charset="0"/>
                </a:rPr>
                <a:t>CP </a:t>
              </a:r>
              <a:r>
                <a:rPr kumimoji="0" lang="en-US" altLang="zh-CN" sz="2800" b="1">
                  <a:solidFill>
                    <a:srgbClr val="000000"/>
                  </a:solidFill>
                  <a:cs typeface="Times New Roman" panose="02020603050405020304" pitchFamily="18" charset="0"/>
                </a:rPr>
                <a:t>=1</a:t>
              </a:r>
              <a:r>
                <a:rPr kumimoji="0" lang="zh-CN" altLang="en-US" sz="2800" b="1">
                  <a:solidFill>
                    <a:srgbClr val="000000"/>
                  </a:solidFill>
                  <a:latin typeface="宋体" panose="02010600030101010101" pitchFamily="2" charset="-122"/>
                  <a:cs typeface="Times New Roman" panose="02020603050405020304" pitchFamily="18" charset="0"/>
                </a:rPr>
                <a:t>时，</a:t>
              </a:r>
              <a:endParaRPr kumimoji="0" lang="zh-CN" altLang="en-US" sz="2800" b="1">
                <a:solidFill>
                  <a:srgbClr val="000000"/>
                </a:solidFill>
                <a:latin typeface="宋体" panose="02010600030101010101" pitchFamily="2" charset="-122"/>
                <a:cs typeface="Times New Roman" panose="02020603050405020304" pitchFamily="18" charset="0"/>
              </a:endParaRPr>
            </a:p>
          </p:txBody>
        </p:sp>
        <p:sp>
          <p:nvSpPr>
            <p:cNvPr id="21532" name="AutoShape 13"/>
            <p:cNvSpPr/>
            <p:nvPr/>
          </p:nvSpPr>
          <p:spPr bwMode="auto">
            <a:xfrm>
              <a:off x="1518" y="1626"/>
              <a:ext cx="60" cy="374"/>
            </a:xfrm>
            <a:prstGeom prst="leftBrace">
              <a:avLst>
                <a:gd name="adj1" fmla="val 51944"/>
                <a:gd name="adj2" fmla="val 50000"/>
              </a:avLst>
            </a:prstGeom>
            <a:noFill/>
            <a:ln w="28575">
              <a:solidFill>
                <a:schemeClr val="tx2"/>
              </a:solidFill>
              <a:rou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grpSp>
    </p:spTree>
  </p:cSld>
  <p:clrMapOvr>
    <a:masterClrMapping/>
  </p:clrMapOvr>
  <p:timing>
    <p:tnLst>
      <p:par>
        <p:cTn id="1" dur="indefinite" restart="never" nodeType="tmRoot"/>
      </p:par>
    </p:tnLst>
    <p:bldLst>
      <p:bldP spid="13" grpId="0" bldLvl="0" animBg="1" autoUpdateAnimBg="0"/>
      <p:bldP spid="14" grpId="0" bldLvl="0" animBg="1" autoUpdateAnimBg="0"/>
      <p:bldP spid="2" grpId="0" bldLvl="0" animBg="1"/>
      <p:bldP spid="172039"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2995" y="25219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主题四 </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触发器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413188" y="89135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4.3 </a:t>
            </a:r>
            <a:r>
              <a:rPr kumimoji="0" lang="zh-CN" altLang="en-US" dirty="0">
                <a:solidFill>
                  <a:srgbClr val="000000"/>
                </a:solidFill>
                <a:latin typeface="黑体" panose="02010609060101010101" pitchFamily="49" charset="-122"/>
                <a:ea typeface="黑体" panose="02010609060101010101" pitchFamily="49" charset="-122"/>
              </a:rPr>
              <a:t>钟控电平</a:t>
            </a:r>
            <a:r>
              <a:rPr kumimoji="0" lang="en-US" altLang="zh-CN" dirty="0">
                <a:solidFill>
                  <a:srgbClr val="000000"/>
                </a:solidFill>
                <a:latin typeface="黑体" panose="02010609060101010101" pitchFamily="49" charset="-122"/>
                <a:ea typeface="黑体" panose="02010609060101010101" pitchFamily="49" charset="-122"/>
              </a:rPr>
              <a:t>D</a:t>
            </a:r>
            <a:r>
              <a:rPr kumimoji="0" lang="zh-CN" altLang="en-US" dirty="0">
                <a:solidFill>
                  <a:srgbClr val="000000"/>
                </a:solidFill>
                <a:latin typeface="黑体" panose="02010609060101010101" pitchFamily="49" charset="-122"/>
                <a:ea typeface="黑体" panose="02010609060101010101" pitchFamily="49" charset="-122"/>
              </a:rPr>
              <a:t>触发器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2" name="矩形 1"/>
          <p:cNvSpPr>
            <a:spLocks noChangeArrowheads="1"/>
          </p:cNvSpPr>
          <p:nvPr/>
        </p:nvSpPr>
        <p:spPr bwMode="auto">
          <a:xfrm>
            <a:off x="2248853" y="4109720"/>
            <a:ext cx="4403725" cy="1881188"/>
          </a:xfrm>
          <a:prstGeom prst="rect">
            <a:avLst/>
          </a:prstGeom>
          <a:noFill/>
          <a:ln w="34925" algn="ctr">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72039" name="Text Box 7"/>
          <p:cNvSpPr txBox="1">
            <a:spLocks noChangeArrowheads="1"/>
          </p:cNvSpPr>
          <p:nvPr/>
        </p:nvSpPr>
        <p:spPr bwMode="auto">
          <a:xfrm>
            <a:off x="2563178" y="4340225"/>
            <a:ext cx="46529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800" b="1" i="1">
                <a:solidFill>
                  <a:srgbClr val="000000"/>
                </a:solidFill>
                <a:latin typeface="宋体" panose="02010600030101010101" pitchFamily="2" charset="-122"/>
                <a:cs typeface="Times New Roman" panose="02020603050405020304" pitchFamily="18" charset="0"/>
              </a:rPr>
              <a:t> </a:t>
            </a:r>
            <a:r>
              <a:rPr kumimoji="0" lang="en-US" altLang="zh-CN" sz="2800" b="1" i="1">
                <a:solidFill>
                  <a:srgbClr val="000000"/>
                </a:solidFill>
                <a:cs typeface="Times New Roman" panose="02020603050405020304" pitchFamily="18" charset="0"/>
              </a:rPr>
              <a:t>CP </a:t>
            </a:r>
            <a:r>
              <a:rPr kumimoji="0" lang="en-US" altLang="zh-CN" sz="2800" b="1">
                <a:solidFill>
                  <a:srgbClr val="000000"/>
                </a:solidFill>
                <a:cs typeface="Times New Roman" panose="02020603050405020304" pitchFamily="18" charset="0"/>
              </a:rPr>
              <a:t>=0</a:t>
            </a:r>
            <a:r>
              <a:rPr kumimoji="0" lang="zh-CN" altLang="en-US" sz="2800" b="1">
                <a:solidFill>
                  <a:srgbClr val="000000"/>
                </a:solidFill>
                <a:latin typeface="宋体" panose="02010600030101010101" pitchFamily="2" charset="-122"/>
                <a:cs typeface="Times New Roman" panose="02020603050405020304" pitchFamily="18" charset="0"/>
              </a:rPr>
              <a:t>时，</a:t>
            </a:r>
            <a:r>
              <a:rPr kumimoji="0" lang="en-US" altLang="zh-CN" sz="2800" b="1" i="1">
                <a:solidFill>
                  <a:srgbClr val="000000"/>
                </a:solidFill>
                <a:cs typeface="Times New Roman" panose="02020603050405020304" pitchFamily="18" charset="0"/>
              </a:rPr>
              <a:t>Q</a:t>
            </a:r>
            <a:r>
              <a:rPr kumimoji="0" lang="en-US" altLang="zh-CN" sz="2800" b="1" i="1" baseline="50000">
                <a:solidFill>
                  <a:srgbClr val="000000"/>
                </a:solidFill>
                <a:cs typeface="Times New Roman" panose="02020603050405020304" pitchFamily="18" charset="0"/>
              </a:rPr>
              <a:t>n</a:t>
            </a:r>
            <a:r>
              <a:rPr kumimoji="0" lang="en-US" altLang="zh-CN" sz="2800" b="1" baseline="50000">
                <a:solidFill>
                  <a:srgbClr val="000000"/>
                </a:solidFill>
                <a:cs typeface="Times New Roman" panose="02020603050405020304" pitchFamily="18" charset="0"/>
              </a:rPr>
              <a:t>+1</a:t>
            </a:r>
            <a:r>
              <a:rPr kumimoji="0" lang="en-US" altLang="zh-CN" sz="2800" b="1">
                <a:solidFill>
                  <a:srgbClr val="000000"/>
                </a:solidFill>
                <a:cs typeface="Times New Roman" panose="02020603050405020304" pitchFamily="18" charset="0"/>
              </a:rPr>
              <a:t>=</a:t>
            </a:r>
            <a:r>
              <a:rPr kumimoji="0" lang="en-US" altLang="zh-CN" sz="2800" b="1" i="1">
                <a:solidFill>
                  <a:srgbClr val="000000"/>
                </a:solidFill>
                <a:cs typeface="Times New Roman" panose="02020603050405020304" pitchFamily="18" charset="0"/>
              </a:rPr>
              <a:t>Q</a:t>
            </a:r>
            <a:r>
              <a:rPr kumimoji="0" lang="en-US" altLang="zh-CN" sz="2800" b="1" i="1" baseline="50000">
                <a:solidFill>
                  <a:srgbClr val="000000"/>
                </a:solidFill>
                <a:cs typeface="Times New Roman" panose="02020603050405020304" pitchFamily="18" charset="0"/>
              </a:rPr>
              <a:t>n</a:t>
            </a:r>
            <a:r>
              <a:rPr kumimoji="0" lang="en-US" altLang="zh-CN" sz="2800" b="1" i="1">
                <a:solidFill>
                  <a:srgbClr val="000000"/>
                </a:solidFill>
              </a:rPr>
              <a:t> </a:t>
            </a:r>
            <a:endParaRPr kumimoji="0" lang="en-US" altLang="zh-CN" sz="2800" b="1" i="1">
              <a:solidFill>
                <a:srgbClr val="000000"/>
              </a:solidFill>
            </a:endParaRPr>
          </a:p>
        </p:txBody>
      </p:sp>
      <p:grpSp>
        <p:nvGrpSpPr>
          <p:cNvPr id="172062" name="Group 30"/>
          <p:cNvGrpSpPr/>
          <p:nvPr/>
        </p:nvGrpSpPr>
        <p:grpSpPr bwMode="auto">
          <a:xfrm>
            <a:off x="2753678" y="5227320"/>
            <a:ext cx="4021138" cy="522288"/>
            <a:chOff x="477" y="1624"/>
            <a:chExt cx="2533" cy="329"/>
          </a:xfrm>
        </p:grpSpPr>
        <p:sp>
          <p:nvSpPr>
            <p:cNvPr id="21528" name="Text Box 9"/>
            <p:cNvSpPr txBox="1">
              <a:spLocks noChangeArrowheads="1"/>
            </p:cNvSpPr>
            <p:nvPr/>
          </p:nvSpPr>
          <p:spPr bwMode="auto">
            <a:xfrm>
              <a:off x="1488" y="1624"/>
              <a:ext cx="1522"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800" b="1" i="1">
                  <a:solidFill>
                    <a:schemeClr val="accent2"/>
                  </a:solidFill>
                  <a:cs typeface="Times New Roman" panose="02020603050405020304" pitchFamily="18" charset="0"/>
                </a:rPr>
                <a:t>Q</a:t>
              </a:r>
              <a:r>
                <a:rPr kumimoji="0" lang="en-US" altLang="zh-CN" sz="2800" b="1" i="1" baseline="50000">
                  <a:solidFill>
                    <a:schemeClr val="accent2"/>
                  </a:solidFill>
                  <a:cs typeface="Times New Roman" panose="02020603050405020304" pitchFamily="18" charset="0"/>
                </a:rPr>
                <a:t>n</a:t>
              </a:r>
              <a:r>
                <a:rPr kumimoji="0" lang="en-US" altLang="zh-CN" sz="2800" b="1" baseline="50000">
                  <a:solidFill>
                    <a:schemeClr val="accent2"/>
                  </a:solidFill>
                  <a:cs typeface="Times New Roman" panose="02020603050405020304" pitchFamily="18" charset="0"/>
                </a:rPr>
                <a:t>+1</a:t>
              </a:r>
              <a:r>
                <a:rPr kumimoji="0" lang="en-US" altLang="zh-CN" sz="2800" b="1">
                  <a:solidFill>
                    <a:schemeClr val="accent2"/>
                  </a:solidFill>
                  <a:cs typeface="Times New Roman" panose="02020603050405020304" pitchFamily="18" charset="0"/>
                </a:rPr>
                <a:t>=</a:t>
              </a:r>
              <a:r>
                <a:rPr kumimoji="0" lang="en-US" altLang="zh-CN" sz="2800" b="1" i="1">
                  <a:solidFill>
                    <a:schemeClr val="accent2"/>
                  </a:solidFill>
                  <a:cs typeface="Times New Roman" panose="02020603050405020304" pitchFamily="18" charset="0"/>
                </a:rPr>
                <a:t>D</a:t>
              </a:r>
              <a:r>
                <a:rPr kumimoji="0" lang="en-US" altLang="zh-CN" sz="2800" b="1">
                  <a:solidFill>
                    <a:schemeClr val="accent2"/>
                  </a:solidFill>
                </a:rPr>
                <a:t> </a:t>
              </a:r>
              <a:endParaRPr kumimoji="0" lang="en-US" altLang="zh-CN" sz="2800" b="1">
                <a:solidFill>
                  <a:schemeClr val="accent2"/>
                </a:solidFill>
              </a:endParaRPr>
            </a:p>
          </p:txBody>
        </p:sp>
        <p:sp>
          <p:nvSpPr>
            <p:cNvPr id="21531" name="Text Box 12"/>
            <p:cNvSpPr txBox="1">
              <a:spLocks noChangeArrowheads="1"/>
            </p:cNvSpPr>
            <p:nvPr/>
          </p:nvSpPr>
          <p:spPr bwMode="auto">
            <a:xfrm>
              <a:off x="477" y="1624"/>
              <a:ext cx="116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800" b="1" i="1">
                  <a:solidFill>
                    <a:srgbClr val="000000"/>
                  </a:solidFill>
                  <a:cs typeface="Times New Roman" panose="02020603050405020304" pitchFamily="18" charset="0"/>
                </a:rPr>
                <a:t>CP </a:t>
              </a:r>
              <a:r>
                <a:rPr kumimoji="0" lang="en-US" altLang="zh-CN" sz="2800" b="1">
                  <a:solidFill>
                    <a:srgbClr val="000000"/>
                  </a:solidFill>
                  <a:cs typeface="Times New Roman" panose="02020603050405020304" pitchFamily="18" charset="0"/>
                </a:rPr>
                <a:t>=1</a:t>
              </a:r>
              <a:r>
                <a:rPr kumimoji="0" lang="zh-CN" altLang="en-US" sz="2800" b="1">
                  <a:solidFill>
                    <a:srgbClr val="000000"/>
                  </a:solidFill>
                  <a:latin typeface="宋体" panose="02010600030101010101" pitchFamily="2" charset="-122"/>
                  <a:cs typeface="Times New Roman" panose="02020603050405020304" pitchFamily="18" charset="0"/>
                </a:rPr>
                <a:t>时，</a:t>
              </a:r>
              <a:endParaRPr kumimoji="0" lang="zh-CN" altLang="en-US" sz="2800" b="1">
                <a:solidFill>
                  <a:srgbClr val="000000"/>
                </a:solidFill>
                <a:latin typeface="宋体" panose="02010600030101010101" pitchFamily="2" charset="-122"/>
                <a:cs typeface="Times New Roman" panose="02020603050405020304" pitchFamily="18" charset="0"/>
              </a:endParaRPr>
            </a:p>
          </p:txBody>
        </p:sp>
      </p:grpSp>
      <p:pic>
        <p:nvPicPr>
          <p:cNvPr id="25608" name="Picture 159"/>
          <p:cNvPicPr>
            <a:picLocks noChangeAspect="1" noChangeArrowheads="1"/>
          </p:cNvPicPr>
          <p:nvPr/>
        </p:nvPicPr>
        <p:blipFill>
          <a:blip r:embed="rId1" cstate="print">
            <a:extLst>
              <a:ext uri="{28A0092B-C50C-407E-A947-70E740481C1C}">
                <a14:useLocalDpi xmlns:a14="http://schemas.microsoft.com/office/drawing/2010/main" val="0"/>
              </a:ext>
            </a:extLst>
          </a:blip>
          <a:srcRect l="22639" t="11667" r="72723" b="74963"/>
          <a:stretch>
            <a:fillRect/>
          </a:stretch>
        </p:blipFill>
        <p:spPr bwMode="auto">
          <a:xfrm>
            <a:off x="2753678" y="1493203"/>
            <a:ext cx="1309687" cy="23907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09" name="Picture 160"/>
          <p:cNvPicPr>
            <a:picLocks noChangeAspect="1" noChangeArrowheads="1"/>
          </p:cNvPicPr>
          <p:nvPr/>
        </p:nvPicPr>
        <p:blipFill>
          <a:blip r:embed="rId2" cstate="print">
            <a:extLst>
              <a:ext uri="{28A0092B-C50C-407E-A947-70E740481C1C}">
                <a14:useLocalDpi xmlns:a14="http://schemas.microsoft.com/office/drawing/2010/main" val="0"/>
              </a:ext>
            </a:extLst>
          </a:blip>
          <a:srcRect l="30850" t="11667" r="64841" b="74968"/>
          <a:stretch>
            <a:fillRect/>
          </a:stretch>
        </p:blipFill>
        <p:spPr bwMode="auto">
          <a:xfrm>
            <a:off x="4742815" y="1312228"/>
            <a:ext cx="1279525" cy="25130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bldLst>
      <p:bldP spid="13" grpId="0" bldLvl="0" animBg="1" autoUpdateAnimBg="0"/>
      <p:bldP spid="14" grpId="0" bldLvl="0" animBg="1" autoUpdateAnimBg="0"/>
      <p:bldP spid="2" grpId="0" bldLvl="0" animBg="1"/>
      <p:bldP spid="172039"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2995" y="25219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主题四 </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触发器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413188" y="98596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4.4 </a:t>
            </a:r>
            <a:r>
              <a:rPr kumimoji="0" lang="zh-CN" altLang="en-US" dirty="0">
                <a:solidFill>
                  <a:srgbClr val="000000"/>
                </a:solidFill>
                <a:latin typeface="黑体" panose="02010609060101010101" pitchFamily="49" charset="-122"/>
                <a:ea typeface="黑体" panose="02010609060101010101" pitchFamily="49" charset="-122"/>
              </a:rPr>
              <a:t>钟控边沿</a:t>
            </a:r>
            <a:r>
              <a:rPr kumimoji="0" lang="en-US" altLang="zh-CN" dirty="0">
                <a:solidFill>
                  <a:srgbClr val="000000"/>
                </a:solidFill>
                <a:latin typeface="黑体" panose="02010609060101010101" pitchFamily="49" charset="-122"/>
                <a:ea typeface="黑体" panose="02010609060101010101" pitchFamily="49" charset="-122"/>
              </a:rPr>
              <a:t>D</a:t>
            </a:r>
            <a:r>
              <a:rPr kumimoji="0" lang="zh-CN" altLang="en-US" dirty="0">
                <a:solidFill>
                  <a:srgbClr val="000000"/>
                </a:solidFill>
                <a:latin typeface="黑体" panose="02010609060101010101" pitchFamily="49" charset="-122"/>
                <a:ea typeface="黑体" panose="02010609060101010101" pitchFamily="49" charset="-122"/>
              </a:rPr>
              <a:t>触发器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6155" name="Oval 8"/>
          <p:cNvSpPr>
            <a:spLocks noChangeArrowheads="1"/>
          </p:cNvSpPr>
          <p:nvPr/>
        </p:nvSpPr>
        <p:spPr bwMode="auto">
          <a:xfrm>
            <a:off x="2451996" y="3836085"/>
            <a:ext cx="144000" cy="142807"/>
          </a:xfrm>
          <a:prstGeom prst="ellipse">
            <a:avLst/>
          </a:prstGeom>
          <a:solidFill>
            <a:schemeClr val="bg1"/>
          </a:solidFill>
          <a:ln w="25400">
            <a:solidFill>
              <a:schemeClr val="tx1"/>
            </a:solidFill>
            <a:round/>
          </a:ln>
          <a:effectLst/>
        </p:spPr>
        <p:txBody>
          <a:bodyPr wrap="none" anchor="ctr"/>
          <a:lstStyle/>
          <a:p>
            <a:pPr eaLnBrk="1" hangingPunct="1"/>
            <a:endParaRPr lang="zh-CN" altLang="en-US"/>
          </a:p>
        </p:txBody>
      </p:sp>
      <p:sp>
        <p:nvSpPr>
          <p:cNvPr id="6156" name="Oval 9"/>
          <p:cNvSpPr>
            <a:spLocks noChangeArrowheads="1"/>
          </p:cNvSpPr>
          <p:nvPr/>
        </p:nvSpPr>
        <p:spPr bwMode="auto">
          <a:xfrm>
            <a:off x="2875588" y="2551284"/>
            <a:ext cx="144000" cy="142807"/>
          </a:xfrm>
          <a:prstGeom prst="ellipse">
            <a:avLst/>
          </a:prstGeom>
          <a:solidFill>
            <a:schemeClr val="bg1"/>
          </a:solidFill>
          <a:ln w="25400">
            <a:solidFill>
              <a:schemeClr val="tx1"/>
            </a:solidFill>
            <a:round/>
          </a:ln>
          <a:effectLst/>
        </p:spPr>
        <p:txBody>
          <a:bodyPr wrap="none" anchor="ctr"/>
          <a:lstStyle/>
          <a:p>
            <a:pPr eaLnBrk="1" hangingPunct="1"/>
            <a:endParaRPr lang="zh-CN" altLang="en-US"/>
          </a:p>
        </p:txBody>
      </p:sp>
      <p:grpSp>
        <p:nvGrpSpPr>
          <p:cNvPr id="3" name="组合 2"/>
          <p:cNvGrpSpPr/>
          <p:nvPr/>
        </p:nvGrpSpPr>
        <p:grpSpPr>
          <a:xfrm>
            <a:off x="4740285" y="2734943"/>
            <a:ext cx="3568156" cy="398326"/>
            <a:chOff x="4464657" y="905254"/>
            <a:chExt cx="2147973" cy="518968"/>
          </a:xfrm>
        </p:grpSpPr>
        <p:sp>
          <p:nvSpPr>
            <p:cNvPr id="11" name="Line 31"/>
            <p:cNvSpPr>
              <a:spLocks noChangeShapeType="1"/>
            </p:cNvSpPr>
            <p:nvPr/>
          </p:nvSpPr>
          <p:spPr bwMode="auto">
            <a:xfrm flipV="1">
              <a:off x="4464657" y="1408637"/>
              <a:ext cx="720000" cy="0"/>
            </a:xfrm>
            <a:prstGeom prst="line">
              <a:avLst/>
            </a:prstGeom>
            <a:noFill/>
            <a:ln w="28575">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2" name="Line 32"/>
            <p:cNvSpPr>
              <a:spLocks noChangeShapeType="1"/>
            </p:cNvSpPr>
            <p:nvPr/>
          </p:nvSpPr>
          <p:spPr bwMode="auto">
            <a:xfrm>
              <a:off x="5178307" y="905254"/>
              <a:ext cx="0" cy="515938"/>
            </a:xfrm>
            <a:prstGeom prst="line">
              <a:avLst/>
            </a:prstGeom>
            <a:noFill/>
            <a:ln w="28575">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 name="Line 33"/>
            <p:cNvSpPr>
              <a:spLocks noChangeShapeType="1"/>
            </p:cNvSpPr>
            <p:nvPr/>
          </p:nvSpPr>
          <p:spPr bwMode="auto">
            <a:xfrm>
              <a:off x="5173677" y="924015"/>
              <a:ext cx="720000" cy="0"/>
            </a:xfrm>
            <a:prstGeom prst="line">
              <a:avLst/>
            </a:prstGeom>
            <a:noFill/>
            <a:ln w="28575">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dirty="0"/>
            </a:p>
          </p:txBody>
        </p:sp>
        <p:sp>
          <p:nvSpPr>
            <p:cNvPr id="5" name="Line 35"/>
            <p:cNvSpPr>
              <a:spLocks noChangeShapeType="1"/>
            </p:cNvSpPr>
            <p:nvPr/>
          </p:nvSpPr>
          <p:spPr bwMode="auto">
            <a:xfrm>
              <a:off x="5887600" y="908284"/>
              <a:ext cx="0" cy="515938"/>
            </a:xfrm>
            <a:prstGeom prst="line">
              <a:avLst/>
            </a:prstGeom>
            <a:noFill/>
            <a:ln w="28575">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dirty="0"/>
            </a:p>
          </p:txBody>
        </p:sp>
        <p:sp>
          <p:nvSpPr>
            <p:cNvPr id="15" name="Line 37"/>
            <p:cNvSpPr>
              <a:spLocks noChangeShapeType="1"/>
            </p:cNvSpPr>
            <p:nvPr/>
          </p:nvSpPr>
          <p:spPr bwMode="auto">
            <a:xfrm>
              <a:off x="5892630" y="1405535"/>
              <a:ext cx="720000" cy="0"/>
            </a:xfrm>
            <a:prstGeom prst="line">
              <a:avLst/>
            </a:prstGeom>
            <a:noFill/>
            <a:ln w="28575">
              <a:solidFill>
                <a:schemeClr val="tx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16" name="Text Box 38"/>
          <p:cNvSpPr txBox="1">
            <a:spLocks noChangeArrowheads="1"/>
          </p:cNvSpPr>
          <p:nvPr/>
        </p:nvSpPr>
        <p:spPr bwMode="auto">
          <a:xfrm>
            <a:off x="3984637" y="2797593"/>
            <a:ext cx="10128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800" i="1" dirty="0"/>
              <a:t>CP</a:t>
            </a:r>
            <a:endParaRPr kumimoji="0" lang="en-US" altLang="zh-CN" sz="2800" i="1" dirty="0"/>
          </a:p>
        </p:txBody>
      </p:sp>
      <p:cxnSp>
        <p:nvCxnSpPr>
          <p:cNvPr id="17" name="直接连接符 16"/>
          <p:cNvCxnSpPr/>
          <p:nvPr/>
        </p:nvCxnSpPr>
        <p:spPr bwMode="auto">
          <a:xfrm flipH="1" flipV="1">
            <a:off x="5926510" y="2740611"/>
            <a:ext cx="0" cy="360000"/>
          </a:xfrm>
          <a:prstGeom prst="line">
            <a:avLst/>
          </a:prstGeom>
          <a:solidFill>
            <a:schemeClr val="accent1"/>
          </a:solidFill>
          <a:ln w="31750" cap="flat" cmpd="sng" algn="ctr">
            <a:solidFill>
              <a:srgbClr val="FF0000"/>
            </a:solidFill>
            <a:prstDash val="solid"/>
            <a:round/>
            <a:headEnd type="none" w="med" len="med"/>
            <a:tailEnd type="stealth"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51" name="Rectangle 155"/>
          <p:cNvSpPr>
            <a:spLocks noChangeArrowheads="1"/>
          </p:cNvSpPr>
          <p:nvPr/>
        </p:nvSpPr>
        <p:spPr bwMode="auto">
          <a:xfrm>
            <a:off x="1374776" y="2702560"/>
            <a:ext cx="2135188" cy="1128713"/>
          </a:xfrm>
          <a:prstGeom prst="rect">
            <a:avLst/>
          </a:prstGeom>
          <a:noFill/>
          <a:ln w="30163">
            <a:solidFill>
              <a:srgbClr val="0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252" name="Rectangle 156"/>
          <p:cNvSpPr>
            <a:spLocks noChangeArrowheads="1"/>
          </p:cNvSpPr>
          <p:nvPr/>
        </p:nvSpPr>
        <p:spPr bwMode="auto">
          <a:xfrm>
            <a:off x="1612901" y="3067685"/>
            <a:ext cx="4746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700" b="0" i="0" u="none" strike="noStrike" cap="none" normalizeH="0" baseline="0">
                <a:ln>
                  <a:noFill/>
                </a:ln>
                <a:solidFill>
                  <a:srgbClr val="000000"/>
                </a:solidFill>
                <a:effectLst/>
                <a:latin typeface="Times New Roman" panose="02020603050405020304" pitchFamily="18" charset="0"/>
              </a:rPr>
              <a:t>1D</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253" name="Rectangle 157"/>
          <p:cNvSpPr>
            <a:spLocks noChangeArrowheads="1"/>
          </p:cNvSpPr>
          <p:nvPr/>
        </p:nvSpPr>
        <p:spPr bwMode="auto">
          <a:xfrm>
            <a:off x="2413001" y="3462973"/>
            <a:ext cx="26670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700" b="0" i="0" u="none" strike="noStrike" cap="none" normalizeH="0" baseline="0">
                <a:ln>
                  <a:noFill/>
                </a:ln>
                <a:solidFill>
                  <a:srgbClr val="000000"/>
                </a:solidFill>
                <a:effectLst/>
                <a:latin typeface="Times New Roman" panose="02020603050405020304" pitchFamily="18" charset="0"/>
              </a:rPr>
              <a:t>S</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254" name="Rectangle 158"/>
          <p:cNvSpPr>
            <a:spLocks noChangeArrowheads="1"/>
          </p:cNvSpPr>
          <p:nvPr/>
        </p:nvSpPr>
        <p:spPr bwMode="auto">
          <a:xfrm>
            <a:off x="2740026" y="3180398"/>
            <a:ext cx="44450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700" b="0" i="0" u="none" strike="noStrike" cap="none" normalizeH="0" baseline="0">
                <a:ln>
                  <a:noFill/>
                </a:ln>
                <a:solidFill>
                  <a:srgbClr val="000000"/>
                </a:solidFill>
                <a:effectLst/>
                <a:latin typeface="Times New Roman" panose="02020603050405020304" pitchFamily="18" charset="0"/>
              </a:rPr>
              <a:t>C1</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255" name="Rectangle 159"/>
          <p:cNvSpPr>
            <a:spLocks noChangeArrowheads="1"/>
          </p:cNvSpPr>
          <p:nvPr/>
        </p:nvSpPr>
        <p:spPr bwMode="auto">
          <a:xfrm>
            <a:off x="3243263" y="3462973"/>
            <a:ext cx="296863"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700" b="0" i="0" u="none" strike="noStrike" cap="none" normalizeH="0" baseline="0">
                <a:ln>
                  <a:noFill/>
                </a:ln>
                <a:solidFill>
                  <a:srgbClr val="000000"/>
                </a:solidFill>
                <a:effectLst/>
                <a:latin typeface="Times New Roman" panose="02020603050405020304" pitchFamily="18" charset="0"/>
              </a:rPr>
              <a:t>R</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6256" name="Rectangle 160"/>
          <p:cNvSpPr>
            <a:spLocks noChangeArrowheads="1"/>
          </p:cNvSpPr>
          <p:nvPr/>
        </p:nvSpPr>
        <p:spPr bwMode="auto">
          <a:xfrm>
            <a:off x="1849438" y="1686560"/>
            <a:ext cx="250068"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700" b="0" i="1" u="none" strike="noStrike" cap="none" normalizeH="0" baseline="0" dirty="0">
                <a:ln>
                  <a:noFill/>
                </a:ln>
                <a:solidFill>
                  <a:srgbClr val="000000"/>
                </a:solidFill>
                <a:effectLst/>
                <a:latin typeface="Times New Roman" panose="02020603050405020304" pitchFamily="18" charset="0"/>
              </a:rPr>
              <a:t>Q</a:t>
            </a:r>
            <a:endParaRPr kumimoji="0" lang="zh-CN" altLang="zh-CN" sz="1800" b="0" i="1" u="none" strike="noStrike" cap="none" normalizeH="0" baseline="0" dirty="0">
              <a:ln>
                <a:noFill/>
              </a:ln>
              <a:solidFill>
                <a:schemeClr val="tx1"/>
              </a:solidFill>
              <a:effectLst/>
              <a:latin typeface="Arial" panose="020B0604020202020204" pitchFamily="34" charset="0"/>
            </a:endParaRPr>
          </a:p>
        </p:txBody>
      </p:sp>
      <p:sp>
        <p:nvSpPr>
          <p:cNvPr id="6257" name="Rectangle 161"/>
          <p:cNvSpPr>
            <a:spLocks noChangeArrowheads="1"/>
          </p:cNvSpPr>
          <p:nvPr/>
        </p:nvSpPr>
        <p:spPr bwMode="auto">
          <a:xfrm>
            <a:off x="2798763" y="1657985"/>
            <a:ext cx="250068"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700" b="0" i="1" u="none" strike="noStrike" cap="none" normalizeH="0" baseline="0" dirty="0">
                <a:ln>
                  <a:noFill/>
                </a:ln>
                <a:solidFill>
                  <a:srgbClr val="000000"/>
                </a:solidFill>
                <a:effectLst/>
                <a:latin typeface="Times New Roman" panose="02020603050405020304" pitchFamily="18" charset="0"/>
              </a:rPr>
              <a:t>Q</a:t>
            </a:r>
            <a:endParaRPr kumimoji="0" lang="zh-CN" altLang="zh-CN" sz="1800" b="0" i="1" u="none" strike="noStrike" cap="none" normalizeH="0" baseline="0" dirty="0">
              <a:ln>
                <a:noFill/>
              </a:ln>
              <a:solidFill>
                <a:schemeClr val="tx1"/>
              </a:solidFill>
              <a:effectLst/>
              <a:latin typeface="Arial" panose="020B0604020202020204" pitchFamily="34" charset="0"/>
            </a:endParaRPr>
          </a:p>
        </p:txBody>
      </p:sp>
      <p:sp>
        <p:nvSpPr>
          <p:cNvPr id="6258" name="Line 162"/>
          <p:cNvSpPr>
            <a:spLocks noChangeShapeType="1"/>
          </p:cNvSpPr>
          <p:nvPr/>
        </p:nvSpPr>
        <p:spPr bwMode="auto">
          <a:xfrm>
            <a:off x="2851015" y="1685699"/>
            <a:ext cx="207963" cy="0"/>
          </a:xfrm>
          <a:prstGeom prst="line">
            <a:avLst/>
          </a:prstGeom>
          <a:noFill/>
          <a:ln w="30163">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6259" name="Rectangle 163"/>
          <p:cNvSpPr>
            <a:spLocks noChangeArrowheads="1"/>
          </p:cNvSpPr>
          <p:nvPr/>
        </p:nvSpPr>
        <p:spPr bwMode="auto">
          <a:xfrm>
            <a:off x="1667898" y="3384436"/>
            <a:ext cx="385763"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3100" b="0" i="0" u="none" strike="noStrike" cap="none" normalizeH="0" baseline="0" dirty="0">
                <a:ln>
                  <a:noFill/>
                </a:ln>
                <a:solidFill>
                  <a:srgbClr val="000000"/>
                </a:solidFill>
                <a:effectLst/>
                <a:latin typeface="Times New Roman" panose="02020603050405020304" pitchFamily="18" charset="0"/>
              </a:rPr>
              <a:t>&amp;</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6260" name="Rectangle 164"/>
          <p:cNvSpPr>
            <a:spLocks noChangeArrowheads="1"/>
          </p:cNvSpPr>
          <p:nvPr/>
        </p:nvSpPr>
        <p:spPr bwMode="auto">
          <a:xfrm>
            <a:off x="1346201" y="4534535"/>
            <a:ext cx="250068"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700" b="0" i="1" u="none" strike="noStrike" cap="none" normalizeH="0" baseline="0" dirty="0">
                <a:ln>
                  <a:noFill/>
                </a:ln>
                <a:solidFill>
                  <a:srgbClr val="000000"/>
                </a:solidFill>
                <a:effectLst/>
                <a:latin typeface="Times New Roman" panose="02020603050405020304" pitchFamily="18" charset="0"/>
              </a:rPr>
              <a:t>D</a:t>
            </a:r>
            <a:endParaRPr kumimoji="0" lang="zh-CN" altLang="zh-CN" sz="1800" b="0" i="1" u="none" strike="noStrike" cap="none" normalizeH="0" baseline="0" dirty="0">
              <a:ln>
                <a:noFill/>
              </a:ln>
              <a:solidFill>
                <a:schemeClr val="tx1"/>
              </a:solidFill>
              <a:effectLst/>
              <a:latin typeface="Arial" panose="020B0604020202020204" pitchFamily="34" charset="0"/>
            </a:endParaRPr>
          </a:p>
        </p:txBody>
      </p:sp>
      <p:sp>
        <p:nvSpPr>
          <p:cNvPr id="6261" name="Rectangle 165"/>
          <p:cNvSpPr>
            <a:spLocks noChangeArrowheads="1"/>
          </p:cNvSpPr>
          <p:nvPr/>
        </p:nvSpPr>
        <p:spPr bwMode="auto">
          <a:xfrm>
            <a:off x="1879601" y="4534535"/>
            <a:ext cx="250068"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700" b="0" i="1" u="none" strike="noStrike" cap="none" normalizeH="0" baseline="0" dirty="0">
                <a:ln>
                  <a:noFill/>
                </a:ln>
                <a:solidFill>
                  <a:srgbClr val="000000"/>
                </a:solidFill>
                <a:effectLst/>
                <a:latin typeface="Times New Roman" panose="02020603050405020304" pitchFamily="18" charset="0"/>
              </a:rPr>
              <a:t>D</a:t>
            </a:r>
            <a:endParaRPr kumimoji="0" lang="zh-CN" altLang="zh-CN" sz="1800" b="0" i="1" u="none" strike="noStrike" cap="none" normalizeH="0" baseline="0" dirty="0">
              <a:ln>
                <a:noFill/>
              </a:ln>
              <a:solidFill>
                <a:schemeClr val="tx1"/>
              </a:solidFill>
              <a:effectLst/>
              <a:latin typeface="Arial" panose="020B0604020202020204" pitchFamily="34" charset="0"/>
            </a:endParaRPr>
          </a:p>
        </p:txBody>
      </p:sp>
      <p:sp>
        <p:nvSpPr>
          <p:cNvPr id="6262" name="Rectangle 166"/>
          <p:cNvSpPr>
            <a:spLocks noChangeArrowheads="1"/>
          </p:cNvSpPr>
          <p:nvPr/>
        </p:nvSpPr>
        <p:spPr bwMode="auto">
          <a:xfrm>
            <a:off x="2384426" y="4534535"/>
            <a:ext cx="17312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700" b="0" i="1" u="none" strike="noStrike" cap="none" normalizeH="0" baseline="0" dirty="0">
                <a:ln>
                  <a:noFill/>
                </a:ln>
                <a:solidFill>
                  <a:srgbClr val="000000"/>
                </a:solidFill>
                <a:effectLst/>
                <a:latin typeface="Times New Roman" panose="02020603050405020304" pitchFamily="18" charset="0"/>
              </a:rPr>
              <a:t>S</a:t>
            </a:r>
            <a:endParaRPr kumimoji="0" lang="zh-CN" altLang="zh-CN" sz="1800" b="0" i="1" u="none" strike="noStrike" cap="none" normalizeH="0" baseline="0" dirty="0">
              <a:ln>
                <a:noFill/>
              </a:ln>
              <a:solidFill>
                <a:schemeClr val="tx1"/>
              </a:solidFill>
              <a:effectLst/>
              <a:latin typeface="Arial" panose="020B0604020202020204" pitchFamily="34" charset="0"/>
            </a:endParaRPr>
          </a:p>
        </p:txBody>
      </p:sp>
      <p:sp>
        <p:nvSpPr>
          <p:cNvPr id="6263" name="Rectangle 167"/>
          <p:cNvSpPr>
            <a:spLocks noChangeArrowheads="1"/>
          </p:cNvSpPr>
          <p:nvPr/>
        </p:nvSpPr>
        <p:spPr bwMode="auto">
          <a:xfrm>
            <a:off x="2857501" y="4534535"/>
            <a:ext cx="44242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700" b="0" i="1" u="none" strike="noStrike" cap="none" normalizeH="0" baseline="0" dirty="0">
                <a:ln>
                  <a:noFill/>
                </a:ln>
                <a:solidFill>
                  <a:srgbClr val="000000"/>
                </a:solidFill>
                <a:effectLst/>
                <a:latin typeface="Times New Roman" panose="02020603050405020304" pitchFamily="18" charset="0"/>
              </a:rPr>
              <a:t>CP</a:t>
            </a:r>
            <a:endParaRPr kumimoji="0" lang="zh-CN" altLang="zh-CN" sz="1800" b="0" i="1" u="none" strike="noStrike" cap="none" normalizeH="0" baseline="0" dirty="0">
              <a:ln>
                <a:noFill/>
              </a:ln>
              <a:solidFill>
                <a:schemeClr val="tx1"/>
              </a:solidFill>
              <a:effectLst/>
              <a:latin typeface="Arial" panose="020B0604020202020204" pitchFamily="34" charset="0"/>
            </a:endParaRPr>
          </a:p>
        </p:txBody>
      </p:sp>
      <p:sp>
        <p:nvSpPr>
          <p:cNvPr id="6264" name="Rectangle 168"/>
          <p:cNvSpPr>
            <a:spLocks noChangeArrowheads="1"/>
          </p:cNvSpPr>
          <p:nvPr/>
        </p:nvSpPr>
        <p:spPr bwMode="auto">
          <a:xfrm>
            <a:off x="3421063" y="4563110"/>
            <a:ext cx="21159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700" b="0" i="1" u="none" strike="noStrike" cap="none" normalizeH="0" baseline="0" dirty="0">
                <a:ln>
                  <a:noFill/>
                </a:ln>
                <a:solidFill>
                  <a:srgbClr val="000000"/>
                </a:solidFill>
                <a:effectLst/>
                <a:latin typeface="Times New Roman" panose="02020603050405020304" pitchFamily="18" charset="0"/>
              </a:rPr>
              <a:t>R</a:t>
            </a:r>
            <a:endParaRPr kumimoji="0" lang="zh-CN" altLang="zh-CN" sz="1800" b="0" i="1" u="none" strike="noStrike" cap="none" normalizeH="0" baseline="0" dirty="0">
              <a:ln>
                <a:noFill/>
              </a:ln>
              <a:solidFill>
                <a:schemeClr val="tx1"/>
              </a:solidFill>
              <a:effectLst/>
              <a:latin typeface="Arial" panose="020B0604020202020204" pitchFamily="34" charset="0"/>
            </a:endParaRPr>
          </a:p>
        </p:txBody>
      </p:sp>
      <p:sp>
        <p:nvSpPr>
          <p:cNvPr id="6265" name="Rectangle 169"/>
          <p:cNvSpPr>
            <a:spLocks noChangeArrowheads="1"/>
          </p:cNvSpPr>
          <p:nvPr/>
        </p:nvSpPr>
        <p:spPr bwMode="auto">
          <a:xfrm>
            <a:off x="2577738" y="4659449"/>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Times New Roman" panose="02020603050405020304" pitchFamily="18" charset="0"/>
              </a:rPr>
              <a:t>D</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6266" name="Rectangle 170"/>
          <p:cNvSpPr>
            <a:spLocks noChangeArrowheads="1"/>
          </p:cNvSpPr>
          <p:nvPr/>
        </p:nvSpPr>
        <p:spPr bwMode="auto">
          <a:xfrm>
            <a:off x="3633062" y="4686437"/>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Times New Roman" panose="02020603050405020304" pitchFamily="18" charset="0"/>
              </a:rPr>
              <a:t>D</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6267" name="Line 171"/>
          <p:cNvSpPr>
            <a:spLocks noChangeShapeType="1"/>
          </p:cNvSpPr>
          <p:nvPr/>
        </p:nvSpPr>
        <p:spPr bwMode="auto">
          <a:xfrm>
            <a:off x="2410552" y="4562249"/>
            <a:ext cx="147638" cy="0"/>
          </a:xfrm>
          <a:prstGeom prst="line">
            <a:avLst/>
          </a:prstGeom>
          <a:noFill/>
          <a:ln w="30163">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6268" name="Line 172"/>
          <p:cNvSpPr>
            <a:spLocks noChangeShapeType="1"/>
          </p:cNvSpPr>
          <p:nvPr/>
        </p:nvSpPr>
        <p:spPr bwMode="auto">
          <a:xfrm>
            <a:off x="3486378" y="4563110"/>
            <a:ext cx="149225" cy="0"/>
          </a:xfrm>
          <a:prstGeom prst="line">
            <a:avLst/>
          </a:prstGeom>
          <a:noFill/>
          <a:ln w="30163">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6270" name="Freeform 174"/>
          <p:cNvSpPr/>
          <p:nvPr/>
        </p:nvSpPr>
        <p:spPr bwMode="auto">
          <a:xfrm>
            <a:off x="1374776" y="3464560"/>
            <a:ext cx="890588" cy="366713"/>
          </a:xfrm>
          <a:custGeom>
            <a:avLst/>
            <a:gdLst>
              <a:gd name="T0" fmla="*/ 0 w 561"/>
              <a:gd name="T1" fmla="*/ 0 h 231"/>
              <a:gd name="T2" fmla="*/ 561 w 561"/>
              <a:gd name="T3" fmla="*/ 0 h 231"/>
              <a:gd name="T4" fmla="*/ 561 w 561"/>
              <a:gd name="T5" fmla="*/ 231 h 231"/>
            </a:gdLst>
            <a:ahLst/>
            <a:cxnLst>
              <a:cxn ang="0">
                <a:pos x="T0" y="T1"/>
              </a:cxn>
              <a:cxn ang="0">
                <a:pos x="T2" y="T3"/>
              </a:cxn>
              <a:cxn ang="0">
                <a:pos x="T4" y="T5"/>
              </a:cxn>
            </a:cxnLst>
            <a:rect l="0" t="0" r="r" b="b"/>
            <a:pathLst>
              <a:path w="561" h="231">
                <a:moveTo>
                  <a:pt x="0" y="0"/>
                </a:moveTo>
                <a:lnTo>
                  <a:pt x="561" y="0"/>
                </a:lnTo>
                <a:lnTo>
                  <a:pt x="561" y="231"/>
                </a:lnTo>
              </a:path>
            </a:pathLst>
          </a:custGeom>
          <a:noFill/>
          <a:ln w="30163">
            <a:solidFill>
              <a:srgbClr val="17272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271" name="Freeform 175"/>
          <p:cNvSpPr/>
          <p:nvPr/>
        </p:nvSpPr>
        <p:spPr bwMode="auto">
          <a:xfrm>
            <a:off x="2798763" y="3605848"/>
            <a:ext cx="355600" cy="225425"/>
          </a:xfrm>
          <a:custGeom>
            <a:avLst/>
            <a:gdLst>
              <a:gd name="T0" fmla="*/ 0 w 224"/>
              <a:gd name="T1" fmla="*/ 142 h 142"/>
              <a:gd name="T2" fmla="*/ 112 w 224"/>
              <a:gd name="T3" fmla="*/ 0 h 142"/>
              <a:gd name="T4" fmla="*/ 224 w 224"/>
              <a:gd name="T5" fmla="*/ 142 h 142"/>
            </a:gdLst>
            <a:ahLst/>
            <a:cxnLst>
              <a:cxn ang="0">
                <a:pos x="T0" y="T1"/>
              </a:cxn>
              <a:cxn ang="0">
                <a:pos x="T2" y="T3"/>
              </a:cxn>
              <a:cxn ang="0">
                <a:pos x="T4" y="T5"/>
              </a:cxn>
            </a:cxnLst>
            <a:rect l="0" t="0" r="r" b="b"/>
            <a:pathLst>
              <a:path w="224" h="142">
                <a:moveTo>
                  <a:pt x="0" y="142"/>
                </a:moveTo>
                <a:lnTo>
                  <a:pt x="112" y="0"/>
                </a:lnTo>
                <a:lnTo>
                  <a:pt x="224" y="142"/>
                </a:lnTo>
              </a:path>
            </a:pathLst>
          </a:custGeom>
          <a:noFill/>
          <a:ln w="30163">
            <a:solidFill>
              <a:srgbClr val="172721"/>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272" name="Line 176"/>
          <p:cNvSpPr>
            <a:spLocks noChangeShapeType="1"/>
          </p:cNvSpPr>
          <p:nvPr/>
        </p:nvSpPr>
        <p:spPr bwMode="auto">
          <a:xfrm>
            <a:off x="2976563" y="3858260"/>
            <a:ext cx="0" cy="536575"/>
          </a:xfrm>
          <a:prstGeom prst="line">
            <a:avLst/>
          </a:prstGeom>
          <a:noFill/>
          <a:ln w="30163">
            <a:solidFill>
              <a:srgbClr val="00008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6273" name="Line 177"/>
          <p:cNvSpPr>
            <a:spLocks noChangeShapeType="1"/>
          </p:cNvSpPr>
          <p:nvPr/>
        </p:nvSpPr>
        <p:spPr bwMode="auto">
          <a:xfrm>
            <a:off x="1582738" y="3831273"/>
            <a:ext cx="0" cy="563563"/>
          </a:xfrm>
          <a:prstGeom prst="line">
            <a:avLst/>
          </a:prstGeom>
          <a:noFill/>
          <a:ln w="30163">
            <a:solidFill>
              <a:srgbClr val="00008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6274" name="Line 178"/>
          <p:cNvSpPr>
            <a:spLocks noChangeShapeType="1"/>
          </p:cNvSpPr>
          <p:nvPr/>
        </p:nvSpPr>
        <p:spPr bwMode="auto">
          <a:xfrm>
            <a:off x="2087563" y="3831273"/>
            <a:ext cx="0" cy="563563"/>
          </a:xfrm>
          <a:prstGeom prst="line">
            <a:avLst/>
          </a:prstGeom>
          <a:noFill/>
          <a:ln w="30163">
            <a:solidFill>
              <a:srgbClr val="00008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6275" name="Line 179"/>
          <p:cNvSpPr>
            <a:spLocks noChangeShapeType="1"/>
          </p:cNvSpPr>
          <p:nvPr/>
        </p:nvSpPr>
        <p:spPr bwMode="auto">
          <a:xfrm>
            <a:off x="2532063" y="3988890"/>
            <a:ext cx="0" cy="432000"/>
          </a:xfrm>
          <a:prstGeom prst="line">
            <a:avLst/>
          </a:prstGeom>
          <a:noFill/>
          <a:ln w="30163">
            <a:solidFill>
              <a:srgbClr val="00008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6276" name="Oval 180"/>
          <p:cNvSpPr>
            <a:spLocks noChangeArrowheads="1"/>
          </p:cNvSpPr>
          <p:nvPr/>
        </p:nvSpPr>
        <p:spPr bwMode="auto">
          <a:xfrm>
            <a:off x="3303588" y="3831273"/>
            <a:ext cx="144000" cy="144000"/>
          </a:xfrm>
          <a:prstGeom prst="ellipse">
            <a:avLst/>
          </a:prstGeom>
          <a:solidFill>
            <a:srgbClr val="FFFFFF"/>
          </a:solidFill>
          <a:ln w="30163">
            <a:solidFill>
              <a:srgbClr val="000000"/>
            </a:solidFill>
            <a:prstDash val="solid"/>
            <a:round/>
          </a:ln>
        </p:spPr>
        <p:txBody>
          <a:bodyPr vert="horz" wrap="square" lIns="91440" tIns="45720" rIns="91440" bIns="45720" numCol="1" anchor="t" anchorCtr="0" compatLnSpc="1"/>
          <a:lstStyle/>
          <a:p>
            <a:endParaRPr lang="zh-CN" altLang="en-US"/>
          </a:p>
        </p:txBody>
      </p:sp>
      <p:sp>
        <p:nvSpPr>
          <p:cNvPr id="6277" name="Line 181"/>
          <p:cNvSpPr>
            <a:spLocks noChangeShapeType="1"/>
          </p:cNvSpPr>
          <p:nvPr/>
        </p:nvSpPr>
        <p:spPr bwMode="auto">
          <a:xfrm>
            <a:off x="3379425" y="3999548"/>
            <a:ext cx="0" cy="395288"/>
          </a:xfrm>
          <a:prstGeom prst="line">
            <a:avLst/>
          </a:prstGeom>
          <a:noFill/>
          <a:ln w="30163">
            <a:solidFill>
              <a:srgbClr val="00008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6278" name="Line 182"/>
          <p:cNvSpPr>
            <a:spLocks noChangeShapeType="1"/>
          </p:cNvSpPr>
          <p:nvPr/>
        </p:nvSpPr>
        <p:spPr bwMode="auto">
          <a:xfrm flipV="1">
            <a:off x="1998663" y="2138998"/>
            <a:ext cx="0" cy="534988"/>
          </a:xfrm>
          <a:prstGeom prst="line">
            <a:avLst/>
          </a:prstGeom>
          <a:noFill/>
          <a:ln w="30163">
            <a:solidFill>
              <a:srgbClr val="00008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6279" name="Line 183"/>
          <p:cNvSpPr>
            <a:spLocks noChangeShapeType="1"/>
          </p:cNvSpPr>
          <p:nvPr/>
        </p:nvSpPr>
        <p:spPr bwMode="auto">
          <a:xfrm flipV="1">
            <a:off x="2943952" y="2152061"/>
            <a:ext cx="0" cy="396000"/>
          </a:xfrm>
          <a:prstGeom prst="line">
            <a:avLst/>
          </a:prstGeom>
          <a:noFill/>
          <a:ln w="30163">
            <a:solidFill>
              <a:srgbClr val="00008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6280" name="Rectangle 184"/>
          <p:cNvSpPr>
            <a:spLocks noChangeArrowheads="1"/>
          </p:cNvSpPr>
          <p:nvPr/>
        </p:nvSpPr>
        <p:spPr bwMode="auto">
          <a:xfrm>
            <a:off x="1612901" y="4704398"/>
            <a:ext cx="1282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Times New Roman" panose="02020603050405020304" pitchFamily="18" charset="0"/>
              </a:rPr>
              <a:t>1</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6281" name="Rectangle 185"/>
          <p:cNvSpPr>
            <a:spLocks noChangeArrowheads="1"/>
          </p:cNvSpPr>
          <p:nvPr/>
        </p:nvSpPr>
        <p:spPr bwMode="auto">
          <a:xfrm>
            <a:off x="2146301" y="4704398"/>
            <a:ext cx="1282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Times New Roman" panose="02020603050405020304" pitchFamily="18" charset="0"/>
              </a:rPr>
              <a:t>2</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202" name="Text Box 38"/>
          <p:cNvSpPr txBox="1">
            <a:spLocks noChangeArrowheads="1"/>
          </p:cNvSpPr>
          <p:nvPr/>
        </p:nvSpPr>
        <p:spPr bwMode="auto">
          <a:xfrm>
            <a:off x="5061517" y="3384436"/>
            <a:ext cx="55358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800" dirty="0"/>
              <a:t>保</a:t>
            </a:r>
            <a:endParaRPr kumimoji="0" lang="en-US" altLang="zh-CN" sz="2800" dirty="0"/>
          </a:p>
          <a:p>
            <a:r>
              <a:rPr kumimoji="0" lang="zh-CN" altLang="en-US" sz="2800" dirty="0"/>
              <a:t>持</a:t>
            </a:r>
            <a:endParaRPr kumimoji="0" lang="en-US" altLang="zh-CN" sz="2800" dirty="0"/>
          </a:p>
        </p:txBody>
      </p:sp>
      <p:sp>
        <p:nvSpPr>
          <p:cNvPr id="203" name="Text Box 38"/>
          <p:cNvSpPr txBox="1">
            <a:spLocks noChangeArrowheads="1"/>
          </p:cNvSpPr>
          <p:nvPr/>
        </p:nvSpPr>
        <p:spPr bwMode="auto">
          <a:xfrm>
            <a:off x="5645793" y="3384436"/>
            <a:ext cx="55358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800" dirty="0"/>
              <a:t>转移</a:t>
            </a:r>
            <a:endParaRPr kumimoji="0" lang="en-US" altLang="zh-CN" sz="2800" dirty="0"/>
          </a:p>
        </p:txBody>
      </p:sp>
      <p:sp>
        <p:nvSpPr>
          <p:cNvPr id="204" name="Text Box 38"/>
          <p:cNvSpPr txBox="1">
            <a:spLocks noChangeArrowheads="1"/>
          </p:cNvSpPr>
          <p:nvPr/>
        </p:nvSpPr>
        <p:spPr bwMode="auto">
          <a:xfrm>
            <a:off x="6230069" y="3384436"/>
            <a:ext cx="55358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800" dirty="0"/>
              <a:t>保</a:t>
            </a:r>
            <a:endParaRPr kumimoji="0" lang="en-US" altLang="zh-CN" sz="2800" dirty="0"/>
          </a:p>
          <a:p>
            <a:r>
              <a:rPr kumimoji="0" lang="zh-CN" altLang="en-US" sz="2800" dirty="0"/>
              <a:t>持</a:t>
            </a:r>
            <a:endParaRPr kumimoji="0" lang="en-US" altLang="zh-CN" sz="2800" dirty="0"/>
          </a:p>
        </p:txBody>
      </p:sp>
      <p:sp>
        <p:nvSpPr>
          <p:cNvPr id="205" name="Text Box 38"/>
          <p:cNvSpPr txBox="1">
            <a:spLocks noChangeArrowheads="1"/>
          </p:cNvSpPr>
          <p:nvPr/>
        </p:nvSpPr>
        <p:spPr bwMode="auto">
          <a:xfrm>
            <a:off x="6814344" y="3384436"/>
            <a:ext cx="55358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zh-CN" altLang="en-US" sz="2800" dirty="0"/>
              <a:t>保</a:t>
            </a:r>
            <a:endParaRPr kumimoji="0" lang="en-US" altLang="zh-CN" sz="2800" dirty="0"/>
          </a:p>
          <a:p>
            <a:r>
              <a:rPr kumimoji="0" lang="zh-CN" altLang="en-US" sz="2800" dirty="0"/>
              <a:t>持</a:t>
            </a:r>
            <a:endParaRPr kumimoji="0" lang="en-US" altLang="zh-CN" sz="2800" dirty="0"/>
          </a:p>
        </p:txBody>
      </p:sp>
      <p:grpSp>
        <p:nvGrpSpPr>
          <p:cNvPr id="3209" name="Group 137"/>
          <p:cNvGrpSpPr/>
          <p:nvPr/>
        </p:nvGrpSpPr>
        <p:grpSpPr bwMode="auto">
          <a:xfrm>
            <a:off x="2265363" y="5074285"/>
            <a:ext cx="4940300" cy="522288"/>
            <a:chOff x="519" y="690"/>
            <a:chExt cx="3112" cy="329"/>
          </a:xfrm>
        </p:grpSpPr>
        <p:sp>
          <p:nvSpPr>
            <p:cNvPr id="11359" name="Text Box 7"/>
            <p:cNvSpPr txBox="1">
              <a:spLocks noChangeArrowheads="1"/>
            </p:cNvSpPr>
            <p:nvPr/>
          </p:nvSpPr>
          <p:spPr bwMode="auto">
            <a:xfrm>
              <a:off x="519" y="690"/>
              <a:ext cx="3112" cy="329"/>
            </a:xfrm>
            <a:prstGeom prst="rect">
              <a:avLst/>
            </a:prstGeom>
            <a:noFill/>
            <a:ln w="9525">
              <a:noFill/>
              <a:miter lim="800000"/>
            </a:ln>
            <a:effectLst/>
          </p:spPr>
          <p:txBody>
            <a:bodyPr>
              <a:spAutoFit/>
            </a:bodyPr>
            <a:p>
              <a:r>
                <a:rPr kumimoji="0" lang="zh-CN" altLang="en-US" sz="2800" b="1" dirty="0">
                  <a:solidFill>
                    <a:srgbClr val="000000"/>
                  </a:solidFill>
                  <a:cs typeface="Times New Roman" panose="02020603050405020304" pitchFamily="18" charset="0"/>
                </a:rPr>
                <a:t>次态方程</a:t>
              </a:r>
              <a:r>
                <a:rPr kumimoji="0" lang="zh-CN" altLang="en-US" sz="2800" b="1" dirty="0">
                  <a:solidFill>
                    <a:srgbClr val="000000"/>
                  </a:solidFill>
                </a:rPr>
                <a:t>：</a:t>
              </a:r>
              <a:r>
                <a:rPr kumimoji="0" lang="en-US" altLang="zh-CN" sz="2800" b="1" i="1" dirty="0">
                  <a:solidFill>
                    <a:schemeClr val="tx2"/>
                  </a:solidFill>
                  <a:cs typeface="Times New Roman" panose="02020603050405020304" pitchFamily="18" charset="0"/>
                </a:rPr>
                <a:t>Q</a:t>
              </a:r>
              <a:r>
                <a:rPr kumimoji="0" lang="en-US" altLang="zh-CN" sz="2800" b="1" i="1" baseline="50000" dirty="0">
                  <a:solidFill>
                    <a:schemeClr val="tx2"/>
                  </a:solidFill>
                  <a:cs typeface="Times New Roman" panose="02020603050405020304" pitchFamily="18" charset="0"/>
                </a:rPr>
                <a:t>n</a:t>
              </a:r>
              <a:r>
                <a:rPr kumimoji="0" lang="en-US" altLang="zh-CN" sz="2800" b="1" baseline="50000" dirty="0">
                  <a:solidFill>
                    <a:schemeClr val="tx2"/>
                  </a:solidFill>
                  <a:cs typeface="Times New Roman" panose="02020603050405020304" pitchFamily="18" charset="0"/>
                </a:rPr>
                <a:t>+1</a:t>
              </a:r>
              <a:r>
                <a:rPr kumimoji="0" lang="en-US" altLang="zh-CN" sz="2800" b="1" dirty="0">
                  <a:solidFill>
                    <a:schemeClr val="tx2"/>
                  </a:solidFill>
                  <a:cs typeface="Times New Roman" panose="02020603050405020304" pitchFamily="18" charset="0"/>
                </a:rPr>
                <a:t>=</a:t>
              </a:r>
              <a:r>
                <a:rPr kumimoji="0" lang="en-US" altLang="zh-CN" sz="2800" b="1" dirty="0">
                  <a:solidFill>
                    <a:srgbClr val="FF0000"/>
                  </a:solidFill>
                  <a:cs typeface="Times New Roman" panose="02020603050405020304" pitchFamily="18" charset="0"/>
                </a:rPr>
                <a:t>[ </a:t>
              </a:r>
              <a:r>
                <a:rPr kumimoji="0" lang="en-US" altLang="zh-CN" sz="2800" b="1" dirty="0">
                  <a:solidFill>
                    <a:schemeClr val="tx1"/>
                  </a:solidFill>
                  <a:cs typeface="Times New Roman" panose="02020603050405020304" pitchFamily="18" charset="0"/>
                </a:rPr>
                <a:t>D </a:t>
              </a:r>
              <a:r>
                <a:rPr kumimoji="0" lang="en-US" altLang="zh-CN" sz="2800" b="1" dirty="0">
                  <a:solidFill>
                    <a:srgbClr val="FF0000"/>
                  </a:solidFill>
                  <a:cs typeface="Times New Roman" panose="02020603050405020304" pitchFamily="18" charset="0"/>
                </a:rPr>
                <a:t> ]·</a:t>
              </a:r>
              <a:r>
                <a:rPr kumimoji="0" lang="en-US" altLang="zh-CN" sz="2800" b="1" i="1" dirty="0">
                  <a:solidFill>
                    <a:srgbClr val="FF0000"/>
                  </a:solidFill>
                  <a:cs typeface="Times New Roman" panose="02020603050405020304" pitchFamily="18" charset="0"/>
                </a:rPr>
                <a:t>CP</a:t>
              </a:r>
              <a:r>
                <a:rPr kumimoji="0" lang="en-US" altLang="zh-CN" sz="2800" dirty="0">
                  <a:solidFill>
                    <a:schemeClr val="tx2"/>
                  </a:solidFill>
                  <a:cs typeface="Times New Roman" panose="02020603050405020304" pitchFamily="18" charset="0"/>
                </a:rPr>
                <a:t>   </a:t>
              </a:r>
              <a:r>
                <a:rPr kumimoji="0" lang="en-US" altLang="zh-CN" sz="2800" dirty="0">
                  <a:solidFill>
                    <a:schemeClr val="tx2"/>
                  </a:solidFill>
                </a:rPr>
                <a:t> </a:t>
              </a:r>
              <a:endParaRPr kumimoji="0" lang="en-US" altLang="zh-CN" sz="2800" dirty="0">
                <a:solidFill>
                  <a:srgbClr val="000000"/>
                </a:solidFill>
              </a:endParaRPr>
            </a:p>
          </p:txBody>
        </p:sp>
        <p:sp>
          <p:nvSpPr>
            <p:cNvPr id="11360" name="Line 8"/>
            <p:cNvSpPr>
              <a:spLocks noChangeShapeType="1"/>
            </p:cNvSpPr>
            <p:nvPr/>
          </p:nvSpPr>
          <p:spPr bwMode="auto">
            <a:xfrm flipV="1">
              <a:off x="3261" y="729"/>
              <a:ext cx="0" cy="240"/>
            </a:xfrm>
            <a:prstGeom prst="line">
              <a:avLst/>
            </a:prstGeom>
            <a:noFill/>
            <a:ln w="28575">
              <a:solidFill>
                <a:srgbClr val="FF0000"/>
              </a:solidFill>
              <a:round/>
              <a:tailEnd type="triangle" w="sm" len="lg"/>
            </a:ln>
            <a:effectLst/>
          </p:spPr>
          <p:txBody>
            <a:bodyPr/>
            <a:p>
              <a:endParaRPr lang="zh-CN" altLang="en-US"/>
            </a:p>
          </p:txBody>
        </p:sp>
      </p:grpSp>
    </p:spTree>
  </p:cSld>
  <p:clrMapOvr>
    <a:masterClrMapping/>
  </p:clrMapOvr>
  <p:timing>
    <p:tnLst>
      <p:par>
        <p:cTn id="1" dur="indefinite" restart="never" nodeType="tmRoot"/>
      </p:par>
    </p:tnLst>
    <p:bldLst>
      <p:bldP spid="13" grpId="0" bldLvl="0" animBg="1" autoUpdateAnimBg="0"/>
      <p:bldP spid="14" grpId="0" bldLvl="0" animBg="1" autoUpdateAnimBg="0"/>
      <p:bldP spid="16" grpId="0" bldLvl="0" animBg="1"/>
      <p:bldP spid="202" grpId="0" bldLvl="0" animBg="1"/>
      <p:bldP spid="203" grpId="0" bldLvl="0" animBg="1"/>
      <p:bldP spid="204" grpId="0" bldLvl="0" animBg="1"/>
      <p:bldP spid="205"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2995" y="25219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主题四 </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触发器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413188" y="111614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4.5 </a:t>
            </a:r>
            <a:r>
              <a:rPr kumimoji="0" lang="zh-CN" altLang="en-US" dirty="0">
                <a:solidFill>
                  <a:srgbClr val="000000"/>
                </a:solidFill>
                <a:latin typeface="黑体" panose="02010609060101010101" pitchFamily="49" charset="-122"/>
                <a:ea typeface="黑体" panose="02010609060101010101" pitchFamily="49" charset="-122"/>
              </a:rPr>
              <a:t>钟控边沿</a:t>
            </a:r>
            <a:r>
              <a:rPr kumimoji="0" lang="en-US" altLang="zh-CN" dirty="0">
                <a:solidFill>
                  <a:srgbClr val="000000"/>
                </a:solidFill>
                <a:latin typeface="黑体" panose="02010609060101010101" pitchFamily="49" charset="-122"/>
                <a:ea typeface="黑体" panose="02010609060101010101" pitchFamily="49" charset="-122"/>
              </a:rPr>
              <a:t>JK</a:t>
            </a:r>
            <a:r>
              <a:rPr kumimoji="0" lang="zh-CN" altLang="en-US" dirty="0">
                <a:solidFill>
                  <a:srgbClr val="000000"/>
                </a:solidFill>
                <a:latin typeface="黑体" panose="02010609060101010101" pitchFamily="49" charset="-122"/>
                <a:ea typeface="黑体" panose="02010609060101010101" pitchFamily="49" charset="-122"/>
              </a:rPr>
              <a:t>触发器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62" name="Rectangle 63"/>
          <p:cNvSpPr>
            <a:spLocks noChangeArrowheads="1"/>
          </p:cNvSpPr>
          <p:nvPr/>
        </p:nvSpPr>
        <p:spPr bwMode="auto">
          <a:xfrm>
            <a:off x="3683001" y="2736850"/>
            <a:ext cx="1250950" cy="836613"/>
          </a:xfrm>
          <a:prstGeom prst="rect">
            <a:avLst/>
          </a:prstGeom>
          <a:noFill/>
          <a:ln w="20638">
            <a:solidFill>
              <a:srgbClr val="00008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mn-lt"/>
            </a:endParaRPr>
          </a:p>
        </p:txBody>
      </p:sp>
      <p:sp>
        <p:nvSpPr>
          <p:cNvPr id="63" name="Line 64"/>
          <p:cNvSpPr>
            <a:spLocks noChangeShapeType="1"/>
          </p:cNvSpPr>
          <p:nvPr/>
        </p:nvSpPr>
        <p:spPr bwMode="auto">
          <a:xfrm>
            <a:off x="3890963" y="3573463"/>
            <a:ext cx="0" cy="520700"/>
          </a:xfrm>
          <a:prstGeom prst="line">
            <a:avLst/>
          </a:prstGeom>
          <a:noFill/>
          <a:ln w="20638">
            <a:solidFill>
              <a:srgbClr val="00008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mn-lt"/>
            </a:endParaRPr>
          </a:p>
        </p:txBody>
      </p:sp>
      <p:sp>
        <p:nvSpPr>
          <p:cNvPr id="18432" name="Line 65"/>
          <p:cNvSpPr>
            <a:spLocks noChangeShapeType="1"/>
          </p:cNvSpPr>
          <p:nvPr/>
        </p:nvSpPr>
        <p:spPr bwMode="auto">
          <a:xfrm>
            <a:off x="4725988" y="3573463"/>
            <a:ext cx="0" cy="520700"/>
          </a:xfrm>
          <a:prstGeom prst="line">
            <a:avLst/>
          </a:prstGeom>
          <a:noFill/>
          <a:ln w="20638">
            <a:solidFill>
              <a:srgbClr val="00008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mn-lt"/>
            </a:endParaRPr>
          </a:p>
        </p:txBody>
      </p:sp>
      <p:sp>
        <p:nvSpPr>
          <p:cNvPr id="18433" name="Line 66"/>
          <p:cNvSpPr>
            <a:spLocks noChangeShapeType="1"/>
          </p:cNvSpPr>
          <p:nvPr/>
        </p:nvSpPr>
        <p:spPr bwMode="auto">
          <a:xfrm>
            <a:off x="4308476" y="3676650"/>
            <a:ext cx="0" cy="417513"/>
          </a:xfrm>
          <a:prstGeom prst="line">
            <a:avLst/>
          </a:prstGeom>
          <a:noFill/>
          <a:ln w="20638">
            <a:solidFill>
              <a:srgbClr val="00008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mn-lt"/>
            </a:endParaRPr>
          </a:p>
        </p:txBody>
      </p:sp>
      <p:sp>
        <p:nvSpPr>
          <p:cNvPr id="18435" name="Line 67"/>
          <p:cNvSpPr>
            <a:spLocks noChangeShapeType="1"/>
          </p:cNvSpPr>
          <p:nvPr/>
        </p:nvSpPr>
        <p:spPr bwMode="auto">
          <a:xfrm flipV="1">
            <a:off x="4100513" y="2216150"/>
            <a:ext cx="0" cy="520700"/>
          </a:xfrm>
          <a:prstGeom prst="line">
            <a:avLst/>
          </a:prstGeom>
          <a:noFill/>
          <a:ln w="20638">
            <a:solidFill>
              <a:srgbClr val="00008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mn-lt"/>
            </a:endParaRPr>
          </a:p>
        </p:txBody>
      </p:sp>
      <p:sp>
        <p:nvSpPr>
          <p:cNvPr id="18442" name="Line 68"/>
          <p:cNvSpPr>
            <a:spLocks noChangeShapeType="1"/>
          </p:cNvSpPr>
          <p:nvPr/>
        </p:nvSpPr>
        <p:spPr bwMode="auto">
          <a:xfrm flipV="1">
            <a:off x="4518026" y="2193925"/>
            <a:ext cx="0" cy="417513"/>
          </a:xfrm>
          <a:prstGeom prst="line">
            <a:avLst/>
          </a:prstGeom>
          <a:noFill/>
          <a:ln w="20638">
            <a:solidFill>
              <a:srgbClr val="00008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mn-lt"/>
            </a:endParaRPr>
          </a:p>
        </p:txBody>
      </p:sp>
      <p:sp>
        <p:nvSpPr>
          <p:cNvPr id="18443" name="Oval 69"/>
          <p:cNvSpPr>
            <a:spLocks noChangeArrowheads="1"/>
          </p:cNvSpPr>
          <p:nvPr/>
        </p:nvSpPr>
        <p:spPr bwMode="auto">
          <a:xfrm>
            <a:off x="4246563" y="3573463"/>
            <a:ext cx="125413" cy="125413"/>
          </a:xfrm>
          <a:prstGeom prst="ellipse">
            <a:avLst/>
          </a:prstGeom>
          <a:solidFill>
            <a:srgbClr val="FFFFFF"/>
          </a:solidFill>
          <a:ln w="0">
            <a:solidFill>
              <a:srgbClr val="000000"/>
            </a:solidFill>
            <a:prstDash val="solid"/>
            <a:round/>
          </a:ln>
        </p:spPr>
        <p:txBody>
          <a:bodyPr vert="horz" wrap="square" lIns="91440" tIns="45720" rIns="91440" bIns="45720" numCol="1" anchor="t" anchorCtr="0" compatLnSpc="1"/>
          <a:lstStyle/>
          <a:p>
            <a:endParaRPr lang="zh-CN" altLang="en-US">
              <a:latin typeface="+mn-lt"/>
            </a:endParaRPr>
          </a:p>
        </p:txBody>
      </p:sp>
      <p:sp>
        <p:nvSpPr>
          <p:cNvPr id="18444" name="Oval 70"/>
          <p:cNvSpPr>
            <a:spLocks noChangeArrowheads="1"/>
          </p:cNvSpPr>
          <p:nvPr/>
        </p:nvSpPr>
        <p:spPr bwMode="auto">
          <a:xfrm>
            <a:off x="4454526" y="2611438"/>
            <a:ext cx="125413" cy="125413"/>
          </a:xfrm>
          <a:prstGeom prst="ellipse">
            <a:avLst/>
          </a:prstGeom>
          <a:solidFill>
            <a:srgbClr val="FFFFFF"/>
          </a:solidFill>
          <a:ln w="0">
            <a:solidFill>
              <a:srgbClr val="000000"/>
            </a:solidFill>
            <a:prstDash val="solid"/>
            <a:round/>
          </a:ln>
        </p:spPr>
        <p:txBody>
          <a:bodyPr vert="horz" wrap="square" lIns="91440" tIns="45720" rIns="91440" bIns="45720" numCol="1" anchor="t" anchorCtr="0" compatLnSpc="1"/>
          <a:lstStyle/>
          <a:p>
            <a:endParaRPr lang="zh-CN" altLang="en-US">
              <a:latin typeface="+mn-lt"/>
            </a:endParaRPr>
          </a:p>
        </p:txBody>
      </p:sp>
      <p:sp>
        <p:nvSpPr>
          <p:cNvPr id="18445" name="Rectangle 71"/>
          <p:cNvSpPr>
            <a:spLocks noChangeArrowheads="1"/>
          </p:cNvSpPr>
          <p:nvPr/>
        </p:nvSpPr>
        <p:spPr bwMode="auto">
          <a:xfrm>
            <a:off x="3829051" y="4116388"/>
            <a:ext cx="131446"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300" b="0" i="1" u="none" strike="noStrike" cap="none" normalizeH="0" baseline="0" dirty="0">
                <a:ln>
                  <a:noFill/>
                </a:ln>
                <a:solidFill>
                  <a:srgbClr val="000000"/>
                </a:solidFill>
                <a:effectLst/>
                <a:latin typeface="+mn-lt"/>
              </a:rPr>
              <a:t>J</a:t>
            </a:r>
            <a:endParaRPr kumimoji="0" lang="zh-CN" altLang="zh-CN" sz="1800" b="0" i="1" u="none" strike="noStrike" cap="none" normalizeH="0" baseline="0" dirty="0">
              <a:ln>
                <a:noFill/>
              </a:ln>
              <a:solidFill>
                <a:schemeClr val="tx1"/>
              </a:solidFill>
              <a:effectLst/>
              <a:latin typeface="+mn-lt"/>
            </a:endParaRPr>
          </a:p>
        </p:txBody>
      </p:sp>
      <p:sp>
        <p:nvSpPr>
          <p:cNvPr id="18446" name="Rectangle 72"/>
          <p:cNvSpPr>
            <a:spLocks noChangeArrowheads="1"/>
          </p:cNvSpPr>
          <p:nvPr/>
        </p:nvSpPr>
        <p:spPr bwMode="auto">
          <a:xfrm>
            <a:off x="4162426" y="4116388"/>
            <a:ext cx="37623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300" b="0" i="1" u="none" strike="noStrike" cap="none" normalizeH="0" baseline="0" dirty="0">
                <a:ln>
                  <a:noFill/>
                </a:ln>
                <a:solidFill>
                  <a:srgbClr val="000000"/>
                </a:solidFill>
                <a:effectLst/>
                <a:latin typeface="+mn-lt"/>
              </a:rPr>
              <a:t>CP</a:t>
            </a:r>
            <a:endParaRPr kumimoji="0" lang="zh-CN" altLang="zh-CN" sz="1800" b="0" i="1" u="none" strike="noStrike" cap="none" normalizeH="0" baseline="0" dirty="0">
              <a:ln>
                <a:noFill/>
              </a:ln>
              <a:solidFill>
                <a:schemeClr val="tx1"/>
              </a:solidFill>
              <a:effectLst/>
              <a:latin typeface="+mn-lt"/>
            </a:endParaRPr>
          </a:p>
        </p:txBody>
      </p:sp>
      <p:sp>
        <p:nvSpPr>
          <p:cNvPr id="18447" name="Rectangle 73"/>
          <p:cNvSpPr>
            <a:spLocks noChangeArrowheads="1"/>
          </p:cNvSpPr>
          <p:nvPr/>
        </p:nvSpPr>
        <p:spPr bwMode="auto">
          <a:xfrm>
            <a:off x="4664076" y="4116388"/>
            <a:ext cx="197170"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300" b="0" i="1" u="none" strike="noStrike" cap="none" normalizeH="0" baseline="0" dirty="0">
                <a:ln>
                  <a:noFill/>
                </a:ln>
                <a:solidFill>
                  <a:srgbClr val="000000"/>
                </a:solidFill>
                <a:effectLst/>
                <a:latin typeface="+mn-lt"/>
              </a:rPr>
              <a:t>K</a:t>
            </a:r>
            <a:endParaRPr kumimoji="0" lang="zh-CN" altLang="zh-CN" sz="1800" b="0" i="1" u="none" strike="noStrike" cap="none" normalizeH="0" baseline="0" dirty="0">
              <a:ln>
                <a:noFill/>
              </a:ln>
              <a:solidFill>
                <a:schemeClr val="tx1"/>
              </a:solidFill>
              <a:effectLst/>
              <a:latin typeface="+mn-lt"/>
            </a:endParaRPr>
          </a:p>
        </p:txBody>
      </p:sp>
      <p:sp>
        <p:nvSpPr>
          <p:cNvPr id="18448" name="Rectangle 74"/>
          <p:cNvSpPr>
            <a:spLocks noChangeArrowheads="1"/>
          </p:cNvSpPr>
          <p:nvPr/>
        </p:nvSpPr>
        <p:spPr bwMode="auto">
          <a:xfrm>
            <a:off x="3995738" y="1839913"/>
            <a:ext cx="213200"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300" b="0" i="1" u="none" strike="noStrike" cap="none" normalizeH="0" baseline="0" dirty="0">
                <a:ln>
                  <a:noFill/>
                </a:ln>
                <a:solidFill>
                  <a:srgbClr val="000000"/>
                </a:solidFill>
                <a:effectLst/>
                <a:latin typeface="+mn-lt"/>
              </a:rPr>
              <a:t>Q</a:t>
            </a:r>
            <a:endParaRPr kumimoji="0" lang="zh-CN" altLang="zh-CN" sz="1800" b="0" i="1" u="none" strike="noStrike" cap="none" normalizeH="0" baseline="0" dirty="0">
              <a:ln>
                <a:noFill/>
              </a:ln>
              <a:solidFill>
                <a:schemeClr val="tx1"/>
              </a:solidFill>
              <a:effectLst/>
              <a:latin typeface="+mn-lt"/>
            </a:endParaRPr>
          </a:p>
        </p:txBody>
      </p:sp>
      <p:sp>
        <p:nvSpPr>
          <p:cNvPr id="18449" name="Rectangle 75"/>
          <p:cNvSpPr>
            <a:spLocks noChangeArrowheads="1"/>
          </p:cNvSpPr>
          <p:nvPr/>
        </p:nvSpPr>
        <p:spPr bwMode="auto">
          <a:xfrm>
            <a:off x="4433888" y="1839913"/>
            <a:ext cx="213200"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300" b="0" i="1" u="none" strike="noStrike" cap="none" normalizeH="0" baseline="0">
                <a:ln>
                  <a:noFill/>
                </a:ln>
                <a:solidFill>
                  <a:srgbClr val="000000"/>
                </a:solidFill>
                <a:effectLst/>
                <a:latin typeface="+mn-lt"/>
              </a:rPr>
              <a:t>Q</a:t>
            </a:r>
            <a:endParaRPr kumimoji="0" lang="zh-CN" altLang="zh-CN" sz="1800" b="0" i="1" u="none" strike="noStrike" cap="none" normalizeH="0" baseline="0">
              <a:ln>
                <a:noFill/>
              </a:ln>
              <a:solidFill>
                <a:schemeClr val="tx1"/>
              </a:solidFill>
              <a:effectLst/>
              <a:latin typeface="+mn-lt"/>
            </a:endParaRPr>
          </a:p>
        </p:txBody>
      </p:sp>
      <p:sp>
        <p:nvSpPr>
          <p:cNvPr id="18450" name="Rectangle 76"/>
          <p:cNvSpPr>
            <a:spLocks noChangeArrowheads="1"/>
          </p:cNvSpPr>
          <p:nvPr/>
        </p:nvSpPr>
        <p:spPr bwMode="auto">
          <a:xfrm>
            <a:off x="3767138" y="3113088"/>
            <a:ext cx="262892"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300" b="0" i="0" u="none" strike="noStrike" cap="none" normalizeH="0" baseline="0">
                <a:ln>
                  <a:noFill/>
                </a:ln>
                <a:solidFill>
                  <a:srgbClr val="000000"/>
                </a:solidFill>
                <a:effectLst/>
                <a:latin typeface="+mn-lt"/>
              </a:rPr>
              <a:t>1J</a:t>
            </a:r>
            <a:endParaRPr kumimoji="0" lang="zh-CN" altLang="zh-CN" sz="1800" b="0" i="0" u="none" strike="noStrike" cap="none" normalizeH="0" baseline="0">
              <a:ln>
                <a:noFill/>
              </a:ln>
              <a:solidFill>
                <a:schemeClr val="tx1"/>
              </a:solidFill>
              <a:effectLst/>
              <a:latin typeface="+mn-lt"/>
            </a:endParaRPr>
          </a:p>
        </p:txBody>
      </p:sp>
      <p:sp>
        <p:nvSpPr>
          <p:cNvPr id="18451" name="Rectangle 77"/>
          <p:cNvSpPr>
            <a:spLocks noChangeArrowheads="1"/>
          </p:cNvSpPr>
          <p:nvPr/>
        </p:nvSpPr>
        <p:spPr bwMode="auto">
          <a:xfrm>
            <a:off x="4183063" y="3092450"/>
            <a:ext cx="354013"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300" b="0" i="0" u="none" strike="noStrike" cap="none" normalizeH="0" baseline="0">
                <a:ln>
                  <a:noFill/>
                </a:ln>
                <a:solidFill>
                  <a:srgbClr val="000000"/>
                </a:solidFill>
                <a:effectLst/>
                <a:latin typeface="+mn-lt"/>
              </a:rPr>
              <a:t>C1</a:t>
            </a:r>
            <a:endParaRPr kumimoji="0" lang="zh-CN" altLang="zh-CN" sz="1800" b="0" i="0" u="none" strike="noStrike" cap="none" normalizeH="0" baseline="0">
              <a:ln>
                <a:noFill/>
              </a:ln>
              <a:solidFill>
                <a:schemeClr val="tx1"/>
              </a:solidFill>
              <a:effectLst/>
              <a:latin typeface="+mn-lt"/>
            </a:endParaRPr>
          </a:p>
        </p:txBody>
      </p:sp>
      <p:sp>
        <p:nvSpPr>
          <p:cNvPr id="18452" name="Rectangle 78"/>
          <p:cNvSpPr>
            <a:spLocks noChangeArrowheads="1"/>
          </p:cNvSpPr>
          <p:nvPr/>
        </p:nvSpPr>
        <p:spPr bwMode="auto">
          <a:xfrm>
            <a:off x="4579938" y="3092450"/>
            <a:ext cx="360676"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300" b="0" i="0" u="none" strike="noStrike" cap="none" normalizeH="0" baseline="0">
                <a:ln>
                  <a:noFill/>
                </a:ln>
                <a:solidFill>
                  <a:srgbClr val="000000"/>
                </a:solidFill>
                <a:effectLst/>
                <a:latin typeface="+mn-lt"/>
              </a:rPr>
              <a:t>1K</a:t>
            </a:r>
            <a:endParaRPr kumimoji="0" lang="zh-CN" altLang="zh-CN" sz="1800" b="0" i="0" u="none" strike="noStrike" cap="none" normalizeH="0" baseline="0">
              <a:ln>
                <a:noFill/>
              </a:ln>
              <a:solidFill>
                <a:schemeClr val="tx1"/>
              </a:solidFill>
              <a:effectLst/>
              <a:latin typeface="+mn-lt"/>
            </a:endParaRPr>
          </a:p>
        </p:txBody>
      </p:sp>
      <p:sp>
        <p:nvSpPr>
          <p:cNvPr id="18454" name="Freeform 80"/>
          <p:cNvSpPr/>
          <p:nvPr/>
        </p:nvSpPr>
        <p:spPr bwMode="auto">
          <a:xfrm>
            <a:off x="4203701" y="3448050"/>
            <a:ext cx="209550" cy="125413"/>
          </a:xfrm>
          <a:custGeom>
            <a:avLst/>
            <a:gdLst>
              <a:gd name="T0" fmla="*/ 0 w 132"/>
              <a:gd name="T1" fmla="*/ 79 h 79"/>
              <a:gd name="T2" fmla="*/ 66 w 132"/>
              <a:gd name="T3" fmla="*/ 0 h 79"/>
              <a:gd name="T4" fmla="*/ 132 w 132"/>
              <a:gd name="T5" fmla="*/ 79 h 79"/>
            </a:gdLst>
            <a:ahLst/>
            <a:cxnLst>
              <a:cxn ang="0">
                <a:pos x="T0" y="T1"/>
              </a:cxn>
              <a:cxn ang="0">
                <a:pos x="T2" y="T3"/>
              </a:cxn>
              <a:cxn ang="0">
                <a:pos x="T4" y="T5"/>
              </a:cxn>
            </a:cxnLst>
            <a:rect l="0" t="0" r="r" b="b"/>
            <a:pathLst>
              <a:path w="132" h="79">
                <a:moveTo>
                  <a:pt x="0" y="79"/>
                </a:moveTo>
                <a:lnTo>
                  <a:pt x="66" y="0"/>
                </a:lnTo>
                <a:lnTo>
                  <a:pt x="132" y="79"/>
                </a:lnTo>
              </a:path>
            </a:pathLst>
          </a:custGeom>
          <a:noFill/>
          <a:ln w="20638">
            <a:solidFill>
              <a:srgbClr val="00008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mn-lt"/>
            </a:endParaRPr>
          </a:p>
        </p:txBody>
      </p:sp>
      <p:sp>
        <p:nvSpPr>
          <p:cNvPr id="18455" name="Line 81"/>
          <p:cNvSpPr>
            <a:spLocks noChangeShapeType="1"/>
          </p:cNvSpPr>
          <p:nvPr/>
        </p:nvSpPr>
        <p:spPr bwMode="auto">
          <a:xfrm>
            <a:off x="4486140" y="1866039"/>
            <a:ext cx="166688" cy="0"/>
          </a:xfrm>
          <a:prstGeom prst="line">
            <a:avLst/>
          </a:prstGeom>
          <a:noFill/>
          <a:ln w="20638">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latin typeface="+mn-lt"/>
            </a:endParaRPr>
          </a:p>
        </p:txBody>
      </p:sp>
      <p:grpSp>
        <p:nvGrpSpPr>
          <p:cNvPr id="15388" name="Group 28"/>
          <p:cNvGrpSpPr/>
          <p:nvPr/>
        </p:nvGrpSpPr>
        <p:grpSpPr bwMode="auto">
          <a:xfrm>
            <a:off x="2636521" y="4672013"/>
            <a:ext cx="3748087" cy="522287"/>
            <a:chOff x="2992" y="3438"/>
            <a:chExt cx="2361" cy="329"/>
          </a:xfrm>
        </p:grpSpPr>
        <p:sp>
          <p:nvSpPr>
            <p:cNvPr id="22545" name="Line 17"/>
            <p:cNvSpPr>
              <a:spLocks noChangeShapeType="1"/>
            </p:cNvSpPr>
            <p:nvPr/>
          </p:nvSpPr>
          <p:spPr bwMode="auto">
            <a:xfrm>
              <a:off x="3806" y="3468"/>
              <a:ext cx="144" cy="0"/>
            </a:xfrm>
            <a:prstGeom prst="line">
              <a:avLst/>
            </a:prstGeom>
            <a:noFill/>
            <a:ln w="28575">
              <a:solidFill>
                <a:schemeClr val="tx1"/>
              </a:solidFill>
              <a:round/>
            </a:ln>
            <a:effectLst/>
          </p:spPr>
          <p:txBody>
            <a:bodyPr/>
            <a:p>
              <a:endParaRPr lang="zh-CN" altLang="en-US"/>
            </a:p>
          </p:txBody>
        </p:sp>
        <p:sp>
          <p:nvSpPr>
            <p:cNvPr id="22546" name="Line 18"/>
            <p:cNvSpPr>
              <a:spLocks noChangeShapeType="1"/>
            </p:cNvSpPr>
            <p:nvPr/>
          </p:nvSpPr>
          <p:spPr bwMode="auto">
            <a:xfrm>
              <a:off x="4966" y="3507"/>
              <a:ext cx="0" cy="240"/>
            </a:xfrm>
            <a:prstGeom prst="line">
              <a:avLst/>
            </a:prstGeom>
            <a:noFill/>
            <a:ln w="28575">
              <a:solidFill>
                <a:srgbClr val="FF0000"/>
              </a:solidFill>
              <a:round/>
              <a:tailEnd type="triangle" w="sm" len="lg"/>
            </a:ln>
            <a:effectLst/>
          </p:spPr>
          <p:txBody>
            <a:bodyPr/>
            <a:p>
              <a:endParaRPr lang="zh-CN" altLang="en-US"/>
            </a:p>
          </p:txBody>
        </p:sp>
        <p:sp>
          <p:nvSpPr>
            <p:cNvPr id="2" name="Text Box 19"/>
            <p:cNvSpPr txBox="1">
              <a:spLocks noChangeArrowheads="1"/>
            </p:cNvSpPr>
            <p:nvPr/>
          </p:nvSpPr>
          <p:spPr bwMode="auto">
            <a:xfrm>
              <a:off x="2992" y="3438"/>
              <a:ext cx="2361" cy="329"/>
            </a:xfrm>
            <a:prstGeom prst="rect">
              <a:avLst/>
            </a:prstGeom>
            <a:noFill/>
            <a:ln w="9525">
              <a:noFill/>
              <a:miter lim="800000"/>
            </a:ln>
            <a:effectLst/>
          </p:spPr>
          <p:txBody>
            <a:bodyPr>
              <a:spAutoFit/>
            </a:bodyPr>
            <a:p>
              <a:r>
                <a:rPr kumimoji="0" lang="en-US" altLang="zh-CN" sz="2800" i="1" dirty="0">
                  <a:solidFill>
                    <a:schemeClr val="tx2"/>
                  </a:solidFill>
                </a:rPr>
                <a:t>Q</a:t>
              </a:r>
              <a:r>
                <a:rPr kumimoji="0" lang="en-US" altLang="zh-CN" sz="2800" i="1" baseline="50000" dirty="0">
                  <a:solidFill>
                    <a:schemeClr val="tx2"/>
                  </a:solidFill>
                </a:rPr>
                <a:t>n</a:t>
              </a:r>
              <a:r>
                <a:rPr kumimoji="0" lang="en-US" altLang="zh-CN" sz="2800" baseline="50000" dirty="0">
                  <a:solidFill>
                    <a:schemeClr val="tx2"/>
                  </a:solidFill>
                </a:rPr>
                <a:t>+1</a:t>
              </a:r>
              <a:r>
                <a:rPr kumimoji="0" lang="en-US" altLang="zh-CN" sz="2800" dirty="0">
                  <a:solidFill>
                    <a:schemeClr val="tx2"/>
                  </a:solidFill>
                </a:rPr>
                <a:t>=</a:t>
              </a:r>
              <a:r>
                <a:rPr kumimoji="0" lang="en-US" altLang="zh-CN" sz="2800" dirty="0">
                  <a:solidFill>
                    <a:srgbClr val="FF0000"/>
                  </a:solidFill>
                </a:rPr>
                <a:t>[ </a:t>
              </a:r>
              <a:r>
                <a:rPr kumimoji="0" lang="en-US" altLang="zh-CN" sz="2800" i="1" dirty="0" err="1">
                  <a:solidFill>
                    <a:schemeClr val="tx2"/>
                  </a:solidFill>
                </a:rPr>
                <a:t>J</a:t>
              </a:r>
              <a:r>
                <a:rPr kumimoji="0" lang="en-US" altLang="zh-CN" sz="2800" i="1" dirty="0" err="1">
                  <a:solidFill>
                    <a:schemeClr val="tx2"/>
                  </a:solidFill>
                </a:rPr>
                <a:t>Q</a:t>
              </a:r>
              <a:r>
                <a:rPr kumimoji="0" lang="en-US" altLang="zh-CN" sz="2800" i="1" baseline="50000" dirty="0" err="1">
                  <a:solidFill>
                    <a:schemeClr val="tx2"/>
                  </a:solidFill>
                </a:rPr>
                <a:t>n</a:t>
              </a:r>
              <a:r>
                <a:rPr kumimoji="0" lang="en-US" altLang="zh-CN" sz="2800" dirty="0" err="1">
                  <a:solidFill>
                    <a:schemeClr val="tx2"/>
                  </a:solidFill>
                </a:rPr>
                <a:t>+</a:t>
              </a:r>
              <a:r>
                <a:rPr kumimoji="0" lang="en-US" altLang="zh-CN" sz="2800" i="1" dirty="0" err="1">
                  <a:solidFill>
                    <a:schemeClr val="tx2"/>
                  </a:solidFill>
                </a:rPr>
                <a:t>K</a:t>
              </a:r>
              <a:r>
                <a:rPr kumimoji="0" lang="en-US" altLang="zh-CN" sz="2800" i="1" dirty="0" err="1">
                  <a:solidFill>
                    <a:schemeClr val="tx2"/>
                  </a:solidFill>
                </a:rPr>
                <a:t>Q</a:t>
              </a:r>
              <a:r>
                <a:rPr kumimoji="0" lang="en-US" altLang="zh-CN" sz="2800" i="1" baseline="50000" dirty="0" err="1">
                  <a:solidFill>
                    <a:schemeClr val="tx2"/>
                  </a:solidFill>
                </a:rPr>
                <a:t>n</a:t>
              </a:r>
              <a:r>
                <a:rPr kumimoji="0" lang="en-US" altLang="zh-CN" sz="2800" dirty="0">
                  <a:solidFill>
                    <a:srgbClr val="FF0000"/>
                  </a:solidFill>
                </a:rPr>
                <a:t>]·</a:t>
              </a:r>
              <a:r>
                <a:rPr kumimoji="0" lang="en-US" altLang="zh-CN" sz="2800" i="1" dirty="0">
                  <a:solidFill>
                    <a:srgbClr val="FF0000"/>
                  </a:solidFill>
                </a:rPr>
                <a:t>CP</a:t>
              </a:r>
              <a:endParaRPr kumimoji="0" lang="en-US" altLang="zh-CN" sz="2800" i="1" dirty="0">
                <a:solidFill>
                  <a:srgbClr val="FF0000"/>
                </a:solidFill>
              </a:endParaRPr>
            </a:p>
          </p:txBody>
        </p:sp>
        <p:sp>
          <p:nvSpPr>
            <p:cNvPr id="22548" name="Line 20"/>
            <p:cNvSpPr>
              <a:spLocks noChangeShapeType="1"/>
            </p:cNvSpPr>
            <p:nvPr/>
          </p:nvSpPr>
          <p:spPr bwMode="auto">
            <a:xfrm>
              <a:off x="4157" y="3468"/>
              <a:ext cx="144" cy="0"/>
            </a:xfrm>
            <a:prstGeom prst="line">
              <a:avLst/>
            </a:prstGeom>
            <a:noFill/>
            <a:ln w="28575">
              <a:solidFill>
                <a:schemeClr val="tx1"/>
              </a:solidFill>
              <a:round/>
            </a:ln>
            <a:effectLst/>
          </p:spPr>
          <p:txBody>
            <a:bodyPr/>
            <a:p>
              <a:endParaRPr lang="zh-CN" altLang="en-US"/>
            </a:p>
          </p:txBody>
        </p:sp>
      </p:grpSp>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2995" y="25219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主题四 </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触发器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413188" y="111614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4.6 </a:t>
            </a:r>
            <a:r>
              <a:rPr kumimoji="0" lang="zh-CN" altLang="en-US" dirty="0">
                <a:solidFill>
                  <a:srgbClr val="000000"/>
                </a:solidFill>
                <a:latin typeface="黑体" panose="02010609060101010101" pitchFamily="49" charset="-122"/>
                <a:ea typeface="黑体" panose="02010609060101010101" pitchFamily="49" charset="-122"/>
              </a:rPr>
              <a:t>钟控边沿</a:t>
            </a:r>
            <a:r>
              <a:rPr kumimoji="0" lang="en-US" altLang="zh-CN" dirty="0">
                <a:solidFill>
                  <a:srgbClr val="000000"/>
                </a:solidFill>
                <a:latin typeface="黑体" panose="02010609060101010101" pitchFamily="49" charset="-122"/>
                <a:ea typeface="黑体" panose="02010609060101010101" pitchFamily="49" charset="-122"/>
              </a:rPr>
              <a:t>T</a:t>
            </a:r>
            <a:r>
              <a:rPr kumimoji="0" lang="zh-CN" altLang="en-US" dirty="0">
                <a:solidFill>
                  <a:srgbClr val="000000"/>
                </a:solidFill>
                <a:latin typeface="黑体" panose="02010609060101010101" pitchFamily="49" charset="-122"/>
                <a:ea typeface="黑体" panose="02010609060101010101" pitchFamily="49" charset="-122"/>
              </a:rPr>
              <a:t>触发器 </a:t>
            </a:r>
            <a:endParaRPr kumimoji="0" lang="zh-CN" altLang="en-US" dirty="0">
              <a:solidFill>
                <a:srgbClr val="000000"/>
              </a:solidFill>
              <a:latin typeface="黑体" panose="02010609060101010101" pitchFamily="49" charset="-122"/>
              <a:ea typeface="黑体" panose="02010609060101010101" pitchFamily="49" charset="-122"/>
            </a:endParaRPr>
          </a:p>
        </p:txBody>
      </p:sp>
      <p:grpSp>
        <p:nvGrpSpPr>
          <p:cNvPr id="15370" name="Group 10"/>
          <p:cNvGrpSpPr/>
          <p:nvPr/>
        </p:nvGrpSpPr>
        <p:grpSpPr bwMode="auto">
          <a:xfrm>
            <a:off x="455930" y="1647190"/>
            <a:ext cx="3256267" cy="1957388"/>
            <a:chOff x="1603" y="1300"/>
            <a:chExt cx="1839" cy="933"/>
          </a:xfrm>
        </p:grpSpPr>
        <p:pic>
          <p:nvPicPr>
            <p:cNvPr id="22549" name="Picture 4"/>
            <p:cNvPicPr>
              <a:picLocks noChangeAspect="1" noChangeArrowheads="1"/>
            </p:cNvPicPr>
            <p:nvPr/>
          </p:nvPicPr>
          <p:blipFill>
            <a:blip r:embed="rId1" cstate="print"/>
            <a:srcRect l="39594" t="43936" r="54326" b="49715"/>
            <a:stretch>
              <a:fillRect/>
            </a:stretch>
          </p:blipFill>
          <p:spPr bwMode="auto">
            <a:xfrm>
              <a:off x="1827" y="1300"/>
              <a:ext cx="1411" cy="933"/>
            </a:xfrm>
            <a:prstGeom prst="rect">
              <a:avLst/>
            </a:prstGeom>
            <a:noFill/>
            <a:ln w="28575">
              <a:noFill/>
              <a:miter lim="800000"/>
              <a:headEnd/>
              <a:tailEnd/>
            </a:ln>
            <a:effectLst/>
          </p:spPr>
        </p:pic>
        <p:sp>
          <p:nvSpPr>
            <p:cNvPr id="22550" name="Text Box 5"/>
            <p:cNvSpPr txBox="1">
              <a:spLocks noChangeArrowheads="1"/>
            </p:cNvSpPr>
            <p:nvPr/>
          </p:nvSpPr>
          <p:spPr bwMode="auto">
            <a:xfrm>
              <a:off x="1620" y="1416"/>
              <a:ext cx="228" cy="189"/>
            </a:xfrm>
            <a:prstGeom prst="rect">
              <a:avLst/>
            </a:prstGeom>
            <a:noFill/>
            <a:ln w="9525">
              <a:noFill/>
              <a:miter lim="800000"/>
            </a:ln>
            <a:effectLst/>
          </p:spPr>
          <p:txBody>
            <a:bodyPr>
              <a:spAutoFit/>
            </a:bodyPr>
            <a:p>
              <a:r>
                <a:rPr kumimoji="0" lang="en-US" altLang="zh-CN" sz="2000" i="1">
                  <a:solidFill>
                    <a:srgbClr val="000000"/>
                  </a:solidFill>
                  <a:latin typeface="+mn-lt"/>
                  <a:ea typeface="黑体" panose="02010609060101010101" pitchFamily="49" charset="-122"/>
                </a:rPr>
                <a:t>T</a:t>
              </a:r>
              <a:endParaRPr kumimoji="0" lang="en-US" altLang="zh-CN" sz="2000" i="1">
                <a:solidFill>
                  <a:srgbClr val="000000"/>
                </a:solidFill>
                <a:latin typeface="+mn-lt"/>
                <a:ea typeface="黑体" panose="02010609060101010101" pitchFamily="49" charset="-122"/>
              </a:endParaRPr>
            </a:p>
          </p:txBody>
        </p:sp>
        <p:sp>
          <p:nvSpPr>
            <p:cNvPr id="22551" name="Text Box 6"/>
            <p:cNvSpPr txBox="1">
              <a:spLocks noChangeArrowheads="1"/>
            </p:cNvSpPr>
            <p:nvPr/>
          </p:nvSpPr>
          <p:spPr bwMode="auto">
            <a:xfrm>
              <a:off x="1603" y="1866"/>
              <a:ext cx="290" cy="189"/>
            </a:xfrm>
            <a:prstGeom prst="rect">
              <a:avLst/>
            </a:prstGeom>
            <a:noFill/>
            <a:ln w="9525">
              <a:noFill/>
              <a:miter lim="800000"/>
            </a:ln>
            <a:effectLst/>
          </p:spPr>
          <p:txBody>
            <a:bodyPr>
              <a:spAutoFit/>
            </a:bodyPr>
            <a:p>
              <a:r>
                <a:rPr kumimoji="0" lang="en-US" altLang="zh-CN" sz="2000" i="1" dirty="0">
                  <a:solidFill>
                    <a:srgbClr val="000000"/>
                  </a:solidFill>
                  <a:latin typeface="+mn-lt"/>
                  <a:ea typeface="黑体" panose="02010609060101010101" pitchFamily="49" charset="-122"/>
                </a:rPr>
                <a:t>CP</a:t>
              </a:r>
              <a:endParaRPr kumimoji="0" lang="en-US" altLang="zh-CN" sz="2000" i="1" dirty="0">
                <a:solidFill>
                  <a:srgbClr val="000000"/>
                </a:solidFill>
                <a:latin typeface="+mn-lt"/>
                <a:ea typeface="黑体" panose="02010609060101010101" pitchFamily="49" charset="-122"/>
              </a:endParaRPr>
            </a:p>
          </p:txBody>
        </p:sp>
        <p:sp>
          <p:nvSpPr>
            <p:cNvPr id="22552" name="Text Box 7"/>
            <p:cNvSpPr txBox="1">
              <a:spLocks noChangeArrowheads="1"/>
            </p:cNvSpPr>
            <p:nvPr/>
          </p:nvSpPr>
          <p:spPr bwMode="auto">
            <a:xfrm>
              <a:off x="3207" y="1428"/>
              <a:ext cx="228" cy="189"/>
            </a:xfrm>
            <a:prstGeom prst="rect">
              <a:avLst/>
            </a:prstGeom>
            <a:noFill/>
            <a:ln w="9525">
              <a:noFill/>
              <a:miter lim="800000"/>
            </a:ln>
            <a:effectLst/>
          </p:spPr>
          <p:txBody>
            <a:bodyPr>
              <a:spAutoFit/>
            </a:bodyPr>
            <a:p>
              <a:r>
                <a:rPr kumimoji="0" lang="en-US" altLang="zh-CN" sz="2000" i="1" dirty="0">
                  <a:solidFill>
                    <a:srgbClr val="000000"/>
                  </a:solidFill>
                  <a:latin typeface="+mn-lt"/>
                  <a:ea typeface="黑体" panose="02010609060101010101" pitchFamily="49" charset="-122"/>
                </a:rPr>
                <a:t>Q</a:t>
              </a:r>
              <a:endParaRPr kumimoji="0" lang="en-US" altLang="zh-CN" sz="2000" i="1" dirty="0">
                <a:solidFill>
                  <a:srgbClr val="000000"/>
                </a:solidFill>
                <a:latin typeface="+mn-lt"/>
                <a:ea typeface="黑体" panose="02010609060101010101" pitchFamily="49" charset="-122"/>
              </a:endParaRPr>
            </a:p>
          </p:txBody>
        </p:sp>
        <p:sp>
          <p:nvSpPr>
            <p:cNvPr id="22553" name="Text Box 8"/>
            <p:cNvSpPr txBox="1">
              <a:spLocks noChangeArrowheads="1"/>
            </p:cNvSpPr>
            <p:nvPr/>
          </p:nvSpPr>
          <p:spPr bwMode="auto">
            <a:xfrm>
              <a:off x="3214" y="1898"/>
              <a:ext cx="228" cy="189"/>
            </a:xfrm>
            <a:prstGeom prst="rect">
              <a:avLst/>
            </a:prstGeom>
            <a:noFill/>
            <a:ln w="9525">
              <a:noFill/>
              <a:miter lim="800000"/>
            </a:ln>
            <a:effectLst/>
          </p:spPr>
          <p:txBody>
            <a:bodyPr>
              <a:spAutoFit/>
            </a:bodyPr>
            <a:p>
              <a:r>
                <a:rPr kumimoji="0" lang="en-US" altLang="zh-CN" sz="2000" i="1" dirty="0">
                  <a:solidFill>
                    <a:srgbClr val="000000"/>
                  </a:solidFill>
                  <a:latin typeface="+mn-lt"/>
                  <a:ea typeface="黑体" panose="02010609060101010101" pitchFamily="49" charset="-122"/>
                </a:rPr>
                <a:t>Q</a:t>
              </a:r>
              <a:endParaRPr kumimoji="0" lang="en-US" altLang="zh-CN" sz="2000" i="1" dirty="0">
                <a:solidFill>
                  <a:srgbClr val="000000"/>
                </a:solidFill>
                <a:latin typeface="+mn-lt"/>
                <a:ea typeface="黑体" panose="02010609060101010101" pitchFamily="49" charset="-122"/>
              </a:endParaRPr>
            </a:p>
          </p:txBody>
        </p:sp>
        <p:sp>
          <p:nvSpPr>
            <p:cNvPr id="22554" name="Line 9"/>
            <p:cNvSpPr>
              <a:spLocks noChangeShapeType="1"/>
            </p:cNvSpPr>
            <p:nvPr/>
          </p:nvSpPr>
          <p:spPr bwMode="auto">
            <a:xfrm>
              <a:off x="3273" y="1924"/>
              <a:ext cx="113" cy="0"/>
            </a:xfrm>
            <a:prstGeom prst="line">
              <a:avLst/>
            </a:prstGeom>
            <a:noFill/>
            <a:ln w="28575">
              <a:solidFill>
                <a:schemeClr val="tx1"/>
              </a:solidFill>
              <a:round/>
            </a:ln>
            <a:effectLst/>
          </p:spPr>
          <p:txBody>
            <a:bodyPr/>
            <a:p>
              <a:endParaRPr lang="zh-CN" altLang="en-US"/>
            </a:p>
          </p:txBody>
        </p:sp>
      </p:grpSp>
      <p:grpSp>
        <p:nvGrpSpPr>
          <p:cNvPr id="15413" name="组合 15412"/>
          <p:cNvGrpSpPr/>
          <p:nvPr/>
        </p:nvGrpSpPr>
        <p:grpSpPr>
          <a:xfrm>
            <a:off x="3990658" y="1912620"/>
            <a:ext cx="3722836" cy="1412875"/>
            <a:chOff x="4494213" y="4000500"/>
            <a:chExt cx="3722836" cy="1412875"/>
          </a:xfrm>
        </p:grpSpPr>
        <p:sp>
          <p:nvSpPr>
            <p:cNvPr id="15391" name="Rectangle 138"/>
            <p:cNvSpPr>
              <a:spLocks noChangeArrowheads="1"/>
            </p:cNvSpPr>
            <p:nvPr/>
          </p:nvSpPr>
          <p:spPr bwMode="auto">
            <a:xfrm>
              <a:off x="6162675" y="4000500"/>
              <a:ext cx="1130300" cy="1412875"/>
            </a:xfrm>
            <a:prstGeom prst="rect">
              <a:avLst/>
            </a:prstGeom>
            <a:noFill/>
            <a:ln w="28575">
              <a:solidFill>
                <a:srgbClr val="8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5392" name="Line 139"/>
            <p:cNvSpPr>
              <a:spLocks noChangeShapeType="1"/>
            </p:cNvSpPr>
            <p:nvPr/>
          </p:nvSpPr>
          <p:spPr bwMode="auto">
            <a:xfrm flipH="1">
              <a:off x="5597525" y="4283075"/>
              <a:ext cx="565150" cy="0"/>
            </a:xfrm>
            <a:prstGeom prst="line">
              <a:avLst/>
            </a:prstGeom>
            <a:noFill/>
            <a:ln w="28575">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5393" name="Rectangle 140"/>
            <p:cNvSpPr>
              <a:spLocks noChangeArrowheads="1"/>
            </p:cNvSpPr>
            <p:nvPr/>
          </p:nvSpPr>
          <p:spPr bwMode="auto">
            <a:xfrm>
              <a:off x="6275388" y="4141788"/>
              <a:ext cx="2825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Times New Roman" panose="02020603050405020304" pitchFamily="18" charset="0"/>
                </a:rPr>
                <a:t>1J</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5394" name="Line 141"/>
            <p:cNvSpPr>
              <a:spLocks noChangeShapeType="1"/>
            </p:cNvSpPr>
            <p:nvPr/>
          </p:nvSpPr>
          <p:spPr bwMode="auto">
            <a:xfrm>
              <a:off x="6175375" y="4625975"/>
              <a:ext cx="84137" cy="84138"/>
            </a:xfrm>
            <a:prstGeom prst="line">
              <a:avLst/>
            </a:prstGeom>
            <a:noFill/>
            <a:ln w="28575">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5395" name="Line 142"/>
            <p:cNvSpPr>
              <a:spLocks noChangeShapeType="1"/>
            </p:cNvSpPr>
            <p:nvPr/>
          </p:nvSpPr>
          <p:spPr bwMode="auto">
            <a:xfrm flipH="1">
              <a:off x="6175375" y="4700588"/>
              <a:ext cx="84137" cy="85725"/>
            </a:xfrm>
            <a:prstGeom prst="line">
              <a:avLst/>
            </a:prstGeom>
            <a:noFill/>
            <a:ln w="28575">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5396" name="Oval 143"/>
            <p:cNvSpPr>
              <a:spLocks noChangeArrowheads="1"/>
            </p:cNvSpPr>
            <p:nvPr/>
          </p:nvSpPr>
          <p:spPr bwMode="auto">
            <a:xfrm>
              <a:off x="5968774" y="4622800"/>
              <a:ext cx="169862" cy="169863"/>
            </a:xfrm>
            <a:prstGeom prst="ellipse">
              <a:avLst/>
            </a:prstGeom>
            <a:noFill/>
            <a:ln w="285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5397" name="Line 144"/>
            <p:cNvSpPr>
              <a:spLocks noChangeShapeType="1"/>
            </p:cNvSpPr>
            <p:nvPr/>
          </p:nvSpPr>
          <p:spPr bwMode="auto">
            <a:xfrm flipH="1">
              <a:off x="5597524" y="4706938"/>
              <a:ext cx="360000" cy="0"/>
            </a:xfrm>
            <a:prstGeom prst="line">
              <a:avLst/>
            </a:prstGeom>
            <a:noFill/>
            <a:ln w="28575">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5398" name="Rectangle 145"/>
            <p:cNvSpPr>
              <a:spLocks noChangeArrowheads="1"/>
            </p:cNvSpPr>
            <p:nvPr/>
          </p:nvSpPr>
          <p:spPr bwMode="auto">
            <a:xfrm>
              <a:off x="6313488" y="4540250"/>
              <a:ext cx="3397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dirty="0">
                  <a:ln>
                    <a:noFill/>
                  </a:ln>
                  <a:solidFill>
                    <a:srgbClr val="000000"/>
                  </a:solidFill>
                  <a:effectLst/>
                  <a:latin typeface="Times New Roman" panose="02020603050405020304" pitchFamily="18" charset="0"/>
                </a:rPr>
                <a:t>C1</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5399" name="Line 146"/>
            <p:cNvSpPr>
              <a:spLocks noChangeShapeType="1"/>
            </p:cNvSpPr>
            <p:nvPr/>
          </p:nvSpPr>
          <p:spPr bwMode="auto">
            <a:xfrm>
              <a:off x="7292975" y="4283075"/>
              <a:ext cx="565150" cy="0"/>
            </a:xfrm>
            <a:prstGeom prst="line">
              <a:avLst/>
            </a:prstGeom>
            <a:noFill/>
            <a:ln w="28575">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5400" name="Oval 147"/>
            <p:cNvSpPr>
              <a:spLocks noChangeArrowheads="1"/>
            </p:cNvSpPr>
            <p:nvPr/>
          </p:nvSpPr>
          <p:spPr bwMode="auto">
            <a:xfrm>
              <a:off x="7292975" y="5046663"/>
              <a:ext cx="169862" cy="169863"/>
            </a:xfrm>
            <a:prstGeom prst="ellipse">
              <a:avLst/>
            </a:prstGeom>
            <a:noFill/>
            <a:ln w="0">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5401" name="Line 148"/>
            <p:cNvSpPr>
              <a:spLocks noChangeShapeType="1"/>
            </p:cNvSpPr>
            <p:nvPr/>
          </p:nvSpPr>
          <p:spPr bwMode="auto">
            <a:xfrm>
              <a:off x="7462838" y="5130800"/>
              <a:ext cx="395287" cy="0"/>
            </a:xfrm>
            <a:prstGeom prst="line">
              <a:avLst/>
            </a:prstGeom>
            <a:noFill/>
            <a:ln w="28575">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5402" name="Line 149"/>
            <p:cNvSpPr>
              <a:spLocks noChangeShapeType="1"/>
            </p:cNvSpPr>
            <p:nvPr/>
          </p:nvSpPr>
          <p:spPr bwMode="auto">
            <a:xfrm flipH="1">
              <a:off x="5597525" y="5130800"/>
              <a:ext cx="565150" cy="0"/>
            </a:xfrm>
            <a:prstGeom prst="line">
              <a:avLst/>
            </a:prstGeom>
            <a:noFill/>
            <a:ln w="28575">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5403" name="Rectangle 150"/>
            <p:cNvSpPr>
              <a:spLocks noChangeArrowheads="1"/>
            </p:cNvSpPr>
            <p:nvPr/>
          </p:nvSpPr>
          <p:spPr bwMode="auto">
            <a:xfrm>
              <a:off x="6275388" y="4989513"/>
              <a:ext cx="3667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0" u="none" strike="noStrike" cap="none" normalizeH="0" baseline="0">
                  <a:ln>
                    <a:noFill/>
                  </a:ln>
                  <a:solidFill>
                    <a:srgbClr val="000000"/>
                  </a:solidFill>
                  <a:effectLst/>
                  <a:latin typeface="Times New Roman" panose="02020603050405020304" pitchFamily="18" charset="0"/>
                </a:rPr>
                <a:t>1K</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5404" name="Rectangle 151"/>
            <p:cNvSpPr>
              <a:spLocks noChangeArrowheads="1"/>
            </p:cNvSpPr>
            <p:nvPr/>
          </p:nvSpPr>
          <p:spPr bwMode="auto">
            <a:xfrm>
              <a:off x="4551363" y="4141788"/>
              <a:ext cx="19236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700" b="0" i="1" u="none" strike="noStrike" cap="none" normalizeH="0" baseline="0" dirty="0">
                  <a:ln>
                    <a:noFill/>
                  </a:ln>
                  <a:solidFill>
                    <a:srgbClr val="000000"/>
                  </a:solidFill>
                  <a:effectLst/>
                  <a:latin typeface="Times New Roman" panose="02020603050405020304" pitchFamily="18" charset="0"/>
                </a:rPr>
                <a:t>T</a:t>
              </a:r>
              <a:endParaRPr kumimoji="0" lang="zh-CN" altLang="zh-CN" sz="1800" b="0" i="1" u="none" strike="noStrike" cap="none" normalizeH="0" baseline="0" dirty="0">
                <a:ln>
                  <a:noFill/>
                </a:ln>
                <a:solidFill>
                  <a:schemeClr val="tx1"/>
                </a:solidFill>
                <a:effectLst/>
              </a:endParaRPr>
            </a:p>
          </p:txBody>
        </p:sp>
        <p:sp>
          <p:nvSpPr>
            <p:cNvPr id="15405" name="Rectangle 152"/>
            <p:cNvSpPr>
              <a:spLocks noChangeArrowheads="1"/>
            </p:cNvSpPr>
            <p:nvPr/>
          </p:nvSpPr>
          <p:spPr bwMode="auto">
            <a:xfrm>
              <a:off x="4494213" y="4537075"/>
              <a:ext cx="44242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700" b="0" i="1" u="none" strike="noStrike" cap="none" normalizeH="0" baseline="0" dirty="0">
                  <a:ln>
                    <a:noFill/>
                  </a:ln>
                  <a:solidFill>
                    <a:srgbClr val="000000"/>
                  </a:solidFill>
                  <a:effectLst/>
                  <a:latin typeface="Times New Roman" panose="02020603050405020304" pitchFamily="18" charset="0"/>
                </a:rPr>
                <a:t>CP</a:t>
              </a:r>
              <a:endParaRPr kumimoji="0" lang="zh-CN" altLang="zh-CN" sz="1800" b="0" i="1" u="none" strike="noStrike" cap="none" normalizeH="0" baseline="0" dirty="0">
                <a:ln>
                  <a:noFill/>
                </a:ln>
                <a:solidFill>
                  <a:schemeClr val="tx1"/>
                </a:solidFill>
                <a:effectLst/>
              </a:endParaRPr>
            </a:p>
          </p:txBody>
        </p:sp>
        <p:sp>
          <p:nvSpPr>
            <p:cNvPr id="15406" name="Rectangle 153"/>
            <p:cNvSpPr>
              <a:spLocks noChangeArrowheads="1"/>
            </p:cNvSpPr>
            <p:nvPr/>
          </p:nvSpPr>
          <p:spPr bwMode="auto">
            <a:xfrm>
              <a:off x="7966981" y="4931457"/>
              <a:ext cx="250068"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700" b="0" i="1" u="none" strike="noStrike" cap="none" normalizeH="0" baseline="0" dirty="0">
                  <a:ln>
                    <a:noFill/>
                  </a:ln>
                  <a:solidFill>
                    <a:srgbClr val="000000"/>
                  </a:solidFill>
                  <a:effectLst/>
                  <a:latin typeface="Times New Roman" panose="02020603050405020304" pitchFamily="18" charset="0"/>
                </a:rPr>
                <a:t>Q</a:t>
              </a:r>
              <a:endParaRPr kumimoji="0" lang="zh-CN" altLang="zh-CN" sz="1800" b="0" i="1" u="none" strike="noStrike" cap="none" normalizeH="0" baseline="0" dirty="0">
                <a:ln>
                  <a:noFill/>
                </a:ln>
                <a:solidFill>
                  <a:schemeClr val="tx1"/>
                </a:solidFill>
                <a:effectLst/>
              </a:endParaRPr>
            </a:p>
          </p:txBody>
        </p:sp>
        <p:sp>
          <p:nvSpPr>
            <p:cNvPr id="15407" name="Rectangle 154"/>
            <p:cNvSpPr>
              <a:spLocks noChangeArrowheads="1"/>
            </p:cNvSpPr>
            <p:nvPr/>
          </p:nvSpPr>
          <p:spPr bwMode="auto">
            <a:xfrm>
              <a:off x="7937954" y="4054704"/>
              <a:ext cx="250068"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700" b="0" i="1" u="none" strike="noStrike" cap="none" normalizeH="0" baseline="0" dirty="0">
                  <a:ln>
                    <a:noFill/>
                  </a:ln>
                  <a:solidFill>
                    <a:srgbClr val="000000"/>
                  </a:solidFill>
                  <a:effectLst/>
                  <a:latin typeface="Times New Roman" panose="02020603050405020304" pitchFamily="18" charset="0"/>
                </a:rPr>
                <a:t>Q</a:t>
              </a:r>
              <a:endParaRPr kumimoji="0" lang="zh-CN" altLang="zh-CN" sz="1800" b="0" i="1" u="none" strike="noStrike" cap="none" normalizeH="0" baseline="0" dirty="0">
                <a:ln>
                  <a:noFill/>
                </a:ln>
                <a:solidFill>
                  <a:schemeClr val="tx1"/>
                </a:solidFill>
                <a:effectLst/>
              </a:endParaRPr>
            </a:p>
          </p:txBody>
        </p:sp>
        <p:sp>
          <p:nvSpPr>
            <p:cNvPr id="15408" name="Line 155"/>
            <p:cNvSpPr>
              <a:spLocks noChangeShapeType="1"/>
            </p:cNvSpPr>
            <p:nvPr/>
          </p:nvSpPr>
          <p:spPr bwMode="auto">
            <a:xfrm>
              <a:off x="8039102" y="4948011"/>
              <a:ext cx="169862" cy="0"/>
            </a:xfrm>
            <a:prstGeom prst="line">
              <a:avLst/>
            </a:prstGeom>
            <a:noFill/>
            <a:ln w="28575">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5409" name="Line 156"/>
            <p:cNvSpPr>
              <a:spLocks noChangeShapeType="1"/>
            </p:cNvSpPr>
            <p:nvPr/>
          </p:nvSpPr>
          <p:spPr bwMode="auto">
            <a:xfrm flipH="1">
              <a:off x="5060950" y="4283075"/>
              <a:ext cx="536575" cy="0"/>
            </a:xfrm>
            <a:prstGeom prst="line">
              <a:avLst/>
            </a:prstGeom>
            <a:noFill/>
            <a:ln w="28575">
              <a:solidFill>
                <a:srgbClr val="00008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5410" name="Freeform 157"/>
            <p:cNvSpPr/>
            <p:nvPr/>
          </p:nvSpPr>
          <p:spPr bwMode="auto">
            <a:xfrm>
              <a:off x="5456238" y="4283075"/>
              <a:ext cx="141287" cy="847725"/>
            </a:xfrm>
            <a:custGeom>
              <a:avLst/>
              <a:gdLst>
                <a:gd name="T0" fmla="*/ 0 w 89"/>
                <a:gd name="T1" fmla="*/ 0 h 534"/>
                <a:gd name="T2" fmla="*/ 0 w 89"/>
                <a:gd name="T3" fmla="*/ 534 h 534"/>
                <a:gd name="T4" fmla="*/ 89 w 89"/>
                <a:gd name="T5" fmla="*/ 534 h 534"/>
              </a:gdLst>
              <a:ahLst/>
              <a:cxnLst>
                <a:cxn ang="0">
                  <a:pos x="T0" y="T1"/>
                </a:cxn>
                <a:cxn ang="0">
                  <a:pos x="T2" y="T3"/>
                </a:cxn>
                <a:cxn ang="0">
                  <a:pos x="T4" y="T5"/>
                </a:cxn>
              </a:cxnLst>
              <a:rect l="0" t="0" r="r" b="b"/>
              <a:pathLst>
                <a:path w="89" h="534">
                  <a:moveTo>
                    <a:pt x="0" y="0"/>
                  </a:moveTo>
                  <a:lnTo>
                    <a:pt x="0" y="534"/>
                  </a:lnTo>
                  <a:lnTo>
                    <a:pt x="89" y="534"/>
                  </a:lnTo>
                </a:path>
              </a:pathLst>
            </a:custGeom>
            <a:noFill/>
            <a:ln w="28575">
              <a:solidFill>
                <a:srgbClr val="00008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5411" name="Line 158"/>
            <p:cNvSpPr>
              <a:spLocks noChangeShapeType="1"/>
            </p:cNvSpPr>
            <p:nvPr/>
          </p:nvSpPr>
          <p:spPr bwMode="auto">
            <a:xfrm flipH="1">
              <a:off x="5032375" y="4706938"/>
              <a:ext cx="565150" cy="0"/>
            </a:xfrm>
            <a:prstGeom prst="line">
              <a:avLst/>
            </a:prstGeom>
            <a:noFill/>
            <a:ln w="28575">
              <a:solidFill>
                <a:srgbClr val="00008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15412" name="Oval 159"/>
            <p:cNvSpPr>
              <a:spLocks noChangeArrowheads="1"/>
            </p:cNvSpPr>
            <p:nvPr/>
          </p:nvSpPr>
          <p:spPr bwMode="auto">
            <a:xfrm>
              <a:off x="5399088" y="4227513"/>
              <a:ext cx="112712" cy="112713"/>
            </a:xfrm>
            <a:prstGeom prst="ellipse">
              <a:avLst/>
            </a:prstGeom>
            <a:solidFill>
              <a:srgbClr val="800000"/>
            </a:solidFill>
            <a:ln w="0">
              <a:solidFill>
                <a:srgbClr val="800000"/>
              </a:solidFill>
              <a:prstDash val="solid"/>
              <a:round/>
            </a:ln>
          </p:spPr>
          <p:txBody>
            <a:bodyPr vert="horz" wrap="square" lIns="91440" tIns="45720" rIns="91440" bIns="45720" numCol="1" anchor="t" anchorCtr="0" compatLnSpc="1"/>
            <a:lstStyle/>
            <a:p>
              <a:endParaRPr lang="zh-CN" altLang="en-US"/>
            </a:p>
          </p:txBody>
        </p:sp>
      </p:grpSp>
      <p:grpSp>
        <p:nvGrpSpPr>
          <p:cNvPr id="15388" name="Group 28"/>
          <p:cNvGrpSpPr/>
          <p:nvPr/>
        </p:nvGrpSpPr>
        <p:grpSpPr bwMode="auto">
          <a:xfrm>
            <a:off x="2677161" y="3557588"/>
            <a:ext cx="3748087" cy="519112"/>
            <a:chOff x="2992" y="3438"/>
            <a:chExt cx="2361" cy="327"/>
          </a:xfrm>
        </p:grpSpPr>
        <p:sp>
          <p:nvSpPr>
            <p:cNvPr id="22545" name="Line 17"/>
            <p:cNvSpPr>
              <a:spLocks noChangeShapeType="1"/>
            </p:cNvSpPr>
            <p:nvPr/>
          </p:nvSpPr>
          <p:spPr bwMode="auto">
            <a:xfrm>
              <a:off x="3806" y="3468"/>
              <a:ext cx="144" cy="0"/>
            </a:xfrm>
            <a:prstGeom prst="line">
              <a:avLst/>
            </a:prstGeom>
            <a:noFill/>
            <a:ln w="28575">
              <a:solidFill>
                <a:schemeClr val="tx1"/>
              </a:solidFill>
              <a:round/>
            </a:ln>
            <a:effectLst/>
          </p:spPr>
          <p:txBody>
            <a:bodyPr/>
            <a:p>
              <a:endParaRPr lang="zh-CN" altLang="en-US"/>
            </a:p>
          </p:txBody>
        </p:sp>
        <p:sp>
          <p:nvSpPr>
            <p:cNvPr id="22546" name="Line 18"/>
            <p:cNvSpPr>
              <a:spLocks noChangeShapeType="1"/>
            </p:cNvSpPr>
            <p:nvPr/>
          </p:nvSpPr>
          <p:spPr bwMode="auto">
            <a:xfrm>
              <a:off x="4966" y="3507"/>
              <a:ext cx="0" cy="240"/>
            </a:xfrm>
            <a:prstGeom prst="line">
              <a:avLst/>
            </a:prstGeom>
            <a:noFill/>
            <a:ln w="28575">
              <a:solidFill>
                <a:srgbClr val="FF0000"/>
              </a:solidFill>
              <a:round/>
              <a:tailEnd type="triangle" w="sm" len="lg"/>
            </a:ln>
            <a:effectLst/>
          </p:spPr>
          <p:txBody>
            <a:bodyPr/>
            <a:p>
              <a:endParaRPr lang="zh-CN" altLang="en-US"/>
            </a:p>
          </p:txBody>
        </p:sp>
        <p:sp>
          <p:nvSpPr>
            <p:cNvPr id="22547" name="Text Box 19"/>
            <p:cNvSpPr txBox="1">
              <a:spLocks noChangeArrowheads="1"/>
            </p:cNvSpPr>
            <p:nvPr/>
          </p:nvSpPr>
          <p:spPr bwMode="auto">
            <a:xfrm>
              <a:off x="2992" y="3438"/>
              <a:ext cx="2361" cy="327"/>
            </a:xfrm>
            <a:prstGeom prst="rect">
              <a:avLst/>
            </a:prstGeom>
            <a:noFill/>
            <a:ln w="9525">
              <a:noFill/>
              <a:miter lim="800000"/>
            </a:ln>
            <a:effectLst/>
          </p:spPr>
          <p:txBody>
            <a:bodyPr>
              <a:spAutoFit/>
            </a:bodyPr>
            <a:p>
              <a:r>
                <a:rPr kumimoji="0" lang="en-US" altLang="zh-CN" sz="2800" i="1" dirty="0">
                  <a:solidFill>
                    <a:schemeClr val="tx2"/>
                  </a:solidFill>
                </a:rPr>
                <a:t>Q</a:t>
              </a:r>
              <a:r>
                <a:rPr kumimoji="0" lang="en-US" altLang="zh-CN" sz="2800" i="1" baseline="50000" dirty="0">
                  <a:solidFill>
                    <a:schemeClr val="tx2"/>
                  </a:solidFill>
                </a:rPr>
                <a:t>n</a:t>
              </a:r>
              <a:r>
                <a:rPr kumimoji="0" lang="en-US" altLang="zh-CN" sz="2800" baseline="50000" dirty="0">
                  <a:solidFill>
                    <a:schemeClr val="tx2"/>
                  </a:solidFill>
                </a:rPr>
                <a:t>+1</a:t>
              </a:r>
              <a:r>
                <a:rPr kumimoji="0" lang="en-US" altLang="zh-CN" sz="2800" dirty="0">
                  <a:solidFill>
                    <a:schemeClr val="tx2"/>
                  </a:solidFill>
                </a:rPr>
                <a:t>=</a:t>
              </a:r>
              <a:r>
                <a:rPr kumimoji="0" lang="en-US" altLang="zh-CN" sz="2800" dirty="0">
                  <a:solidFill>
                    <a:srgbClr val="FF0000"/>
                  </a:solidFill>
                </a:rPr>
                <a:t>[</a:t>
              </a:r>
              <a:r>
                <a:rPr kumimoji="0" lang="en-US" altLang="zh-CN" sz="2800" i="1" dirty="0" err="1">
                  <a:solidFill>
                    <a:schemeClr val="tx2"/>
                  </a:solidFill>
                </a:rPr>
                <a:t>TQ</a:t>
              </a:r>
              <a:r>
                <a:rPr kumimoji="0" lang="en-US" altLang="zh-CN" sz="2800" i="1" baseline="50000" dirty="0" err="1">
                  <a:solidFill>
                    <a:schemeClr val="tx2"/>
                  </a:solidFill>
                </a:rPr>
                <a:t>n</a:t>
              </a:r>
              <a:r>
                <a:rPr kumimoji="0" lang="en-US" altLang="zh-CN" sz="2800" dirty="0" err="1">
                  <a:solidFill>
                    <a:schemeClr val="tx2"/>
                  </a:solidFill>
                </a:rPr>
                <a:t>+</a:t>
              </a:r>
              <a:r>
                <a:rPr kumimoji="0" lang="en-US" altLang="zh-CN" sz="2800" i="1" dirty="0" err="1">
                  <a:solidFill>
                    <a:schemeClr val="tx2"/>
                  </a:solidFill>
                </a:rPr>
                <a:t>TQ</a:t>
              </a:r>
              <a:r>
                <a:rPr kumimoji="0" lang="en-US" altLang="zh-CN" sz="2800" i="1" baseline="50000" dirty="0" err="1">
                  <a:solidFill>
                    <a:schemeClr val="tx2"/>
                  </a:solidFill>
                </a:rPr>
                <a:t>n</a:t>
              </a:r>
              <a:r>
                <a:rPr kumimoji="0" lang="en-US" altLang="zh-CN" sz="2800" dirty="0">
                  <a:solidFill>
                    <a:srgbClr val="FF0000"/>
                  </a:solidFill>
                </a:rPr>
                <a:t>]·</a:t>
              </a:r>
              <a:r>
                <a:rPr kumimoji="0" lang="en-US" altLang="zh-CN" sz="2800" i="1" dirty="0">
                  <a:solidFill>
                    <a:srgbClr val="FF0000"/>
                  </a:solidFill>
                </a:rPr>
                <a:t>CP</a:t>
              </a:r>
              <a:endParaRPr kumimoji="0" lang="en-US" altLang="zh-CN" sz="2800" i="1" dirty="0">
                <a:solidFill>
                  <a:srgbClr val="FF0000"/>
                </a:solidFill>
              </a:endParaRPr>
            </a:p>
          </p:txBody>
        </p:sp>
        <p:sp>
          <p:nvSpPr>
            <p:cNvPr id="22548" name="Line 20"/>
            <p:cNvSpPr>
              <a:spLocks noChangeShapeType="1"/>
            </p:cNvSpPr>
            <p:nvPr/>
          </p:nvSpPr>
          <p:spPr bwMode="auto">
            <a:xfrm>
              <a:off x="4157" y="3468"/>
              <a:ext cx="144" cy="0"/>
            </a:xfrm>
            <a:prstGeom prst="line">
              <a:avLst/>
            </a:prstGeom>
            <a:noFill/>
            <a:ln w="28575">
              <a:solidFill>
                <a:schemeClr val="tx1"/>
              </a:solidFill>
              <a:round/>
            </a:ln>
            <a:effectLst/>
          </p:spPr>
          <p:txBody>
            <a:bodyPr/>
            <a:p>
              <a:endParaRPr lang="zh-CN" altLang="en-US"/>
            </a:p>
          </p:txBody>
        </p:sp>
      </p:grpSp>
      <p:grpSp>
        <p:nvGrpSpPr>
          <p:cNvPr id="51319" name="组合 51318"/>
          <p:cNvGrpSpPr/>
          <p:nvPr/>
        </p:nvGrpSpPr>
        <p:grpSpPr>
          <a:xfrm>
            <a:off x="172085" y="4333240"/>
            <a:ext cx="4266130" cy="1417638"/>
            <a:chOff x="4368800" y="3695700"/>
            <a:chExt cx="4266130" cy="1417638"/>
          </a:xfrm>
        </p:grpSpPr>
        <p:sp>
          <p:nvSpPr>
            <p:cNvPr id="51296" name="Rectangle 210"/>
            <p:cNvSpPr>
              <a:spLocks noChangeArrowheads="1"/>
            </p:cNvSpPr>
            <p:nvPr/>
          </p:nvSpPr>
          <p:spPr bwMode="auto">
            <a:xfrm>
              <a:off x="6577013" y="3951288"/>
              <a:ext cx="930275" cy="1162050"/>
            </a:xfrm>
            <a:prstGeom prst="rect">
              <a:avLst/>
            </a:prstGeom>
            <a:noFill/>
            <a:ln w="23813">
              <a:solidFill>
                <a:srgbClr val="8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1298" name="Rectangle 212"/>
            <p:cNvSpPr>
              <a:spLocks noChangeArrowheads="1"/>
            </p:cNvSpPr>
            <p:nvPr/>
          </p:nvSpPr>
          <p:spPr bwMode="auto">
            <a:xfrm>
              <a:off x="6670675" y="4068763"/>
              <a:ext cx="30162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a:ln>
                    <a:noFill/>
                  </a:ln>
                  <a:solidFill>
                    <a:srgbClr val="000000"/>
                  </a:solidFill>
                  <a:effectLst/>
                  <a:latin typeface="Times New Roman" panose="02020603050405020304" pitchFamily="18" charset="0"/>
                </a:rPr>
                <a:t>1D</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1299" name="Line 213"/>
            <p:cNvSpPr>
              <a:spLocks noChangeShapeType="1"/>
            </p:cNvSpPr>
            <p:nvPr/>
          </p:nvSpPr>
          <p:spPr bwMode="auto">
            <a:xfrm>
              <a:off x="6577013" y="4810125"/>
              <a:ext cx="69850" cy="69850"/>
            </a:xfrm>
            <a:prstGeom prst="line">
              <a:avLst/>
            </a:prstGeom>
            <a:noFill/>
            <a:ln w="0">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1300" name="Line 214"/>
            <p:cNvSpPr>
              <a:spLocks noChangeShapeType="1"/>
            </p:cNvSpPr>
            <p:nvPr/>
          </p:nvSpPr>
          <p:spPr bwMode="auto">
            <a:xfrm flipH="1">
              <a:off x="6577013" y="4879975"/>
              <a:ext cx="69850" cy="69850"/>
            </a:xfrm>
            <a:prstGeom prst="line">
              <a:avLst/>
            </a:prstGeom>
            <a:noFill/>
            <a:ln w="0">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1301" name="Line 215"/>
            <p:cNvSpPr>
              <a:spLocks noChangeShapeType="1"/>
            </p:cNvSpPr>
            <p:nvPr/>
          </p:nvSpPr>
          <p:spPr bwMode="auto">
            <a:xfrm flipH="1">
              <a:off x="6111875" y="4879975"/>
              <a:ext cx="465138" cy="0"/>
            </a:xfrm>
            <a:prstGeom prst="line">
              <a:avLst/>
            </a:prstGeom>
            <a:noFill/>
            <a:ln w="23813">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1302" name="Rectangle 216"/>
            <p:cNvSpPr>
              <a:spLocks noChangeArrowheads="1"/>
            </p:cNvSpPr>
            <p:nvPr/>
          </p:nvSpPr>
          <p:spPr bwMode="auto">
            <a:xfrm>
              <a:off x="6670675" y="4765675"/>
              <a:ext cx="2794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800" b="0" i="0" u="none" strike="noStrike" cap="none" normalizeH="0" baseline="0">
                  <a:ln>
                    <a:noFill/>
                  </a:ln>
                  <a:solidFill>
                    <a:srgbClr val="000000"/>
                  </a:solidFill>
                  <a:effectLst/>
                  <a:latin typeface="Times New Roman" panose="02020603050405020304" pitchFamily="18" charset="0"/>
                </a:rPr>
                <a:t>C1</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1303" name="Line 217"/>
            <p:cNvSpPr>
              <a:spLocks noChangeShapeType="1"/>
            </p:cNvSpPr>
            <p:nvPr/>
          </p:nvSpPr>
          <p:spPr bwMode="auto">
            <a:xfrm>
              <a:off x="7507288" y="4183063"/>
              <a:ext cx="465138" cy="0"/>
            </a:xfrm>
            <a:prstGeom prst="line">
              <a:avLst/>
            </a:prstGeom>
            <a:noFill/>
            <a:ln w="23813">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1304" name="Oval 218"/>
            <p:cNvSpPr>
              <a:spLocks noChangeArrowheads="1"/>
            </p:cNvSpPr>
            <p:nvPr/>
          </p:nvSpPr>
          <p:spPr bwMode="auto">
            <a:xfrm>
              <a:off x="7507288" y="4810125"/>
              <a:ext cx="139700" cy="139700"/>
            </a:xfrm>
            <a:prstGeom prst="ellipse">
              <a:avLst/>
            </a:prstGeom>
            <a:noFill/>
            <a:ln w="0">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1305" name="Line 219"/>
            <p:cNvSpPr>
              <a:spLocks noChangeShapeType="1"/>
            </p:cNvSpPr>
            <p:nvPr/>
          </p:nvSpPr>
          <p:spPr bwMode="auto">
            <a:xfrm>
              <a:off x="7646988" y="4879975"/>
              <a:ext cx="325438" cy="0"/>
            </a:xfrm>
            <a:prstGeom prst="line">
              <a:avLst/>
            </a:prstGeom>
            <a:noFill/>
            <a:ln w="23813">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1306" name="Rectangle 220"/>
            <p:cNvSpPr>
              <a:spLocks noChangeArrowheads="1"/>
            </p:cNvSpPr>
            <p:nvPr/>
          </p:nvSpPr>
          <p:spPr bwMode="auto">
            <a:xfrm>
              <a:off x="4368800" y="4160838"/>
              <a:ext cx="1570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1" u="none" strike="noStrike" cap="none" normalizeH="0" baseline="0" dirty="0">
                  <a:ln>
                    <a:noFill/>
                  </a:ln>
                  <a:solidFill>
                    <a:srgbClr val="000000"/>
                  </a:solidFill>
                  <a:effectLst/>
                  <a:latin typeface="Times New Roman" panose="02020603050405020304" pitchFamily="18" charset="0"/>
                </a:rPr>
                <a:t>T</a:t>
              </a:r>
              <a:endParaRPr kumimoji="0" lang="zh-CN" altLang="zh-CN" sz="1800" b="0" i="1" u="none" strike="noStrike" cap="none" normalizeH="0" baseline="0" dirty="0">
                <a:ln>
                  <a:noFill/>
                </a:ln>
                <a:solidFill>
                  <a:schemeClr val="tx1"/>
                </a:solidFill>
                <a:effectLst/>
                <a:latin typeface="Arial" panose="020B0604020202020204" pitchFamily="34" charset="0"/>
              </a:endParaRPr>
            </a:p>
          </p:txBody>
        </p:sp>
        <p:sp>
          <p:nvSpPr>
            <p:cNvPr id="51307" name="Rectangle 221"/>
            <p:cNvSpPr>
              <a:spLocks noChangeArrowheads="1"/>
            </p:cNvSpPr>
            <p:nvPr/>
          </p:nvSpPr>
          <p:spPr bwMode="auto">
            <a:xfrm>
              <a:off x="5576888" y="4765675"/>
              <a:ext cx="36067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1" u="none" strike="noStrike" cap="none" normalizeH="0" baseline="0" dirty="0">
                  <a:ln>
                    <a:noFill/>
                  </a:ln>
                  <a:solidFill>
                    <a:srgbClr val="000000"/>
                  </a:solidFill>
                  <a:effectLst/>
                  <a:latin typeface="Times New Roman" panose="02020603050405020304" pitchFamily="18" charset="0"/>
                </a:rPr>
                <a:t>CP</a:t>
              </a:r>
              <a:endParaRPr kumimoji="0" lang="zh-CN" altLang="zh-CN" sz="1800" b="0" i="1" u="none" strike="noStrike" cap="none" normalizeH="0" baseline="0" dirty="0">
                <a:ln>
                  <a:noFill/>
                </a:ln>
                <a:solidFill>
                  <a:schemeClr val="tx1"/>
                </a:solidFill>
                <a:effectLst/>
              </a:endParaRPr>
            </a:p>
          </p:txBody>
        </p:sp>
        <p:sp>
          <p:nvSpPr>
            <p:cNvPr id="51308" name="Rectangle 222"/>
            <p:cNvSpPr>
              <a:spLocks noChangeArrowheads="1"/>
            </p:cNvSpPr>
            <p:nvPr/>
          </p:nvSpPr>
          <p:spPr bwMode="auto">
            <a:xfrm>
              <a:off x="8431348" y="4706575"/>
              <a:ext cx="20358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1" u="none" strike="noStrike" cap="none" normalizeH="0" baseline="0" dirty="0">
                  <a:ln>
                    <a:noFill/>
                  </a:ln>
                  <a:solidFill>
                    <a:srgbClr val="000000"/>
                  </a:solidFill>
                  <a:effectLst/>
                  <a:latin typeface="Times New Roman" panose="02020603050405020304" pitchFamily="18" charset="0"/>
                </a:rPr>
                <a:t>Q</a:t>
              </a:r>
              <a:endParaRPr kumimoji="0" lang="zh-CN" altLang="zh-CN" sz="1800" b="0" i="1" u="none" strike="noStrike" cap="none" normalizeH="0" baseline="0" dirty="0">
                <a:ln>
                  <a:noFill/>
                </a:ln>
                <a:solidFill>
                  <a:schemeClr val="tx1"/>
                </a:solidFill>
                <a:effectLst/>
                <a:latin typeface="Arial" panose="020B0604020202020204" pitchFamily="34" charset="0"/>
              </a:endParaRPr>
            </a:p>
          </p:txBody>
        </p:sp>
        <p:sp>
          <p:nvSpPr>
            <p:cNvPr id="51309" name="Rectangle 223"/>
            <p:cNvSpPr>
              <a:spLocks noChangeArrowheads="1"/>
            </p:cNvSpPr>
            <p:nvPr/>
          </p:nvSpPr>
          <p:spPr bwMode="auto">
            <a:xfrm>
              <a:off x="8407536" y="4022725"/>
              <a:ext cx="20358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200" b="0" i="1" u="none" strike="noStrike" cap="none" normalizeH="0" baseline="0" dirty="0">
                  <a:ln>
                    <a:noFill/>
                  </a:ln>
                  <a:solidFill>
                    <a:srgbClr val="000000"/>
                  </a:solidFill>
                  <a:effectLst/>
                  <a:latin typeface="Times New Roman" panose="02020603050405020304" pitchFamily="18" charset="0"/>
                </a:rPr>
                <a:t>Q</a:t>
              </a:r>
              <a:endParaRPr kumimoji="0" lang="zh-CN" altLang="zh-CN" sz="1800" b="0" i="1" u="none" strike="noStrike" cap="none" normalizeH="0" baseline="0" dirty="0">
                <a:ln>
                  <a:noFill/>
                </a:ln>
                <a:solidFill>
                  <a:schemeClr val="tx1"/>
                </a:solidFill>
                <a:effectLst/>
                <a:latin typeface="Arial" panose="020B0604020202020204" pitchFamily="34" charset="0"/>
              </a:endParaRPr>
            </a:p>
          </p:txBody>
        </p:sp>
        <p:sp>
          <p:nvSpPr>
            <p:cNvPr id="51310" name="Line 224"/>
            <p:cNvSpPr>
              <a:spLocks noChangeShapeType="1"/>
            </p:cNvSpPr>
            <p:nvPr/>
          </p:nvSpPr>
          <p:spPr bwMode="auto">
            <a:xfrm>
              <a:off x="8479699" y="4746490"/>
              <a:ext cx="139700" cy="0"/>
            </a:xfrm>
            <a:prstGeom prst="line">
              <a:avLst/>
            </a:prstGeom>
            <a:noFill/>
            <a:ln w="23813">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1311" name="Rectangle 225"/>
            <p:cNvSpPr>
              <a:spLocks noChangeArrowheads="1"/>
            </p:cNvSpPr>
            <p:nvPr/>
          </p:nvSpPr>
          <p:spPr bwMode="auto">
            <a:xfrm>
              <a:off x="5159375" y="3951288"/>
              <a:ext cx="465138" cy="487363"/>
            </a:xfrm>
            <a:prstGeom prst="rect">
              <a:avLst/>
            </a:prstGeom>
            <a:noFill/>
            <a:ln w="23813">
              <a:solidFill>
                <a:srgbClr val="8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1312" name="Line 226"/>
            <p:cNvSpPr>
              <a:spLocks noChangeShapeType="1"/>
            </p:cNvSpPr>
            <p:nvPr/>
          </p:nvSpPr>
          <p:spPr bwMode="auto">
            <a:xfrm>
              <a:off x="5624513" y="4183063"/>
              <a:ext cx="952500" cy="0"/>
            </a:xfrm>
            <a:prstGeom prst="line">
              <a:avLst/>
            </a:prstGeom>
            <a:noFill/>
            <a:ln w="23813">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1313" name="Line 227"/>
            <p:cNvSpPr>
              <a:spLocks noChangeShapeType="1"/>
            </p:cNvSpPr>
            <p:nvPr/>
          </p:nvSpPr>
          <p:spPr bwMode="auto">
            <a:xfrm flipH="1">
              <a:off x="4694238" y="4067175"/>
              <a:ext cx="465138" cy="0"/>
            </a:xfrm>
            <a:prstGeom prst="line">
              <a:avLst/>
            </a:prstGeom>
            <a:noFill/>
            <a:ln w="23813">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1314" name="Line 228"/>
            <p:cNvSpPr>
              <a:spLocks noChangeShapeType="1"/>
            </p:cNvSpPr>
            <p:nvPr/>
          </p:nvSpPr>
          <p:spPr bwMode="auto">
            <a:xfrm flipH="1">
              <a:off x="4694238" y="4300538"/>
              <a:ext cx="465138" cy="0"/>
            </a:xfrm>
            <a:prstGeom prst="line">
              <a:avLst/>
            </a:prstGeom>
            <a:noFill/>
            <a:ln w="23813">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1315" name="Rectangle 229"/>
            <p:cNvSpPr>
              <a:spLocks noChangeArrowheads="1"/>
            </p:cNvSpPr>
            <p:nvPr/>
          </p:nvSpPr>
          <p:spPr bwMode="auto">
            <a:xfrm>
              <a:off x="5242288" y="3968886"/>
              <a:ext cx="3270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b="0" i="0" u="none" strike="noStrike" cap="none" normalizeH="0" baseline="0" dirty="0">
                  <a:ln>
                    <a:noFill/>
                  </a:ln>
                  <a:solidFill>
                    <a:srgbClr val="000080"/>
                  </a:solidFill>
                  <a:effectLst/>
                  <a:latin typeface="Times New Roman" panose="02020603050405020304" pitchFamily="18" charset="0"/>
                </a:rPr>
                <a:t>=1</a:t>
              </a:r>
              <a:endParaRPr kumimoji="0" lang="zh-CN" altLang="zh-CN" sz="1600" b="0" i="0" u="none" strike="noStrike" cap="none" normalizeH="0" baseline="0" dirty="0">
                <a:ln>
                  <a:noFill/>
                </a:ln>
                <a:solidFill>
                  <a:schemeClr val="tx1"/>
                </a:solidFill>
                <a:effectLst/>
                <a:latin typeface="Arial" panose="020B0604020202020204" pitchFamily="34" charset="0"/>
              </a:endParaRPr>
            </a:p>
          </p:txBody>
        </p:sp>
        <p:sp>
          <p:nvSpPr>
            <p:cNvPr id="51316" name="Freeform 230"/>
            <p:cNvSpPr/>
            <p:nvPr/>
          </p:nvSpPr>
          <p:spPr bwMode="auto">
            <a:xfrm>
              <a:off x="4694238" y="3695700"/>
              <a:ext cx="3625850" cy="487363"/>
            </a:xfrm>
            <a:custGeom>
              <a:avLst/>
              <a:gdLst>
                <a:gd name="T0" fmla="*/ 0 w 2284"/>
                <a:gd name="T1" fmla="*/ 234 h 307"/>
                <a:gd name="T2" fmla="*/ 0 w 2284"/>
                <a:gd name="T3" fmla="*/ 0 h 307"/>
                <a:gd name="T4" fmla="*/ 2065 w 2284"/>
                <a:gd name="T5" fmla="*/ 0 h 307"/>
                <a:gd name="T6" fmla="*/ 2065 w 2284"/>
                <a:gd name="T7" fmla="*/ 307 h 307"/>
                <a:gd name="T8" fmla="*/ 2284 w 2284"/>
                <a:gd name="T9" fmla="*/ 307 h 307"/>
              </a:gdLst>
              <a:ahLst/>
              <a:cxnLst>
                <a:cxn ang="0">
                  <a:pos x="T0" y="T1"/>
                </a:cxn>
                <a:cxn ang="0">
                  <a:pos x="T2" y="T3"/>
                </a:cxn>
                <a:cxn ang="0">
                  <a:pos x="T4" y="T5"/>
                </a:cxn>
                <a:cxn ang="0">
                  <a:pos x="T6" y="T7"/>
                </a:cxn>
                <a:cxn ang="0">
                  <a:pos x="T8" y="T9"/>
                </a:cxn>
              </a:cxnLst>
              <a:rect l="0" t="0" r="r" b="b"/>
              <a:pathLst>
                <a:path w="2284" h="307">
                  <a:moveTo>
                    <a:pt x="0" y="234"/>
                  </a:moveTo>
                  <a:lnTo>
                    <a:pt x="0" y="0"/>
                  </a:lnTo>
                  <a:lnTo>
                    <a:pt x="2065" y="0"/>
                  </a:lnTo>
                  <a:lnTo>
                    <a:pt x="2065" y="307"/>
                  </a:lnTo>
                  <a:lnTo>
                    <a:pt x="2284" y="307"/>
                  </a:lnTo>
                </a:path>
              </a:pathLst>
            </a:custGeom>
            <a:noFill/>
            <a:ln w="23813">
              <a:solidFill>
                <a:srgbClr val="00008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1317" name="Oval 231"/>
            <p:cNvSpPr>
              <a:spLocks noChangeArrowheads="1"/>
            </p:cNvSpPr>
            <p:nvPr/>
          </p:nvSpPr>
          <p:spPr bwMode="auto">
            <a:xfrm>
              <a:off x="7924800" y="4137025"/>
              <a:ext cx="93663" cy="93663"/>
            </a:xfrm>
            <a:prstGeom prst="ellipse">
              <a:avLst/>
            </a:prstGeom>
            <a:solidFill>
              <a:srgbClr val="800000"/>
            </a:solidFill>
            <a:ln w="0">
              <a:solidFill>
                <a:srgbClr val="800000"/>
              </a:solidFill>
              <a:prstDash val="solid"/>
              <a:round/>
            </a:ln>
          </p:spPr>
          <p:txBody>
            <a:bodyPr vert="horz" wrap="square" lIns="91440" tIns="45720" rIns="91440" bIns="45720" numCol="1" anchor="t" anchorCtr="0" compatLnSpc="1"/>
            <a:lstStyle/>
            <a:p>
              <a:endParaRPr lang="zh-CN" altLang="en-US"/>
            </a:p>
          </p:txBody>
        </p:sp>
        <p:sp>
          <p:nvSpPr>
            <p:cNvPr id="51318" name="Line 232"/>
            <p:cNvSpPr>
              <a:spLocks noChangeShapeType="1"/>
            </p:cNvSpPr>
            <p:nvPr/>
          </p:nvSpPr>
          <p:spPr bwMode="auto">
            <a:xfrm>
              <a:off x="7972425" y="4879975"/>
              <a:ext cx="371475" cy="0"/>
            </a:xfrm>
            <a:prstGeom prst="line">
              <a:avLst/>
            </a:prstGeom>
            <a:noFill/>
            <a:ln w="23813">
              <a:solidFill>
                <a:srgbClr val="00008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grpSp>
      <p:grpSp>
        <p:nvGrpSpPr>
          <p:cNvPr id="7" name="Group 28"/>
          <p:cNvGrpSpPr/>
          <p:nvPr/>
        </p:nvGrpSpPr>
        <p:grpSpPr bwMode="auto">
          <a:xfrm>
            <a:off x="4750118" y="4717098"/>
            <a:ext cx="3871912" cy="522287"/>
            <a:chOff x="2993" y="3456"/>
            <a:chExt cx="2439" cy="329"/>
          </a:xfrm>
        </p:grpSpPr>
        <p:sp>
          <p:nvSpPr>
            <p:cNvPr id="8" name="Line 17"/>
            <p:cNvSpPr>
              <a:spLocks noChangeShapeType="1"/>
            </p:cNvSpPr>
            <p:nvPr/>
          </p:nvSpPr>
          <p:spPr bwMode="auto">
            <a:xfrm>
              <a:off x="3806" y="3468"/>
              <a:ext cx="144" cy="0"/>
            </a:xfrm>
            <a:prstGeom prst="line">
              <a:avLst/>
            </a:prstGeom>
            <a:noFill/>
            <a:ln w="28575">
              <a:solidFill>
                <a:schemeClr val="tx1"/>
              </a:solidFill>
              <a:round/>
            </a:ln>
            <a:effectLst/>
          </p:spPr>
          <p:txBody>
            <a:bodyPr/>
            <a:p>
              <a:endParaRPr lang="zh-CN" altLang="en-US"/>
            </a:p>
          </p:txBody>
        </p:sp>
        <p:sp>
          <p:nvSpPr>
            <p:cNvPr id="9" name="Line 18"/>
            <p:cNvSpPr>
              <a:spLocks noChangeShapeType="1"/>
            </p:cNvSpPr>
            <p:nvPr/>
          </p:nvSpPr>
          <p:spPr bwMode="auto">
            <a:xfrm flipV="1">
              <a:off x="4966" y="3507"/>
              <a:ext cx="0" cy="240"/>
            </a:xfrm>
            <a:prstGeom prst="line">
              <a:avLst/>
            </a:prstGeom>
            <a:noFill/>
            <a:ln w="28575">
              <a:solidFill>
                <a:srgbClr val="FF0000"/>
              </a:solidFill>
              <a:round/>
              <a:tailEnd type="triangle" w="sm" len="lg"/>
            </a:ln>
            <a:effectLst/>
          </p:spPr>
          <p:txBody>
            <a:bodyPr/>
            <a:p>
              <a:endParaRPr lang="zh-CN" altLang="en-US"/>
            </a:p>
          </p:txBody>
        </p:sp>
        <p:sp>
          <p:nvSpPr>
            <p:cNvPr id="10" name="Text Box 19"/>
            <p:cNvSpPr txBox="1">
              <a:spLocks noChangeArrowheads="1"/>
            </p:cNvSpPr>
            <p:nvPr/>
          </p:nvSpPr>
          <p:spPr bwMode="auto">
            <a:xfrm>
              <a:off x="2993" y="3456"/>
              <a:ext cx="2439" cy="329"/>
            </a:xfrm>
            <a:prstGeom prst="rect">
              <a:avLst/>
            </a:prstGeom>
            <a:noFill/>
            <a:ln w="9525">
              <a:noFill/>
              <a:miter lim="800000"/>
            </a:ln>
            <a:effectLst/>
          </p:spPr>
          <p:txBody>
            <a:bodyPr wrap="square">
              <a:spAutoFit/>
            </a:bodyPr>
            <a:p>
              <a:r>
                <a:rPr kumimoji="0" lang="en-US" altLang="zh-CN" sz="2800" i="1" dirty="0">
                  <a:solidFill>
                    <a:schemeClr val="tx2"/>
                  </a:solidFill>
                </a:rPr>
                <a:t>Q</a:t>
              </a:r>
              <a:r>
                <a:rPr kumimoji="0" lang="en-US" altLang="zh-CN" sz="2800" i="1" baseline="50000" dirty="0">
                  <a:solidFill>
                    <a:schemeClr val="tx2"/>
                  </a:solidFill>
                </a:rPr>
                <a:t>n</a:t>
              </a:r>
              <a:r>
                <a:rPr kumimoji="0" lang="en-US" altLang="zh-CN" sz="2800" baseline="50000" dirty="0">
                  <a:solidFill>
                    <a:schemeClr val="tx2"/>
                  </a:solidFill>
                </a:rPr>
                <a:t>+1</a:t>
              </a:r>
              <a:r>
                <a:rPr kumimoji="0" lang="en-US" altLang="zh-CN" sz="2800" dirty="0">
                  <a:solidFill>
                    <a:schemeClr val="tx2"/>
                  </a:solidFill>
                </a:rPr>
                <a:t>=</a:t>
              </a:r>
              <a:r>
                <a:rPr kumimoji="0" lang="en-US" altLang="zh-CN" sz="2800" dirty="0">
                  <a:solidFill>
                    <a:srgbClr val="FF0000"/>
                  </a:solidFill>
                </a:rPr>
                <a:t>[</a:t>
              </a:r>
              <a:r>
                <a:rPr kumimoji="0" lang="en-US" altLang="zh-CN" sz="2800" i="1" dirty="0" err="1">
                  <a:solidFill>
                    <a:schemeClr val="tx2"/>
                  </a:solidFill>
                </a:rPr>
                <a:t>TQ</a:t>
              </a:r>
              <a:r>
                <a:rPr kumimoji="0" lang="en-US" altLang="zh-CN" sz="2800" i="1" baseline="50000" dirty="0" err="1">
                  <a:solidFill>
                    <a:schemeClr val="tx2"/>
                  </a:solidFill>
                </a:rPr>
                <a:t>n</a:t>
              </a:r>
              <a:r>
                <a:rPr kumimoji="0" lang="en-US" altLang="zh-CN" sz="2800" dirty="0" err="1">
                  <a:solidFill>
                    <a:schemeClr val="tx2"/>
                  </a:solidFill>
                </a:rPr>
                <a:t>+</a:t>
              </a:r>
              <a:r>
                <a:rPr kumimoji="0" lang="en-US" altLang="zh-CN" sz="2800" i="1" dirty="0" err="1">
                  <a:solidFill>
                    <a:schemeClr val="tx2"/>
                  </a:solidFill>
                </a:rPr>
                <a:t>TQ</a:t>
              </a:r>
              <a:r>
                <a:rPr kumimoji="0" lang="en-US" altLang="zh-CN" sz="2800" i="1" baseline="50000" dirty="0" err="1">
                  <a:solidFill>
                    <a:schemeClr val="tx2"/>
                  </a:solidFill>
                </a:rPr>
                <a:t>n</a:t>
              </a:r>
              <a:r>
                <a:rPr kumimoji="0" lang="en-US" altLang="zh-CN" sz="2800" dirty="0">
                  <a:solidFill>
                    <a:srgbClr val="FF0000"/>
                  </a:solidFill>
                </a:rPr>
                <a:t>]·</a:t>
              </a:r>
              <a:r>
                <a:rPr kumimoji="0" lang="en-US" altLang="zh-CN" sz="2800" i="1" dirty="0">
                  <a:solidFill>
                    <a:srgbClr val="FF0000"/>
                  </a:solidFill>
                </a:rPr>
                <a:t>CP</a:t>
              </a:r>
              <a:endParaRPr kumimoji="0" lang="en-US" altLang="zh-CN" sz="2800" i="1" dirty="0">
                <a:solidFill>
                  <a:srgbClr val="FF0000"/>
                </a:solidFill>
              </a:endParaRPr>
            </a:p>
          </p:txBody>
        </p:sp>
        <p:sp>
          <p:nvSpPr>
            <p:cNvPr id="11" name="Line 20"/>
            <p:cNvSpPr>
              <a:spLocks noChangeShapeType="1"/>
            </p:cNvSpPr>
            <p:nvPr/>
          </p:nvSpPr>
          <p:spPr bwMode="auto">
            <a:xfrm>
              <a:off x="4157" y="3468"/>
              <a:ext cx="144" cy="0"/>
            </a:xfrm>
            <a:prstGeom prst="line">
              <a:avLst/>
            </a:prstGeom>
            <a:noFill/>
            <a:ln w="28575">
              <a:solidFill>
                <a:schemeClr val="tx1"/>
              </a:solidFill>
              <a:round/>
            </a:ln>
            <a:effectLst/>
          </p:spPr>
          <p:txBody>
            <a:bodyPr/>
            <a:p>
              <a:endParaRPr lang="zh-CN" altLang="en-US"/>
            </a:p>
          </p:txBody>
        </p:sp>
      </p:grpSp>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2995" y="25219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主题四 </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触发器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413188" y="111614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4.7 </a:t>
            </a:r>
            <a:r>
              <a:rPr kumimoji="0" lang="zh-CN" altLang="en-US" dirty="0">
                <a:solidFill>
                  <a:srgbClr val="000000"/>
                </a:solidFill>
                <a:latin typeface="黑体" panose="02010609060101010101" pitchFamily="49" charset="-122"/>
                <a:ea typeface="黑体" panose="02010609060101010101" pitchFamily="49" charset="-122"/>
              </a:rPr>
              <a:t>钟控边沿</a:t>
            </a:r>
            <a:r>
              <a:rPr kumimoji="0" lang="en-US" altLang="zh-CN" dirty="0">
                <a:solidFill>
                  <a:srgbClr val="000000"/>
                </a:solidFill>
                <a:latin typeface="黑体" panose="02010609060101010101" pitchFamily="49" charset="-122"/>
                <a:ea typeface="黑体" panose="02010609060101010101" pitchFamily="49" charset="-122"/>
              </a:rPr>
              <a:t>T’</a:t>
            </a:r>
            <a:r>
              <a:rPr kumimoji="0" lang="zh-CN" altLang="en-US" dirty="0">
                <a:solidFill>
                  <a:srgbClr val="000000"/>
                </a:solidFill>
                <a:latin typeface="黑体" panose="02010609060101010101" pitchFamily="49" charset="-122"/>
                <a:ea typeface="黑体" panose="02010609060101010101" pitchFamily="49" charset="-122"/>
              </a:rPr>
              <a:t>触发器 </a:t>
            </a:r>
            <a:endParaRPr kumimoji="0" lang="zh-CN" altLang="en-US" dirty="0">
              <a:solidFill>
                <a:srgbClr val="000000"/>
              </a:solidFill>
              <a:latin typeface="黑体" panose="02010609060101010101" pitchFamily="49" charset="-122"/>
              <a:ea typeface="黑体" panose="02010609060101010101" pitchFamily="49" charset="-122"/>
            </a:endParaRPr>
          </a:p>
        </p:txBody>
      </p:sp>
      <p:grpSp>
        <p:nvGrpSpPr>
          <p:cNvPr id="24590" name="组合 24589"/>
          <p:cNvGrpSpPr/>
          <p:nvPr/>
        </p:nvGrpSpPr>
        <p:grpSpPr>
          <a:xfrm>
            <a:off x="544831" y="1890395"/>
            <a:ext cx="2953801" cy="1308100"/>
            <a:chOff x="701676" y="3451225"/>
            <a:chExt cx="2953801" cy="1308100"/>
          </a:xfrm>
        </p:grpSpPr>
        <p:sp>
          <p:nvSpPr>
            <p:cNvPr id="62" name="Rectangle 63"/>
            <p:cNvSpPr>
              <a:spLocks noChangeArrowheads="1"/>
            </p:cNvSpPr>
            <p:nvPr/>
          </p:nvSpPr>
          <p:spPr bwMode="auto">
            <a:xfrm>
              <a:off x="1774826" y="3451225"/>
              <a:ext cx="1047750" cy="1308100"/>
            </a:xfrm>
            <a:prstGeom prst="rect">
              <a:avLst/>
            </a:prstGeom>
            <a:noFill/>
            <a:ln w="25400">
              <a:solidFill>
                <a:srgbClr val="8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3" name="Line 64"/>
            <p:cNvSpPr>
              <a:spLocks noChangeShapeType="1"/>
            </p:cNvSpPr>
            <p:nvPr/>
          </p:nvSpPr>
          <p:spPr bwMode="auto">
            <a:xfrm>
              <a:off x="1784351" y="4030663"/>
              <a:ext cx="79375" cy="77788"/>
            </a:xfrm>
            <a:prstGeom prst="line">
              <a:avLst/>
            </a:prstGeom>
            <a:noFill/>
            <a:ln w="19050">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4576" name="Line 65"/>
            <p:cNvSpPr>
              <a:spLocks noChangeShapeType="1"/>
            </p:cNvSpPr>
            <p:nvPr/>
          </p:nvSpPr>
          <p:spPr bwMode="auto">
            <a:xfrm flipH="1">
              <a:off x="1784351" y="4102100"/>
              <a:ext cx="79375" cy="79375"/>
            </a:xfrm>
            <a:prstGeom prst="line">
              <a:avLst/>
            </a:prstGeom>
            <a:noFill/>
            <a:ln w="19050">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4577" name="Oval 66"/>
            <p:cNvSpPr>
              <a:spLocks noChangeArrowheads="1"/>
            </p:cNvSpPr>
            <p:nvPr/>
          </p:nvSpPr>
          <p:spPr bwMode="auto">
            <a:xfrm>
              <a:off x="1608138" y="4027488"/>
              <a:ext cx="157163" cy="157163"/>
            </a:xfrm>
            <a:prstGeom prst="ellipse">
              <a:avLst/>
            </a:pr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4579" name="Line 67"/>
            <p:cNvSpPr>
              <a:spLocks noChangeShapeType="1"/>
            </p:cNvSpPr>
            <p:nvPr/>
          </p:nvSpPr>
          <p:spPr bwMode="auto">
            <a:xfrm flipH="1">
              <a:off x="1252538" y="4105275"/>
              <a:ext cx="365125" cy="0"/>
            </a:xfrm>
            <a:prstGeom prst="line">
              <a:avLst/>
            </a:prstGeom>
            <a:noFill/>
            <a:ln w="25400">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4582" name="Rectangle 68"/>
            <p:cNvSpPr>
              <a:spLocks noChangeArrowheads="1"/>
            </p:cNvSpPr>
            <p:nvPr/>
          </p:nvSpPr>
          <p:spPr bwMode="auto">
            <a:xfrm>
              <a:off x="1911351" y="3949700"/>
              <a:ext cx="295004"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100" b="0" i="0" u="none" strike="noStrike" cap="none" normalizeH="0" baseline="0" dirty="0">
                  <a:ln>
                    <a:noFill/>
                  </a:ln>
                  <a:solidFill>
                    <a:srgbClr val="000000"/>
                  </a:solidFill>
                  <a:effectLst/>
                  <a:latin typeface="Times New Roman" panose="02020603050405020304" pitchFamily="18" charset="0"/>
                </a:rPr>
                <a:t>C</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4583" name="Line 69"/>
            <p:cNvSpPr>
              <a:spLocks noChangeShapeType="1"/>
            </p:cNvSpPr>
            <p:nvPr/>
          </p:nvSpPr>
          <p:spPr bwMode="auto">
            <a:xfrm>
              <a:off x="2822576" y="3713163"/>
              <a:ext cx="523875" cy="0"/>
            </a:xfrm>
            <a:prstGeom prst="line">
              <a:avLst/>
            </a:prstGeom>
            <a:noFill/>
            <a:ln w="25400">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4584" name="Oval 70"/>
            <p:cNvSpPr>
              <a:spLocks noChangeArrowheads="1"/>
            </p:cNvSpPr>
            <p:nvPr/>
          </p:nvSpPr>
          <p:spPr bwMode="auto">
            <a:xfrm>
              <a:off x="2841626" y="4419600"/>
              <a:ext cx="157163" cy="157163"/>
            </a:xfrm>
            <a:prstGeom prst="ellipse">
              <a:avLst/>
            </a:pr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4585" name="Line 71"/>
            <p:cNvSpPr>
              <a:spLocks noChangeShapeType="1"/>
            </p:cNvSpPr>
            <p:nvPr/>
          </p:nvSpPr>
          <p:spPr bwMode="auto">
            <a:xfrm>
              <a:off x="2995613" y="4497388"/>
              <a:ext cx="366713" cy="0"/>
            </a:xfrm>
            <a:prstGeom prst="line">
              <a:avLst/>
            </a:prstGeom>
            <a:noFill/>
            <a:ln w="25400">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4586" name="Rectangle 72"/>
            <p:cNvSpPr>
              <a:spLocks noChangeArrowheads="1"/>
            </p:cNvSpPr>
            <p:nvPr/>
          </p:nvSpPr>
          <p:spPr bwMode="auto">
            <a:xfrm>
              <a:off x="701676" y="3948113"/>
              <a:ext cx="408766"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500" b="0" i="1" u="none" strike="noStrike" cap="none" normalizeH="0" baseline="0" dirty="0">
                  <a:ln>
                    <a:noFill/>
                  </a:ln>
                  <a:solidFill>
                    <a:srgbClr val="000000"/>
                  </a:solidFill>
                  <a:effectLst/>
                  <a:latin typeface="Times New Roman" panose="02020603050405020304" pitchFamily="18" charset="0"/>
                </a:rPr>
                <a:t>CP</a:t>
              </a:r>
              <a:endParaRPr kumimoji="0" lang="zh-CN" altLang="zh-CN" sz="1800" b="0" i="1" u="none" strike="noStrike" cap="none" normalizeH="0" baseline="0" dirty="0">
                <a:ln>
                  <a:noFill/>
                </a:ln>
                <a:solidFill>
                  <a:schemeClr val="tx1"/>
                </a:solidFill>
                <a:effectLst/>
              </a:endParaRPr>
            </a:p>
          </p:txBody>
        </p:sp>
        <p:sp>
          <p:nvSpPr>
            <p:cNvPr id="24587" name="Rectangle 73"/>
            <p:cNvSpPr>
              <a:spLocks noChangeArrowheads="1"/>
            </p:cNvSpPr>
            <p:nvPr/>
          </p:nvSpPr>
          <p:spPr bwMode="auto">
            <a:xfrm>
              <a:off x="3411582" y="4328024"/>
              <a:ext cx="230832"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500" b="0" i="1" u="none" strike="noStrike" cap="none" normalizeH="0" baseline="0" dirty="0">
                  <a:ln>
                    <a:noFill/>
                  </a:ln>
                  <a:solidFill>
                    <a:srgbClr val="000000"/>
                  </a:solidFill>
                  <a:effectLst/>
                  <a:latin typeface="Times New Roman" panose="02020603050405020304" pitchFamily="18" charset="0"/>
                </a:rPr>
                <a:t>Q</a:t>
              </a:r>
              <a:endParaRPr kumimoji="0" lang="zh-CN" altLang="zh-CN" sz="1800" b="0" i="1" u="none" strike="noStrike" cap="none" normalizeH="0" baseline="0" dirty="0">
                <a:ln>
                  <a:noFill/>
                </a:ln>
                <a:solidFill>
                  <a:schemeClr val="tx1"/>
                </a:solidFill>
                <a:effectLst/>
                <a:latin typeface="Arial" panose="020B0604020202020204" pitchFamily="34" charset="0"/>
              </a:endParaRPr>
            </a:p>
          </p:txBody>
        </p:sp>
        <p:sp>
          <p:nvSpPr>
            <p:cNvPr id="24588" name="Rectangle 74"/>
            <p:cNvSpPr>
              <a:spLocks noChangeArrowheads="1"/>
            </p:cNvSpPr>
            <p:nvPr/>
          </p:nvSpPr>
          <p:spPr bwMode="auto">
            <a:xfrm>
              <a:off x="3424645" y="3516085"/>
              <a:ext cx="230832"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500" b="0" i="1" u="none" strike="noStrike" cap="none" normalizeH="0" baseline="0" dirty="0">
                  <a:ln>
                    <a:noFill/>
                  </a:ln>
                  <a:solidFill>
                    <a:srgbClr val="000000"/>
                  </a:solidFill>
                  <a:effectLst/>
                  <a:latin typeface="Times New Roman" panose="02020603050405020304" pitchFamily="18" charset="0"/>
                </a:rPr>
                <a:t>Q</a:t>
              </a:r>
              <a:endParaRPr kumimoji="0" lang="zh-CN" altLang="zh-CN" sz="1800" b="0" i="1" u="none" strike="noStrike" cap="none" normalizeH="0" baseline="0" dirty="0">
                <a:ln>
                  <a:noFill/>
                </a:ln>
                <a:solidFill>
                  <a:schemeClr val="tx1"/>
                </a:solidFill>
                <a:effectLst/>
                <a:latin typeface="Arial" panose="020B0604020202020204" pitchFamily="34" charset="0"/>
              </a:endParaRPr>
            </a:p>
          </p:txBody>
        </p:sp>
        <p:sp>
          <p:nvSpPr>
            <p:cNvPr id="24589" name="Line 75"/>
            <p:cNvSpPr>
              <a:spLocks noChangeShapeType="1"/>
            </p:cNvSpPr>
            <p:nvPr/>
          </p:nvSpPr>
          <p:spPr bwMode="auto">
            <a:xfrm>
              <a:off x="3477758" y="4341813"/>
              <a:ext cx="157163" cy="0"/>
            </a:xfrm>
            <a:prstGeom prst="line">
              <a:avLst/>
            </a:prstGeom>
            <a:noFill/>
            <a:ln w="25400">
              <a:solidFill>
                <a:srgbClr val="00008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grpSp>
      <p:grpSp>
        <p:nvGrpSpPr>
          <p:cNvPr id="53369" name="组合 53368"/>
          <p:cNvGrpSpPr/>
          <p:nvPr/>
        </p:nvGrpSpPr>
        <p:grpSpPr>
          <a:xfrm>
            <a:off x="4485323" y="1738948"/>
            <a:ext cx="3431555" cy="1560513"/>
            <a:chOff x="4856163" y="3760788"/>
            <a:chExt cx="3431555" cy="1560513"/>
          </a:xfrm>
        </p:grpSpPr>
        <p:sp>
          <p:nvSpPr>
            <p:cNvPr id="53350" name="Rectangle 213"/>
            <p:cNvSpPr>
              <a:spLocks noChangeArrowheads="1"/>
            </p:cNvSpPr>
            <p:nvPr/>
          </p:nvSpPr>
          <p:spPr bwMode="auto">
            <a:xfrm>
              <a:off x="6043613" y="3760788"/>
              <a:ext cx="1249363" cy="1560513"/>
            </a:xfrm>
            <a:prstGeom prst="rect">
              <a:avLst/>
            </a:prstGeom>
            <a:noFill/>
            <a:ln w="31750">
              <a:solidFill>
                <a:srgbClr val="8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3351" name="Line 214"/>
            <p:cNvSpPr>
              <a:spLocks noChangeShapeType="1"/>
            </p:cNvSpPr>
            <p:nvPr/>
          </p:nvSpPr>
          <p:spPr bwMode="auto">
            <a:xfrm flipH="1">
              <a:off x="5418138" y="4073525"/>
              <a:ext cx="625475" cy="0"/>
            </a:xfrm>
            <a:prstGeom prst="line">
              <a:avLst/>
            </a:prstGeom>
            <a:noFill/>
            <a:ln w="31750">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3352" name="Rectangle 215"/>
            <p:cNvSpPr>
              <a:spLocks noChangeArrowheads="1"/>
            </p:cNvSpPr>
            <p:nvPr/>
          </p:nvSpPr>
          <p:spPr bwMode="auto">
            <a:xfrm>
              <a:off x="6167438" y="3917950"/>
              <a:ext cx="312738"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500" b="0" i="0" u="none" strike="noStrike" cap="none" normalizeH="0" baseline="0">
                  <a:ln>
                    <a:noFill/>
                  </a:ln>
                  <a:solidFill>
                    <a:srgbClr val="000000"/>
                  </a:solidFill>
                  <a:effectLst/>
                  <a:latin typeface="Times New Roman" panose="02020603050405020304" pitchFamily="18" charset="0"/>
                </a:rPr>
                <a:t>1J</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3353" name="Line 216"/>
            <p:cNvSpPr>
              <a:spLocks noChangeShapeType="1"/>
            </p:cNvSpPr>
            <p:nvPr/>
          </p:nvSpPr>
          <p:spPr bwMode="auto">
            <a:xfrm>
              <a:off x="6067428" y="4451351"/>
              <a:ext cx="93663" cy="93663"/>
            </a:xfrm>
            <a:prstGeom prst="line">
              <a:avLst/>
            </a:prstGeom>
            <a:noFill/>
            <a:ln w="19050">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3354" name="Line 217"/>
            <p:cNvSpPr>
              <a:spLocks noChangeShapeType="1"/>
            </p:cNvSpPr>
            <p:nvPr/>
          </p:nvSpPr>
          <p:spPr bwMode="auto">
            <a:xfrm flipH="1">
              <a:off x="6067428" y="4545013"/>
              <a:ext cx="93663" cy="93663"/>
            </a:xfrm>
            <a:prstGeom prst="line">
              <a:avLst/>
            </a:prstGeom>
            <a:noFill/>
            <a:ln w="19050">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3355" name="Oval 218"/>
            <p:cNvSpPr>
              <a:spLocks noChangeArrowheads="1"/>
            </p:cNvSpPr>
            <p:nvPr/>
          </p:nvSpPr>
          <p:spPr bwMode="auto">
            <a:xfrm>
              <a:off x="5846762" y="4446588"/>
              <a:ext cx="187325" cy="187325"/>
            </a:xfrm>
            <a:prstGeom prst="ellipse">
              <a:avLst/>
            </a:pr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3356" name="Line 219"/>
            <p:cNvSpPr>
              <a:spLocks noChangeShapeType="1"/>
            </p:cNvSpPr>
            <p:nvPr/>
          </p:nvSpPr>
          <p:spPr bwMode="auto">
            <a:xfrm flipH="1">
              <a:off x="5418138" y="4540250"/>
              <a:ext cx="438150" cy="0"/>
            </a:xfrm>
            <a:prstGeom prst="line">
              <a:avLst/>
            </a:prstGeom>
            <a:noFill/>
            <a:ln w="31750">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3357" name="Rectangle 220"/>
            <p:cNvSpPr>
              <a:spLocks noChangeArrowheads="1"/>
            </p:cNvSpPr>
            <p:nvPr/>
          </p:nvSpPr>
          <p:spPr bwMode="auto">
            <a:xfrm>
              <a:off x="6228398" y="4355783"/>
              <a:ext cx="37465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500" b="0" i="0" u="none" strike="noStrike" cap="none" normalizeH="0" baseline="0" dirty="0">
                  <a:ln>
                    <a:noFill/>
                  </a:ln>
                  <a:solidFill>
                    <a:srgbClr val="000000"/>
                  </a:solidFill>
                  <a:effectLst/>
                  <a:latin typeface="Times New Roman" panose="02020603050405020304" pitchFamily="18" charset="0"/>
                </a:rPr>
                <a:t>C1</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53358" name="Line 221"/>
            <p:cNvSpPr>
              <a:spLocks noChangeShapeType="1"/>
            </p:cNvSpPr>
            <p:nvPr/>
          </p:nvSpPr>
          <p:spPr bwMode="auto">
            <a:xfrm>
              <a:off x="7292976" y="4073525"/>
              <a:ext cx="623888" cy="0"/>
            </a:xfrm>
            <a:prstGeom prst="line">
              <a:avLst/>
            </a:prstGeom>
            <a:noFill/>
            <a:ln w="31750">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3359" name="Oval 222"/>
            <p:cNvSpPr>
              <a:spLocks noChangeArrowheads="1"/>
            </p:cNvSpPr>
            <p:nvPr/>
          </p:nvSpPr>
          <p:spPr bwMode="auto">
            <a:xfrm>
              <a:off x="7292976" y="4914900"/>
              <a:ext cx="187325" cy="187325"/>
            </a:xfrm>
            <a:prstGeom prst="ellipse">
              <a:avLst/>
            </a:prstGeom>
            <a:noFill/>
            <a:ln w="0">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3360" name="Line 223"/>
            <p:cNvSpPr>
              <a:spLocks noChangeShapeType="1"/>
            </p:cNvSpPr>
            <p:nvPr/>
          </p:nvSpPr>
          <p:spPr bwMode="auto">
            <a:xfrm>
              <a:off x="7480301" y="5008563"/>
              <a:ext cx="436563" cy="0"/>
            </a:xfrm>
            <a:prstGeom prst="line">
              <a:avLst/>
            </a:prstGeom>
            <a:noFill/>
            <a:ln w="31750">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3361" name="Line 224"/>
            <p:cNvSpPr>
              <a:spLocks noChangeShapeType="1"/>
            </p:cNvSpPr>
            <p:nvPr/>
          </p:nvSpPr>
          <p:spPr bwMode="auto">
            <a:xfrm flipH="1">
              <a:off x="5418138" y="5008563"/>
              <a:ext cx="625475" cy="0"/>
            </a:xfrm>
            <a:prstGeom prst="line">
              <a:avLst/>
            </a:prstGeom>
            <a:noFill/>
            <a:ln w="31750">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3362" name="Rectangle 225"/>
            <p:cNvSpPr>
              <a:spLocks noChangeArrowheads="1"/>
            </p:cNvSpPr>
            <p:nvPr/>
          </p:nvSpPr>
          <p:spPr bwMode="auto">
            <a:xfrm>
              <a:off x="6167438" y="4854575"/>
              <a:ext cx="40640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500" b="0" i="0" u="none" strike="noStrike" cap="none" normalizeH="0" baseline="0">
                  <a:ln>
                    <a:noFill/>
                  </a:ln>
                  <a:solidFill>
                    <a:srgbClr val="000000"/>
                  </a:solidFill>
                  <a:effectLst/>
                  <a:latin typeface="Times New Roman" panose="02020603050405020304" pitchFamily="18" charset="0"/>
                </a:rPr>
                <a:t>1K</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3363" name="Rectangle 226"/>
            <p:cNvSpPr>
              <a:spLocks noChangeArrowheads="1"/>
            </p:cNvSpPr>
            <p:nvPr/>
          </p:nvSpPr>
          <p:spPr bwMode="auto">
            <a:xfrm>
              <a:off x="4919663" y="3886200"/>
              <a:ext cx="280988"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3000" b="0" i="0" u="none" strike="noStrike" cap="none" normalizeH="0" baseline="0">
                  <a:ln>
                    <a:noFill/>
                  </a:ln>
                  <a:solidFill>
                    <a:srgbClr val="000000"/>
                  </a:solidFill>
                  <a:effectLst/>
                  <a:latin typeface="Times New Roman" panose="02020603050405020304" pitchFamily="18" charset="0"/>
                </a:rPr>
                <a:t>1</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3364" name="Rectangle 227"/>
            <p:cNvSpPr>
              <a:spLocks noChangeArrowheads="1"/>
            </p:cNvSpPr>
            <p:nvPr/>
          </p:nvSpPr>
          <p:spPr bwMode="auto">
            <a:xfrm>
              <a:off x="4856163" y="4352925"/>
              <a:ext cx="45845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800" b="0" i="1" u="none" strike="noStrike" cap="none" normalizeH="0" baseline="0" dirty="0">
                  <a:ln>
                    <a:noFill/>
                  </a:ln>
                  <a:solidFill>
                    <a:srgbClr val="000000"/>
                  </a:solidFill>
                  <a:effectLst/>
                  <a:latin typeface="Times New Roman" panose="02020603050405020304" pitchFamily="18" charset="0"/>
                </a:rPr>
                <a:t>CP</a:t>
              </a:r>
              <a:endParaRPr kumimoji="0" lang="zh-CN" altLang="zh-CN" sz="1600" b="0" i="1" u="none" strike="noStrike" cap="none" normalizeH="0" baseline="0" dirty="0">
                <a:ln>
                  <a:noFill/>
                </a:ln>
                <a:solidFill>
                  <a:schemeClr val="tx1"/>
                </a:solidFill>
                <a:effectLst/>
                <a:latin typeface="Arial" panose="020B0604020202020204" pitchFamily="34" charset="0"/>
              </a:endParaRPr>
            </a:p>
          </p:txBody>
        </p:sp>
        <p:sp>
          <p:nvSpPr>
            <p:cNvPr id="53365" name="Rectangle 228"/>
            <p:cNvSpPr>
              <a:spLocks noChangeArrowheads="1"/>
            </p:cNvSpPr>
            <p:nvPr/>
          </p:nvSpPr>
          <p:spPr bwMode="auto">
            <a:xfrm>
              <a:off x="8028032" y="4795112"/>
              <a:ext cx="25968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800" b="0" i="1" u="none" strike="noStrike" cap="none" normalizeH="0" baseline="0" dirty="0">
                  <a:ln>
                    <a:noFill/>
                  </a:ln>
                  <a:solidFill>
                    <a:srgbClr val="000000"/>
                  </a:solidFill>
                  <a:effectLst/>
                  <a:latin typeface="Times New Roman" panose="02020603050405020304" pitchFamily="18" charset="0"/>
                </a:rPr>
                <a:t>Q</a:t>
              </a:r>
              <a:endParaRPr kumimoji="0" lang="zh-CN" altLang="zh-CN" sz="1600" b="0" i="1" u="none" strike="noStrike" cap="none" normalizeH="0" baseline="0" dirty="0">
                <a:ln>
                  <a:noFill/>
                </a:ln>
                <a:solidFill>
                  <a:schemeClr val="tx1"/>
                </a:solidFill>
                <a:effectLst/>
                <a:latin typeface="Arial" panose="020B0604020202020204" pitchFamily="34" charset="0"/>
              </a:endParaRPr>
            </a:p>
          </p:txBody>
        </p:sp>
        <p:sp>
          <p:nvSpPr>
            <p:cNvPr id="53366" name="Rectangle 229"/>
            <p:cNvSpPr>
              <a:spLocks noChangeArrowheads="1"/>
            </p:cNvSpPr>
            <p:nvPr/>
          </p:nvSpPr>
          <p:spPr bwMode="auto">
            <a:xfrm>
              <a:off x="8028032" y="3860074"/>
              <a:ext cx="25968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800" b="0" i="1" u="none" strike="noStrike" cap="none" normalizeH="0" baseline="0" dirty="0">
                  <a:ln>
                    <a:noFill/>
                  </a:ln>
                  <a:solidFill>
                    <a:srgbClr val="000000"/>
                  </a:solidFill>
                  <a:effectLst/>
                  <a:latin typeface="Times New Roman" panose="02020603050405020304" pitchFamily="18" charset="0"/>
                </a:rPr>
                <a:t>Q</a:t>
              </a:r>
              <a:endParaRPr kumimoji="0" lang="zh-CN" altLang="zh-CN" sz="1600" b="0" i="1" u="none" strike="noStrike" cap="none" normalizeH="0" baseline="0" dirty="0">
                <a:ln>
                  <a:noFill/>
                </a:ln>
                <a:solidFill>
                  <a:schemeClr val="tx1"/>
                </a:solidFill>
                <a:effectLst/>
                <a:latin typeface="Arial" panose="020B0604020202020204" pitchFamily="34" charset="0"/>
              </a:endParaRPr>
            </a:p>
          </p:txBody>
        </p:sp>
        <p:sp>
          <p:nvSpPr>
            <p:cNvPr id="53367" name="Line 230"/>
            <p:cNvSpPr>
              <a:spLocks noChangeShapeType="1"/>
            </p:cNvSpPr>
            <p:nvPr/>
          </p:nvSpPr>
          <p:spPr bwMode="auto">
            <a:xfrm>
              <a:off x="8098971" y="4817201"/>
              <a:ext cx="187325" cy="0"/>
            </a:xfrm>
            <a:prstGeom prst="line">
              <a:avLst/>
            </a:prstGeom>
            <a:noFill/>
            <a:ln w="31750">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3368" name="Rectangle 231"/>
            <p:cNvSpPr>
              <a:spLocks noChangeArrowheads="1"/>
            </p:cNvSpPr>
            <p:nvPr/>
          </p:nvSpPr>
          <p:spPr bwMode="auto">
            <a:xfrm>
              <a:off x="4949826" y="4852988"/>
              <a:ext cx="280988"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3000" b="0" i="0" u="none" strike="noStrike" cap="none" normalizeH="0" baseline="0">
                  <a:ln>
                    <a:noFill/>
                  </a:ln>
                  <a:solidFill>
                    <a:srgbClr val="000000"/>
                  </a:solidFill>
                  <a:effectLst/>
                  <a:latin typeface="Times New Roman" panose="02020603050405020304" pitchFamily="18" charset="0"/>
                </a:rPr>
                <a:t>1</a:t>
              </a:r>
              <a:endParaRPr kumimoji="0" lang="zh-CN" altLang="zh-CN" sz="1800" b="0" i="0" u="none" strike="noStrike" cap="none" normalizeH="0" baseline="0">
                <a:ln>
                  <a:noFill/>
                </a:ln>
                <a:solidFill>
                  <a:schemeClr val="tx1"/>
                </a:solidFill>
                <a:effectLst/>
                <a:latin typeface="Arial" panose="020B0604020202020204" pitchFamily="34" charset="0"/>
              </a:endParaRPr>
            </a:p>
          </p:txBody>
        </p:sp>
      </p:grpSp>
      <p:grpSp>
        <p:nvGrpSpPr>
          <p:cNvPr id="53272" name="Group 24"/>
          <p:cNvGrpSpPr/>
          <p:nvPr/>
        </p:nvGrpSpPr>
        <p:grpSpPr bwMode="auto">
          <a:xfrm>
            <a:off x="2986088" y="3361690"/>
            <a:ext cx="2676525" cy="519113"/>
            <a:chOff x="3281" y="3232"/>
            <a:chExt cx="1686" cy="327"/>
          </a:xfrm>
        </p:grpSpPr>
        <p:sp>
          <p:nvSpPr>
            <p:cNvPr id="24596" name="Line 10"/>
            <p:cNvSpPr>
              <a:spLocks noChangeShapeType="1"/>
            </p:cNvSpPr>
            <p:nvPr/>
          </p:nvSpPr>
          <p:spPr bwMode="auto">
            <a:xfrm>
              <a:off x="4023" y="3280"/>
              <a:ext cx="144" cy="0"/>
            </a:xfrm>
            <a:prstGeom prst="line">
              <a:avLst/>
            </a:prstGeom>
            <a:noFill/>
            <a:ln w="28575">
              <a:solidFill>
                <a:schemeClr val="tx1"/>
              </a:solidFill>
              <a:round/>
            </a:ln>
            <a:effectLst/>
          </p:spPr>
          <p:txBody>
            <a:bodyPr/>
            <a:p>
              <a:endParaRPr lang="zh-CN" altLang="en-US"/>
            </a:p>
          </p:txBody>
        </p:sp>
        <p:sp>
          <p:nvSpPr>
            <p:cNvPr id="24597" name="Line 11"/>
            <p:cNvSpPr>
              <a:spLocks noChangeShapeType="1"/>
            </p:cNvSpPr>
            <p:nvPr/>
          </p:nvSpPr>
          <p:spPr bwMode="auto">
            <a:xfrm>
              <a:off x="4778" y="3307"/>
              <a:ext cx="0" cy="240"/>
            </a:xfrm>
            <a:prstGeom prst="line">
              <a:avLst/>
            </a:prstGeom>
            <a:noFill/>
            <a:ln w="28575">
              <a:solidFill>
                <a:srgbClr val="FF0000"/>
              </a:solidFill>
              <a:round/>
              <a:tailEnd type="triangle" w="sm" len="lg"/>
            </a:ln>
            <a:effectLst/>
          </p:spPr>
          <p:txBody>
            <a:bodyPr/>
            <a:p>
              <a:endParaRPr lang="zh-CN" altLang="en-US"/>
            </a:p>
          </p:txBody>
        </p:sp>
        <p:sp>
          <p:nvSpPr>
            <p:cNvPr id="24598" name="Text Box 12"/>
            <p:cNvSpPr txBox="1">
              <a:spLocks noChangeArrowheads="1"/>
            </p:cNvSpPr>
            <p:nvPr/>
          </p:nvSpPr>
          <p:spPr bwMode="auto">
            <a:xfrm>
              <a:off x="3281" y="3232"/>
              <a:ext cx="1686" cy="327"/>
            </a:xfrm>
            <a:prstGeom prst="rect">
              <a:avLst/>
            </a:prstGeom>
            <a:noFill/>
            <a:ln w="9525">
              <a:noFill/>
              <a:miter lim="800000"/>
            </a:ln>
            <a:effectLst/>
          </p:spPr>
          <p:txBody>
            <a:bodyPr>
              <a:spAutoFit/>
            </a:bodyPr>
            <a:p>
              <a:r>
                <a:rPr kumimoji="0" lang="en-US" altLang="zh-CN" sz="2800" i="1">
                  <a:solidFill>
                    <a:schemeClr val="tx2"/>
                  </a:solidFill>
                </a:rPr>
                <a:t>Q</a:t>
              </a:r>
              <a:r>
                <a:rPr kumimoji="0" lang="en-US" altLang="zh-CN" sz="2800" i="1" baseline="50000">
                  <a:solidFill>
                    <a:schemeClr val="tx2"/>
                  </a:solidFill>
                </a:rPr>
                <a:t>n</a:t>
              </a:r>
              <a:r>
                <a:rPr kumimoji="0" lang="en-US" altLang="zh-CN" sz="2800" baseline="50000">
                  <a:solidFill>
                    <a:schemeClr val="tx2"/>
                  </a:solidFill>
                </a:rPr>
                <a:t>+1</a:t>
              </a:r>
              <a:r>
                <a:rPr kumimoji="0" lang="en-US" altLang="zh-CN" sz="2800">
                  <a:solidFill>
                    <a:schemeClr val="tx2"/>
                  </a:solidFill>
                </a:rPr>
                <a:t>=</a:t>
              </a:r>
              <a:r>
                <a:rPr kumimoji="0" lang="en-US" altLang="zh-CN" sz="2800">
                  <a:solidFill>
                    <a:srgbClr val="FF0000"/>
                  </a:solidFill>
                </a:rPr>
                <a:t>[</a:t>
              </a:r>
              <a:r>
                <a:rPr kumimoji="0" lang="en-US" altLang="zh-CN" sz="2800">
                  <a:solidFill>
                    <a:schemeClr val="tx2"/>
                  </a:solidFill>
                </a:rPr>
                <a:t> </a:t>
              </a:r>
              <a:r>
                <a:rPr kumimoji="0" lang="en-US" altLang="zh-CN" sz="2800" i="1">
                  <a:solidFill>
                    <a:schemeClr val="tx2"/>
                  </a:solidFill>
                </a:rPr>
                <a:t>Q</a:t>
              </a:r>
              <a:r>
                <a:rPr kumimoji="0" lang="en-US" altLang="zh-CN" sz="2800" i="1" baseline="50000">
                  <a:solidFill>
                    <a:schemeClr val="tx2"/>
                  </a:solidFill>
                </a:rPr>
                <a:t>n</a:t>
              </a:r>
              <a:r>
                <a:rPr kumimoji="0" lang="en-US" altLang="zh-CN" sz="2800" baseline="50000">
                  <a:solidFill>
                    <a:schemeClr val="tx2"/>
                  </a:solidFill>
                </a:rPr>
                <a:t> </a:t>
              </a:r>
              <a:r>
                <a:rPr kumimoji="0" lang="en-US" altLang="zh-CN" sz="2800">
                  <a:solidFill>
                    <a:srgbClr val="FF0000"/>
                  </a:solidFill>
                </a:rPr>
                <a:t>]·</a:t>
              </a:r>
              <a:r>
                <a:rPr kumimoji="0" lang="en-US" altLang="zh-CN" sz="2800" i="1">
                  <a:solidFill>
                    <a:srgbClr val="FF0000"/>
                  </a:solidFill>
                </a:rPr>
                <a:t>CP</a:t>
              </a:r>
              <a:endParaRPr kumimoji="0" lang="en-US" altLang="zh-CN" sz="2800" i="1">
                <a:solidFill>
                  <a:srgbClr val="FF0000"/>
                </a:solidFill>
              </a:endParaRPr>
            </a:p>
          </p:txBody>
        </p:sp>
      </p:grpSp>
      <p:grpSp>
        <p:nvGrpSpPr>
          <p:cNvPr id="54314" name="组合 54313"/>
          <p:cNvGrpSpPr/>
          <p:nvPr/>
        </p:nvGrpSpPr>
        <p:grpSpPr>
          <a:xfrm>
            <a:off x="652156" y="4176395"/>
            <a:ext cx="3641102" cy="1519238"/>
            <a:chOff x="4736476" y="3340100"/>
            <a:chExt cx="3641102" cy="1519238"/>
          </a:xfrm>
        </p:grpSpPr>
        <p:sp>
          <p:nvSpPr>
            <p:cNvPr id="54296" name="Rectangle 128"/>
            <p:cNvSpPr>
              <a:spLocks noChangeArrowheads="1"/>
            </p:cNvSpPr>
            <p:nvPr/>
          </p:nvSpPr>
          <p:spPr bwMode="auto">
            <a:xfrm>
              <a:off x="5737225" y="3592513"/>
              <a:ext cx="1012825" cy="1266825"/>
            </a:xfrm>
            <a:prstGeom prst="rect">
              <a:avLst/>
            </a:prstGeom>
            <a:noFill/>
            <a:ln w="25400">
              <a:solidFill>
                <a:srgbClr val="80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4297" name="Line 129"/>
            <p:cNvSpPr>
              <a:spLocks noChangeShapeType="1"/>
            </p:cNvSpPr>
            <p:nvPr/>
          </p:nvSpPr>
          <p:spPr bwMode="auto">
            <a:xfrm flipH="1">
              <a:off x="5230813" y="3846513"/>
              <a:ext cx="506413" cy="0"/>
            </a:xfrm>
            <a:prstGeom prst="line">
              <a:avLst/>
            </a:prstGeom>
            <a:noFill/>
            <a:ln w="25400">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4298" name="Rectangle 130"/>
            <p:cNvSpPr>
              <a:spLocks noChangeArrowheads="1"/>
            </p:cNvSpPr>
            <p:nvPr/>
          </p:nvSpPr>
          <p:spPr bwMode="auto">
            <a:xfrm>
              <a:off x="5838825" y="3719513"/>
              <a:ext cx="3286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a:ln>
                    <a:noFill/>
                  </a:ln>
                  <a:solidFill>
                    <a:srgbClr val="000000"/>
                  </a:solidFill>
                  <a:effectLst/>
                  <a:latin typeface="Times New Roman" panose="02020603050405020304" pitchFamily="18" charset="0"/>
                </a:rPr>
                <a:t>1D</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4299" name="Line 131"/>
            <p:cNvSpPr>
              <a:spLocks noChangeShapeType="1"/>
            </p:cNvSpPr>
            <p:nvPr/>
          </p:nvSpPr>
          <p:spPr bwMode="auto">
            <a:xfrm>
              <a:off x="5737225" y="4530725"/>
              <a:ext cx="76200" cy="76200"/>
            </a:xfrm>
            <a:prstGeom prst="line">
              <a:avLst/>
            </a:prstGeom>
            <a:noFill/>
            <a:ln w="0">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4300" name="Line 132"/>
            <p:cNvSpPr>
              <a:spLocks noChangeShapeType="1"/>
            </p:cNvSpPr>
            <p:nvPr/>
          </p:nvSpPr>
          <p:spPr bwMode="auto">
            <a:xfrm flipH="1">
              <a:off x="5737225" y="4606925"/>
              <a:ext cx="76200" cy="76200"/>
            </a:xfrm>
            <a:prstGeom prst="line">
              <a:avLst/>
            </a:prstGeom>
            <a:noFill/>
            <a:ln w="0">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4301" name="Line 133"/>
            <p:cNvSpPr>
              <a:spLocks noChangeShapeType="1"/>
            </p:cNvSpPr>
            <p:nvPr/>
          </p:nvSpPr>
          <p:spPr bwMode="auto">
            <a:xfrm flipH="1">
              <a:off x="5230813" y="4606925"/>
              <a:ext cx="506413" cy="0"/>
            </a:xfrm>
            <a:prstGeom prst="line">
              <a:avLst/>
            </a:prstGeom>
            <a:noFill/>
            <a:ln w="25400">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4302" name="Rectangle 134"/>
            <p:cNvSpPr>
              <a:spLocks noChangeArrowheads="1"/>
            </p:cNvSpPr>
            <p:nvPr/>
          </p:nvSpPr>
          <p:spPr bwMode="auto">
            <a:xfrm>
              <a:off x="5864951" y="4440736"/>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0000"/>
                  </a:solidFill>
                  <a:effectLst/>
                  <a:latin typeface="Times New Roman" panose="02020603050405020304" pitchFamily="18" charset="0"/>
                </a:rPr>
                <a:t>C1</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54303" name="Line 135"/>
            <p:cNvSpPr>
              <a:spLocks noChangeShapeType="1"/>
            </p:cNvSpPr>
            <p:nvPr/>
          </p:nvSpPr>
          <p:spPr bwMode="auto">
            <a:xfrm>
              <a:off x="6750050" y="3846513"/>
              <a:ext cx="506413" cy="0"/>
            </a:xfrm>
            <a:prstGeom prst="line">
              <a:avLst/>
            </a:prstGeom>
            <a:noFill/>
            <a:ln w="25400">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4304" name="Oval 136"/>
            <p:cNvSpPr>
              <a:spLocks noChangeArrowheads="1"/>
            </p:cNvSpPr>
            <p:nvPr/>
          </p:nvSpPr>
          <p:spPr bwMode="auto">
            <a:xfrm>
              <a:off x="6750050" y="4530725"/>
              <a:ext cx="152400" cy="152400"/>
            </a:xfrm>
            <a:prstGeom prst="ellipse">
              <a:avLst/>
            </a:prstGeom>
            <a:noFill/>
            <a:ln w="0">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4305" name="Line 137"/>
            <p:cNvSpPr>
              <a:spLocks noChangeShapeType="1"/>
            </p:cNvSpPr>
            <p:nvPr/>
          </p:nvSpPr>
          <p:spPr bwMode="auto">
            <a:xfrm>
              <a:off x="6902450" y="4606925"/>
              <a:ext cx="354013" cy="0"/>
            </a:xfrm>
            <a:prstGeom prst="line">
              <a:avLst/>
            </a:prstGeom>
            <a:noFill/>
            <a:ln w="25400">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4306" name="Rectangle 138"/>
            <p:cNvSpPr>
              <a:spLocks noChangeArrowheads="1"/>
            </p:cNvSpPr>
            <p:nvPr/>
          </p:nvSpPr>
          <p:spPr bwMode="auto">
            <a:xfrm>
              <a:off x="4736476" y="4415393"/>
              <a:ext cx="3927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400" b="0" i="1" u="none" strike="noStrike" cap="none" normalizeH="0" baseline="0" dirty="0">
                  <a:ln>
                    <a:noFill/>
                  </a:ln>
                  <a:solidFill>
                    <a:srgbClr val="000000"/>
                  </a:solidFill>
                  <a:effectLst/>
                  <a:latin typeface="Times New Roman" panose="02020603050405020304" pitchFamily="18" charset="0"/>
                </a:rPr>
                <a:t>CP</a:t>
              </a:r>
              <a:endParaRPr kumimoji="0" lang="zh-CN" altLang="zh-CN" sz="1800" b="0" i="1" u="none" strike="noStrike" cap="none" normalizeH="0" baseline="0" dirty="0">
                <a:ln>
                  <a:noFill/>
                </a:ln>
                <a:solidFill>
                  <a:schemeClr val="tx1"/>
                </a:solidFill>
                <a:effectLst/>
                <a:latin typeface="Arial" panose="020B0604020202020204" pitchFamily="34" charset="0"/>
              </a:endParaRPr>
            </a:p>
          </p:txBody>
        </p:sp>
        <p:sp>
          <p:nvSpPr>
            <p:cNvPr id="54307" name="Rectangle 139"/>
            <p:cNvSpPr>
              <a:spLocks noChangeArrowheads="1"/>
            </p:cNvSpPr>
            <p:nvPr/>
          </p:nvSpPr>
          <p:spPr bwMode="auto">
            <a:xfrm>
              <a:off x="8154760" y="4390662"/>
              <a:ext cx="2228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400" b="0" i="1" u="none" strike="noStrike" cap="none" normalizeH="0" baseline="0" dirty="0">
                  <a:ln>
                    <a:noFill/>
                  </a:ln>
                  <a:solidFill>
                    <a:srgbClr val="000000"/>
                  </a:solidFill>
                  <a:effectLst/>
                  <a:latin typeface="Times New Roman" panose="02020603050405020304" pitchFamily="18" charset="0"/>
                </a:rPr>
                <a:t>Q</a:t>
              </a:r>
              <a:endParaRPr kumimoji="0" lang="zh-CN" altLang="zh-CN" sz="1800" b="0" i="1" u="none" strike="noStrike" cap="none" normalizeH="0" baseline="0" dirty="0">
                <a:ln>
                  <a:noFill/>
                </a:ln>
                <a:solidFill>
                  <a:schemeClr val="tx1"/>
                </a:solidFill>
                <a:effectLst/>
                <a:latin typeface="Arial" panose="020B0604020202020204" pitchFamily="34" charset="0"/>
              </a:endParaRPr>
            </a:p>
          </p:txBody>
        </p:sp>
        <p:sp>
          <p:nvSpPr>
            <p:cNvPr id="54308" name="Rectangle 140"/>
            <p:cNvSpPr>
              <a:spLocks noChangeArrowheads="1"/>
            </p:cNvSpPr>
            <p:nvPr/>
          </p:nvSpPr>
          <p:spPr bwMode="auto">
            <a:xfrm>
              <a:off x="8115571" y="3641135"/>
              <a:ext cx="2228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400" b="0" i="1" u="none" strike="noStrike" cap="none" normalizeH="0" baseline="0" dirty="0">
                  <a:ln>
                    <a:noFill/>
                  </a:ln>
                  <a:solidFill>
                    <a:srgbClr val="000000"/>
                  </a:solidFill>
                  <a:effectLst/>
                  <a:latin typeface="Times New Roman" panose="02020603050405020304" pitchFamily="18" charset="0"/>
                </a:rPr>
                <a:t>Q</a:t>
              </a:r>
              <a:endParaRPr kumimoji="0" lang="zh-CN" altLang="zh-CN" sz="1800" b="0" i="1" u="none" strike="noStrike" cap="none" normalizeH="0" baseline="0" dirty="0">
                <a:ln>
                  <a:noFill/>
                </a:ln>
                <a:solidFill>
                  <a:schemeClr val="tx1"/>
                </a:solidFill>
                <a:effectLst/>
                <a:latin typeface="Arial" panose="020B0604020202020204" pitchFamily="34" charset="0"/>
              </a:endParaRPr>
            </a:p>
          </p:txBody>
        </p:sp>
        <p:sp>
          <p:nvSpPr>
            <p:cNvPr id="54309" name="Line 141"/>
            <p:cNvSpPr>
              <a:spLocks noChangeShapeType="1"/>
            </p:cNvSpPr>
            <p:nvPr/>
          </p:nvSpPr>
          <p:spPr bwMode="auto">
            <a:xfrm>
              <a:off x="8206286" y="4430577"/>
              <a:ext cx="152400" cy="0"/>
            </a:xfrm>
            <a:prstGeom prst="line">
              <a:avLst/>
            </a:prstGeom>
            <a:noFill/>
            <a:ln w="25400">
              <a:solidFill>
                <a:srgbClr val="00000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4310" name="Freeform 142"/>
            <p:cNvSpPr/>
            <p:nvPr/>
          </p:nvSpPr>
          <p:spPr bwMode="auto">
            <a:xfrm>
              <a:off x="5230813" y="3340100"/>
              <a:ext cx="2330450" cy="1266825"/>
            </a:xfrm>
            <a:custGeom>
              <a:avLst/>
              <a:gdLst>
                <a:gd name="T0" fmla="*/ 1276 w 1468"/>
                <a:gd name="T1" fmla="*/ 798 h 798"/>
                <a:gd name="T2" fmla="*/ 1468 w 1468"/>
                <a:gd name="T3" fmla="*/ 798 h 798"/>
                <a:gd name="T4" fmla="*/ 1468 w 1468"/>
                <a:gd name="T5" fmla="*/ 0 h 798"/>
                <a:gd name="T6" fmla="*/ 0 w 1468"/>
                <a:gd name="T7" fmla="*/ 0 h 798"/>
                <a:gd name="T8" fmla="*/ 0 w 1468"/>
                <a:gd name="T9" fmla="*/ 319 h 798"/>
              </a:gdLst>
              <a:ahLst/>
              <a:cxnLst>
                <a:cxn ang="0">
                  <a:pos x="T0" y="T1"/>
                </a:cxn>
                <a:cxn ang="0">
                  <a:pos x="T2" y="T3"/>
                </a:cxn>
                <a:cxn ang="0">
                  <a:pos x="T4" y="T5"/>
                </a:cxn>
                <a:cxn ang="0">
                  <a:pos x="T6" y="T7"/>
                </a:cxn>
                <a:cxn ang="0">
                  <a:pos x="T8" y="T9"/>
                </a:cxn>
              </a:cxnLst>
              <a:rect l="0" t="0" r="r" b="b"/>
              <a:pathLst>
                <a:path w="1468" h="798">
                  <a:moveTo>
                    <a:pt x="1276" y="798"/>
                  </a:moveTo>
                  <a:lnTo>
                    <a:pt x="1468" y="798"/>
                  </a:lnTo>
                  <a:lnTo>
                    <a:pt x="1468" y="0"/>
                  </a:lnTo>
                  <a:lnTo>
                    <a:pt x="0" y="0"/>
                  </a:lnTo>
                  <a:lnTo>
                    <a:pt x="0" y="319"/>
                  </a:lnTo>
                </a:path>
              </a:pathLst>
            </a:custGeom>
            <a:noFill/>
            <a:ln w="25400">
              <a:solidFill>
                <a:srgbClr val="000080"/>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54311" name="Line 143"/>
            <p:cNvSpPr>
              <a:spLocks noChangeShapeType="1"/>
            </p:cNvSpPr>
            <p:nvPr/>
          </p:nvSpPr>
          <p:spPr bwMode="auto">
            <a:xfrm flipH="1">
              <a:off x="7256463" y="3846513"/>
              <a:ext cx="735013" cy="0"/>
            </a:xfrm>
            <a:prstGeom prst="line">
              <a:avLst/>
            </a:prstGeom>
            <a:noFill/>
            <a:ln w="25400">
              <a:solidFill>
                <a:srgbClr val="00008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4312" name="Line 144"/>
            <p:cNvSpPr>
              <a:spLocks noChangeShapeType="1"/>
            </p:cNvSpPr>
            <p:nvPr/>
          </p:nvSpPr>
          <p:spPr bwMode="auto">
            <a:xfrm>
              <a:off x="7561263" y="4606925"/>
              <a:ext cx="481013" cy="0"/>
            </a:xfrm>
            <a:prstGeom prst="line">
              <a:avLst/>
            </a:prstGeom>
            <a:noFill/>
            <a:ln w="25400">
              <a:solidFill>
                <a:srgbClr val="000080"/>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4313" name="Oval 145"/>
            <p:cNvSpPr>
              <a:spLocks noChangeArrowheads="1"/>
            </p:cNvSpPr>
            <p:nvPr/>
          </p:nvSpPr>
          <p:spPr bwMode="auto">
            <a:xfrm>
              <a:off x="7510463" y="4556125"/>
              <a:ext cx="101600" cy="101600"/>
            </a:xfrm>
            <a:prstGeom prst="ellipse">
              <a:avLst/>
            </a:prstGeom>
            <a:solidFill>
              <a:srgbClr val="800000"/>
            </a:solidFill>
            <a:ln w="0">
              <a:solidFill>
                <a:srgbClr val="800000"/>
              </a:solidFill>
              <a:prstDash val="solid"/>
              <a:round/>
            </a:ln>
          </p:spPr>
          <p:txBody>
            <a:bodyPr vert="horz" wrap="square" lIns="91440" tIns="45720" rIns="91440" bIns="45720" numCol="1" anchor="t" anchorCtr="0" compatLnSpc="1"/>
            <a:lstStyle/>
            <a:p>
              <a:endParaRPr lang="zh-CN" altLang="en-US"/>
            </a:p>
          </p:txBody>
        </p:sp>
      </p:grpSp>
      <p:grpSp>
        <p:nvGrpSpPr>
          <p:cNvPr id="2" name="Group 24"/>
          <p:cNvGrpSpPr/>
          <p:nvPr/>
        </p:nvGrpSpPr>
        <p:grpSpPr bwMode="auto">
          <a:xfrm>
            <a:off x="5172393" y="4730750"/>
            <a:ext cx="2754313" cy="522288"/>
            <a:chOff x="3287" y="3262"/>
            <a:chExt cx="1735" cy="329"/>
          </a:xfrm>
        </p:grpSpPr>
        <p:sp>
          <p:nvSpPr>
            <p:cNvPr id="3" name="Line 10"/>
            <p:cNvSpPr>
              <a:spLocks noChangeShapeType="1"/>
            </p:cNvSpPr>
            <p:nvPr/>
          </p:nvSpPr>
          <p:spPr bwMode="auto">
            <a:xfrm>
              <a:off x="4023" y="3280"/>
              <a:ext cx="144" cy="0"/>
            </a:xfrm>
            <a:prstGeom prst="line">
              <a:avLst/>
            </a:prstGeom>
            <a:noFill/>
            <a:ln w="28575">
              <a:solidFill>
                <a:schemeClr val="tx1"/>
              </a:solidFill>
              <a:round/>
            </a:ln>
            <a:effectLst/>
          </p:spPr>
          <p:txBody>
            <a:bodyPr/>
            <a:p>
              <a:endParaRPr lang="zh-CN" altLang="en-US"/>
            </a:p>
          </p:txBody>
        </p:sp>
        <p:sp>
          <p:nvSpPr>
            <p:cNvPr id="4" name="Line 11"/>
            <p:cNvSpPr>
              <a:spLocks noChangeShapeType="1"/>
            </p:cNvSpPr>
            <p:nvPr/>
          </p:nvSpPr>
          <p:spPr bwMode="auto">
            <a:xfrm flipV="1">
              <a:off x="4778" y="3307"/>
              <a:ext cx="0" cy="240"/>
            </a:xfrm>
            <a:prstGeom prst="line">
              <a:avLst/>
            </a:prstGeom>
            <a:noFill/>
            <a:ln w="28575">
              <a:solidFill>
                <a:srgbClr val="FF0000"/>
              </a:solidFill>
              <a:round/>
              <a:tailEnd type="triangle" w="sm" len="lg"/>
            </a:ln>
            <a:effectLst/>
          </p:spPr>
          <p:txBody>
            <a:bodyPr/>
            <a:p>
              <a:endParaRPr lang="zh-CN" altLang="en-US"/>
            </a:p>
          </p:txBody>
        </p:sp>
        <p:sp>
          <p:nvSpPr>
            <p:cNvPr id="5" name="Text Box 12"/>
            <p:cNvSpPr txBox="1">
              <a:spLocks noChangeArrowheads="1"/>
            </p:cNvSpPr>
            <p:nvPr/>
          </p:nvSpPr>
          <p:spPr bwMode="auto">
            <a:xfrm>
              <a:off x="3287" y="3262"/>
              <a:ext cx="1735" cy="329"/>
            </a:xfrm>
            <a:prstGeom prst="rect">
              <a:avLst/>
            </a:prstGeom>
            <a:noFill/>
            <a:ln w="9525">
              <a:noFill/>
              <a:miter lim="800000"/>
            </a:ln>
            <a:effectLst/>
          </p:spPr>
          <p:txBody>
            <a:bodyPr wrap="square">
              <a:spAutoFit/>
            </a:bodyPr>
            <a:p>
              <a:r>
                <a:rPr kumimoji="0" lang="en-US" altLang="zh-CN" sz="2800" i="1">
                  <a:solidFill>
                    <a:schemeClr val="tx2"/>
                  </a:solidFill>
                </a:rPr>
                <a:t>Q</a:t>
              </a:r>
              <a:r>
                <a:rPr kumimoji="0" lang="en-US" altLang="zh-CN" sz="2800" i="1" baseline="50000">
                  <a:solidFill>
                    <a:schemeClr val="tx2"/>
                  </a:solidFill>
                </a:rPr>
                <a:t>n</a:t>
              </a:r>
              <a:r>
                <a:rPr kumimoji="0" lang="en-US" altLang="zh-CN" sz="2800" baseline="50000">
                  <a:solidFill>
                    <a:schemeClr val="tx2"/>
                  </a:solidFill>
                </a:rPr>
                <a:t>+1</a:t>
              </a:r>
              <a:r>
                <a:rPr kumimoji="0" lang="en-US" altLang="zh-CN" sz="2800">
                  <a:solidFill>
                    <a:schemeClr val="tx2"/>
                  </a:solidFill>
                </a:rPr>
                <a:t>=</a:t>
              </a:r>
              <a:r>
                <a:rPr kumimoji="0" lang="en-US" altLang="zh-CN" sz="2800">
                  <a:solidFill>
                    <a:srgbClr val="FF0000"/>
                  </a:solidFill>
                </a:rPr>
                <a:t>[</a:t>
              </a:r>
              <a:r>
                <a:rPr kumimoji="0" lang="en-US" altLang="zh-CN" sz="2800">
                  <a:solidFill>
                    <a:schemeClr val="tx2"/>
                  </a:solidFill>
                </a:rPr>
                <a:t> </a:t>
              </a:r>
              <a:r>
                <a:rPr kumimoji="0" lang="en-US" altLang="zh-CN" sz="2800" i="1">
                  <a:solidFill>
                    <a:schemeClr val="tx2"/>
                  </a:solidFill>
                </a:rPr>
                <a:t>Q</a:t>
              </a:r>
              <a:r>
                <a:rPr kumimoji="0" lang="en-US" altLang="zh-CN" sz="2800" i="1" baseline="50000">
                  <a:solidFill>
                    <a:schemeClr val="tx2"/>
                  </a:solidFill>
                </a:rPr>
                <a:t>n</a:t>
              </a:r>
              <a:r>
                <a:rPr kumimoji="0" lang="en-US" altLang="zh-CN" sz="2800" baseline="50000">
                  <a:solidFill>
                    <a:schemeClr val="tx2"/>
                  </a:solidFill>
                </a:rPr>
                <a:t> </a:t>
              </a:r>
              <a:r>
                <a:rPr kumimoji="0" lang="en-US" altLang="zh-CN" sz="2800">
                  <a:solidFill>
                    <a:srgbClr val="FF0000"/>
                  </a:solidFill>
                </a:rPr>
                <a:t>]·</a:t>
              </a:r>
              <a:r>
                <a:rPr kumimoji="0" lang="en-US" altLang="zh-CN" sz="2800" i="1">
                  <a:solidFill>
                    <a:srgbClr val="FF0000"/>
                  </a:solidFill>
                </a:rPr>
                <a:t>CP</a:t>
              </a:r>
              <a:endParaRPr kumimoji="0" lang="en-US" altLang="zh-CN" sz="2800" i="1">
                <a:solidFill>
                  <a:srgbClr val="FF0000"/>
                </a:solidFill>
              </a:endParaRPr>
            </a:p>
          </p:txBody>
        </p:sp>
      </p:grpSp>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25219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主题五 时序逻辑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12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5.1 </a:t>
            </a:r>
            <a:r>
              <a:rPr kumimoji="0" lang="zh-CN" altLang="en-US" dirty="0">
                <a:solidFill>
                  <a:srgbClr val="000000"/>
                </a:solidFill>
                <a:latin typeface="黑体" panose="02010609060101010101" pitchFamily="49" charset="-122"/>
                <a:ea typeface="黑体" panose="02010609060101010101" pitchFamily="49" charset="-122"/>
              </a:rPr>
              <a:t>时序逻辑电路</a:t>
            </a:r>
            <a:r>
              <a:rPr kumimoji="0" lang="zh-CN" altLang="en-US" dirty="0">
                <a:solidFill>
                  <a:srgbClr val="000000"/>
                </a:solidFill>
                <a:latin typeface="黑体" panose="02010609060101010101" pitchFamily="49" charset="-122"/>
                <a:ea typeface="黑体" panose="02010609060101010101" pitchFamily="49" charset="-122"/>
              </a:rPr>
              <a:t>分析 </a:t>
            </a:r>
            <a:endParaRPr kumimoji="0" lang="zh-CN" altLang="en-US" dirty="0">
              <a:solidFill>
                <a:srgbClr val="000000"/>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1"/>
          <a:stretch>
            <a:fillRect/>
          </a:stretch>
        </p:blipFill>
        <p:spPr>
          <a:xfrm>
            <a:off x="1551305" y="1563370"/>
            <a:ext cx="6324600" cy="4427220"/>
          </a:xfrm>
          <a:prstGeom prst="rect">
            <a:avLst/>
          </a:prstGeom>
        </p:spPr>
      </p:pic>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25219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主题五 时序逻辑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12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5.2 </a:t>
            </a:r>
            <a:r>
              <a:rPr kumimoji="0" lang="zh-CN" altLang="en-US" dirty="0">
                <a:solidFill>
                  <a:srgbClr val="000000"/>
                </a:solidFill>
                <a:latin typeface="黑体" panose="02010609060101010101" pitchFamily="49" charset="-122"/>
                <a:ea typeface="黑体" panose="02010609060101010101" pitchFamily="49" charset="-122"/>
              </a:rPr>
              <a:t>寄存器与移</a:t>
            </a:r>
            <a:r>
              <a:rPr kumimoji="0" lang="zh-CN" altLang="en-US" dirty="0">
                <a:solidFill>
                  <a:srgbClr val="000000"/>
                </a:solidFill>
                <a:latin typeface="黑体" panose="02010609060101010101" pitchFamily="49" charset="-122"/>
                <a:ea typeface="黑体" panose="02010609060101010101" pitchFamily="49" charset="-122"/>
              </a:rPr>
              <a:t>存器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677545" y="163893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b="1" dirty="0">
                <a:latin typeface="黑体" panose="02010609060101010101" pitchFamily="49" charset="-122"/>
                <a:ea typeface="黑体" panose="02010609060101010101" pitchFamily="49" charset="-122"/>
                <a:sym typeface="+mn-ea"/>
              </a:rPr>
              <a:t>级联型</a:t>
            </a:r>
            <a:r>
              <a:rPr kumimoji="0" lang="zh-CN" altLang="en-US" sz="2400" b="1" dirty="0">
                <a:latin typeface="黑体" panose="02010609060101010101" pitchFamily="49" charset="-122"/>
                <a:ea typeface="黑体" panose="02010609060101010101" pitchFamily="49" charset="-122"/>
                <a:sym typeface="+mn-ea"/>
              </a:rPr>
              <a:t>寄存器</a:t>
            </a:r>
            <a:endParaRPr kumimoji="0" lang="zh-CN" altLang="en-US" sz="2400" b="1" dirty="0">
              <a:latin typeface="黑体" panose="02010609060101010101" pitchFamily="49" charset="-122"/>
              <a:ea typeface="黑体" panose="02010609060101010101" pitchFamily="49" charset="-122"/>
              <a:sym typeface="+mn-ea"/>
            </a:endParaRPr>
          </a:p>
        </p:txBody>
      </p:sp>
      <p:grpSp>
        <p:nvGrpSpPr>
          <p:cNvPr id="80918" name="Group 22"/>
          <p:cNvGrpSpPr/>
          <p:nvPr/>
        </p:nvGrpSpPr>
        <p:grpSpPr bwMode="auto">
          <a:xfrm>
            <a:off x="588963" y="2487613"/>
            <a:ext cx="7639050" cy="3024187"/>
            <a:chOff x="362" y="1090"/>
            <a:chExt cx="4812" cy="1905"/>
          </a:xfrm>
        </p:grpSpPr>
        <p:grpSp>
          <p:nvGrpSpPr>
            <p:cNvPr id="9229" name="Group 23"/>
            <p:cNvGrpSpPr/>
            <p:nvPr/>
          </p:nvGrpSpPr>
          <p:grpSpPr bwMode="auto">
            <a:xfrm>
              <a:off x="362" y="1090"/>
              <a:ext cx="4812" cy="1905"/>
              <a:chOff x="362" y="1090"/>
              <a:chExt cx="4812" cy="1905"/>
            </a:xfrm>
          </p:grpSpPr>
          <p:sp>
            <p:nvSpPr>
              <p:cNvPr id="9242" name="Line 24"/>
              <p:cNvSpPr>
                <a:spLocks noChangeShapeType="1"/>
              </p:cNvSpPr>
              <p:nvPr/>
            </p:nvSpPr>
            <p:spPr bwMode="auto">
              <a:xfrm flipV="1">
                <a:off x="2435" y="1330"/>
                <a:ext cx="1" cy="127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43" name="Line 25"/>
              <p:cNvSpPr>
                <a:spLocks noChangeShapeType="1"/>
              </p:cNvSpPr>
              <p:nvPr/>
            </p:nvSpPr>
            <p:spPr bwMode="auto">
              <a:xfrm flipV="1">
                <a:off x="3503" y="1330"/>
                <a:ext cx="1" cy="127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44" name="Line 26"/>
              <p:cNvSpPr>
                <a:spLocks noChangeShapeType="1"/>
              </p:cNvSpPr>
              <p:nvPr/>
            </p:nvSpPr>
            <p:spPr bwMode="auto">
              <a:xfrm flipV="1">
                <a:off x="4571" y="1330"/>
                <a:ext cx="1" cy="127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45" name="Line 27"/>
              <p:cNvSpPr>
                <a:spLocks noChangeShapeType="1"/>
              </p:cNvSpPr>
              <p:nvPr/>
            </p:nvSpPr>
            <p:spPr bwMode="auto">
              <a:xfrm flipV="1">
                <a:off x="1367" y="1330"/>
                <a:ext cx="1" cy="1271"/>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46" name="Line 28"/>
              <p:cNvSpPr>
                <a:spLocks noChangeShapeType="1"/>
              </p:cNvSpPr>
              <p:nvPr/>
            </p:nvSpPr>
            <p:spPr bwMode="auto">
              <a:xfrm flipV="1">
                <a:off x="2799" y="1132"/>
                <a:ext cx="1" cy="17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47" name="Line 29"/>
              <p:cNvSpPr>
                <a:spLocks noChangeShapeType="1"/>
              </p:cNvSpPr>
              <p:nvPr/>
            </p:nvSpPr>
            <p:spPr bwMode="auto">
              <a:xfrm flipV="1">
                <a:off x="3867" y="1132"/>
                <a:ext cx="1" cy="17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48" name="Line 30"/>
              <p:cNvSpPr>
                <a:spLocks noChangeShapeType="1"/>
              </p:cNvSpPr>
              <p:nvPr/>
            </p:nvSpPr>
            <p:spPr bwMode="auto">
              <a:xfrm flipV="1">
                <a:off x="4935" y="1132"/>
                <a:ext cx="1" cy="17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49" name="Line 31"/>
              <p:cNvSpPr>
                <a:spLocks noChangeShapeType="1"/>
              </p:cNvSpPr>
              <p:nvPr/>
            </p:nvSpPr>
            <p:spPr bwMode="auto">
              <a:xfrm flipV="1">
                <a:off x="1732" y="1132"/>
                <a:ext cx="1" cy="1737"/>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50" name="Rectangle 32"/>
              <p:cNvSpPr>
                <a:spLocks noChangeArrowheads="1"/>
              </p:cNvSpPr>
              <p:nvPr/>
            </p:nvSpPr>
            <p:spPr bwMode="auto">
              <a:xfrm>
                <a:off x="2196" y="1528"/>
                <a:ext cx="842" cy="677"/>
              </a:xfrm>
              <a:prstGeom prst="rect">
                <a:avLst/>
              </a:prstGeom>
              <a:solidFill>
                <a:srgbClr val="FFFFFF"/>
              </a:solidFill>
              <a:ln w="39688">
                <a:solidFill>
                  <a:srgbClr val="000000"/>
                </a:solidFill>
                <a:miter lim="800000"/>
              </a:ln>
            </p:spPr>
            <p:txBody>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51" name="Freeform 33"/>
              <p:cNvSpPr/>
              <p:nvPr/>
            </p:nvSpPr>
            <p:spPr bwMode="auto">
              <a:xfrm>
                <a:off x="2397" y="1443"/>
                <a:ext cx="88" cy="85"/>
              </a:xfrm>
              <a:custGeom>
                <a:avLst/>
                <a:gdLst>
                  <a:gd name="T0" fmla="*/ 0 w 88"/>
                  <a:gd name="T1" fmla="*/ 42 h 85"/>
                  <a:gd name="T2" fmla="*/ 26 w 88"/>
                  <a:gd name="T3" fmla="*/ 0 h 85"/>
                  <a:gd name="T4" fmla="*/ 63 w 88"/>
                  <a:gd name="T5" fmla="*/ 0 h 85"/>
                  <a:gd name="T6" fmla="*/ 88 w 88"/>
                  <a:gd name="T7" fmla="*/ 42 h 85"/>
                  <a:gd name="T8" fmla="*/ 63 w 88"/>
                  <a:gd name="T9" fmla="*/ 85 h 85"/>
                  <a:gd name="T10" fmla="*/ 26 w 88"/>
                  <a:gd name="T11" fmla="*/ 85 h 85"/>
                  <a:gd name="T12" fmla="*/ 0 w 88"/>
                  <a:gd name="T13" fmla="*/ 42 h 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8" h="85">
                    <a:moveTo>
                      <a:pt x="0" y="42"/>
                    </a:moveTo>
                    <a:lnTo>
                      <a:pt x="26" y="0"/>
                    </a:lnTo>
                    <a:lnTo>
                      <a:pt x="63" y="0"/>
                    </a:lnTo>
                    <a:lnTo>
                      <a:pt x="88" y="42"/>
                    </a:lnTo>
                    <a:lnTo>
                      <a:pt x="63" y="85"/>
                    </a:lnTo>
                    <a:lnTo>
                      <a:pt x="26" y="85"/>
                    </a:lnTo>
                    <a:lnTo>
                      <a:pt x="0" y="42"/>
                    </a:lnTo>
                    <a:close/>
                  </a:path>
                </a:pathLst>
              </a:custGeom>
              <a:solidFill>
                <a:srgbClr val="FFFFFF"/>
              </a:solidFill>
              <a:ln w="20638">
                <a:solidFill>
                  <a:srgbClr val="000000"/>
                </a:solidFill>
                <a:prstDash val="solid"/>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52" name="Rectangle 34"/>
              <p:cNvSpPr>
                <a:spLocks noChangeArrowheads="1"/>
              </p:cNvSpPr>
              <p:nvPr/>
            </p:nvSpPr>
            <p:spPr bwMode="auto">
              <a:xfrm>
                <a:off x="3264" y="1528"/>
                <a:ext cx="842" cy="677"/>
              </a:xfrm>
              <a:prstGeom prst="rect">
                <a:avLst/>
              </a:prstGeom>
              <a:solidFill>
                <a:srgbClr val="FFFFFF"/>
              </a:solidFill>
              <a:ln w="39688">
                <a:solidFill>
                  <a:srgbClr val="000000"/>
                </a:solidFill>
                <a:miter lim="800000"/>
              </a:ln>
            </p:spPr>
            <p:txBody>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53" name="Freeform 35"/>
              <p:cNvSpPr/>
              <p:nvPr/>
            </p:nvSpPr>
            <p:spPr bwMode="auto">
              <a:xfrm>
                <a:off x="3465" y="1443"/>
                <a:ext cx="88" cy="85"/>
              </a:xfrm>
              <a:custGeom>
                <a:avLst/>
                <a:gdLst>
                  <a:gd name="T0" fmla="*/ 0 w 88"/>
                  <a:gd name="T1" fmla="*/ 42 h 85"/>
                  <a:gd name="T2" fmla="*/ 25 w 88"/>
                  <a:gd name="T3" fmla="*/ 0 h 85"/>
                  <a:gd name="T4" fmla="*/ 63 w 88"/>
                  <a:gd name="T5" fmla="*/ 0 h 85"/>
                  <a:gd name="T6" fmla="*/ 88 w 88"/>
                  <a:gd name="T7" fmla="*/ 42 h 85"/>
                  <a:gd name="T8" fmla="*/ 63 w 88"/>
                  <a:gd name="T9" fmla="*/ 85 h 85"/>
                  <a:gd name="T10" fmla="*/ 25 w 88"/>
                  <a:gd name="T11" fmla="*/ 85 h 85"/>
                  <a:gd name="T12" fmla="*/ 0 w 88"/>
                  <a:gd name="T13" fmla="*/ 42 h 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8" h="85">
                    <a:moveTo>
                      <a:pt x="0" y="42"/>
                    </a:moveTo>
                    <a:lnTo>
                      <a:pt x="25" y="0"/>
                    </a:lnTo>
                    <a:lnTo>
                      <a:pt x="63" y="0"/>
                    </a:lnTo>
                    <a:lnTo>
                      <a:pt x="88" y="42"/>
                    </a:lnTo>
                    <a:lnTo>
                      <a:pt x="63" y="85"/>
                    </a:lnTo>
                    <a:lnTo>
                      <a:pt x="25" y="85"/>
                    </a:lnTo>
                    <a:lnTo>
                      <a:pt x="0" y="42"/>
                    </a:lnTo>
                    <a:close/>
                  </a:path>
                </a:pathLst>
              </a:custGeom>
              <a:solidFill>
                <a:srgbClr val="FFFFFF"/>
              </a:solidFill>
              <a:ln w="20638">
                <a:solidFill>
                  <a:srgbClr val="000000"/>
                </a:solidFill>
                <a:prstDash val="solid"/>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54" name="Rectangle 36"/>
              <p:cNvSpPr>
                <a:spLocks noChangeArrowheads="1"/>
              </p:cNvSpPr>
              <p:nvPr/>
            </p:nvSpPr>
            <p:spPr bwMode="auto">
              <a:xfrm>
                <a:off x="4345" y="1528"/>
                <a:ext cx="829" cy="677"/>
              </a:xfrm>
              <a:prstGeom prst="rect">
                <a:avLst/>
              </a:prstGeom>
              <a:solidFill>
                <a:srgbClr val="FFFFFF"/>
              </a:solidFill>
              <a:ln w="39688">
                <a:solidFill>
                  <a:srgbClr val="000000"/>
                </a:solidFill>
                <a:miter lim="800000"/>
              </a:ln>
            </p:spPr>
            <p:txBody>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55" name="Freeform 37"/>
              <p:cNvSpPr/>
              <p:nvPr/>
            </p:nvSpPr>
            <p:spPr bwMode="auto">
              <a:xfrm>
                <a:off x="4533" y="1443"/>
                <a:ext cx="88" cy="85"/>
              </a:xfrm>
              <a:custGeom>
                <a:avLst/>
                <a:gdLst>
                  <a:gd name="T0" fmla="*/ 0 w 88"/>
                  <a:gd name="T1" fmla="*/ 42 h 85"/>
                  <a:gd name="T2" fmla="*/ 25 w 88"/>
                  <a:gd name="T3" fmla="*/ 0 h 85"/>
                  <a:gd name="T4" fmla="*/ 63 w 88"/>
                  <a:gd name="T5" fmla="*/ 0 h 85"/>
                  <a:gd name="T6" fmla="*/ 88 w 88"/>
                  <a:gd name="T7" fmla="*/ 42 h 85"/>
                  <a:gd name="T8" fmla="*/ 63 w 88"/>
                  <a:gd name="T9" fmla="*/ 85 h 85"/>
                  <a:gd name="T10" fmla="*/ 25 w 88"/>
                  <a:gd name="T11" fmla="*/ 85 h 85"/>
                  <a:gd name="T12" fmla="*/ 0 w 88"/>
                  <a:gd name="T13" fmla="*/ 42 h 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8" h="85">
                    <a:moveTo>
                      <a:pt x="0" y="42"/>
                    </a:moveTo>
                    <a:lnTo>
                      <a:pt x="25" y="0"/>
                    </a:lnTo>
                    <a:lnTo>
                      <a:pt x="63" y="0"/>
                    </a:lnTo>
                    <a:lnTo>
                      <a:pt x="88" y="42"/>
                    </a:lnTo>
                    <a:lnTo>
                      <a:pt x="63" y="85"/>
                    </a:lnTo>
                    <a:lnTo>
                      <a:pt x="25" y="85"/>
                    </a:lnTo>
                    <a:lnTo>
                      <a:pt x="0" y="42"/>
                    </a:lnTo>
                    <a:close/>
                  </a:path>
                </a:pathLst>
              </a:custGeom>
              <a:solidFill>
                <a:srgbClr val="FFFFFF"/>
              </a:solidFill>
              <a:ln w="20638">
                <a:solidFill>
                  <a:srgbClr val="000000"/>
                </a:solidFill>
                <a:prstDash val="solid"/>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56" name="Rectangle 38"/>
              <p:cNvSpPr>
                <a:spLocks noChangeArrowheads="1"/>
              </p:cNvSpPr>
              <p:nvPr/>
            </p:nvSpPr>
            <p:spPr bwMode="auto">
              <a:xfrm>
                <a:off x="1128" y="1528"/>
                <a:ext cx="842" cy="677"/>
              </a:xfrm>
              <a:prstGeom prst="rect">
                <a:avLst/>
              </a:prstGeom>
              <a:solidFill>
                <a:srgbClr val="FFFFFF"/>
              </a:solidFill>
              <a:ln w="39688">
                <a:solidFill>
                  <a:srgbClr val="000000"/>
                </a:solidFill>
                <a:miter lim="800000"/>
              </a:ln>
            </p:spPr>
            <p:txBody>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57" name="Rectangle 39"/>
              <p:cNvSpPr>
                <a:spLocks noChangeArrowheads="1"/>
              </p:cNvSpPr>
              <p:nvPr/>
            </p:nvSpPr>
            <p:spPr bwMode="auto">
              <a:xfrm>
                <a:off x="1279" y="1952"/>
                <a:ext cx="13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C</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58" name="Rectangle 40"/>
              <p:cNvSpPr>
                <a:spLocks noChangeArrowheads="1"/>
              </p:cNvSpPr>
              <p:nvPr/>
            </p:nvSpPr>
            <p:spPr bwMode="auto">
              <a:xfrm>
                <a:off x="1392" y="1952"/>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1</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59" name="Rectangle 41"/>
              <p:cNvSpPr>
                <a:spLocks noChangeArrowheads="1"/>
              </p:cNvSpPr>
              <p:nvPr/>
            </p:nvSpPr>
            <p:spPr bwMode="auto">
              <a:xfrm>
                <a:off x="1631" y="1952"/>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1</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60" name="Rectangle 42"/>
              <p:cNvSpPr>
                <a:spLocks noChangeArrowheads="1"/>
              </p:cNvSpPr>
              <p:nvPr/>
            </p:nvSpPr>
            <p:spPr bwMode="auto">
              <a:xfrm>
                <a:off x="1706" y="1952"/>
                <a:ext cx="13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D</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61" name="Freeform 43"/>
              <p:cNvSpPr/>
              <p:nvPr/>
            </p:nvSpPr>
            <p:spPr bwMode="auto">
              <a:xfrm>
                <a:off x="1329" y="1443"/>
                <a:ext cx="88" cy="85"/>
              </a:xfrm>
              <a:custGeom>
                <a:avLst/>
                <a:gdLst>
                  <a:gd name="T0" fmla="*/ 0 w 88"/>
                  <a:gd name="T1" fmla="*/ 42 h 85"/>
                  <a:gd name="T2" fmla="*/ 26 w 88"/>
                  <a:gd name="T3" fmla="*/ 0 h 85"/>
                  <a:gd name="T4" fmla="*/ 63 w 88"/>
                  <a:gd name="T5" fmla="*/ 0 h 85"/>
                  <a:gd name="T6" fmla="*/ 88 w 88"/>
                  <a:gd name="T7" fmla="*/ 42 h 85"/>
                  <a:gd name="T8" fmla="*/ 63 w 88"/>
                  <a:gd name="T9" fmla="*/ 85 h 85"/>
                  <a:gd name="T10" fmla="*/ 26 w 88"/>
                  <a:gd name="T11" fmla="*/ 85 h 85"/>
                  <a:gd name="T12" fmla="*/ 0 w 88"/>
                  <a:gd name="T13" fmla="*/ 42 h 8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8" h="85">
                    <a:moveTo>
                      <a:pt x="0" y="42"/>
                    </a:moveTo>
                    <a:lnTo>
                      <a:pt x="26" y="0"/>
                    </a:lnTo>
                    <a:lnTo>
                      <a:pt x="63" y="0"/>
                    </a:lnTo>
                    <a:lnTo>
                      <a:pt x="88" y="42"/>
                    </a:lnTo>
                    <a:lnTo>
                      <a:pt x="63" y="85"/>
                    </a:lnTo>
                    <a:lnTo>
                      <a:pt x="26" y="85"/>
                    </a:lnTo>
                    <a:lnTo>
                      <a:pt x="0" y="42"/>
                    </a:lnTo>
                    <a:close/>
                  </a:path>
                </a:pathLst>
              </a:custGeom>
              <a:solidFill>
                <a:srgbClr val="FFFFFF"/>
              </a:solidFill>
              <a:ln w="20638">
                <a:solidFill>
                  <a:srgbClr val="000000"/>
                </a:solidFill>
                <a:prstDash val="solid"/>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62" name="Line 44"/>
              <p:cNvSpPr>
                <a:spLocks noChangeShapeType="1"/>
              </p:cNvSpPr>
              <p:nvPr/>
            </p:nvSpPr>
            <p:spPr bwMode="auto">
              <a:xfrm flipH="1">
                <a:off x="362" y="2601"/>
                <a:ext cx="4209" cy="0"/>
              </a:xfrm>
              <a:prstGeom prst="line">
                <a:avLst/>
              </a:prstGeom>
              <a:noFill/>
              <a:ln w="20638">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63" name="Freeform 45"/>
              <p:cNvSpPr/>
              <p:nvPr/>
            </p:nvSpPr>
            <p:spPr bwMode="auto">
              <a:xfrm>
                <a:off x="1342" y="2573"/>
                <a:ext cx="63" cy="56"/>
              </a:xfrm>
              <a:custGeom>
                <a:avLst/>
                <a:gdLst>
                  <a:gd name="T0" fmla="*/ 0 w 63"/>
                  <a:gd name="T1" fmla="*/ 28 h 56"/>
                  <a:gd name="T2" fmla="*/ 13 w 63"/>
                  <a:gd name="T3" fmla="*/ 0 h 56"/>
                  <a:gd name="T4" fmla="*/ 38 w 63"/>
                  <a:gd name="T5" fmla="*/ 0 h 56"/>
                  <a:gd name="T6" fmla="*/ 63 w 63"/>
                  <a:gd name="T7" fmla="*/ 28 h 56"/>
                  <a:gd name="T8" fmla="*/ 38 w 63"/>
                  <a:gd name="T9" fmla="*/ 56 h 56"/>
                  <a:gd name="T10" fmla="*/ 13 w 63"/>
                  <a:gd name="T11" fmla="*/ 56 h 56"/>
                  <a:gd name="T12" fmla="*/ 0 w 63"/>
                  <a:gd name="T13" fmla="*/ 28 h 5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 h="56">
                    <a:moveTo>
                      <a:pt x="0" y="28"/>
                    </a:moveTo>
                    <a:lnTo>
                      <a:pt x="13" y="0"/>
                    </a:lnTo>
                    <a:lnTo>
                      <a:pt x="38" y="0"/>
                    </a:lnTo>
                    <a:lnTo>
                      <a:pt x="63" y="28"/>
                    </a:lnTo>
                    <a:lnTo>
                      <a:pt x="38" y="56"/>
                    </a:lnTo>
                    <a:lnTo>
                      <a:pt x="13" y="56"/>
                    </a:lnTo>
                    <a:lnTo>
                      <a:pt x="0" y="28"/>
                    </a:lnTo>
                    <a:close/>
                  </a:path>
                </a:pathLst>
              </a:custGeom>
              <a:solidFill>
                <a:srgbClr val="000000"/>
              </a:solidFill>
              <a:ln w="20638">
                <a:solidFill>
                  <a:srgbClr val="000000"/>
                </a:solidFill>
                <a:prstDash val="solid"/>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64" name="Freeform 46"/>
              <p:cNvSpPr/>
              <p:nvPr/>
            </p:nvSpPr>
            <p:spPr bwMode="auto">
              <a:xfrm>
                <a:off x="2410" y="2573"/>
                <a:ext cx="63" cy="56"/>
              </a:xfrm>
              <a:custGeom>
                <a:avLst/>
                <a:gdLst>
                  <a:gd name="T0" fmla="*/ 0 w 63"/>
                  <a:gd name="T1" fmla="*/ 28 h 56"/>
                  <a:gd name="T2" fmla="*/ 13 w 63"/>
                  <a:gd name="T3" fmla="*/ 0 h 56"/>
                  <a:gd name="T4" fmla="*/ 50 w 63"/>
                  <a:gd name="T5" fmla="*/ 0 h 56"/>
                  <a:gd name="T6" fmla="*/ 63 w 63"/>
                  <a:gd name="T7" fmla="*/ 28 h 56"/>
                  <a:gd name="T8" fmla="*/ 50 w 63"/>
                  <a:gd name="T9" fmla="*/ 56 h 56"/>
                  <a:gd name="T10" fmla="*/ 13 w 63"/>
                  <a:gd name="T11" fmla="*/ 56 h 56"/>
                  <a:gd name="T12" fmla="*/ 0 w 63"/>
                  <a:gd name="T13" fmla="*/ 28 h 5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 h="56">
                    <a:moveTo>
                      <a:pt x="0" y="28"/>
                    </a:moveTo>
                    <a:lnTo>
                      <a:pt x="13" y="0"/>
                    </a:lnTo>
                    <a:lnTo>
                      <a:pt x="50" y="0"/>
                    </a:lnTo>
                    <a:lnTo>
                      <a:pt x="63" y="28"/>
                    </a:lnTo>
                    <a:lnTo>
                      <a:pt x="50" y="56"/>
                    </a:lnTo>
                    <a:lnTo>
                      <a:pt x="13" y="56"/>
                    </a:lnTo>
                    <a:lnTo>
                      <a:pt x="0" y="28"/>
                    </a:lnTo>
                    <a:close/>
                  </a:path>
                </a:pathLst>
              </a:custGeom>
              <a:solidFill>
                <a:srgbClr val="000000"/>
              </a:solidFill>
              <a:ln w="20638">
                <a:solidFill>
                  <a:srgbClr val="000000"/>
                </a:solidFill>
                <a:prstDash val="solid"/>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65" name="Freeform 47"/>
              <p:cNvSpPr/>
              <p:nvPr/>
            </p:nvSpPr>
            <p:spPr bwMode="auto">
              <a:xfrm>
                <a:off x="3478" y="2573"/>
                <a:ext cx="63" cy="56"/>
              </a:xfrm>
              <a:custGeom>
                <a:avLst/>
                <a:gdLst>
                  <a:gd name="T0" fmla="*/ 0 w 63"/>
                  <a:gd name="T1" fmla="*/ 28 h 56"/>
                  <a:gd name="T2" fmla="*/ 12 w 63"/>
                  <a:gd name="T3" fmla="*/ 0 h 56"/>
                  <a:gd name="T4" fmla="*/ 50 w 63"/>
                  <a:gd name="T5" fmla="*/ 0 h 56"/>
                  <a:gd name="T6" fmla="*/ 63 w 63"/>
                  <a:gd name="T7" fmla="*/ 28 h 56"/>
                  <a:gd name="T8" fmla="*/ 50 w 63"/>
                  <a:gd name="T9" fmla="*/ 56 h 56"/>
                  <a:gd name="T10" fmla="*/ 12 w 63"/>
                  <a:gd name="T11" fmla="*/ 56 h 56"/>
                  <a:gd name="T12" fmla="*/ 0 w 63"/>
                  <a:gd name="T13" fmla="*/ 28 h 5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3" h="56">
                    <a:moveTo>
                      <a:pt x="0" y="28"/>
                    </a:moveTo>
                    <a:lnTo>
                      <a:pt x="12" y="0"/>
                    </a:lnTo>
                    <a:lnTo>
                      <a:pt x="50" y="0"/>
                    </a:lnTo>
                    <a:lnTo>
                      <a:pt x="63" y="28"/>
                    </a:lnTo>
                    <a:lnTo>
                      <a:pt x="50" y="56"/>
                    </a:lnTo>
                    <a:lnTo>
                      <a:pt x="12" y="56"/>
                    </a:lnTo>
                    <a:lnTo>
                      <a:pt x="0" y="28"/>
                    </a:lnTo>
                    <a:close/>
                  </a:path>
                </a:pathLst>
              </a:custGeom>
              <a:solidFill>
                <a:srgbClr val="000000"/>
              </a:solidFill>
              <a:ln w="20638">
                <a:solidFill>
                  <a:srgbClr val="000000"/>
                </a:solidFill>
                <a:prstDash val="solid"/>
                <a:round/>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66" name="Rectangle 48"/>
              <p:cNvSpPr>
                <a:spLocks noChangeArrowheads="1"/>
              </p:cNvSpPr>
              <p:nvPr/>
            </p:nvSpPr>
            <p:spPr bwMode="auto">
              <a:xfrm>
                <a:off x="1493" y="1090"/>
                <a:ext cx="13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1"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Q</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67" name="Rectangle 49"/>
              <p:cNvSpPr>
                <a:spLocks noChangeArrowheads="1"/>
              </p:cNvSpPr>
              <p:nvPr/>
            </p:nvSpPr>
            <p:spPr bwMode="auto">
              <a:xfrm>
                <a:off x="1622" y="1175"/>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3</a:t>
                </a: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68" name="Rectangle 50"/>
              <p:cNvSpPr>
                <a:spLocks noChangeArrowheads="1"/>
              </p:cNvSpPr>
              <p:nvPr/>
            </p:nvSpPr>
            <p:spPr bwMode="auto">
              <a:xfrm>
                <a:off x="2561" y="1090"/>
                <a:ext cx="13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1"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Q</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69" name="Rectangle 51"/>
              <p:cNvSpPr>
                <a:spLocks noChangeArrowheads="1"/>
              </p:cNvSpPr>
              <p:nvPr/>
            </p:nvSpPr>
            <p:spPr bwMode="auto">
              <a:xfrm>
                <a:off x="2690" y="1175"/>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2</a:t>
                </a: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70" name="Rectangle 52"/>
              <p:cNvSpPr>
                <a:spLocks noChangeArrowheads="1"/>
              </p:cNvSpPr>
              <p:nvPr/>
            </p:nvSpPr>
            <p:spPr bwMode="auto">
              <a:xfrm>
                <a:off x="3629" y="1090"/>
                <a:ext cx="13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1"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Q</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71" name="Rectangle 53"/>
              <p:cNvSpPr>
                <a:spLocks noChangeArrowheads="1"/>
              </p:cNvSpPr>
              <p:nvPr/>
            </p:nvSpPr>
            <p:spPr bwMode="auto">
              <a:xfrm>
                <a:off x="3758" y="1175"/>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1</a:t>
                </a: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72" name="Rectangle 54"/>
              <p:cNvSpPr>
                <a:spLocks noChangeArrowheads="1"/>
              </p:cNvSpPr>
              <p:nvPr/>
            </p:nvSpPr>
            <p:spPr bwMode="auto">
              <a:xfrm>
                <a:off x="4697" y="1090"/>
                <a:ext cx="13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1"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Q</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73" name="Rectangle 55"/>
              <p:cNvSpPr>
                <a:spLocks noChangeArrowheads="1"/>
              </p:cNvSpPr>
              <p:nvPr/>
            </p:nvSpPr>
            <p:spPr bwMode="auto">
              <a:xfrm>
                <a:off x="4826" y="1175"/>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0</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grpSp>
            <p:nvGrpSpPr>
              <p:cNvPr id="9274" name="Group 56"/>
              <p:cNvGrpSpPr/>
              <p:nvPr/>
            </p:nvGrpSpPr>
            <p:grpSpPr bwMode="auto">
              <a:xfrm>
                <a:off x="1502" y="2757"/>
                <a:ext cx="3397" cy="238"/>
                <a:chOff x="1502" y="2757"/>
                <a:chExt cx="3397" cy="238"/>
              </a:xfrm>
            </p:grpSpPr>
            <p:sp>
              <p:nvSpPr>
                <p:cNvPr id="9287" name="Rectangle 57"/>
                <p:cNvSpPr>
                  <a:spLocks noChangeArrowheads="1"/>
                </p:cNvSpPr>
                <p:nvPr/>
              </p:nvSpPr>
              <p:spPr bwMode="auto">
                <a:xfrm>
                  <a:off x="4706" y="2757"/>
                  <a:ext cx="13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D</a:t>
                  </a: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88" name="Rectangle 58"/>
                <p:cNvSpPr>
                  <a:spLocks noChangeArrowheads="1"/>
                </p:cNvSpPr>
                <p:nvPr/>
              </p:nvSpPr>
              <p:spPr bwMode="auto">
                <a:xfrm>
                  <a:off x="4835" y="2841"/>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0</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89" name="Rectangle 59"/>
                <p:cNvSpPr>
                  <a:spLocks noChangeArrowheads="1"/>
                </p:cNvSpPr>
                <p:nvPr/>
              </p:nvSpPr>
              <p:spPr bwMode="auto">
                <a:xfrm>
                  <a:off x="3638" y="2757"/>
                  <a:ext cx="13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D</a:t>
                  </a: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90" name="Rectangle 60"/>
                <p:cNvSpPr>
                  <a:spLocks noChangeArrowheads="1"/>
                </p:cNvSpPr>
                <p:nvPr/>
              </p:nvSpPr>
              <p:spPr bwMode="auto">
                <a:xfrm>
                  <a:off x="3767" y="2841"/>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1</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91" name="Rectangle 61"/>
                <p:cNvSpPr>
                  <a:spLocks noChangeArrowheads="1"/>
                </p:cNvSpPr>
                <p:nvPr/>
              </p:nvSpPr>
              <p:spPr bwMode="auto">
                <a:xfrm>
                  <a:off x="2570" y="2757"/>
                  <a:ext cx="13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D</a:t>
                  </a: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92" name="Rectangle 62"/>
                <p:cNvSpPr>
                  <a:spLocks noChangeArrowheads="1"/>
                </p:cNvSpPr>
                <p:nvPr/>
              </p:nvSpPr>
              <p:spPr bwMode="auto">
                <a:xfrm>
                  <a:off x="2699" y="2841"/>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2</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93" name="Rectangle 63"/>
                <p:cNvSpPr>
                  <a:spLocks noChangeArrowheads="1"/>
                </p:cNvSpPr>
                <p:nvPr/>
              </p:nvSpPr>
              <p:spPr bwMode="auto">
                <a:xfrm>
                  <a:off x="1502" y="2757"/>
                  <a:ext cx="13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D</a:t>
                  </a: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94" name="Rectangle 64"/>
                <p:cNvSpPr>
                  <a:spLocks noChangeArrowheads="1"/>
                </p:cNvSpPr>
                <p:nvPr/>
              </p:nvSpPr>
              <p:spPr bwMode="auto">
                <a:xfrm>
                  <a:off x="1631" y="2841"/>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3</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grpSp>
          <p:sp>
            <p:nvSpPr>
              <p:cNvPr id="9275" name="Rectangle 65"/>
              <p:cNvSpPr>
                <a:spLocks noChangeArrowheads="1"/>
              </p:cNvSpPr>
              <p:nvPr/>
            </p:nvSpPr>
            <p:spPr bwMode="auto">
              <a:xfrm>
                <a:off x="2347" y="1952"/>
                <a:ext cx="13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C</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76" name="Rectangle 66"/>
              <p:cNvSpPr>
                <a:spLocks noChangeArrowheads="1"/>
              </p:cNvSpPr>
              <p:nvPr/>
            </p:nvSpPr>
            <p:spPr bwMode="auto">
              <a:xfrm>
                <a:off x="2460" y="1952"/>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1</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77" name="Rectangle 67"/>
              <p:cNvSpPr>
                <a:spLocks noChangeArrowheads="1"/>
              </p:cNvSpPr>
              <p:nvPr/>
            </p:nvSpPr>
            <p:spPr bwMode="auto">
              <a:xfrm>
                <a:off x="2699" y="1952"/>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1</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78" name="Rectangle 68"/>
              <p:cNvSpPr>
                <a:spLocks noChangeArrowheads="1"/>
              </p:cNvSpPr>
              <p:nvPr/>
            </p:nvSpPr>
            <p:spPr bwMode="auto">
              <a:xfrm>
                <a:off x="2774" y="1952"/>
                <a:ext cx="13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D</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79" name="Rectangle 69"/>
              <p:cNvSpPr>
                <a:spLocks noChangeArrowheads="1"/>
              </p:cNvSpPr>
              <p:nvPr/>
            </p:nvSpPr>
            <p:spPr bwMode="auto">
              <a:xfrm>
                <a:off x="3415" y="1952"/>
                <a:ext cx="13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C</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80" name="Rectangle 70"/>
              <p:cNvSpPr>
                <a:spLocks noChangeArrowheads="1"/>
              </p:cNvSpPr>
              <p:nvPr/>
            </p:nvSpPr>
            <p:spPr bwMode="auto">
              <a:xfrm>
                <a:off x="3528" y="1952"/>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1</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81" name="Rectangle 71"/>
              <p:cNvSpPr>
                <a:spLocks noChangeArrowheads="1"/>
              </p:cNvSpPr>
              <p:nvPr/>
            </p:nvSpPr>
            <p:spPr bwMode="auto">
              <a:xfrm>
                <a:off x="3767" y="1952"/>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1</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82" name="Rectangle 72"/>
              <p:cNvSpPr>
                <a:spLocks noChangeArrowheads="1"/>
              </p:cNvSpPr>
              <p:nvPr/>
            </p:nvSpPr>
            <p:spPr bwMode="auto">
              <a:xfrm>
                <a:off x="3842" y="1952"/>
                <a:ext cx="13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D</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83" name="Rectangle 73"/>
              <p:cNvSpPr>
                <a:spLocks noChangeArrowheads="1"/>
              </p:cNvSpPr>
              <p:nvPr/>
            </p:nvSpPr>
            <p:spPr bwMode="auto">
              <a:xfrm>
                <a:off x="4483" y="1952"/>
                <a:ext cx="13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C</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84" name="Rectangle 74"/>
              <p:cNvSpPr>
                <a:spLocks noChangeArrowheads="1"/>
              </p:cNvSpPr>
              <p:nvPr/>
            </p:nvSpPr>
            <p:spPr bwMode="auto">
              <a:xfrm>
                <a:off x="4596" y="1952"/>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1</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85" name="Rectangle 75"/>
              <p:cNvSpPr>
                <a:spLocks noChangeArrowheads="1"/>
              </p:cNvSpPr>
              <p:nvPr/>
            </p:nvSpPr>
            <p:spPr bwMode="auto">
              <a:xfrm>
                <a:off x="4835" y="1952"/>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1</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9286" name="Rectangle 76"/>
              <p:cNvSpPr>
                <a:spLocks noChangeArrowheads="1"/>
              </p:cNvSpPr>
              <p:nvPr/>
            </p:nvSpPr>
            <p:spPr bwMode="auto">
              <a:xfrm>
                <a:off x="4910" y="1952"/>
                <a:ext cx="133"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3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D</a:t>
                </a:r>
                <a:endParaRPr kumimoji="0" lang="en-US" altLang="zh-CN" sz="1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grpSp>
        <p:grpSp>
          <p:nvGrpSpPr>
            <p:cNvPr id="9230" name="Group 77"/>
            <p:cNvGrpSpPr/>
            <p:nvPr/>
          </p:nvGrpSpPr>
          <p:grpSpPr bwMode="auto">
            <a:xfrm>
              <a:off x="1319" y="2142"/>
              <a:ext cx="98" cy="53"/>
              <a:chOff x="3207" y="3502"/>
              <a:chExt cx="98" cy="53"/>
            </a:xfrm>
          </p:grpSpPr>
          <p:sp>
            <p:nvSpPr>
              <p:cNvPr id="9240" name="Line 78"/>
              <p:cNvSpPr>
                <a:spLocks noChangeShapeType="1"/>
              </p:cNvSpPr>
              <p:nvPr/>
            </p:nvSpPr>
            <p:spPr bwMode="auto">
              <a:xfrm flipH="1">
                <a:off x="3207" y="3502"/>
                <a:ext cx="49" cy="53"/>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41" name="Line 79"/>
              <p:cNvSpPr>
                <a:spLocks noChangeShapeType="1"/>
              </p:cNvSpPr>
              <p:nvPr/>
            </p:nvSpPr>
            <p:spPr bwMode="auto">
              <a:xfrm>
                <a:off x="3256" y="3502"/>
                <a:ext cx="49" cy="53"/>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9231" name="Group 80"/>
            <p:cNvGrpSpPr/>
            <p:nvPr/>
          </p:nvGrpSpPr>
          <p:grpSpPr bwMode="auto">
            <a:xfrm>
              <a:off x="2390" y="2142"/>
              <a:ext cx="98" cy="53"/>
              <a:chOff x="3207" y="3502"/>
              <a:chExt cx="98" cy="53"/>
            </a:xfrm>
          </p:grpSpPr>
          <p:sp>
            <p:nvSpPr>
              <p:cNvPr id="9238" name="Line 81"/>
              <p:cNvSpPr>
                <a:spLocks noChangeShapeType="1"/>
              </p:cNvSpPr>
              <p:nvPr/>
            </p:nvSpPr>
            <p:spPr bwMode="auto">
              <a:xfrm flipH="1">
                <a:off x="3207" y="3502"/>
                <a:ext cx="49" cy="53"/>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39" name="Line 82"/>
              <p:cNvSpPr>
                <a:spLocks noChangeShapeType="1"/>
              </p:cNvSpPr>
              <p:nvPr/>
            </p:nvSpPr>
            <p:spPr bwMode="auto">
              <a:xfrm>
                <a:off x="3256" y="3502"/>
                <a:ext cx="49" cy="53"/>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9232" name="Group 83"/>
            <p:cNvGrpSpPr/>
            <p:nvPr/>
          </p:nvGrpSpPr>
          <p:grpSpPr bwMode="auto">
            <a:xfrm>
              <a:off x="3452" y="2142"/>
              <a:ext cx="98" cy="53"/>
              <a:chOff x="3207" y="3502"/>
              <a:chExt cx="98" cy="53"/>
            </a:xfrm>
          </p:grpSpPr>
          <p:sp>
            <p:nvSpPr>
              <p:cNvPr id="9236" name="Line 84"/>
              <p:cNvSpPr>
                <a:spLocks noChangeShapeType="1"/>
              </p:cNvSpPr>
              <p:nvPr/>
            </p:nvSpPr>
            <p:spPr bwMode="auto">
              <a:xfrm flipH="1">
                <a:off x="3207" y="3502"/>
                <a:ext cx="49" cy="53"/>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37" name="Line 85"/>
              <p:cNvSpPr>
                <a:spLocks noChangeShapeType="1"/>
              </p:cNvSpPr>
              <p:nvPr/>
            </p:nvSpPr>
            <p:spPr bwMode="auto">
              <a:xfrm>
                <a:off x="3256" y="3502"/>
                <a:ext cx="49" cy="53"/>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9233" name="Group 86"/>
            <p:cNvGrpSpPr/>
            <p:nvPr/>
          </p:nvGrpSpPr>
          <p:grpSpPr bwMode="auto">
            <a:xfrm>
              <a:off x="4522" y="2142"/>
              <a:ext cx="98" cy="53"/>
              <a:chOff x="3207" y="3502"/>
              <a:chExt cx="98" cy="53"/>
            </a:xfrm>
          </p:grpSpPr>
          <p:sp>
            <p:nvSpPr>
              <p:cNvPr id="9234" name="Line 87"/>
              <p:cNvSpPr>
                <a:spLocks noChangeShapeType="1"/>
              </p:cNvSpPr>
              <p:nvPr/>
            </p:nvSpPr>
            <p:spPr bwMode="auto">
              <a:xfrm flipH="1">
                <a:off x="3207" y="3502"/>
                <a:ext cx="49" cy="53"/>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235" name="Line 88"/>
              <p:cNvSpPr>
                <a:spLocks noChangeShapeType="1"/>
              </p:cNvSpPr>
              <p:nvPr/>
            </p:nvSpPr>
            <p:spPr bwMode="auto">
              <a:xfrm>
                <a:off x="3256" y="3502"/>
                <a:ext cx="49" cy="53"/>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80918"/>
                                        </p:tgtEl>
                                        <p:attrNameLst>
                                          <p:attrName>style.visibility</p:attrName>
                                        </p:attrNameLst>
                                      </p:cBhvr>
                                      <p:to>
                                        <p:strVal val="visible"/>
                                      </p:to>
                                    </p:set>
                                    <p:anim calcmode="lin" valueType="num">
                                      <p:cBhvr>
                                        <p:cTn id="7" dur="500" fill="hold"/>
                                        <p:tgtEl>
                                          <p:spTgt spid="80918"/>
                                        </p:tgtEl>
                                        <p:attrNameLst>
                                          <p:attrName>ppt_w</p:attrName>
                                        </p:attrNameLst>
                                      </p:cBhvr>
                                      <p:tavLst>
                                        <p:tav tm="0">
                                          <p:val>
                                            <p:strVal val="#ppt_w*0.70"/>
                                          </p:val>
                                        </p:tav>
                                        <p:tav tm="100000">
                                          <p:val>
                                            <p:strVal val="#ppt_w"/>
                                          </p:val>
                                        </p:tav>
                                      </p:tavLst>
                                    </p:anim>
                                    <p:anim calcmode="lin" valueType="num">
                                      <p:cBhvr>
                                        <p:cTn id="8" dur="500" fill="hold"/>
                                        <p:tgtEl>
                                          <p:spTgt spid="80918"/>
                                        </p:tgtEl>
                                        <p:attrNameLst>
                                          <p:attrName>ppt_h</p:attrName>
                                        </p:attrNameLst>
                                      </p:cBhvr>
                                      <p:tavLst>
                                        <p:tav tm="0">
                                          <p:val>
                                            <p:strVal val="#ppt_h"/>
                                          </p:val>
                                        </p:tav>
                                        <p:tav tm="100000">
                                          <p:val>
                                            <p:strVal val="#ppt_h"/>
                                          </p:val>
                                        </p:tav>
                                      </p:tavLst>
                                    </p:anim>
                                    <p:animEffect transition="in" filter="fade">
                                      <p:cBhvr>
                                        <p:cTn id="9" dur="500"/>
                                        <p:tgtEl>
                                          <p:spTgt spid="80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autoUpdateAnimBg="0"/>
      <p:bldP spid="14" grpId="0" bldLvl="0" animBg="1"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25219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主题五 时序逻辑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12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5.2 </a:t>
            </a:r>
            <a:r>
              <a:rPr kumimoji="0" lang="zh-CN" altLang="en-US" dirty="0">
                <a:solidFill>
                  <a:srgbClr val="000000"/>
                </a:solidFill>
                <a:latin typeface="黑体" panose="02010609060101010101" pitchFamily="49" charset="-122"/>
                <a:ea typeface="黑体" panose="02010609060101010101" pitchFamily="49" charset="-122"/>
              </a:rPr>
              <a:t>寄存器与移</a:t>
            </a:r>
            <a:r>
              <a:rPr kumimoji="0" lang="zh-CN" altLang="en-US" dirty="0">
                <a:solidFill>
                  <a:srgbClr val="000000"/>
                </a:solidFill>
                <a:latin typeface="黑体" panose="02010609060101010101" pitchFamily="49" charset="-122"/>
                <a:ea typeface="黑体" panose="02010609060101010101" pitchFamily="49" charset="-122"/>
              </a:rPr>
              <a:t>存器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677545" y="169227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en-US" altLang="zh-CN" sz="2400" b="1" dirty="0">
                <a:latin typeface="黑体" panose="02010609060101010101" pitchFamily="49" charset="-122"/>
                <a:ea typeface="黑体" panose="02010609060101010101" pitchFamily="49" charset="-122"/>
                <a:sym typeface="+mn-ea"/>
              </a:rPr>
              <a:t>MSI</a:t>
            </a:r>
            <a:r>
              <a:rPr kumimoji="0" lang="zh-CN" altLang="en-US" sz="2400" b="1" dirty="0">
                <a:latin typeface="黑体" panose="02010609060101010101" pitchFamily="49" charset="-122"/>
                <a:ea typeface="黑体" panose="02010609060101010101" pitchFamily="49" charset="-122"/>
                <a:sym typeface="+mn-ea"/>
              </a:rPr>
              <a:t>移存器</a:t>
            </a:r>
            <a:r>
              <a:rPr kumimoji="0" lang="en-US" altLang="zh-CN" sz="2400" b="1" dirty="0">
                <a:latin typeface="黑体" panose="02010609060101010101" pitchFamily="49" charset="-122"/>
                <a:ea typeface="黑体" panose="02010609060101010101" pitchFamily="49" charset="-122"/>
                <a:sym typeface="+mn-ea"/>
              </a:rPr>
              <a:t>74194</a:t>
            </a:r>
            <a:endParaRPr kumimoji="0" lang="en-US" altLang="zh-CN" sz="2400" b="1" dirty="0">
              <a:latin typeface="黑体" panose="02010609060101010101" pitchFamily="49" charset="-122"/>
              <a:ea typeface="黑体" panose="02010609060101010101" pitchFamily="49" charset="-122"/>
              <a:sym typeface="+mn-ea"/>
            </a:endParaRPr>
          </a:p>
        </p:txBody>
      </p:sp>
      <p:pic>
        <p:nvPicPr>
          <p:cNvPr id="13317" name="Picture 47"/>
          <p:cNvPicPr>
            <a:picLocks noChangeAspect="1" noChangeArrowheads="1"/>
          </p:cNvPicPr>
          <p:nvPr/>
        </p:nvPicPr>
        <p:blipFill>
          <a:blip r:embed="rId2" cstate="print">
            <a:extLst>
              <a:ext uri="{28A0092B-C50C-407E-A947-70E740481C1C}">
                <a14:useLocalDpi xmlns:a14="http://schemas.microsoft.com/office/drawing/2010/main" val="0"/>
              </a:ext>
            </a:extLst>
          </a:blip>
          <a:srcRect l="68387" t="65475" r="20448" b="22997"/>
          <a:stretch>
            <a:fillRect/>
          </a:stretch>
        </p:blipFill>
        <p:spPr bwMode="auto">
          <a:xfrm>
            <a:off x="2773998" y="2967673"/>
            <a:ext cx="3127375" cy="204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22" name="Rectangle 50"/>
          <p:cNvSpPr>
            <a:spLocks noChangeArrowheads="1"/>
          </p:cNvSpPr>
          <p:nvPr/>
        </p:nvSpPr>
        <p:spPr bwMode="auto">
          <a:xfrm>
            <a:off x="5487035" y="2947035"/>
            <a:ext cx="100965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rPr>
              <a:t>工作模式控制</a:t>
            </a:r>
            <a:endParaRPr kumimoji="1" lang="zh-CN" altLang="en-US" sz="1800" b="1" i="0" u="none" strike="noStrike" kern="120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13323" name="Rectangle 51"/>
          <p:cNvSpPr>
            <a:spLocks noChangeArrowheads="1"/>
          </p:cNvSpPr>
          <p:nvPr/>
        </p:nvSpPr>
        <p:spPr bwMode="auto">
          <a:xfrm>
            <a:off x="5564823" y="4523423"/>
            <a:ext cx="763587"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t>左移</a:t>
            </a:r>
            <a:endParaRPr kumimoji="1" lang="zh-CN" altLang="en-US" sz="1800" b="1"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t>输入</a:t>
            </a:r>
            <a:endParaRPr kumimoji="1" lang="zh-CN" altLang="en-US" sz="1800" b="1"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
        <p:nvSpPr>
          <p:cNvPr id="13324" name="Rectangle 52"/>
          <p:cNvSpPr>
            <a:spLocks noChangeArrowheads="1"/>
          </p:cNvSpPr>
          <p:nvPr/>
        </p:nvSpPr>
        <p:spPr bwMode="auto">
          <a:xfrm>
            <a:off x="3359785" y="5112385"/>
            <a:ext cx="1966913"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并   行   输   入</a:t>
            </a:r>
            <a:endParaRPr kumimoji="1" lang="zh-CN" altLang="en-US" sz="18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13325" name="Rectangle 54"/>
          <p:cNvSpPr>
            <a:spLocks noChangeArrowheads="1"/>
          </p:cNvSpPr>
          <p:nvPr/>
        </p:nvSpPr>
        <p:spPr bwMode="auto">
          <a:xfrm>
            <a:off x="2115185" y="3047048"/>
            <a:ext cx="92710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rgbClr val="990099"/>
                </a:solidFill>
                <a:effectLst/>
                <a:uLnTx/>
                <a:uFillTx/>
                <a:latin typeface="Times New Roman" panose="02020603050405020304" pitchFamily="18" charset="0"/>
                <a:ea typeface="宋体" panose="02010600030101010101" pitchFamily="2" charset="-122"/>
                <a:cs typeface="+mn-cs"/>
              </a:rPr>
              <a:t>异步</a:t>
            </a:r>
            <a:endParaRPr kumimoji="1" lang="zh-CN" altLang="en-US" sz="1800" b="1" i="0" u="none" strike="noStrike" kern="1200" cap="none" spc="0" normalizeH="0" baseline="0" noProof="0">
              <a:ln>
                <a:noFill/>
              </a:ln>
              <a:solidFill>
                <a:srgbClr val="990099"/>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rgbClr val="990099"/>
                </a:solidFill>
                <a:effectLst/>
                <a:uLnTx/>
                <a:uFillTx/>
                <a:latin typeface="Times New Roman" panose="02020603050405020304" pitchFamily="18" charset="0"/>
                <a:ea typeface="宋体" panose="02010600030101010101" pitchFamily="2" charset="-122"/>
                <a:cs typeface="+mn-cs"/>
              </a:rPr>
              <a:t>清“</a:t>
            </a:r>
            <a:r>
              <a:rPr kumimoji="1" lang="en-US" altLang="zh-CN" sz="1800" b="1" i="0" u="none" strike="noStrike" kern="1200" cap="none" spc="0" normalizeH="0" baseline="0" noProof="0">
                <a:ln>
                  <a:noFill/>
                </a:ln>
                <a:solidFill>
                  <a:srgbClr val="990099"/>
                </a:solidFill>
                <a:effectLst/>
                <a:uLnTx/>
                <a:uFillTx/>
                <a:latin typeface="Times New Roman" panose="02020603050405020304" pitchFamily="18" charset="0"/>
                <a:ea typeface="宋体" panose="02010600030101010101" pitchFamily="2" charset="-122"/>
                <a:cs typeface="+mn-cs"/>
              </a:rPr>
              <a:t>0”</a:t>
            </a:r>
            <a:endParaRPr kumimoji="1" lang="en-US" altLang="zh-CN" sz="1800" b="1" i="0" u="none" strike="noStrike" kern="1200" cap="none" spc="0" normalizeH="0" baseline="0" noProof="0">
              <a:ln>
                <a:noFill/>
              </a:ln>
              <a:solidFill>
                <a:srgbClr val="990099"/>
              </a:solidFill>
              <a:effectLst/>
              <a:uLnTx/>
              <a:uFillTx/>
              <a:latin typeface="Times New Roman" panose="02020603050405020304" pitchFamily="18" charset="0"/>
              <a:ea typeface="宋体" panose="02010600030101010101" pitchFamily="2" charset="-122"/>
              <a:cs typeface="+mn-cs"/>
            </a:endParaRPr>
          </a:p>
        </p:txBody>
      </p:sp>
      <p:sp>
        <p:nvSpPr>
          <p:cNvPr id="13326" name="Rectangle 55"/>
          <p:cNvSpPr>
            <a:spLocks noChangeArrowheads="1"/>
          </p:cNvSpPr>
          <p:nvPr/>
        </p:nvSpPr>
        <p:spPr bwMode="auto">
          <a:xfrm>
            <a:off x="2175510" y="3824923"/>
            <a:ext cx="757238"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rPr>
              <a:t>时钟</a:t>
            </a:r>
            <a:endParaRPr kumimoji="1" lang="zh-CN" altLang="en-US" sz="1800" b="1" i="0" u="none" strike="noStrike" kern="1200" cap="none" spc="0" normalizeH="0" baseline="0" noProof="0">
              <a:ln>
                <a:noFill/>
              </a:ln>
              <a:solidFill>
                <a:srgbClr val="CC00CC"/>
              </a:solidFill>
              <a:effectLst/>
              <a:uLnTx/>
              <a:uFillTx/>
              <a:latin typeface="Times New Roman" panose="02020603050405020304" pitchFamily="18" charset="0"/>
              <a:ea typeface="宋体" panose="02010600030101010101" pitchFamily="2" charset="-122"/>
              <a:cs typeface="+mn-cs"/>
            </a:endParaRPr>
          </a:p>
        </p:txBody>
      </p:sp>
      <p:sp>
        <p:nvSpPr>
          <p:cNvPr id="13327" name="Rectangle 56"/>
          <p:cNvSpPr>
            <a:spLocks noChangeArrowheads="1"/>
          </p:cNvSpPr>
          <p:nvPr/>
        </p:nvSpPr>
        <p:spPr bwMode="auto">
          <a:xfrm>
            <a:off x="2172335" y="4223385"/>
            <a:ext cx="76835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t>右移</a:t>
            </a:r>
            <a:endParaRPr kumimoji="1" lang="zh-CN" altLang="en-US" sz="1800" b="1"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rPr>
              <a:t>输入</a:t>
            </a:r>
            <a:endParaRPr kumimoji="1" lang="zh-CN" altLang="en-US" sz="1800" b="1" i="0" u="none" strike="noStrike" kern="1200" cap="none" spc="0" normalizeH="0" baseline="0" noProof="0">
              <a:ln>
                <a:noFill/>
              </a:ln>
              <a:solidFill>
                <a:srgbClr val="FF6600"/>
              </a:solidFill>
              <a:effectLst/>
              <a:uLnTx/>
              <a:uFillTx/>
              <a:latin typeface="Times New Roman" panose="02020603050405020304" pitchFamily="18" charset="0"/>
              <a:ea typeface="宋体" panose="02010600030101010101" pitchFamily="2" charset="-122"/>
              <a:cs typeface="+mn-cs"/>
            </a:endParaRPr>
          </a:p>
        </p:txBody>
      </p:sp>
      <p:sp>
        <p:nvSpPr>
          <p:cNvPr id="13328" name="Rectangle 57"/>
          <p:cNvSpPr>
            <a:spLocks noChangeArrowheads="1"/>
          </p:cNvSpPr>
          <p:nvPr/>
        </p:nvSpPr>
        <p:spPr bwMode="auto">
          <a:xfrm>
            <a:off x="3667760" y="2493010"/>
            <a:ext cx="19145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rgbClr val="000000"/>
                </a:solidFill>
                <a:latin typeface="Times New Roman" panose="02020603050405020304" pitchFamily="18" charset="0"/>
                <a:ea typeface="宋体" panose="02010600030101010101" pitchFamily="2" charset="-122"/>
              </a:defRPr>
            </a:lvl1pPr>
            <a:lvl2pPr marL="742950" indent="-285750">
              <a:defRPr kumimoji="1" sz="2800">
                <a:solidFill>
                  <a:srgbClr val="000000"/>
                </a:solidFill>
                <a:latin typeface="Times New Roman" panose="02020603050405020304" pitchFamily="18" charset="0"/>
                <a:ea typeface="宋体" panose="02010600030101010101" pitchFamily="2" charset="-122"/>
              </a:defRPr>
            </a:lvl2pPr>
            <a:lvl3pPr marL="1143000" indent="-228600">
              <a:defRPr kumimoji="1" sz="2800">
                <a:solidFill>
                  <a:srgbClr val="000000"/>
                </a:solidFill>
                <a:latin typeface="Times New Roman" panose="02020603050405020304" pitchFamily="18" charset="0"/>
                <a:ea typeface="宋体" panose="02010600030101010101" pitchFamily="2" charset="-122"/>
              </a:defRPr>
            </a:lvl3pPr>
            <a:lvl4pPr marL="1600200" indent="-228600">
              <a:defRPr kumimoji="1" sz="2800">
                <a:solidFill>
                  <a:srgbClr val="000000"/>
                </a:solidFill>
                <a:latin typeface="Times New Roman" panose="02020603050405020304" pitchFamily="18" charset="0"/>
                <a:ea typeface="宋体" panose="02010600030101010101" pitchFamily="2" charset="-122"/>
              </a:defRPr>
            </a:lvl4pPr>
            <a:lvl5pPr marL="2057400" indent="-228600">
              <a:defRPr kumimoji="1" sz="28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rgbClr val="0000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18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rPr>
              <a:t>并   行   输   出</a:t>
            </a:r>
            <a:endParaRPr kumimoji="1" lang="zh-CN" altLang="en-US" sz="1800" b="1"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257300" y="1677670"/>
            <a:ext cx="6339840" cy="4389120"/>
          </a:xfrm>
          <a:prstGeom prst="rect">
            <a:avLst/>
          </a:prstGeom>
        </p:spPr>
      </p:pic>
      <p:sp>
        <p:nvSpPr>
          <p:cNvPr id="13" name="Text Box 4"/>
          <p:cNvSpPr txBox="1">
            <a:spLocks noChangeArrowheads="1"/>
          </p:cNvSpPr>
          <p:nvPr/>
        </p:nvSpPr>
        <p:spPr bwMode="auto">
          <a:xfrm>
            <a:off x="1423630" y="21663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主题五 时序逻辑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83674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5.2 </a:t>
            </a:r>
            <a:r>
              <a:rPr kumimoji="0" lang="zh-CN" altLang="en-US" dirty="0">
                <a:solidFill>
                  <a:srgbClr val="000000"/>
                </a:solidFill>
                <a:latin typeface="黑体" panose="02010609060101010101" pitchFamily="49" charset="-122"/>
                <a:ea typeface="黑体" panose="02010609060101010101" pitchFamily="49" charset="-122"/>
              </a:rPr>
              <a:t>寄存器与移</a:t>
            </a:r>
            <a:r>
              <a:rPr kumimoji="0" lang="zh-CN" altLang="en-US" dirty="0">
                <a:solidFill>
                  <a:srgbClr val="000000"/>
                </a:solidFill>
                <a:latin typeface="黑体" panose="02010609060101010101" pitchFamily="49" charset="-122"/>
                <a:ea typeface="黑体" panose="02010609060101010101" pitchFamily="49" charset="-122"/>
              </a:rPr>
              <a:t>存器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2"/>
            </p:custDataLst>
          </p:nvPr>
        </p:nvSpPr>
        <p:spPr bwMode="auto">
          <a:xfrm>
            <a:off x="677545" y="132334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en-US" altLang="zh-CN" sz="2400" b="1" dirty="0">
                <a:latin typeface="黑体" panose="02010609060101010101" pitchFamily="49" charset="-122"/>
                <a:ea typeface="黑体" panose="02010609060101010101" pitchFamily="49" charset="-122"/>
                <a:sym typeface="+mn-ea"/>
              </a:rPr>
              <a:t>MSI</a:t>
            </a:r>
            <a:r>
              <a:rPr kumimoji="0" lang="zh-CN" altLang="en-US" sz="2400" b="1" dirty="0">
                <a:latin typeface="黑体" panose="02010609060101010101" pitchFamily="49" charset="-122"/>
                <a:ea typeface="黑体" panose="02010609060101010101" pitchFamily="49" charset="-122"/>
                <a:sym typeface="+mn-ea"/>
              </a:rPr>
              <a:t>移存器</a:t>
            </a:r>
            <a:r>
              <a:rPr kumimoji="0" lang="en-US" altLang="zh-CN" sz="2400" b="1" dirty="0">
                <a:latin typeface="黑体" panose="02010609060101010101" pitchFamily="49" charset="-122"/>
                <a:ea typeface="黑体" panose="02010609060101010101" pitchFamily="49" charset="-122"/>
                <a:sym typeface="+mn-ea"/>
              </a:rPr>
              <a:t>74194</a:t>
            </a:r>
            <a:endParaRPr kumimoji="0" lang="en-US" altLang="zh-CN" sz="2400" b="1" dirty="0">
              <a:latin typeface="黑体" panose="02010609060101010101" pitchFamily="49" charset="-122"/>
              <a:ea typeface="黑体" panose="02010609060101010101" pitchFamily="49" charset="-122"/>
              <a:sym typeface="+mn-ea"/>
            </a:endParaRPr>
          </a:p>
        </p:txBody>
      </p:sp>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726690" y="3848735"/>
            <a:ext cx="3069590" cy="2343785"/>
          </a:xfrm>
          <a:prstGeom prst="rect">
            <a:avLst/>
          </a:prstGeom>
        </p:spPr>
      </p:pic>
      <p:sp>
        <p:nvSpPr>
          <p:cNvPr id="13" name="Text Box 4"/>
          <p:cNvSpPr txBox="1">
            <a:spLocks noChangeArrowheads="1"/>
          </p:cNvSpPr>
          <p:nvPr/>
        </p:nvSpPr>
        <p:spPr bwMode="auto">
          <a:xfrm>
            <a:off x="1423630" y="21663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主题五 时序逻辑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83674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5.3 </a:t>
            </a:r>
            <a:r>
              <a:rPr kumimoji="0" lang="zh-CN" altLang="en-US" dirty="0">
                <a:solidFill>
                  <a:srgbClr val="000000"/>
                </a:solidFill>
                <a:latin typeface="黑体" panose="02010609060101010101" pitchFamily="49" charset="-122"/>
                <a:ea typeface="黑体" panose="02010609060101010101" pitchFamily="49" charset="-122"/>
              </a:rPr>
              <a:t>计数器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2"/>
            </p:custDataLst>
          </p:nvPr>
        </p:nvSpPr>
        <p:spPr bwMode="auto">
          <a:xfrm>
            <a:off x="677545" y="132334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b="1" dirty="0">
                <a:latin typeface="黑体" panose="02010609060101010101" pitchFamily="49" charset="-122"/>
                <a:ea typeface="黑体" panose="02010609060101010101" pitchFamily="49" charset="-122"/>
                <a:sym typeface="+mn-ea"/>
              </a:rPr>
              <a:t>级联型二进制加法</a:t>
            </a:r>
            <a:r>
              <a:rPr kumimoji="0" lang="zh-CN" altLang="en-US" sz="2400" b="1" dirty="0">
                <a:latin typeface="黑体" panose="02010609060101010101" pitchFamily="49" charset="-122"/>
                <a:ea typeface="黑体" panose="02010609060101010101" pitchFamily="49" charset="-122"/>
                <a:sym typeface="+mn-ea"/>
              </a:rPr>
              <a:t>计数器</a:t>
            </a:r>
            <a:endParaRPr kumimoji="0" lang="zh-CN" altLang="en-US" sz="2400" b="1" dirty="0">
              <a:latin typeface="黑体" panose="02010609060101010101" pitchFamily="49" charset="-122"/>
              <a:ea typeface="黑体" panose="02010609060101010101" pitchFamily="49" charset="-122"/>
              <a:sym typeface="+mn-ea"/>
            </a:endParaRPr>
          </a:p>
        </p:txBody>
      </p:sp>
      <p:pic>
        <p:nvPicPr>
          <p:cNvPr id="9219"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2790" y="1703705"/>
            <a:ext cx="6685915" cy="1951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21663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主题五 时序逻辑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83674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5.3 </a:t>
            </a:r>
            <a:r>
              <a:rPr kumimoji="0" lang="zh-CN" altLang="en-US" dirty="0">
                <a:solidFill>
                  <a:srgbClr val="000000"/>
                </a:solidFill>
                <a:latin typeface="黑体" panose="02010609060101010101" pitchFamily="49" charset="-122"/>
                <a:ea typeface="黑体" panose="02010609060101010101" pitchFamily="49" charset="-122"/>
              </a:rPr>
              <a:t>计数器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677545" y="145542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en-US" altLang="zh-CN" sz="2400" b="1" dirty="0">
                <a:latin typeface="黑体" panose="02010609060101010101" pitchFamily="49" charset="-122"/>
                <a:ea typeface="黑体" panose="02010609060101010101" pitchFamily="49" charset="-122"/>
                <a:sym typeface="+mn-ea"/>
              </a:rPr>
              <a:t>MSI</a:t>
            </a:r>
            <a:r>
              <a:rPr kumimoji="0" lang="zh-CN" altLang="en-US" sz="2400" b="1" dirty="0">
                <a:latin typeface="黑体" panose="02010609060101010101" pitchFamily="49" charset="-122"/>
                <a:ea typeface="黑体" panose="02010609060101010101" pitchFamily="49" charset="-122"/>
                <a:sym typeface="+mn-ea"/>
              </a:rPr>
              <a:t>同步计数器</a:t>
            </a:r>
            <a:r>
              <a:rPr kumimoji="0" lang="en-US" altLang="zh-CN" sz="2400" b="1" dirty="0">
                <a:latin typeface="黑体" panose="02010609060101010101" pitchFamily="49" charset="-122"/>
                <a:ea typeface="黑体" panose="02010609060101010101" pitchFamily="49" charset="-122"/>
                <a:sym typeface="+mn-ea"/>
              </a:rPr>
              <a:t>74161</a:t>
            </a:r>
            <a:endParaRPr kumimoji="0" lang="en-US" altLang="zh-CN" sz="2400" b="1" dirty="0">
              <a:latin typeface="黑体" panose="02010609060101010101" pitchFamily="49" charset="-122"/>
              <a:ea typeface="黑体" panose="02010609060101010101" pitchFamily="49" charset="-122"/>
              <a:sym typeface="+mn-ea"/>
            </a:endParaRPr>
          </a:p>
        </p:txBody>
      </p:sp>
      <p:pic>
        <p:nvPicPr>
          <p:cNvPr id="74759"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4285" y="2670175"/>
            <a:ext cx="3933825" cy="217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60" name="Rectangle 8"/>
          <p:cNvSpPr>
            <a:spLocks noChangeArrowheads="1"/>
          </p:cNvSpPr>
          <p:nvPr/>
        </p:nvSpPr>
        <p:spPr bwMode="auto">
          <a:xfrm>
            <a:off x="727710" y="3994150"/>
            <a:ext cx="19732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pPr eaLnBrk="1" hangingPunct="1"/>
            <a:r>
              <a:rPr kumimoji="0" lang="zh-CN" altLang="en-US" sz="2000" b="1">
                <a:solidFill>
                  <a:srgbClr val="FF0000"/>
                </a:solidFill>
              </a:rPr>
              <a:t>同步置数</a:t>
            </a:r>
            <a:r>
              <a:rPr kumimoji="0" lang="zh-CN" altLang="en-US" sz="2000" b="1"/>
              <a:t>控制端</a:t>
            </a:r>
            <a:endParaRPr kumimoji="0" lang="zh-CN" altLang="en-US" sz="2000" b="1"/>
          </a:p>
        </p:txBody>
      </p:sp>
      <p:sp>
        <p:nvSpPr>
          <p:cNvPr id="74761" name="Rectangle 9"/>
          <p:cNvSpPr>
            <a:spLocks noChangeArrowheads="1"/>
          </p:cNvSpPr>
          <p:nvPr/>
        </p:nvSpPr>
        <p:spPr bwMode="auto">
          <a:xfrm>
            <a:off x="6096635" y="3384550"/>
            <a:ext cx="19732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pPr eaLnBrk="1" hangingPunct="1"/>
            <a:r>
              <a:rPr kumimoji="0" lang="zh-CN" altLang="en-US" sz="2000" b="1"/>
              <a:t>工作模式控制端</a:t>
            </a:r>
            <a:endParaRPr kumimoji="0" lang="zh-CN" altLang="en-US" sz="2000" b="1"/>
          </a:p>
        </p:txBody>
      </p:sp>
      <p:sp>
        <p:nvSpPr>
          <p:cNvPr id="74762" name="Rectangle 10"/>
          <p:cNvSpPr>
            <a:spLocks noChangeArrowheads="1"/>
          </p:cNvSpPr>
          <p:nvPr/>
        </p:nvSpPr>
        <p:spPr bwMode="auto">
          <a:xfrm>
            <a:off x="792798" y="3613150"/>
            <a:ext cx="19081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zh-CN" altLang="en-US" sz="2000" b="1">
                <a:solidFill>
                  <a:srgbClr val="FF0000"/>
                </a:solidFill>
              </a:rPr>
              <a:t>异步清</a:t>
            </a:r>
            <a:r>
              <a:rPr kumimoji="0" lang="en-US" altLang="zh-CN" sz="2000" b="1">
                <a:solidFill>
                  <a:srgbClr val="FF0000"/>
                </a:solidFill>
              </a:rPr>
              <a:t>0</a:t>
            </a:r>
            <a:r>
              <a:rPr kumimoji="0" lang="zh-CN" altLang="en-US" sz="2000" b="1"/>
              <a:t>控制端 </a:t>
            </a:r>
            <a:endParaRPr kumimoji="0" lang="zh-CN" altLang="en-US" sz="2000" b="1"/>
          </a:p>
        </p:txBody>
      </p:sp>
      <p:sp>
        <p:nvSpPr>
          <p:cNvPr id="74763" name="Rectangle 11"/>
          <p:cNvSpPr>
            <a:spLocks noChangeArrowheads="1"/>
          </p:cNvSpPr>
          <p:nvPr/>
        </p:nvSpPr>
        <p:spPr bwMode="auto">
          <a:xfrm>
            <a:off x="1175385" y="3141663"/>
            <a:ext cx="15255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zh-CN" altLang="en-US" sz="2000" b="1"/>
              <a:t>进位输出端 </a:t>
            </a:r>
            <a:endParaRPr kumimoji="0" lang="zh-CN" altLang="en-US" sz="2000" b="1"/>
          </a:p>
        </p:txBody>
      </p:sp>
      <p:sp>
        <p:nvSpPr>
          <p:cNvPr id="74764" name="Rectangle 12"/>
          <p:cNvSpPr>
            <a:spLocks noChangeArrowheads="1"/>
          </p:cNvSpPr>
          <p:nvPr/>
        </p:nvSpPr>
        <p:spPr bwMode="auto">
          <a:xfrm>
            <a:off x="3442335" y="4743450"/>
            <a:ext cx="19732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pPr eaLnBrk="1" hangingPunct="1"/>
            <a:r>
              <a:rPr kumimoji="0" lang="zh-CN" altLang="en-US" sz="2000" b="1"/>
              <a:t>并行输入数据端</a:t>
            </a:r>
            <a:endParaRPr kumimoji="0" lang="zh-CN" altLang="en-US" sz="2000" b="1"/>
          </a:p>
        </p:txBody>
      </p:sp>
      <p:sp>
        <p:nvSpPr>
          <p:cNvPr id="74765" name="Rectangle 13"/>
          <p:cNvSpPr>
            <a:spLocks noChangeArrowheads="1"/>
          </p:cNvSpPr>
          <p:nvPr/>
        </p:nvSpPr>
        <p:spPr bwMode="auto">
          <a:xfrm>
            <a:off x="3442335" y="2360613"/>
            <a:ext cx="19732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pPr eaLnBrk="1" hangingPunct="1"/>
            <a:r>
              <a:rPr kumimoji="0" lang="zh-CN" altLang="en-US" sz="2000" b="1"/>
              <a:t>并行输出数据端</a:t>
            </a:r>
            <a:endParaRPr kumimoji="0" lang="zh-CN" altLang="en-US" sz="2000" b="1"/>
          </a:p>
        </p:txBody>
      </p:sp>
      <p:sp>
        <p:nvSpPr>
          <p:cNvPr id="74766" name="Rectangle 14"/>
          <p:cNvSpPr>
            <a:spLocks noChangeArrowheads="1"/>
          </p:cNvSpPr>
          <p:nvPr/>
        </p:nvSpPr>
        <p:spPr bwMode="auto">
          <a:xfrm>
            <a:off x="6107748" y="3862388"/>
            <a:ext cx="19732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pPr eaLnBrk="1" hangingPunct="1"/>
            <a:r>
              <a:rPr kumimoji="0" lang="zh-CN" altLang="en-US" sz="2000" b="1"/>
              <a:t>计数脉冲输入端</a:t>
            </a:r>
            <a:endParaRPr kumimoji="0" lang="zh-CN" altLang="en-US" sz="20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4759"/>
                                        </p:tgtEl>
                                        <p:attrNameLst>
                                          <p:attrName>style.visibility</p:attrName>
                                        </p:attrNameLst>
                                      </p:cBhvr>
                                      <p:to>
                                        <p:strVal val="visible"/>
                                      </p:to>
                                    </p:set>
                                    <p:animEffect transition="in" filter="wipe(left)">
                                      <p:cBhvr>
                                        <p:cTn id="7" dur="500"/>
                                        <p:tgtEl>
                                          <p:spTgt spid="7475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4766"/>
                                        </p:tgtEl>
                                        <p:attrNameLst>
                                          <p:attrName>style.visibility</p:attrName>
                                        </p:attrNameLst>
                                      </p:cBhvr>
                                      <p:to>
                                        <p:strVal val="visible"/>
                                      </p:to>
                                    </p:set>
                                    <p:animEffect transition="in" filter="wipe(left)">
                                      <p:cBhvr>
                                        <p:cTn id="12" dur="500"/>
                                        <p:tgtEl>
                                          <p:spTgt spid="7476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4761"/>
                                        </p:tgtEl>
                                        <p:attrNameLst>
                                          <p:attrName>style.visibility</p:attrName>
                                        </p:attrNameLst>
                                      </p:cBhvr>
                                      <p:to>
                                        <p:strVal val="visible"/>
                                      </p:to>
                                    </p:set>
                                    <p:animEffect transition="in" filter="wipe(left)">
                                      <p:cBhvr>
                                        <p:cTn id="17" dur="500"/>
                                        <p:tgtEl>
                                          <p:spTgt spid="7476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4764"/>
                                        </p:tgtEl>
                                        <p:attrNameLst>
                                          <p:attrName>style.visibility</p:attrName>
                                        </p:attrNameLst>
                                      </p:cBhvr>
                                      <p:to>
                                        <p:strVal val="visible"/>
                                      </p:to>
                                    </p:set>
                                    <p:animEffect transition="in" filter="wipe(left)">
                                      <p:cBhvr>
                                        <p:cTn id="22" dur="500"/>
                                        <p:tgtEl>
                                          <p:spTgt spid="7476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4765"/>
                                        </p:tgtEl>
                                        <p:attrNameLst>
                                          <p:attrName>style.visibility</p:attrName>
                                        </p:attrNameLst>
                                      </p:cBhvr>
                                      <p:to>
                                        <p:strVal val="visible"/>
                                      </p:to>
                                    </p:set>
                                    <p:animEffect transition="in" filter="wipe(left)">
                                      <p:cBhvr>
                                        <p:cTn id="27" dur="500"/>
                                        <p:tgtEl>
                                          <p:spTgt spid="7476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4760"/>
                                        </p:tgtEl>
                                        <p:attrNameLst>
                                          <p:attrName>style.visibility</p:attrName>
                                        </p:attrNameLst>
                                      </p:cBhvr>
                                      <p:to>
                                        <p:strVal val="visible"/>
                                      </p:to>
                                    </p:set>
                                    <p:animEffect transition="in" filter="wipe(left)">
                                      <p:cBhvr>
                                        <p:cTn id="32" dur="500"/>
                                        <p:tgtEl>
                                          <p:spTgt spid="7476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4762"/>
                                        </p:tgtEl>
                                        <p:attrNameLst>
                                          <p:attrName>style.visibility</p:attrName>
                                        </p:attrNameLst>
                                      </p:cBhvr>
                                      <p:to>
                                        <p:strVal val="visible"/>
                                      </p:to>
                                    </p:set>
                                    <p:animEffect transition="in" filter="wipe(left)">
                                      <p:cBhvr>
                                        <p:cTn id="37" dur="500"/>
                                        <p:tgtEl>
                                          <p:spTgt spid="7476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4763"/>
                                        </p:tgtEl>
                                        <p:attrNameLst>
                                          <p:attrName>style.visibility</p:attrName>
                                        </p:attrNameLst>
                                      </p:cBhvr>
                                      <p:to>
                                        <p:strVal val="visible"/>
                                      </p:to>
                                    </p:set>
                                    <p:animEffect transition="in" filter="wipe(left)">
                                      <p:cBhvr>
                                        <p:cTn id="42" dur="500"/>
                                        <p:tgtEl>
                                          <p:spTgt spid="747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autoUpdateAnimBg="0"/>
      <p:bldP spid="14" grpId="0" bldLvl="0" animBg="1" autoUpdateAnimBg="0"/>
      <p:bldP spid="74760" grpId="0" bldLvl="0" animBg="1"/>
      <p:bldP spid="74761" grpId="0" bldLvl="0" animBg="1"/>
      <p:bldP spid="74762" grpId="0" bldLvl="0" animBg="1"/>
      <p:bldP spid="74763" grpId="0" bldLvl="0" animBg="1"/>
      <p:bldP spid="74764" grpId="0" bldLvl="0" animBg="1"/>
      <p:bldP spid="74765" grpId="0" bldLvl="0" animBg="1"/>
      <p:bldP spid="74766"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21663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主题五 时序逻辑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83674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5.3 </a:t>
            </a:r>
            <a:r>
              <a:rPr kumimoji="0" lang="zh-CN" altLang="en-US" dirty="0">
                <a:solidFill>
                  <a:srgbClr val="000000"/>
                </a:solidFill>
                <a:latin typeface="黑体" panose="02010609060101010101" pitchFamily="49" charset="-122"/>
                <a:ea typeface="黑体" panose="02010609060101010101" pitchFamily="49" charset="-122"/>
              </a:rPr>
              <a:t>计数器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677545" y="138112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en-US" altLang="zh-CN" sz="2400" b="1" dirty="0">
                <a:latin typeface="黑体" panose="02010609060101010101" pitchFamily="49" charset="-122"/>
                <a:ea typeface="黑体" panose="02010609060101010101" pitchFamily="49" charset="-122"/>
                <a:sym typeface="+mn-ea"/>
              </a:rPr>
              <a:t>MSI</a:t>
            </a:r>
            <a:r>
              <a:rPr kumimoji="0" lang="zh-CN" altLang="en-US" sz="2400" b="1" dirty="0">
                <a:latin typeface="黑体" panose="02010609060101010101" pitchFamily="49" charset="-122"/>
                <a:ea typeface="黑体" panose="02010609060101010101" pitchFamily="49" charset="-122"/>
                <a:sym typeface="+mn-ea"/>
              </a:rPr>
              <a:t>同步模</a:t>
            </a:r>
            <a:r>
              <a:rPr kumimoji="0" lang="en-US" altLang="zh-CN" sz="2400" b="1" dirty="0">
                <a:latin typeface="黑体" panose="02010609060101010101" pitchFamily="49" charset="-122"/>
                <a:ea typeface="黑体" panose="02010609060101010101" pitchFamily="49" charset="-122"/>
                <a:sym typeface="+mn-ea"/>
              </a:rPr>
              <a:t>16</a:t>
            </a:r>
            <a:r>
              <a:rPr kumimoji="0" lang="zh-CN" altLang="en-US" sz="2400" b="1" dirty="0">
                <a:latin typeface="黑体" panose="02010609060101010101" pitchFamily="49" charset="-122"/>
                <a:ea typeface="黑体" panose="02010609060101010101" pitchFamily="49" charset="-122"/>
                <a:sym typeface="+mn-ea"/>
              </a:rPr>
              <a:t>加法计数器</a:t>
            </a:r>
            <a:r>
              <a:rPr kumimoji="0" lang="en-US" altLang="zh-CN" sz="2400" b="1" dirty="0">
                <a:latin typeface="黑体" panose="02010609060101010101" pitchFamily="49" charset="-122"/>
                <a:ea typeface="黑体" panose="02010609060101010101" pitchFamily="49" charset="-122"/>
                <a:sym typeface="+mn-ea"/>
              </a:rPr>
              <a:t>74161</a:t>
            </a:r>
            <a:endParaRPr kumimoji="0" lang="en-US" altLang="zh-CN" sz="2400" b="1" dirty="0">
              <a:latin typeface="黑体" panose="02010609060101010101" pitchFamily="49" charset="-122"/>
              <a:ea typeface="黑体" panose="02010609060101010101" pitchFamily="49" charset="-122"/>
              <a:sym typeface="+mn-ea"/>
            </a:endParaRPr>
          </a:p>
        </p:txBody>
      </p:sp>
      <p:pic>
        <p:nvPicPr>
          <p:cNvPr id="2" name="图片 1"/>
          <p:cNvPicPr>
            <a:picLocks noChangeAspect="1"/>
          </p:cNvPicPr>
          <p:nvPr/>
        </p:nvPicPr>
        <p:blipFill>
          <a:blip r:embed="rId2"/>
          <a:stretch>
            <a:fillRect/>
          </a:stretch>
        </p:blipFill>
        <p:spPr>
          <a:xfrm>
            <a:off x="1198880" y="1737360"/>
            <a:ext cx="6915150" cy="4474210"/>
          </a:xfrm>
          <a:prstGeom prst="rect">
            <a:avLst/>
          </a:prstGeom>
        </p:spPr>
      </p:pic>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21663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主题五 时序逻辑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83674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5.3 </a:t>
            </a:r>
            <a:r>
              <a:rPr kumimoji="0" lang="zh-CN" altLang="en-US" dirty="0">
                <a:solidFill>
                  <a:srgbClr val="000000"/>
                </a:solidFill>
                <a:latin typeface="黑体" panose="02010609060101010101" pitchFamily="49" charset="-122"/>
                <a:ea typeface="黑体" panose="02010609060101010101" pitchFamily="49" charset="-122"/>
              </a:rPr>
              <a:t>计数器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677545" y="138112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(3)</a:t>
            </a:r>
            <a:r>
              <a:rPr kumimoji="0" lang="en-US" altLang="zh-CN" sz="2400" b="1" dirty="0">
                <a:latin typeface="黑体" panose="02010609060101010101" pitchFamily="49" charset="-122"/>
                <a:ea typeface="黑体" panose="02010609060101010101" pitchFamily="49" charset="-122"/>
                <a:sym typeface="+mn-ea"/>
              </a:rPr>
              <a:t>MSI</a:t>
            </a:r>
            <a:r>
              <a:rPr kumimoji="0" lang="zh-CN" altLang="en-US" sz="2400" b="1" dirty="0">
                <a:latin typeface="黑体" panose="02010609060101010101" pitchFamily="49" charset="-122"/>
                <a:ea typeface="黑体" panose="02010609060101010101" pitchFamily="49" charset="-122"/>
                <a:sym typeface="+mn-ea"/>
              </a:rPr>
              <a:t>同步模</a:t>
            </a:r>
            <a:r>
              <a:rPr kumimoji="0" lang="en-US" altLang="zh-CN" sz="2400" b="1" dirty="0">
                <a:latin typeface="黑体" panose="02010609060101010101" pitchFamily="49" charset="-122"/>
                <a:ea typeface="黑体" panose="02010609060101010101" pitchFamily="49" charset="-122"/>
                <a:sym typeface="+mn-ea"/>
              </a:rPr>
              <a:t>16</a:t>
            </a:r>
            <a:r>
              <a:rPr kumimoji="0" lang="zh-CN" altLang="en-US" sz="2400" b="1" dirty="0">
                <a:latin typeface="黑体" panose="02010609060101010101" pitchFamily="49" charset="-122"/>
                <a:ea typeface="黑体" panose="02010609060101010101" pitchFamily="49" charset="-122"/>
                <a:sym typeface="+mn-ea"/>
              </a:rPr>
              <a:t>加法计数器</a:t>
            </a:r>
            <a:r>
              <a:rPr kumimoji="0" lang="en-US" altLang="zh-CN" sz="2400" b="1" dirty="0">
                <a:latin typeface="黑体" panose="02010609060101010101" pitchFamily="49" charset="-122"/>
                <a:ea typeface="黑体" panose="02010609060101010101" pitchFamily="49" charset="-122"/>
                <a:sym typeface="+mn-ea"/>
              </a:rPr>
              <a:t>74163</a:t>
            </a:r>
            <a:endParaRPr kumimoji="0" lang="en-US" altLang="zh-CN" sz="2400" b="1" dirty="0">
              <a:latin typeface="黑体" panose="02010609060101010101" pitchFamily="49" charset="-122"/>
              <a:ea typeface="黑体" panose="02010609060101010101" pitchFamily="49" charset="-122"/>
              <a:sym typeface="+mn-ea"/>
            </a:endParaRPr>
          </a:p>
        </p:txBody>
      </p:sp>
      <p:pic>
        <p:nvPicPr>
          <p:cNvPr id="3" name="图片 2"/>
          <p:cNvPicPr>
            <a:picLocks noChangeAspect="1"/>
          </p:cNvPicPr>
          <p:nvPr/>
        </p:nvPicPr>
        <p:blipFill>
          <a:blip r:embed="rId2"/>
          <a:srcRect t="9322"/>
          <a:stretch>
            <a:fillRect/>
          </a:stretch>
        </p:blipFill>
        <p:spPr>
          <a:xfrm>
            <a:off x="974725" y="1750060"/>
            <a:ext cx="7070725" cy="4465955"/>
          </a:xfrm>
          <a:prstGeom prst="rect">
            <a:avLst/>
          </a:prstGeom>
        </p:spPr>
      </p:pic>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21663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主题五 时序逻辑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83674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5.3 </a:t>
            </a:r>
            <a:r>
              <a:rPr kumimoji="0" lang="zh-CN" altLang="en-US" dirty="0">
                <a:solidFill>
                  <a:srgbClr val="000000"/>
                </a:solidFill>
                <a:latin typeface="黑体" panose="02010609060101010101" pitchFamily="49" charset="-122"/>
                <a:ea typeface="黑体" panose="02010609060101010101" pitchFamily="49" charset="-122"/>
              </a:rPr>
              <a:t>计数器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677545" y="138112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(4)</a:t>
            </a:r>
            <a:r>
              <a:rPr kumimoji="0" lang="en-US" altLang="zh-CN" sz="2400" b="1" dirty="0">
                <a:latin typeface="黑体" panose="02010609060101010101" pitchFamily="49" charset="-122"/>
                <a:ea typeface="黑体" panose="02010609060101010101" pitchFamily="49" charset="-122"/>
                <a:sym typeface="+mn-ea"/>
              </a:rPr>
              <a:t>MSI</a:t>
            </a:r>
            <a:r>
              <a:rPr kumimoji="0" lang="zh-CN" altLang="en-US" sz="2400" b="1" dirty="0">
                <a:latin typeface="黑体" panose="02010609060101010101" pitchFamily="49" charset="-122"/>
                <a:ea typeface="黑体" panose="02010609060101010101" pitchFamily="49" charset="-122"/>
                <a:sym typeface="+mn-ea"/>
              </a:rPr>
              <a:t>同步模</a:t>
            </a:r>
            <a:r>
              <a:rPr kumimoji="0" lang="en-US" altLang="zh-CN" sz="2400" b="1" dirty="0">
                <a:latin typeface="黑体" panose="02010609060101010101" pitchFamily="49" charset="-122"/>
                <a:ea typeface="黑体" panose="02010609060101010101" pitchFamily="49" charset="-122"/>
                <a:sym typeface="+mn-ea"/>
              </a:rPr>
              <a:t>10</a:t>
            </a:r>
            <a:r>
              <a:rPr kumimoji="0" lang="zh-CN" altLang="en-US" sz="2400" b="1" dirty="0">
                <a:latin typeface="黑体" panose="02010609060101010101" pitchFamily="49" charset="-122"/>
                <a:ea typeface="黑体" panose="02010609060101010101" pitchFamily="49" charset="-122"/>
                <a:sym typeface="+mn-ea"/>
              </a:rPr>
              <a:t>加法计数器</a:t>
            </a:r>
            <a:r>
              <a:rPr kumimoji="0" lang="en-US" altLang="zh-CN" sz="2400" b="1" dirty="0">
                <a:latin typeface="黑体" panose="02010609060101010101" pitchFamily="49" charset="-122"/>
                <a:ea typeface="黑体" panose="02010609060101010101" pitchFamily="49" charset="-122"/>
                <a:sym typeface="+mn-ea"/>
              </a:rPr>
              <a:t>74160</a:t>
            </a:r>
            <a:endParaRPr kumimoji="0" lang="en-US" altLang="zh-CN" sz="2400" b="1" dirty="0">
              <a:latin typeface="黑体" panose="02010609060101010101" pitchFamily="49" charset="-122"/>
              <a:ea typeface="黑体" panose="02010609060101010101" pitchFamily="49" charset="-122"/>
              <a:sym typeface="+mn-ea"/>
            </a:endParaRPr>
          </a:p>
        </p:txBody>
      </p:sp>
      <p:pic>
        <p:nvPicPr>
          <p:cNvPr id="2" name="图片 1"/>
          <p:cNvPicPr>
            <a:picLocks noChangeAspect="1"/>
          </p:cNvPicPr>
          <p:nvPr/>
        </p:nvPicPr>
        <p:blipFill>
          <a:blip r:embed="rId2"/>
          <a:stretch>
            <a:fillRect/>
          </a:stretch>
        </p:blipFill>
        <p:spPr>
          <a:xfrm>
            <a:off x="920750" y="1727835"/>
            <a:ext cx="7487285" cy="4305300"/>
          </a:xfrm>
          <a:prstGeom prst="rect">
            <a:avLst/>
          </a:prstGeom>
        </p:spPr>
      </p:pic>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21663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主题五 时序逻辑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83674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5.3 </a:t>
            </a:r>
            <a:r>
              <a:rPr kumimoji="0" lang="zh-CN" altLang="en-US" dirty="0">
                <a:solidFill>
                  <a:srgbClr val="000000"/>
                </a:solidFill>
                <a:latin typeface="黑体" panose="02010609060101010101" pitchFamily="49" charset="-122"/>
                <a:ea typeface="黑体" panose="02010609060101010101" pitchFamily="49" charset="-122"/>
              </a:rPr>
              <a:t>计数器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40716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(5)</a:t>
            </a:r>
            <a:r>
              <a:rPr kumimoji="0" lang="zh-CN" altLang="en-US" sz="2400" dirty="0">
                <a:solidFill>
                  <a:srgbClr val="000000"/>
                </a:solidFill>
                <a:latin typeface="黑体" panose="02010609060101010101" pitchFamily="49" charset="-122"/>
                <a:ea typeface="黑体" panose="02010609060101010101" pitchFamily="49" charset="-122"/>
              </a:rPr>
              <a:t>三类</a:t>
            </a:r>
            <a:r>
              <a:rPr kumimoji="0" lang="en-US" altLang="zh-CN" sz="2400" b="1" dirty="0">
                <a:latin typeface="黑体" panose="02010609060101010101" pitchFamily="49" charset="-122"/>
                <a:ea typeface="黑体" panose="02010609060101010101" pitchFamily="49" charset="-122"/>
                <a:sym typeface="+mn-ea"/>
              </a:rPr>
              <a:t>MSI</a:t>
            </a:r>
            <a:r>
              <a:rPr kumimoji="0" lang="zh-CN" altLang="en-US" sz="2400" b="1" dirty="0">
                <a:latin typeface="黑体" panose="02010609060101010101" pitchFamily="49" charset="-122"/>
                <a:ea typeface="黑体" panose="02010609060101010101" pitchFamily="49" charset="-122"/>
                <a:sym typeface="+mn-ea"/>
              </a:rPr>
              <a:t>同步加法计数器</a:t>
            </a:r>
            <a:r>
              <a:rPr kumimoji="0" lang="zh-CN" altLang="en-US" sz="2400" b="1" dirty="0">
                <a:latin typeface="黑体" panose="02010609060101010101" pitchFamily="49" charset="-122"/>
                <a:ea typeface="黑体" panose="02010609060101010101" pitchFamily="49" charset="-122"/>
                <a:sym typeface="+mn-ea"/>
              </a:rPr>
              <a:t>比较</a:t>
            </a:r>
            <a:endParaRPr kumimoji="0" lang="zh-CN" altLang="en-US" sz="2400" b="1" dirty="0">
              <a:latin typeface="黑体" panose="02010609060101010101" pitchFamily="49" charset="-122"/>
              <a:ea typeface="黑体" panose="02010609060101010101" pitchFamily="49" charset="-122"/>
              <a:sym typeface="+mn-ea"/>
            </a:endParaRPr>
          </a:p>
        </p:txBody>
      </p:sp>
      <p:sp>
        <p:nvSpPr>
          <p:cNvPr id="78851" name="Text Box 3"/>
          <p:cNvSpPr txBox="1">
            <a:spLocks noChangeArrowheads="1"/>
          </p:cNvSpPr>
          <p:nvPr>
            <p:custDataLst>
              <p:tags r:id="rId2"/>
            </p:custDataLst>
          </p:nvPr>
        </p:nvSpPr>
        <p:spPr bwMode="auto">
          <a:xfrm>
            <a:off x="929958" y="4077018"/>
            <a:ext cx="75834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pPr>
              <a:buFontTx/>
              <a:buChar char="•"/>
            </a:pPr>
            <a:r>
              <a:rPr kumimoji="0" lang="en-US" altLang="zh-CN" sz="2800" b="1" dirty="0">
                <a:ea typeface="楷体_GB2312" pitchFamily="49" charset="-122"/>
              </a:rPr>
              <a:t>74160 </a:t>
            </a:r>
            <a:r>
              <a:rPr kumimoji="0" lang="zh-CN" altLang="en-US" sz="2800" b="1" dirty="0">
                <a:ea typeface="楷体_GB2312" pitchFamily="49" charset="-122"/>
              </a:rPr>
              <a:t>模</a:t>
            </a:r>
            <a:r>
              <a:rPr kumimoji="0" lang="en-US" altLang="zh-CN" sz="2800" b="1" dirty="0">
                <a:ea typeface="楷体_GB2312" pitchFamily="49" charset="-122"/>
              </a:rPr>
              <a:t>10 (</a:t>
            </a:r>
            <a:r>
              <a:rPr kumimoji="0" lang="zh-CN" altLang="en-US" sz="2800" b="1" dirty="0">
                <a:ea typeface="楷体_GB2312" pitchFamily="49" charset="-122"/>
              </a:rPr>
              <a:t>同步计数、异步清</a:t>
            </a:r>
            <a:r>
              <a:rPr kumimoji="0" lang="en-US" altLang="zh-CN" sz="2800" b="1" dirty="0">
                <a:ea typeface="楷体_GB2312" pitchFamily="49" charset="-122"/>
              </a:rPr>
              <a:t>0)</a:t>
            </a:r>
            <a:endParaRPr kumimoji="0" lang="zh-CN" altLang="en-US" sz="2800" b="1" dirty="0">
              <a:ea typeface="楷体_GB2312" pitchFamily="49" charset="-122"/>
            </a:endParaRPr>
          </a:p>
        </p:txBody>
      </p:sp>
      <p:sp>
        <p:nvSpPr>
          <p:cNvPr id="78852" name="Text Box 4"/>
          <p:cNvSpPr txBox="1">
            <a:spLocks noChangeArrowheads="1"/>
          </p:cNvSpPr>
          <p:nvPr>
            <p:custDataLst>
              <p:tags r:id="rId3"/>
            </p:custDataLst>
          </p:nvPr>
        </p:nvSpPr>
        <p:spPr bwMode="auto">
          <a:xfrm>
            <a:off x="1612583" y="4778693"/>
            <a:ext cx="70437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zh-CN" altLang="en-US" b="1" dirty="0">
                <a:solidFill>
                  <a:srgbClr val="0000FF"/>
                </a:solidFill>
                <a:ea typeface="楷体_GB2312" pitchFamily="49" charset="-122"/>
              </a:rPr>
              <a:t>进位</a:t>
            </a:r>
            <a:r>
              <a:rPr kumimoji="0" lang="en-US" altLang="zh-CN" b="1" i="1" dirty="0">
                <a:solidFill>
                  <a:srgbClr val="0000FF"/>
                </a:solidFill>
                <a:ea typeface="楷体_GB2312" pitchFamily="49" charset="-122"/>
              </a:rPr>
              <a:t>CO</a:t>
            </a:r>
            <a:r>
              <a:rPr kumimoji="0" lang="en-US" altLang="zh-CN" b="1" dirty="0">
                <a:solidFill>
                  <a:srgbClr val="0000FF"/>
                </a:solidFill>
                <a:ea typeface="楷体_GB2312" pitchFamily="49" charset="-122"/>
              </a:rPr>
              <a:t> = </a:t>
            </a:r>
            <a:r>
              <a:rPr kumimoji="0" lang="en-US" altLang="zh-CN" b="1" i="1" dirty="0">
                <a:solidFill>
                  <a:srgbClr val="0000FF"/>
                </a:solidFill>
                <a:ea typeface="楷体_GB2312" pitchFamily="49" charset="-122"/>
              </a:rPr>
              <a:t>Q</a:t>
            </a:r>
            <a:r>
              <a:rPr kumimoji="0" lang="en-US" altLang="zh-CN" b="1" baseline="-25000" dirty="0">
                <a:solidFill>
                  <a:srgbClr val="0000FF"/>
                </a:solidFill>
                <a:ea typeface="楷体_GB2312" pitchFamily="49" charset="-122"/>
              </a:rPr>
              <a:t>3</a:t>
            </a:r>
            <a:r>
              <a:rPr kumimoji="0" lang="en-US" altLang="zh-CN" b="1" i="1" dirty="0">
                <a:solidFill>
                  <a:srgbClr val="0000FF"/>
                </a:solidFill>
                <a:ea typeface="楷体_GB2312" pitchFamily="49" charset="-122"/>
              </a:rPr>
              <a:t>Q</a:t>
            </a:r>
            <a:r>
              <a:rPr kumimoji="0" lang="en-US" altLang="zh-CN" b="1" baseline="-25000" dirty="0">
                <a:solidFill>
                  <a:srgbClr val="0000FF"/>
                </a:solidFill>
                <a:ea typeface="楷体_GB2312" pitchFamily="49" charset="-122"/>
              </a:rPr>
              <a:t>0 </a:t>
            </a:r>
            <a:r>
              <a:rPr kumimoji="0" lang="en-US" altLang="zh-CN" b="1" dirty="0">
                <a:solidFill>
                  <a:schemeClr val="tx1"/>
                </a:solidFill>
                <a:ea typeface="楷体_GB2312" pitchFamily="49" charset="-122"/>
                <a:sym typeface="Symbol" panose="05050102010706020507" pitchFamily="18" charset="2"/>
              </a:rPr>
              <a:t></a:t>
            </a:r>
            <a:r>
              <a:rPr kumimoji="0" lang="en-US" altLang="zh-CN" dirty="0">
                <a:ea typeface="楷体_GB2312" pitchFamily="49" charset="-122"/>
              </a:rPr>
              <a:t> </a:t>
            </a:r>
            <a:r>
              <a:rPr kumimoji="0" lang="en-US" altLang="zh-CN" b="1" i="1" dirty="0">
                <a:solidFill>
                  <a:srgbClr val="0000FF"/>
                </a:solidFill>
                <a:ea typeface="楷体_GB2312" pitchFamily="49" charset="-122"/>
              </a:rPr>
              <a:t>T</a:t>
            </a:r>
            <a:r>
              <a:rPr kumimoji="0" lang="en-US" altLang="zh-CN" b="1" dirty="0">
                <a:solidFill>
                  <a:srgbClr val="0000FF"/>
                </a:solidFill>
                <a:ea typeface="楷体_GB2312" pitchFamily="49" charset="-122"/>
              </a:rPr>
              <a:t> (1001</a:t>
            </a:r>
            <a:r>
              <a:rPr kumimoji="0" lang="zh-CN" altLang="en-US" b="1" dirty="0">
                <a:solidFill>
                  <a:srgbClr val="0000FF"/>
                </a:solidFill>
                <a:ea typeface="楷体_GB2312" pitchFamily="49" charset="-122"/>
              </a:rPr>
              <a:t>时产生进位</a:t>
            </a:r>
            <a:r>
              <a:rPr kumimoji="0" lang="en-US" altLang="zh-CN" b="1" dirty="0">
                <a:solidFill>
                  <a:srgbClr val="0000FF"/>
                </a:solidFill>
                <a:ea typeface="楷体_GB2312" pitchFamily="49" charset="-122"/>
              </a:rPr>
              <a:t>)</a:t>
            </a:r>
            <a:endParaRPr kumimoji="0" lang="en-US" altLang="zh-CN" b="1" dirty="0">
              <a:solidFill>
                <a:srgbClr val="0000FF"/>
              </a:solidFill>
              <a:ea typeface="楷体_GB2312" pitchFamily="49" charset="-122"/>
            </a:endParaRPr>
          </a:p>
        </p:txBody>
      </p:sp>
      <p:sp>
        <p:nvSpPr>
          <p:cNvPr id="78853" name="Text Box 5"/>
          <p:cNvSpPr txBox="1">
            <a:spLocks noChangeArrowheads="1"/>
          </p:cNvSpPr>
          <p:nvPr>
            <p:custDataLst>
              <p:tags r:id="rId4"/>
            </p:custDataLst>
          </p:nvPr>
        </p:nvSpPr>
        <p:spPr bwMode="auto">
          <a:xfrm>
            <a:off x="1598295" y="3443605"/>
            <a:ext cx="7186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zh-CN" altLang="en-US" b="1" dirty="0">
                <a:solidFill>
                  <a:srgbClr val="0000FF"/>
                </a:solidFill>
                <a:ea typeface="楷体_GB2312" pitchFamily="49" charset="-122"/>
              </a:rPr>
              <a:t>进位</a:t>
            </a:r>
            <a:r>
              <a:rPr kumimoji="0" lang="en-US" altLang="zh-CN" b="1" i="1" dirty="0">
                <a:solidFill>
                  <a:srgbClr val="0000FF"/>
                </a:solidFill>
                <a:ea typeface="楷体_GB2312" pitchFamily="49" charset="-122"/>
              </a:rPr>
              <a:t>CO </a:t>
            </a:r>
            <a:r>
              <a:rPr kumimoji="0" lang="en-US" altLang="zh-CN" b="1" dirty="0">
                <a:solidFill>
                  <a:srgbClr val="0000FF"/>
                </a:solidFill>
                <a:ea typeface="楷体_GB2312" pitchFamily="49" charset="-122"/>
              </a:rPr>
              <a:t>= </a:t>
            </a:r>
            <a:r>
              <a:rPr kumimoji="0" lang="en-US" altLang="zh-CN" b="1" i="1" dirty="0">
                <a:solidFill>
                  <a:srgbClr val="0000FF"/>
                </a:solidFill>
                <a:ea typeface="楷体_GB2312" pitchFamily="49" charset="-122"/>
              </a:rPr>
              <a:t>Q</a:t>
            </a:r>
            <a:r>
              <a:rPr kumimoji="0" lang="en-US" altLang="zh-CN" b="1" baseline="-25000" dirty="0">
                <a:solidFill>
                  <a:srgbClr val="0000FF"/>
                </a:solidFill>
                <a:ea typeface="楷体_GB2312" pitchFamily="49" charset="-122"/>
              </a:rPr>
              <a:t>3</a:t>
            </a:r>
            <a:r>
              <a:rPr kumimoji="0" lang="en-US" altLang="zh-CN" b="1" i="1" dirty="0">
                <a:solidFill>
                  <a:srgbClr val="0000FF"/>
                </a:solidFill>
                <a:ea typeface="楷体_GB2312" pitchFamily="49" charset="-122"/>
              </a:rPr>
              <a:t>Q</a:t>
            </a:r>
            <a:r>
              <a:rPr kumimoji="0" lang="en-US" altLang="zh-CN" b="1" baseline="-25000" dirty="0">
                <a:solidFill>
                  <a:srgbClr val="0000FF"/>
                </a:solidFill>
                <a:ea typeface="楷体_GB2312" pitchFamily="49" charset="-122"/>
              </a:rPr>
              <a:t>2</a:t>
            </a:r>
            <a:r>
              <a:rPr kumimoji="0" lang="en-US" altLang="zh-CN" b="1" i="1" dirty="0">
                <a:solidFill>
                  <a:srgbClr val="0000FF"/>
                </a:solidFill>
                <a:ea typeface="楷体_GB2312" pitchFamily="49" charset="-122"/>
              </a:rPr>
              <a:t>Q</a:t>
            </a:r>
            <a:r>
              <a:rPr kumimoji="0" lang="en-US" altLang="zh-CN" b="1" baseline="-25000" dirty="0">
                <a:solidFill>
                  <a:srgbClr val="0000FF"/>
                </a:solidFill>
                <a:ea typeface="楷体_GB2312" pitchFamily="49" charset="-122"/>
              </a:rPr>
              <a:t>1</a:t>
            </a:r>
            <a:r>
              <a:rPr kumimoji="0" lang="en-US" altLang="zh-CN" b="1" i="1" dirty="0">
                <a:solidFill>
                  <a:srgbClr val="0000FF"/>
                </a:solidFill>
                <a:ea typeface="楷体_GB2312" pitchFamily="49" charset="-122"/>
              </a:rPr>
              <a:t>Q</a:t>
            </a:r>
            <a:r>
              <a:rPr kumimoji="0" lang="en-US" altLang="zh-CN" b="1" baseline="-25000" dirty="0">
                <a:solidFill>
                  <a:srgbClr val="0000FF"/>
                </a:solidFill>
                <a:ea typeface="楷体_GB2312" pitchFamily="49" charset="-122"/>
              </a:rPr>
              <a:t>0 </a:t>
            </a:r>
            <a:r>
              <a:rPr kumimoji="0" lang="en-US" altLang="zh-CN" b="1" dirty="0">
                <a:solidFill>
                  <a:schemeClr val="tx1"/>
                </a:solidFill>
                <a:ea typeface="楷体_GB2312" pitchFamily="49" charset="-122"/>
                <a:sym typeface="Symbol" panose="05050102010706020507" pitchFamily="18" charset="2"/>
              </a:rPr>
              <a:t></a:t>
            </a:r>
            <a:r>
              <a:rPr kumimoji="0" lang="en-US" altLang="zh-CN" dirty="0">
                <a:ea typeface="楷体_GB2312" pitchFamily="49" charset="-122"/>
              </a:rPr>
              <a:t> </a:t>
            </a:r>
            <a:r>
              <a:rPr kumimoji="0" lang="en-US" altLang="zh-CN" b="1" i="1" dirty="0">
                <a:solidFill>
                  <a:srgbClr val="0000FF"/>
                </a:solidFill>
                <a:ea typeface="楷体_GB2312" pitchFamily="49" charset="-122"/>
              </a:rPr>
              <a:t>T</a:t>
            </a:r>
            <a:r>
              <a:rPr kumimoji="0" lang="en-US" altLang="zh-CN" b="1" dirty="0">
                <a:solidFill>
                  <a:srgbClr val="0000FF"/>
                </a:solidFill>
                <a:ea typeface="楷体_GB2312" pitchFamily="49" charset="-122"/>
              </a:rPr>
              <a:t> (1111</a:t>
            </a:r>
            <a:r>
              <a:rPr kumimoji="0" lang="zh-CN" altLang="en-US" b="1" dirty="0">
                <a:solidFill>
                  <a:srgbClr val="0000FF"/>
                </a:solidFill>
                <a:ea typeface="楷体_GB2312" pitchFamily="49" charset="-122"/>
              </a:rPr>
              <a:t>时产生进位</a:t>
            </a:r>
            <a:r>
              <a:rPr kumimoji="0" lang="en-US" altLang="zh-CN" b="1" dirty="0">
                <a:solidFill>
                  <a:srgbClr val="0000FF"/>
                </a:solidFill>
                <a:ea typeface="楷体_GB2312" pitchFamily="49" charset="-122"/>
              </a:rPr>
              <a:t>)</a:t>
            </a:r>
            <a:endParaRPr kumimoji="0" lang="en-US" altLang="zh-CN" b="1" dirty="0">
              <a:solidFill>
                <a:srgbClr val="0000FF"/>
              </a:solidFill>
              <a:ea typeface="楷体_GB2312" pitchFamily="49" charset="-122"/>
            </a:endParaRPr>
          </a:p>
        </p:txBody>
      </p:sp>
      <p:sp>
        <p:nvSpPr>
          <p:cNvPr id="78854" name="Text Box 6"/>
          <p:cNvSpPr txBox="1">
            <a:spLocks noChangeArrowheads="1"/>
          </p:cNvSpPr>
          <p:nvPr/>
        </p:nvSpPr>
        <p:spPr bwMode="auto">
          <a:xfrm>
            <a:off x="922020" y="2072005"/>
            <a:ext cx="80883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pPr>
              <a:buFontTx/>
              <a:buChar char="•"/>
            </a:pPr>
            <a:r>
              <a:rPr kumimoji="0" lang="en-US" altLang="zh-CN" sz="2800" b="1" dirty="0">
                <a:ea typeface="楷体_GB2312" pitchFamily="49" charset="-122"/>
              </a:rPr>
              <a:t>74161 </a:t>
            </a:r>
            <a:r>
              <a:rPr kumimoji="0" lang="zh-CN" altLang="en-US" sz="2800" b="1" dirty="0">
                <a:ea typeface="楷体_GB2312" pitchFamily="49" charset="-122"/>
              </a:rPr>
              <a:t>模</a:t>
            </a:r>
            <a:r>
              <a:rPr kumimoji="0" lang="en-US" altLang="zh-CN" sz="2800" b="1" dirty="0">
                <a:ea typeface="楷体_GB2312" pitchFamily="49" charset="-122"/>
              </a:rPr>
              <a:t>16 (</a:t>
            </a:r>
            <a:r>
              <a:rPr kumimoji="0" lang="zh-CN" altLang="en-US" sz="2800" b="1" dirty="0">
                <a:ea typeface="楷体_GB2312" pitchFamily="49" charset="-122"/>
              </a:rPr>
              <a:t>同步计数、异步清</a:t>
            </a:r>
            <a:r>
              <a:rPr kumimoji="0" lang="en-US" altLang="zh-CN" sz="2800" b="1" dirty="0">
                <a:ea typeface="楷体_GB2312" pitchFamily="49" charset="-122"/>
              </a:rPr>
              <a:t>0)</a:t>
            </a:r>
            <a:endParaRPr kumimoji="0" lang="zh-CN" altLang="en-US" sz="2800" b="1" dirty="0">
              <a:ea typeface="楷体_GB2312" pitchFamily="49" charset="-122"/>
            </a:endParaRPr>
          </a:p>
        </p:txBody>
      </p:sp>
      <p:sp>
        <p:nvSpPr>
          <p:cNvPr id="3" name="Text Box 6"/>
          <p:cNvSpPr txBox="1">
            <a:spLocks noChangeArrowheads="1"/>
          </p:cNvSpPr>
          <p:nvPr>
            <p:custDataLst>
              <p:tags r:id="rId5"/>
            </p:custDataLst>
          </p:nvPr>
        </p:nvSpPr>
        <p:spPr bwMode="auto">
          <a:xfrm>
            <a:off x="896620" y="2795905"/>
            <a:ext cx="80883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pPr>
              <a:buFontTx/>
              <a:buChar char="•"/>
            </a:pPr>
            <a:r>
              <a:rPr kumimoji="0" lang="en-US" altLang="zh-CN" sz="2800" b="1" dirty="0">
                <a:ea typeface="楷体_GB2312" pitchFamily="49" charset="-122"/>
              </a:rPr>
              <a:t>74163 </a:t>
            </a:r>
            <a:r>
              <a:rPr kumimoji="0" lang="zh-CN" altLang="en-US" sz="2800" b="1" dirty="0">
                <a:ea typeface="楷体_GB2312" pitchFamily="49" charset="-122"/>
              </a:rPr>
              <a:t>模</a:t>
            </a:r>
            <a:r>
              <a:rPr kumimoji="0" lang="en-US" altLang="zh-CN" sz="2800" b="1" dirty="0">
                <a:ea typeface="楷体_GB2312" pitchFamily="49" charset="-122"/>
              </a:rPr>
              <a:t>16 (</a:t>
            </a:r>
            <a:r>
              <a:rPr kumimoji="0" lang="zh-CN" altLang="en-US" sz="2800" b="1" dirty="0">
                <a:ea typeface="楷体_GB2312" pitchFamily="49" charset="-122"/>
              </a:rPr>
              <a:t>同步计数、同步清</a:t>
            </a:r>
            <a:r>
              <a:rPr kumimoji="0" lang="en-US" altLang="zh-CN" sz="2800" b="1" dirty="0">
                <a:ea typeface="楷体_GB2312" pitchFamily="49" charset="-122"/>
              </a:rPr>
              <a:t>0)</a:t>
            </a:r>
            <a:endParaRPr kumimoji="0" lang="zh-CN" altLang="en-US" sz="2800" b="1" dirty="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8854"/>
                                        </p:tgtEl>
                                        <p:attrNameLst>
                                          <p:attrName>style.visibility</p:attrName>
                                        </p:attrNameLst>
                                      </p:cBhvr>
                                      <p:to>
                                        <p:strVal val="visible"/>
                                      </p:to>
                                    </p:set>
                                    <p:animEffect transition="in" filter="wipe(left)">
                                      <p:cBhvr>
                                        <p:cTn id="7" dur="500"/>
                                        <p:tgtEl>
                                          <p:spTgt spid="788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8853"/>
                                        </p:tgtEl>
                                        <p:attrNameLst>
                                          <p:attrName>style.visibility</p:attrName>
                                        </p:attrNameLst>
                                      </p:cBhvr>
                                      <p:to>
                                        <p:strVal val="visible"/>
                                      </p:to>
                                    </p:set>
                                    <p:animEffect transition="in" filter="wipe(left)">
                                      <p:cBhvr>
                                        <p:cTn id="17" dur="500"/>
                                        <p:tgtEl>
                                          <p:spTgt spid="7885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8851"/>
                                        </p:tgtEl>
                                        <p:attrNameLst>
                                          <p:attrName>style.visibility</p:attrName>
                                        </p:attrNameLst>
                                      </p:cBhvr>
                                      <p:to>
                                        <p:strVal val="visible"/>
                                      </p:to>
                                    </p:set>
                                    <p:animEffect transition="in" filter="wipe(left)">
                                      <p:cBhvr>
                                        <p:cTn id="22" dur="500"/>
                                        <p:tgtEl>
                                          <p:spTgt spid="7885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8852"/>
                                        </p:tgtEl>
                                        <p:attrNameLst>
                                          <p:attrName>style.visibility</p:attrName>
                                        </p:attrNameLst>
                                      </p:cBhvr>
                                      <p:to>
                                        <p:strVal val="visible"/>
                                      </p:to>
                                    </p:set>
                                    <p:animEffect transition="in" filter="wipe(left)">
                                      <p:cBhvr>
                                        <p:cTn id="27" dur="500"/>
                                        <p:tgtEl>
                                          <p:spTgt spid="788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autoUpdateAnimBg="0"/>
      <p:bldP spid="14" grpId="0" bldLvl="0" animBg="1" autoUpdateAnimBg="0"/>
      <p:bldP spid="78851" grpId="0" bldLvl="0" animBg="1" autoUpdateAnimBg="0"/>
      <p:bldP spid="78852" grpId="0" bldLvl="0" animBg="1" autoUpdateAnimBg="0"/>
      <p:bldP spid="78853" grpId="0" bldLvl="0" animBg="1" autoUpdateAnimBg="0"/>
      <p:bldP spid="78854" grpId="0" bldLvl="0" animBg="1"/>
      <p:bldP spid="3" grpId="0" bldLvl="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21663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主题五 时序逻辑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83674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5.3 </a:t>
            </a:r>
            <a:r>
              <a:rPr kumimoji="0" lang="zh-CN" altLang="en-US" dirty="0">
                <a:solidFill>
                  <a:srgbClr val="000000"/>
                </a:solidFill>
                <a:latin typeface="黑体" panose="02010609060101010101" pitchFamily="49" charset="-122"/>
                <a:ea typeface="黑体" panose="02010609060101010101" pitchFamily="49" charset="-122"/>
              </a:rPr>
              <a:t>计数器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40716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(6)</a:t>
            </a:r>
            <a:r>
              <a:rPr kumimoji="0" lang="zh-CN" altLang="en-US" sz="2400" dirty="0">
                <a:solidFill>
                  <a:srgbClr val="000000"/>
                </a:solidFill>
                <a:latin typeface="黑体" panose="02010609060101010101" pitchFamily="49" charset="-122"/>
                <a:ea typeface="黑体" panose="02010609060101010101" pitchFamily="49" charset="-122"/>
              </a:rPr>
              <a:t>同步级联（控制</a:t>
            </a:r>
            <a:r>
              <a:rPr kumimoji="0" lang="en-US" altLang="zh-CN" sz="2400" dirty="0">
                <a:solidFill>
                  <a:srgbClr val="000000"/>
                </a:solidFill>
                <a:latin typeface="黑体" panose="02010609060101010101" pitchFamily="49" charset="-122"/>
                <a:ea typeface="黑体" panose="02010609060101010101" pitchFamily="49" charset="-122"/>
              </a:rPr>
              <a:t>CO</a:t>
            </a:r>
            <a:r>
              <a:rPr kumimoji="0" lang="zh-CN" altLang="en-US" sz="2400" dirty="0">
                <a:solidFill>
                  <a:srgbClr val="000000"/>
                </a:solidFill>
                <a:latin typeface="黑体" panose="02010609060101010101" pitchFamily="49" charset="-122"/>
                <a:ea typeface="黑体" panose="02010609060101010101" pitchFamily="49" charset="-122"/>
              </a:rPr>
              <a:t>）、异步级联（控制</a:t>
            </a:r>
            <a:r>
              <a:rPr kumimoji="0" lang="en-US" altLang="zh-CN" sz="2400" dirty="0">
                <a:solidFill>
                  <a:srgbClr val="000000"/>
                </a:solidFill>
                <a:latin typeface="黑体" panose="02010609060101010101" pitchFamily="49" charset="-122"/>
                <a:ea typeface="黑体" panose="02010609060101010101" pitchFamily="49" charset="-122"/>
              </a:rPr>
              <a:t>CLK</a:t>
            </a:r>
            <a:r>
              <a:rPr kumimoji="0" lang="zh-CN" altLang="en-US" sz="2400" dirty="0">
                <a:solidFill>
                  <a:srgbClr val="000000"/>
                </a:solidFill>
                <a:latin typeface="黑体" panose="02010609060101010101" pitchFamily="49" charset="-122"/>
                <a:ea typeface="黑体" panose="02010609060101010101" pitchFamily="49" charset="-122"/>
              </a:rPr>
              <a:t>）</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2" name="Text Box 142"/>
          <p:cNvSpPr txBox="1">
            <a:spLocks noChangeArrowheads="1"/>
          </p:cNvSpPr>
          <p:nvPr>
            <p:custDataLst>
              <p:tags r:id="rId2"/>
            </p:custDataLst>
          </p:nvPr>
        </p:nvSpPr>
        <p:spPr bwMode="auto">
          <a:xfrm>
            <a:off x="742315" y="191579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(7)</a:t>
            </a:r>
            <a:r>
              <a:rPr kumimoji="0" lang="zh-CN" altLang="en-US" sz="2400" dirty="0">
                <a:solidFill>
                  <a:srgbClr val="000000"/>
                </a:solidFill>
                <a:latin typeface="黑体" panose="02010609060101010101" pitchFamily="49" charset="-122"/>
                <a:ea typeface="黑体" panose="02010609060101010101" pitchFamily="49" charset="-122"/>
              </a:rPr>
              <a:t>任意</a:t>
            </a:r>
            <a:r>
              <a:rPr kumimoji="0" lang="en-US" altLang="zh-CN" sz="2400" dirty="0">
                <a:solidFill>
                  <a:srgbClr val="000000"/>
                </a:solidFill>
                <a:latin typeface="黑体" panose="02010609060101010101" pitchFamily="49" charset="-122"/>
                <a:ea typeface="黑体" panose="02010609060101010101" pitchFamily="49" charset="-122"/>
              </a:rPr>
              <a:t>M&lt;16</a:t>
            </a:r>
            <a:r>
              <a:rPr kumimoji="0" lang="zh-CN" altLang="en-US" sz="2400" dirty="0">
                <a:solidFill>
                  <a:srgbClr val="000000"/>
                </a:solidFill>
                <a:latin typeface="黑体" panose="02010609060101010101" pitchFamily="49" charset="-122"/>
                <a:ea typeface="黑体" panose="02010609060101010101" pitchFamily="49" charset="-122"/>
              </a:rPr>
              <a:t>计数器</a:t>
            </a:r>
            <a:r>
              <a:rPr kumimoji="0" lang="zh-CN" altLang="en-US" sz="2400" dirty="0">
                <a:solidFill>
                  <a:srgbClr val="000000"/>
                </a:solidFill>
                <a:latin typeface="黑体" panose="02010609060101010101" pitchFamily="49" charset="-122"/>
                <a:ea typeface="黑体" panose="02010609060101010101" pitchFamily="49" charset="-122"/>
              </a:rPr>
              <a:t>设计</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4104" name="Text Box 8"/>
          <p:cNvSpPr txBox="1">
            <a:spLocks noChangeArrowheads="1"/>
          </p:cNvSpPr>
          <p:nvPr/>
        </p:nvSpPr>
        <p:spPr bwMode="auto">
          <a:xfrm>
            <a:off x="1007110" y="2527618"/>
            <a:ext cx="42275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a:latin typeface="宋体" panose="02010600030101010101" pitchFamily="2" charset="-122"/>
              </a:rPr>
              <a:t>a.</a:t>
            </a:r>
            <a:r>
              <a:rPr kumimoji="0" lang="zh-CN" altLang="en-US" sz="2800" b="1">
                <a:latin typeface="宋体" panose="02010600030101010101" pitchFamily="2" charset="-122"/>
                <a:cs typeface="Times New Roman" panose="02020603050405020304" pitchFamily="18" charset="0"/>
              </a:rPr>
              <a:t>清零法（利用复位端）</a:t>
            </a:r>
            <a:r>
              <a:rPr kumimoji="0" lang="zh-CN" altLang="en-US" sz="2800" b="1">
                <a:latin typeface="宋体" panose="02010600030101010101" pitchFamily="2" charset="-122"/>
              </a:rPr>
              <a:t> </a:t>
            </a:r>
            <a:endParaRPr kumimoji="0" lang="zh-CN" altLang="en-US" sz="2800" b="1">
              <a:latin typeface="宋体" panose="02010600030101010101" pitchFamily="2" charset="-122"/>
            </a:endParaRPr>
          </a:p>
        </p:txBody>
      </p:sp>
      <p:grpSp>
        <p:nvGrpSpPr>
          <p:cNvPr id="4134" name="Group 38"/>
          <p:cNvGrpSpPr/>
          <p:nvPr/>
        </p:nvGrpSpPr>
        <p:grpSpPr bwMode="auto">
          <a:xfrm>
            <a:off x="1600835" y="3959543"/>
            <a:ext cx="6710363" cy="519112"/>
            <a:chOff x="903" y="2764"/>
            <a:chExt cx="4227" cy="327"/>
          </a:xfrm>
        </p:grpSpPr>
        <p:sp>
          <p:nvSpPr>
            <p:cNvPr id="36888" name="Text Box 19"/>
            <p:cNvSpPr txBox="1">
              <a:spLocks noChangeArrowheads="1"/>
            </p:cNvSpPr>
            <p:nvPr/>
          </p:nvSpPr>
          <p:spPr bwMode="auto">
            <a:xfrm>
              <a:off x="903" y="2764"/>
              <a:ext cx="3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a:solidFill>
                    <a:srgbClr val="FF00FF"/>
                  </a:solidFill>
                  <a:latin typeface="宋体" panose="02010600030101010101" pitchFamily="2" charset="-122"/>
                </a:rPr>
                <a:t>S</a:t>
              </a:r>
              <a:r>
                <a:rPr kumimoji="0" lang="en-US" altLang="zh-CN" sz="2800" baseline="-25000">
                  <a:solidFill>
                    <a:srgbClr val="FF00FF"/>
                  </a:solidFill>
                  <a:latin typeface="宋体" panose="02010600030101010101" pitchFamily="2" charset="-122"/>
                </a:rPr>
                <a:t>0</a:t>
              </a:r>
              <a:r>
                <a:rPr kumimoji="0" lang="en-US" altLang="zh-CN" sz="2800">
                  <a:latin typeface="宋体" panose="02010600030101010101" pitchFamily="2" charset="-122"/>
                </a:rPr>
                <a:t> </a:t>
              </a:r>
              <a:endParaRPr kumimoji="0" lang="en-US" altLang="zh-CN" sz="2800">
                <a:latin typeface="宋体" panose="02010600030101010101" pitchFamily="2" charset="-122"/>
              </a:endParaRPr>
            </a:p>
          </p:txBody>
        </p:sp>
        <p:sp>
          <p:nvSpPr>
            <p:cNvPr id="36889" name="Text Box 20"/>
            <p:cNvSpPr txBox="1">
              <a:spLocks noChangeArrowheads="1"/>
            </p:cNvSpPr>
            <p:nvPr/>
          </p:nvSpPr>
          <p:spPr bwMode="auto">
            <a:xfrm>
              <a:off x="1447" y="2764"/>
              <a:ext cx="3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a:latin typeface="宋体" panose="02010600030101010101" pitchFamily="2" charset="-122"/>
                </a:rPr>
                <a:t>S</a:t>
              </a:r>
              <a:r>
                <a:rPr kumimoji="0" lang="en-US" altLang="zh-CN" sz="2800" baseline="-25000">
                  <a:latin typeface="宋体" panose="02010600030101010101" pitchFamily="2" charset="-122"/>
                </a:rPr>
                <a:t>1</a:t>
              </a:r>
              <a:r>
                <a:rPr kumimoji="0" lang="en-US" altLang="zh-CN" sz="2800">
                  <a:latin typeface="宋体" panose="02010600030101010101" pitchFamily="2" charset="-122"/>
                </a:rPr>
                <a:t> </a:t>
              </a:r>
              <a:endParaRPr kumimoji="0" lang="en-US" altLang="zh-CN" sz="2800">
                <a:latin typeface="宋体" panose="02010600030101010101" pitchFamily="2" charset="-122"/>
              </a:endParaRPr>
            </a:p>
          </p:txBody>
        </p:sp>
        <p:sp>
          <p:nvSpPr>
            <p:cNvPr id="36890" name="Text Box 21"/>
            <p:cNvSpPr txBox="1">
              <a:spLocks noChangeArrowheads="1"/>
            </p:cNvSpPr>
            <p:nvPr/>
          </p:nvSpPr>
          <p:spPr bwMode="auto">
            <a:xfrm>
              <a:off x="1979" y="2764"/>
              <a:ext cx="3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a:latin typeface="宋体" panose="02010600030101010101" pitchFamily="2" charset="-122"/>
                </a:rPr>
                <a:t>S</a:t>
              </a:r>
              <a:r>
                <a:rPr kumimoji="0" lang="en-US" altLang="zh-CN" sz="2800" baseline="-25000">
                  <a:latin typeface="宋体" panose="02010600030101010101" pitchFamily="2" charset="-122"/>
                </a:rPr>
                <a:t>2</a:t>
              </a:r>
              <a:r>
                <a:rPr kumimoji="0" lang="en-US" altLang="zh-CN" sz="2800">
                  <a:latin typeface="宋体" panose="02010600030101010101" pitchFamily="2" charset="-122"/>
                </a:rPr>
                <a:t> </a:t>
              </a:r>
              <a:endParaRPr kumimoji="0" lang="en-US" altLang="zh-CN" sz="2800">
                <a:latin typeface="宋体" panose="02010600030101010101" pitchFamily="2" charset="-122"/>
              </a:endParaRPr>
            </a:p>
          </p:txBody>
        </p:sp>
        <p:sp>
          <p:nvSpPr>
            <p:cNvPr id="36891" name="Text Box 22"/>
            <p:cNvSpPr txBox="1">
              <a:spLocks noChangeArrowheads="1"/>
            </p:cNvSpPr>
            <p:nvPr/>
          </p:nvSpPr>
          <p:spPr bwMode="auto">
            <a:xfrm>
              <a:off x="2791" y="2764"/>
              <a:ext cx="45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a:latin typeface="宋体" panose="02010600030101010101" pitchFamily="2" charset="-122"/>
                </a:rPr>
                <a:t>S</a:t>
              </a:r>
              <a:r>
                <a:rPr kumimoji="0" lang="en-US" altLang="zh-CN" sz="2800" baseline="-25000">
                  <a:solidFill>
                    <a:srgbClr val="660033"/>
                  </a:solidFill>
                  <a:latin typeface="宋体" panose="02010600030101010101" pitchFamily="2" charset="-122"/>
                </a:rPr>
                <a:t>M-1</a:t>
              </a:r>
              <a:r>
                <a:rPr kumimoji="0" lang="en-US" altLang="zh-CN" sz="2800">
                  <a:latin typeface="宋体" panose="02010600030101010101" pitchFamily="2" charset="-122"/>
                </a:rPr>
                <a:t> </a:t>
              </a:r>
              <a:endParaRPr kumimoji="0" lang="en-US" altLang="zh-CN" sz="2800">
                <a:latin typeface="宋体" panose="02010600030101010101" pitchFamily="2" charset="-122"/>
              </a:endParaRPr>
            </a:p>
          </p:txBody>
        </p:sp>
        <p:sp>
          <p:nvSpPr>
            <p:cNvPr id="36892" name="Text Box 23"/>
            <p:cNvSpPr txBox="1">
              <a:spLocks noChangeArrowheads="1"/>
            </p:cNvSpPr>
            <p:nvPr/>
          </p:nvSpPr>
          <p:spPr bwMode="auto">
            <a:xfrm>
              <a:off x="3631" y="2764"/>
              <a:ext cx="3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a:latin typeface="宋体" panose="02010600030101010101" pitchFamily="2" charset="-122"/>
                </a:rPr>
                <a:t>S</a:t>
              </a:r>
              <a:r>
                <a:rPr kumimoji="0" lang="en-US" altLang="zh-CN" sz="2800" baseline="-25000">
                  <a:solidFill>
                    <a:srgbClr val="660033"/>
                  </a:solidFill>
                  <a:latin typeface="宋体" panose="02010600030101010101" pitchFamily="2" charset="-122"/>
                </a:rPr>
                <a:t>M</a:t>
              </a:r>
              <a:r>
                <a:rPr kumimoji="0" lang="en-US" altLang="zh-CN" sz="2800">
                  <a:latin typeface="宋体" panose="02010600030101010101" pitchFamily="2" charset="-122"/>
                </a:rPr>
                <a:t> </a:t>
              </a:r>
              <a:endParaRPr kumimoji="0" lang="en-US" altLang="zh-CN" sz="2800">
                <a:latin typeface="宋体" panose="02010600030101010101" pitchFamily="2" charset="-122"/>
              </a:endParaRPr>
            </a:p>
          </p:txBody>
        </p:sp>
        <p:sp>
          <p:nvSpPr>
            <p:cNvPr id="36893" name="Text Box 24"/>
            <p:cNvSpPr txBox="1">
              <a:spLocks noChangeArrowheads="1"/>
            </p:cNvSpPr>
            <p:nvPr/>
          </p:nvSpPr>
          <p:spPr bwMode="auto">
            <a:xfrm>
              <a:off x="4629" y="2764"/>
              <a:ext cx="50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a:latin typeface="宋体" panose="02010600030101010101" pitchFamily="2" charset="-122"/>
                </a:rPr>
                <a:t>S</a:t>
              </a:r>
              <a:r>
                <a:rPr kumimoji="0" lang="en-US" altLang="zh-CN" sz="2800" baseline="-25000">
                  <a:latin typeface="宋体" panose="02010600030101010101" pitchFamily="2" charset="-122"/>
                </a:rPr>
                <a:t>N-1</a:t>
              </a:r>
              <a:r>
                <a:rPr kumimoji="0" lang="en-US" altLang="zh-CN" sz="2800">
                  <a:latin typeface="宋体" panose="02010600030101010101" pitchFamily="2" charset="-122"/>
                </a:rPr>
                <a:t> </a:t>
              </a:r>
              <a:endParaRPr kumimoji="0" lang="en-US" altLang="zh-CN" sz="2800">
                <a:latin typeface="宋体" panose="02010600030101010101" pitchFamily="2" charset="-122"/>
              </a:endParaRPr>
            </a:p>
          </p:txBody>
        </p:sp>
        <p:sp>
          <p:nvSpPr>
            <p:cNvPr id="36894" name="Line 25"/>
            <p:cNvSpPr>
              <a:spLocks noChangeShapeType="1"/>
            </p:cNvSpPr>
            <p:nvPr/>
          </p:nvSpPr>
          <p:spPr bwMode="auto">
            <a:xfrm>
              <a:off x="1176" y="2927"/>
              <a:ext cx="272"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95" name="Line 26"/>
            <p:cNvSpPr>
              <a:spLocks noChangeShapeType="1"/>
            </p:cNvSpPr>
            <p:nvPr/>
          </p:nvSpPr>
          <p:spPr bwMode="auto">
            <a:xfrm flipV="1">
              <a:off x="1723" y="2927"/>
              <a:ext cx="245"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96" name="Line 27"/>
            <p:cNvSpPr>
              <a:spLocks noChangeShapeType="1"/>
            </p:cNvSpPr>
            <p:nvPr/>
          </p:nvSpPr>
          <p:spPr bwMode="auto">
            <a:xfrm>
              <a:off x="2563" y="2927"/>
              <a:ext cx="245"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97" name="Line 28"/>
            <p:cNvSpPr>
              <a:spLocks noChangeShapeType="1"/>
            </p:cNvSpPr>
            <p:nvPr/>
          </p:nvSpPr>
          <p:spPr bwMode="auto">
            <a:xfrm>
              <a:off x="3206" y="2927"/>
              <a:ext cx="346"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98" name="Line 29"/>
            <p:cNvSpPr>
              <a:spLocks noChangeShapeType="1"/>
            </p:cNvSpPr>
            <p:nvPr/>
          </p:nvSpPr>
          <p:spPr bwMode="auto">
            <a:xfrm>
              <a:off x="4365" y="2927"/>
              <a:ext cx="260"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99" name="Line 30"/>
            <p:cNvSpPr>
              <a:spLocks noChangeShapeType="1"/>
            </p:cNvSpPr>
            <p:nvPr/>
          </p:nvSpPr>
          <p:spPr bwMode="auto">
            <a:xfrm>
              <a:off x="2290" y="2927"/>
              <a:ext cx="216" cy="0"/>
            </a:xfrm>
            <a:prstGeom prst="line">
              <a:avLst/>
            </a:prstGeom>
            <a:noFill/>
            <a:ln w="28575">
              <a:solidFill>
                <a:srgbClr val="FF0000"/>
              </a:solidFill>
              <a:prstDash val="sys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900" name="Line 31"/>
            <p:cNvSpPr>
              <a:spLocks noChangeShapeType="1"/>
            </p:cNvSpPr>
            <p:nvPr/>
          </p:nvSpPr>
          <p:spPr bwMode="auto">
            <a:xfrm>
              <a:off x="4057" y="2927"/>
              <a:ext cx="245" cy="0"/>
            </a:xfrm>
            <a:prstGeom prst="line">
              <a:avLst/>
            </a:prstGeom>
            <a:noFill/>
            <a:ln w="28575">
              <a:solidFill>
                <a:srgbClr val="FF0000"/>
              </a:solidFill>
              <a:prstDash val="sysDot"/>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128" name="Oval 32"/>
          <p:cNvSpPr>
            <a:spLocks noChangeArrowheads="1"/>
          </p:cNvSpPr>
          <p:nvPr/>
        </p:nvSpPr>
        <p:spPr bwMode="auto">
          <a:xfrm>
            <a:off x="5907723" y="3965893"/>
            <a:ext cx="576262" cy="576262"/>
          </a:xfrm>
          <a:prstGeom prst="ellipse">
            <a:avLst/>
          </a:prstGeom>
          <a:noFill/>
          <a:ln w="28575">
            <a:solidFill>
              <a:srgbClr val="FF0000"/>
            </a:solidFill>
            <a:prstDash val="dash"/>
            <a:rou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pPr algn="ctr" eaLnBrk="1" hangingPunct="1"/>
            <a:endParaRPr lang="zh-CN" altLang="zh-CN" sz="2800"/>
          </a:p>
        </p:txBody>
      </p:sp>
      <p:sp>
        <p:nvSpPr>
          <p:cNvPr id="4129" name="Line 33"/>
          <p:cNvSpPr>
            <a:spLocks noChangeShapeType="1"/>
          </p:cNvSpPr>
          <p:nvPr/>
        </p:nvSpPr>
        <p:spPr bwMode="auto">
          <a:xfrm>
            <a:off x="4921885" y="4561205"/>
            <a:ext cx="0" cy="342900"/>
          </a:xfrm>
          <a:prstGeom prst="line">
            <a:avLst/>
          </a:prstGeom>
          <a:noFill/>
          <a:ln w="28575">
            <a:solidFill>
              <a:schemeClr val="accent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30" name="Line 34"/>
          <p:cNvSpPr>
            <a:spLocks noChangeShapeType="1"/>
          </p:cNvSpPr>
          <p:nvPr/>
        </p:nvSpPr>
        <p:spPr bwMode="auto">
          <a:xfrm flipH="1">
            <a:off x="1829435" y="4904105"/>
            <a:ext cx="3116263" cy="0"/>
          </a:xfrm>
          <a:prstGeom prst="line">
            <a:avLst/>
          </a:prstGeom>
          <a:noFill/>
          <a:ln w="28575">
            <a:solidFill>
              <a:schemeClr val="accent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31" name="Line 35"/>
          <p:cNvSpPr>
            <a:spLocks noChangeShapeType="1"/>
          </p:cNvSpPr>
          <p:nvPr/>
        </p:nvSpPr>
        <p:spPr bwMode="auto">
          <a:xfrm flipH="1" flipV="1">
            <a:off x="1835785" y="4515168"/>
            <a:ext cx="0" cy="388937"/>
          </a:xfrm>
          <a:prstGeom prst="line">
            <a:avLst/>
          </a:prstGeom>
          <a:noFill/>
          <a:ln w="28575">
            <a:solidFill>
              <a:schemeClr val="accent2"/>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32" name="Line 36"/>
          <p:cNvSpPr>
            <a:spLocks noChangeShapeType="1"/>
          </p:cNvSpPr>
          <p:nvPr/>
        </p:nvSpPr>
        <p:spPr bwMode="auto">
          <a:xfrm>
            <a:off x="4928235" y="4908868"/>
            <a:ext cx="1335088" cy="0"/>
          </a:xfrm>
          <a:prstGeom prst="line">
            <a:avLst/>
          </a:prstGeom>
          <a:noFill/>
          <a:ln w="28575">
            <a:solidFill>
              <a:schemeClr val="accent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33" name="Line 37"/>
          <p:cNvSpPr>
            <a:spLocks noChangeShapeType="1"/>
          </p:cNvSpPr>
          <p:nvPr/>
        </p:nvSpPr>
        <p:spPr bwMode="auto">
          <a:xfrm flipV="1">
            <a:off x="6263323" y="4604068"/>
            <a:ext cx="0" cy="304800"/>
          </a:xfrm>
          <a:prstGeom prst="line">
            <a:avLst/>
          </a:prstGeom>
          <a:noFill/>
          <a:ln w="28575">
            <a:solidFill>
              <a:schemeClr val="accent2"/>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139" name="Group 43"/>
          <p:cNvGrpSpPr/>
          <p:nvPr/>
        </p:nvGrpSpPr>
        <p:grpSpPr bwMode="auto">
          <a:xfrm>
            <a:off x="1789748" y="3645218"/>
            <a:ext cx="5943600" cy="365125"/>
            <a:chOff x="1022" y="2790"/>
            <a:chExt cx="3744" cy="230"/>
          </a:xfrm>
        </p:grpSpPr>
        <p:sp>
          <p:nvSpPr>
            <p:cNvPr id="36885" name="Line 40"/>
            <p:cNvSpPr>
              <a:spLocks noChangeShapeType="1"/>
            </p:cNvSpPr>
            <p:nvPr/>
          </p:nvSpPr>
          <p:spPr bwMode="auto">
            <a:xfrm flipV="1">
              <a:off x="4752" y="2790"/>
              <a:ext cx="0" cy="230"/>
            </a:xfrm>
            <a:prstGeom prst="line">
              <a:avLst/>
            </a:prstGeom>
            <a:noFill/>
            <a:ln w="2857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86" name="Line 41"/>
            <p:cNvSpPr>
              <a:spLocks noChangeShapeType="1"/>
            </p:cNvSpPr>
            <p:nvPr/>
          </p:nvSpPr>
          <p:spPr bwMode="auto">
            <a:xfrm flipH="1">
              <a:off x="1037" y="2790"/>
              <a:ext cx="3729" cy="0"/>
            </a:xfrm>
            <a:prstGeom prst="line">
              <a:avLst/>
            </a:prstGeom>
            <a:noFill/>
            <a:ln w="2857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87" name="Line 42"/>
            <p:cNvSpPr>
              <a:spLocks noChangeShapeType="1"/>
            </p:cNvSpPr>
            <p:nvPr/>
          </p:nvSpPr>
          <p:spPr bwMode="auto">
            <a:xfrm>
              <a:off x="1022" y="2790"/>
              <a:ext cx="0" cy="23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144" name="Text Box 48"/>
          <p:cNvSpPr txBox="1">
            <a:spLocks noChangeArrowheads="1"/>
          </p:cNvSpPr>
          <p:nvPr/>
        </p:nvSpPr>
        <p:spPr bwMode="auto">
          <a:xfrm>
            <a:off x="1762760" y="5185093"/>
            <a:ext cx="41703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00"/>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ea typeface="楷体_GB2312" pitchFamily="49" charset="-122"/>
              </a:rPr>
              <a:t>涉及清零、计数工作模式</a:t>
            </a:r>
            <a:endParaRPr lang="zh-CN" altLang="en-US" sz="2800" b="1">
              <a:ea typeface="楷体_GB2312" pitchFamily="49" charset="-122"/>
            </a:endParaRPr>
          </a:p>
        </p:txBody>
      </p:sp>
      <p:sp>
        <p:nvSpPr>
          <p:cNvPr id="4145" name="Text Box 49"/>
          <p:cNvSpPr txBox="1">
            <a:spLocks noChangeArrowheads="1"/>
          </p:cNvSpPr>
          <p:nvPr/>
        </p:nvSpPr>
        <p:spPr bwMode="auto">
          <a:xfrm>
            <a:off x="3748723" y="3148330"/>
            <a:ext cx="1730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zh-CN" altLang="en-US" b="1">
                <a:latin typeface="宋体" panose="02010600030101010101" pitchFamily="2" charset="-122"/>
              </a:rPr>
              <a:t>自动跳转</a:t>
            </a:r>
            <a:r>
              <a:rPr kumimoji="0" lang="zh-CN" altLang="en-US" b="1">
                <a:latin typeface="宋体" panose="02010600030101010101" pitchFamily="2" charset="-122"/>
                <a:cs typeface="Times New Roman" panose="02020603050405020304" pitchFamily="18" charset="0"/>
              </a:rPr>
              <a:t> </a:t>
            </a:r>
            <a:endParaRPr kumimoji="0" lang="zh-CN" altLang="en-US" b="1">
              <a:latin typeface="宋体" panose="02010600030101010101" pitchFamily="2" charset="-122"/>
              <a:cs typeface="Times New Roman" panose="02020603050405020304" pitchFamily="18" charset="0"/>
            </a:endParaRPr>
          </a:p>
        </p:txBody>
      </p:sp>
      <p:sp>
        <p:nvSpPr>
          <p:cNvPr id="4146" name="Text Box 50"/>
          <p:cNvSpPr txBox="1">
            <a:spLocks noChangeArrowheads="1"/>
          </p:cNvSpPr>
          <p:nvPr/>
        </p:nvSpPr>
        <p:spPr bwMode="auto">
          <a:xfrm>
            <a:off x="2529523" y="4437380"/>
            <a:ext cx="1730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zh-CN" altLang="en-US" b="1">
                <a:latin typeface="宋体" panose="02010600030101010101" pitchFamily="2" charset="-122"/>
              </a:rPr>
              <a:t>强制跳转</a:t>
            </a:r>
            <a:r>
              <a:rPr kumimoji="0" lang="zh-CN" altLang="en-US" b="1">
                <a:latin typeface="宋体" panose="02010600030101010101" pitchFamily="2" charset="-122"/>
                <a:cs typeface="Times New Roman" panose="02020603050405020304" pitchFamily="18" charset="0"/>
              </a:rPr>
              <a:t> </a:t>
            </a:r>
            <a:endParaRPr kumimoji="0" lang="zh-CN" altLang="en-US" b="1">
              <a:latin typeface="宋体" panose="02010600030101010101" pitchFamily="2" charset="-122"/>
              <a:cs typeface="Times New Roman" panose="02020603050405020304" pitchFamily="18" charset="0"/>
            </a:endParaRPr>
          </a:p>
        </p:txBody>
      </p:sp>
      <p:sp>
        <p:nvSpPr>
          <p:cNvPr id="4147" name="Text Box 51"/>
          <p:cNvSpPr txBox="1">
            <a:spLocks noChangeArrowheads="1"/>
          </p:cNvSpPr>
          <p:nvPr/>
        </p:nvSpPr>
        <p:spPr bwMode="auto">
          <a:xfrm>
            <a:off x="4936173" y="4437380"/>
            <a:ext cx="830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zh-CN" altLang="en-US" b="1">
                <a:latin typeface="宋体" panose="02010600030101010101" pitchFamily="2" charset="-122"/>
              </a:rPr>
              <a:t>同步</a:t>
            </a:r>
            <a:r>
              <a:rPr kumimoji="0" lang="zh-CN" altLang="en-US" b="1">
                <a:latin typeface="宋体" panose="02010600030101010101" pitchFamily="2" charset="-122"/>
                <a:cs typeface="Times New Roman" panose="02020603050405020304" pitchFamily="18" charset="0"/>
              </a:rPr>
              <a:t> </a:t>
            </a:r>
            <a:endParaRPr kumimoji="0" lang="zh-CN" altLang="en-US" b="1">
              <a:latin typeface="宋体" panose="02010600030101010101" pitchFamily="2" charset="-122"/>
              <a:cs typeface="Times New Roman" panose="02020603050405020304" pitchFamily="18" charset="0"/>
            </a:endParaRPr>
          </a:p>
        </p:txBody>
      </p:sp>
      <p:sp>
        <p:nvSpPr>
          <p:cNvPr id="4148" name="Text Box 52"/>
          <p:cNvSpPr txBox="1">
            <a:spLocks noChangeArrowheads="1"/>
          </p:cNvSpPr>
          <p:nvPr/>
        </p:nvSpPr>
        <p:spPr bwMode="auto">
          <a:xfrm>
            <a:off x="6303010" y="4437380"/>
            <a:ext cx="830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zh-CN" altLang="en-US" b="1">
                <a:latin typeface="宋体" panose="02010600030101010101" pitchFamily="2" charset="-122"/>
              </a:rPr>
              <a:t>异步</a:t>
            </a:r>
            <a:r>
              <a:rPr kumimoji="0" lang="zh-CN" altLang="en-US" b="1">
                <a:latin typeface="宋体" panose="02010600030101010101" pitchFamily="2" charset="-122"/>
                <a:cs typeface="Times New Roman" panose="02020603050405020304" pitchFamily="18" charset="0"/>
              </a:rPr>
              <a:t> </a:t>
            </a:r>
            <a:endParaRPr kumimoji="0" lang="zh-CN" altLang="en-US" b="1">
              <a:latin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1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41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4139"/>
                                        </p:tgtEl>
                                        <p:attrNameLst>
                                          <p:attrName>style.visibility</p:attrName>
                                        </p:attrNameLst>
                                      </p:cBhvr>
                                      <p:to>
                                        <p:strVal val="visible"/>
                                      </p:to>
                                    </p:set>
                                    <p:animEffect transition="in" filter="wipe(right)">
                                      <p:cBhvr>
                                        <p:cTn id="15" dur="500"/>
                                        <p:tgtEl>
                                          <p:spTgt spid="413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414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4129"/>
                                        </p:tgtEl>
                                        <p:attrNameLst>
                                          <p:attrName>style.visibility</p:attrName>
                                        </p:attrNameLst>
                                      </p:cBhvr>
                                      <p:to>
                                        <p:strVal val="visible"/>
                                      </p:to>
                                    </p:set>
                                    <p:animEffect transition="in" filter="wipe(up)">
                                      <p:cBhvr>
                                        <p:cTn id="24" dur="500"/>
                                        <p:tgtEl>
                                          <p:spTgt spid="4129"/>
                                        </p:tgtEl>
                                      </p:cBhvr>
                                    </p:animEffect>
                                  </p:childTnLst>
                                </p:cTn>
                              </p:par>
                            </p:childTnLst>
                          </p:cTn>
                        </p:par>
                        <p:par>
                          <p:cTn id="25" fill="hold">
                            <p:stCondLst>
                              <p:cond delay="500"/>
                            </p:stCondLst>
                            <p:childTnLst>
                              <p:par>
                                <p:cTn id="26" presetID="22" presetClass="entr" presetSubtype="2" fill="hold" grpId="0" nodeType="afterEffect">
                                  <p:stCondLst>
                                    <p:cond delay="0"/>
                                  </p:stCondLst>
                                  <p:childTnLst>
                                    <p:set>
                                      <p:cBhvr>
                                        <p:cTn id="27" dur="1" fill="hold">
                                          <p:stCondLst>
                                            <p:cond delay="0"/>
                                          </p:stCondLst>
                                        </p:cTn>
                                        <p:tgtEl>
                                          <p:spTgt spid="4130"/>
                                        </p:tgtEl>
                                        <p:attrNameLst>
                                          <p:attrName>style.visibility</p:attrName>
                                        </p:attrNameLst>
                                      </p:cBhvr>
                                      <p:to>
                                        <p:strVal val="visible"/>
                                      </p:to>
                                    </p:set>
                                    <p:animEffect transition="in" filter="wipe(right)">
                                      <p:cBhvr>
                                        <p:cTn id="28" dur="500"/>
                                        <p:tgtEl>
                                          <p:spTgt spid="4130"/>
                                        </p:tgtEl>
                                      </p:cBhvr>
                                    </p:animEffect>
                                  </p:childTnLst>
                                </p:cTn>
                              </p:par>
                            </p:childTnLst>
                          </p:cTn>
                        </p:par>
                        <p:par>
                          <p:cTn id="29" fill="hold">
                            <p:stCondLst>
                              <p:cond delay="1000"/>
                            </p:stCondLst>
                            <p:childTnLst>
                              <p:par>
                                <p:cTn id="30" presetID="22" presetClass="entr" presetSubtype="4" fill="hold" grpId="0" nodeType="afterEffect">
                                  <p:stCondLst>
                                    <p:cond delay="0"/>
                                  </p:stCondLst>
                                  <p:childTnLst>
                                    <p:set>
                                      <p:cBhvr>
                                        <p:cTn id="31" dur="1" fill="hold">
                                          <p:stCondLst>
                                            <p:cond delay="0"/>
                                          </p:stCondLst>
                                        </p:cTn>
                                        <p:tgtEl>
                                          <p:spTgt spid="4131"/>
                                        </p:tgtEl>
                                        <p:attrNameLst>
                                          <p:attrName>style.visibility</p:attrName>
                                        </p:attrNameLst>
                                      </p:cBhvr>
                                      <p:to>
                                        <p:strVal val="visible"/>
                                      </p:to>
                                    </p:set>
                                    <p:animEffect transition="in" filter="wipe(down)">
                                      <p:cBhvr>
                                        <p:cTn id="32" dur="500"/>
                                        <p:tgtEl>
                                          <p:spTgt spid="4131"/>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414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414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4133"/>
                                        </p:tgtEl>
                                        <p:attrNameLst>
                                          <p:attrName>style.visibility</p:attrName>
                                        </p:attrNameLst>
                                      </p:cBhvr>
                                      <p:to>
                                        <p:strVal val="visible"/>
                                      </p:to>
                                    </p:set>
                                    <p:animEffect transition="in" filter="wipe(up)">
                                      <p:cBhvr>
                                        <p:cTn id="45" dur="500"/>
                                        <p:tgtEl>
                                          <p:spTgt spid="4133"/>
                                        </p:tgtEl>
                                      </p:cBhvr>
                                    </p:animEffect>
                                  </p:childTnLst>
                                </p:cTn>
                              </p:par>
                            </p:childTnLst>
                          </p:cTn>
                        </p:par>
                        <p:par>
                          <p:cTn id="46" fill="hold">
                            <p:stCondLst>
                              <p:cond delay="500"/>
                            </p:stCondLst>
                            <p:childTnLst>
                              <p:par>
                                <p:cTn id="47" presetID="22" presetClass="entr" presetSubtype="2" fill="hold" grpId="0" nodeType="afterEffect">
                                  <p:stCondLst>
                                    <p:cond delay="0"/>
                                  </p:stCondLst>
                                  <p:childTnLst>
                                    <p:set>
                                      <p:cBhvr>
                                        <p:cTn id="48" dur="1" fill="hold">
                                          <p:stCondLst>
                                            <p:cond delay="0"/>
                                          </p:stCondLst>
                                        </p:cTn>
                                        <p:tgtEl>
                                          <p:spTgt spid="4132"/>
                                        </p:tgtEl>
                                        <p:attrNameLst>
                                          <p:attrName>style.visibility</p:attrName>
                                        </p:attrNameLst>
                                      </p:cBhvr>
                                      <p:to>
                                        <p:strVal val="visible"/>
                                      </p:to>
                                    </p:set>
                                    <p:animEffect transition="in" filter="wipe(right)">
                                      <p:cBhvr>
                                        <p:cTn id="49" dur="500"/>
                                        <p:tgtEl>
                                          <p:spTgt spid="4132"/>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499"/>
                                          </p:stCondLst>
                                        </p:cTn>
                                        <p:tgtEl>
                                          <p:spTgt spid="4148"/>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4128"/>
                                        </p:tgtEl>
                                        <p:attrNameLst>
                                          <p:attrName>style.visibility</p:attrName>
                                        </p:attrNameLst>
                                      </p:cBhvr>
                                      <p:to>
                                        <p:strVal val="visible"/>
                                      </p:to>
                                    </p:set>
                                    <p:animEffect transition="in" filter="dissolve">
                                      <p:cBhvr>
                                        <p:cTn id="58" dur="500"/>
                                        <p:tgtEl>
                                          <p:spTgt spid="4128"/>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4144"/>
                                        </p:tgtEl>
                                        <p:attrNameLst>
                                          <p:attrName>style.visibility</p:attrName>
                                        </p:attrNameLst>
                                      </p:cBhvr>
                                      <p:to>
                                        <p:strVal val="visible"/>
                                      </p:to>
                                    </p:set>
                                    <p:animEffect transition="in" filter="wipe(left)">
                                      <p:cBhvr>
                                        <p:cTn id="63" dur="500"/>
                                        <p:tgtEl>
                                          <p:spTgt spid="4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autoUpdateAnimBg="0"/>
      <p:bldP spid="14" grpId="0" bldLvl="0" animBg="1" autoUpdateAnimBg="0"/>
      <p:bldP spid="4104" grpId="0" bldLvl="0" animBg="1" autoUpdateAnimBg="0"/>
      <p:bldP spid="4128" grpId="0" bldLvl="0" animBg="1"/>
      <p:bldP spid="4129" grpId="0" bldLvl="0" animBg="1"/>
      <p:bldP spid="4130" grpId="0" bldLvl="0" animBg="1"/>
      <p:bldP spid="4131" grpId="0" bldLvl="0" animBg="1"/>
      <p:bldP spid="4132" grpId="0" bldLvl="0" animBg="1"/>
      <p:bldP spid="4133" grpId="0" bldLvl="0" animBg="1"/>
      <p:bldP spid="4144" grpId="0" bldLvl="0" animBg="1"/>
      <p:bldP spid="4145" grpId="0" bldLvl="0" animBg="1" autoUpdateAnimBg="0"/>
      <p:bldP spid="4146" grpId="0" bldLvl="0" animBg="1" autoUpdateAnimBg="0"/>
      <p:bldP spid="4147" grpId="0" bldLvl="0" animBg="1" autoUpdateAnimBg="0"/>
      <p:bldP spid="4148" grpId="0" bldLvl="0" animBg="1"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21663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主题五 时序逻辑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83674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5.3 </a:t>
            </a:r>
            <a:r>
              <a:rPr kumimoji="0" lang="zh-CN" altLang="en-US" dirty="0">
                <a:solidFill>
                  <a:srgbClr val="000000"/>
                </a:solidFill>
                <a:latin typeface="黑体" panose="02010609060101010101" pitchFamily="49" charset="-122"/>
                <a:ea typeface="黑体" panose="02010609060101010101" pitchFamily="49" charset="-122"/>
              </a:rPr>
              <a:t>计数器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40716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(6)</a:t>
            </a:r>
            <a:r>
              <a:rPr kumimoji="0" lang="zh-CN" altLang="en-US" sz="2400" dirty="0">
                <a:solidFill>
                  <a:srgbClr val="000000"/>
                </a:solidFill>
                <a:latin typeface="黑体" panose="02010609060101010101" pitchFamily="49" charset="-122"/>
                <a:ea typeface="黑体" panose="02010609060101010101" pitchFamily="49" charset="-122"/>
              </a:rPr>
              <a:t>同步级联（控制</a:t>
            </a:r>
            <a:r>
              <a:rPr kumimoji="0" lang="en-US" altLang="zh-CN" sz="2400" dirty="0">
                <a:solidFill>
                  <a:srgbClr val="000000"/>
                </a:solidFill>
                <a:latin typeface="黑体" panose="02010609060101010101" pitchFamily="49" charset="-122"/>
                <a:ea typeface="黑体" panose="02010609060101010101" pitchFamily="49" charset="-122"/>
              </a:rPr>
              <a:t>CO</a:t>
            </a:r>
            <a:r>
              <a:rPr kumimoji="0" lang="zh-CN" altLang="en-US" sz="2400" dirty="0">
                <a:solidFill>
                  <a:srgbClr val="000000"/>
                </a:solidFill>
                <a:latin typeface="黑体" panose="02010609060101010101" pitchFamily="49" charset="-122"/>
                <a:ea typeface="黑体" panose="02010609060101010101" pitchFamily="49" charset="-122"/>
              </a:rPr>
              <a:t>）、异步级联（控制</a:t>
            </a:r>
            <a:r>
              <a:rPr kumimoji="0" lang="en-US" altLang="zh-CN" sz="2400" dirty="0">
                <a:solidFill>
                  <a:srgbClr val="000000"/>
                </a:solidFill>
                <a:latin typeface="黑体" panose="02010609060101010101" pitchFamily="49" charset="-122"/>
                <a:ea typeface="黑体" panose="02010609060101010101" pitchFamily="49" charset="-122"/>
              </a:rPr>
              <a:t>CLK</a:t>
            </a:r>
            <a:r>
              <a:rPr kumimoji="0" lang="zh-CN" altLang="en-US" sz="2400" dirty="0">
                <a:solidFill>
                  <a:srgbClr val="000000"/>
                </a:solidFill>
                <a:latin typeface="黑体" panose="02010609060101010101" pitchFamily="49" charset="-122"/>
                <a:ea typeface="黑体" panose="02010609060101010101" pitchFamily="49" charset="-122"/>
              </a:rPr>
              <a:t>）</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2" name="Text Box 142"/>
          <p:cNvSpPr txBox="1">
            <a:spLocks noChangeArrowheads="1"/>
          </p:cNvSpPr>
          <p:nvPr>
            <p:custDataLst>
              <p:tags r:id="rId2"/>
            </p:custDataLst>
          </p:nvPr>
        </p:nvSpPr>
        <p:spPr bwMode="auto">
          <a:xfrm>
            <a:off x="742315" y="191579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(7)</a:t>
            </a:r>
            <a:r>
              <a:rPr kumimoji="0" lang="zh-CN" altLang="en-US" sz="2400" dirty="0">
                <a:solidFill>
                  <a:srgbClr val="000000"/>
                </a:solidFill>
                <a:latin typeface="黑体" panose="02010609060101010101" pitchFamily="49" charset="-122"/>
                <a:ea typeface="黑体" panose="02010609060101010101" pitchFamily="49" charset="-122"/>
              </a:rPr>
              <a:t>任意</a:t>
            </a:r>
            <a:r>
              <a:rPr kumimoji="0" lang="en-US" altLang="zh-CN" sz="2400" dirty="0">
                <a:solidFill>
                  <a:srgbClr val="000000"/>
                </a:solidFill>
                <a:latin typeface="黑体" panose="02010609060101010101" pitchFamily="49" charset="-122"/>
                <a:ea typeface="黑体" panose="02010609060101010101" pitchFamily="49" charset="-122"/>
              </a:rPr>
              <a:t>M&lt;16</a:t>
            </a:r>
            <a:r>
              <a:rPr kumimoji="0" lang="zh-CN" altLang="en-US" sz="2400" dirty="0">
                <a:solidFill>
                  <a:srgbClr val="000000"/>
                </a:solidFill>
                <a:latin typeface="黑体" panose="02010609060101010101" pitchFamily="49" charset="-122"/>
                <a:ea typeface="黑体" panose="02010609060101010101" pitchFamily="49" charset="-122"/>
              </a:rPr>
              <a:t>计数器</a:t>
            </a:r>
            <a:r>
              <a:rPr kumimoji="0" lang="zh-CN" altLang="en-US" sz="2400" dirty="0">
                <a:solidFill>
                  <a:srgbClr val="000000"/>
                </a:solidFill>
                <a:latin typeface="黑体" panose="02010609060101010101" pitchFamily="49" charset="-122"/>
                <a:ea typeface="黑体" panose="02010609060101010101" pitchFamily="49" charset="-122"/>
              </a:rPr>
              <a:t>设计</a:t>
            </a:r>
            <a:endParaRPr kumimoji="0" lang="zh-CN" altLang="en-US" sz="2400" dirty="0">
              <a:solidFill>
                <a:srgbClr val="000000"/>
              </a:solidFill>
              <a:latin typeface="黑体" panose="02010609060101010101" pitchFamily="49" charset="-122"/>
              <a:ea typeface="黑体" panose="02010609060101010101" pitchFamily="49" charset="-122"/>
            </a:endParaRPr>
          </a:p>
        </p:txBody>
      </p:sp>
      <p:grpSp>
        <p:nvGrpSpPr>
          <p:cNvPr id="99469" name="Group 141"/>
          <p:cNvGrpSpPr/>
          <p:nvPr/>
        </p:nvGrpSpPr>
        <p:grpSpPr bwMode="auto">
          <a:xfrm>
            <a:off x="899367" y="3583998"/>
            <a:ext cx="4016375" cy="869950"/>
            <a:chOff x="330" y="810"/>
            <a:chExt cx="2530" cy="548"/>
          </a:xfrm>
        </p:grpSpPr>
        <p:sp>
          <p:nvSpPr>
            <p:cNvPr id="51293" name="Text Box 6"/>
            <p:cNvSpPr txBox="1">
              <a:spLocks noChangeArrowheads="1"/>
            </p:cNvSpPr>
            <p:nvPr/>
          </p:nvSpPr>
          <p:spPr bwMode="auto">
            <a:xfrm>
              <a:off x="330" y="1028"/>
              <a:ext cx="36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rgbClr val="FF00FF"/>
                  </a:solidFill>
                  <a:latin typeface="+mn-lt"/>
                </a:rPr>
                <a:t>S</a:t>
              </a:r>
              <a:r>
                <a:rPr kumimoji="0" lang="en-US" altLang="zh-CN" sz="2800" b="1" baseline="-25000" dirty="0">
                  <a:solidFill>
                    <a:srgbClr val="FF00FF"/>
                  </a:solidFill>
                  <a:latin typeface="+mn-lt"/>
                </a:rPr>
                <a:t>0</a:t>
              </a:r>
              <a:r>
                <a:rPr kumimoji="0" lang="en-US" altLang="zh-CN" sz="2800" b="1" dirty="0">
                  <a:latin typeface="+mn-lt"/>
                </a:rPr>
                <a:t> </a:t>
              </a:r>
              <a:endParaRPr kumimoji="0" lang="en-US" altLang="zh-CN" sz="2800" b="1" dirty="0">
                <a:latin typeface="+mn-lt"/>
              </a:endParaRPr>
            </a:p>
          </p:txBody>
        </p:sp>
        <p:sp>
          <p:nvSpPr>
            <p:cNvPr id="51294" name="Text Box 7"/>
            <p:cNvSpPr txBox="1">
              <a:spLocks noChangeArrowheads="1"/>
            </p:cNvSpPr>
            <p:nvPr/>
          </p:nvSpPr>
          <p:spPr bwMode="auto">
            <a:xfrm>
              <a:off x="748" y="1028"/>
              <a:ext cx="38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chemeClr val="tx1"/>
                  </a:solidFill>
                  <a:latin typeface="+mn-lt"/>
                </a:rPr>
                <a:t>S</a:t>
              </a:r>
              <a:r>
                <a:rPr kumimoji="0" lang="en-US" altLang="zh-CN" sz="2800" b="1" baseline="-25000" dirty="0">
                  <a:solidFill>
                    <a:schemeClr val="tx1"/>
                  </a:solidFill>
                  <a:latin typeface="+mn-lt"/>
                </a:rPr>
                <a:t>1</a:t>
              </a:r>
              <a:r>
                <a:rPr kumimoji="0" lang="en-US" altLang="zh-CN" sz="2800" b="1" dirty="0">
                  <a:solidFill>
                    <a:schemeClr val="tx1"/>
                  </a:solidFill>
                  <a:latin typeface="+mn-lt"/>
                </a:rPr>
                <a:t> </a:t>
              </a:r>
              <a:endParaRPr kumimoji="0" lang="en-US" altLang="zh-CN" sz="2800" b="1" dirty="0">
                <a:solidFill>
                  <a:schemeClr val="tx1"/>
                </a:solidFill>
                <a:latin typeface="+mn-lt"/>
              </a:endParaRPr>
            </a:p>
          </p:txBody>
        </p:sp>
        <p:sp>
          <p:nvSpPr>
            <p:cNvPr id="51295" name="Text Box 8"/>
            <p:cNvSpPr txBox="1">
              <a:spLocks noChangeArrowheads="1"/>
            </p:cNvSpPr>
            <p:nvPr/>
          </p:nvSpPr>
          <p:spPr bwMode="auto">
            <a:xfrm>
              <a:off x="1147" y="1028"/>
              <a:ext cx="31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chemeClr val="tx1"/>
                  </a:solidFill>
                  <a:latin typeface="+mn-lt"/>
                </a:rPr>
                <a:t>S</a:t>
              </a:r>
              <a:r>
                <a:rPr kumimoji="0" lang="en-US" altLang="zh-CN" sz="2800" b="1" baseline="-25000" dirty="0">
                  <a:solidFill>
                    <a:schemeClr val="tx1"/>
                  </a:solidFill>
                  <a:latin typeface="+mn-lt"/>
                </a:rPr>
                <a:t>2</a:t>
              </a:r>
              <a:r>
                <a:rPr kumimoji="0" lang="en-US" altLang="zh-CN" sz="2800" b="1" dirty="0">
                  <a:solidFill>
                    <a:schemeClr val="tx1"/>
                  </a:solidFill>
                  <a:latin typeface="+mn-lt"/>
                </a:rPr>
                <a:t> </a:t>
              </a:r>
              <a:endParaRPr kumimoji="0" lang="en-US" altLang="zh-CN" sz="2800" b="1" dirty="0">
                <a:solidFill>
                  <a:schemeClr val="tx1"/>
                </a:solidFill>
                <a:latin typeface="+mn-lt"/>
              </a:endParaRPr>
            </a:p>
          </p:txBody>
        </p:sp>
        <p:sp>
          <p:nvSpPr>
            <p:cNvPr id="51296" name="Text Box 9"/>
            <p:cNvSpPr txBox="1">
              <a:spLocks noChangeArrowheads="1"/>
            </p:cNvSpPr>
            <p:nvPr/>
          </p:nvSpPr>
          <p:spPr bwMode="auto">
            <a:xfrm>
              <a:off x="1557" y="1028"/>
              <a:ext cx="45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chemeClr val="tx1"/>
                  </a:solidFill>
                  <a:latin typeface="+mn-lt"/>
                </a:rPr>
                <a:t>S</a:t>
              </a:r>
              <a:r>
                <a:rPr kumimoji="0" lang="en-US" altLang="zh-CN" sz="2800" b="1" baseline="-25000" dirty="0">
                  <a:solidFill>
                    <a:schemeClr val="tx1"/>
                  </a:solidFill>
                  <a:latin typeface="+mn-lt"/>
                </a:rPr>
                <a:t>3</a:t>
              </a:r>
              <a:r>
                <a:rPr kumimoji="0" lang="en-US" altLang="zh-CN" sz="2800" b="1" dirty="0">
                  <a:solidFill>
                    <a:schemeClr val="tx1"/>
                  </a:solidFill>
                  <a:latin typeface="+mn-lt"/>
                </a:rPr>
                <a:t> </a:t>
              </a:r>
              <a:endParaRPr kumimoji="0" lang="en-US" altLang="zh-CN" sz="2800" b="1" dirty="0">
                <a:solidFill>
                  <a:schemeClr val="tx1"/>
                </a:solidFill>
                <a:latin typeface="+mn-lt"/>
              </a:endParaRPr>
            </a:p>
          </p:txBody>
        </p:sp>
        <p:sp>
          <p:nvSpPr>
            <p:cNvPr id="51297" name="Text Box 10"/>
            <p:cNvSpPr txBox="1">
              <a:spLocks noChangeArrowheads="1"/>
            </p:cNvSpPr>
            <p:nvPr/>
          </p:nvSpPr>
          <p:spPr bwMode="auto">
            <a:xfrm>
              <a:off x="1956" y="1028"/>
              <a:ext cx="3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chemeClr val="tx1"/>
                  </a:solidFill>
                  <a:latin typeface="+mn-lt"/>
                </a:rPr>
                <a:t>S</a:t>
              </a:r>
              <a:r>
                <a:rPr kumimoji="0" lang="en-US" altLang="zh-CN" sz="2800" b="1" baseline="-25000" dirty="0">
                  <a:solidFill>
                    <a:schemeClr val="tx1"/>
                  </a:solidFill>
                  <a:latin typeface="+mn-lt"/>
                </a:rPr>
                <a:t>4</a:t>
              </a:r>
              <a:r>
                <a:rPr kumimoji="0" lang="en-US" altLang="zh-CN" sz="2800" b="1" dirty="0">
                  <a:solidFill>
                    <a:schemeClr val="tx1"/>
                  </a:solidFill>
                  <a:latin typeface="+mn-lt"/>
                </a:rPr>
                <a:t> </a:t>
              </a:r>
              <a:endParaRPr kumimoji="0" lang="en-US" altLang="zh-CN" sz="2800" b="1" dirty="0">
                <a:solidFill>
                  <a:schemeClr val="tx1"/>
                </a:solidFill>
                <a:latin typeface="+mn-lt"/>
              </a:endParaRPr>
            </a:p>
          </p:txBody>
        </p:sp>
        <p:sp>
          <p:nvSpPr>
            <p:cNvPr id="51298" name="Text Box 11"/>
            <p:cNvSpPr txBox="1">
              <a:spLocks noChangeArrowheads="1"/>
            </p:cNvSpPr>
            <p:nvPr/>
          </p:nvSpPr>
          <p:spPr bwMode="auto">
            <a:xfrm>
              <a:off x="2359" y="1028"/>
              <a:ext cx="50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rgbClr val="00B050"/>
                  </a:solidFill>
                  <a:latin typeface="+mn-lt"/>
                </a:rPr>
                <a:t>S</a:t>
              </a:r>
              <a:r>
                <a:rPr kumimoji="0" lang="en-US" altLang="zh-CN" sz="2800" b="1" baseline="-25000" dirty="0">
                  <a:solidFill>
                    <a:srgbClr val="00B050"/>
                  </a:solidFill>
                  <a:latin typeface="+mn-lt"/>
                </a:rPr>
                <a:t>5</a:t>
              </a:r>
              <a:r>
                <a:rPr kumimoji="0" lang="en-US" altLang="zh-CN" sz="2800" b="1" dirty="0">
                  <a:solidFill>
                    <a:schemeClr val="tx1"/>
                  </a:solidFill>
                  <a:latin typeface="+mn-lt"/>
                </a:rPr>
                <a:t> </a:t>
              </a:r>
              <a:endParaRPr kumimoji="0" lang="en-US" altLang="zh-CN" sz="2800" b="1" dirty="0">
                <a:solidFill>
                  <a:schemeClr val="tx1"/>
                </a:solidFill>
                <a:latin typeface="+mn-lt"/>
              </a:endParaRPr>
            </a:p>
          </p:txBody>
        </p:sp>
        <p:sp>
          <p:nvSpPr>
            <p:cNvPr id="51299" name="Line 12"/>
            <p:cNvSpPr>
              <a:spLocks noChangeShapeType="1"/>
            </p:cNvSpPr>
            <p:nvPr/>
          </p:nvSpPr>
          <p:spPr bwMode="auto">
            <a:xfrm>
              <a:off x="600" y="1204"/>
              <a:ext cx="218"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300" name="Line 26"/>
            <p:cNvSpPr>
              <a:spLocks noChangeShapeType="1"/>
            </p:cNvSpPr>
            <p:nvPr/>
          </p:nvSpPr>
          <p:spPr bwMode="auto">
            <a:xfrm flipV="1">
              <a:off x="2481" y="810"/>
              <a:ext cx="0" cy="285"/>
            </a:xfrm>
            <a:prstGeom prst="line">
              <a:avLst/>
            </a:prstGeom>
            <a:noFill/>
            <a:ln w="2857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301" name="Line 27"/>
            <p:cNvSpPr>
              <a:spLocks noChangeShapeType="1"/>
            </p:cNvSpPr>
            <p:nvPr/>
          </p:nvSpPr>
          <p:spPr bwMode="auto">
            <a:xfrm flipH="1">
              <a:off x="493" y="810"/>
              <a:ext cx="1994" cy="0"/>
            </a:xfrm>
            <a:prstGeom prst="line">
              <a:avLst/>
            </a:prstGeom>
            <a:noFill/>
            <a:ln w="2857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302" name="Line 28"/>
            <p:cNvSpPr>
              <a:spLocks noChangeShapeType="1"/>
            </p:cNvSpPr>
            <p:nvPr/>
          </p:nvSpPr>
          <p:spPr bwMode="auto">
            <a:xfrm>
              <a:off x="488" y="810"/>
              <a:ext cx="0" cy="23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303" name="Line 31"/>
            <p:cNvSpPr>
              <a:spLocks noChangeShapeType="1"/>
            </p:cNvSpPr>
            <p:nvPr/>
          </p:nvSpPr>
          <p:spPr bwMode="auto">
            <a:xfrm>
              <a:off x="1002" y="1204"/>
              <a:ext cx="218"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304" name="Line 32"/>
            <p:cNvSpPr>
              <a:spLocks noChangeShapeType="1"/>
            </p:cNvSpPr>
            <p:nvPr/>
          </p:nvSpPr>
          <p:spPr bwMode="auto">
            <a:xfrm>
              <a:off x="1404" y="1204"/>
              <a:ext cx="218"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305" name="Line 33"/>
            <p:cNvSpPr>
              <a:spLocks noChangeShapeType="1"/>
            </p:cNvSpPr>
            <p:nvPr/>
          </p:nvSpPr>
          <p:spPr bwMode="auto">
            <a:xfrm>
              <a:off x="1807" y="1204"/>
              <a:ext cx="218"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306" name="Line 34"/>
            <p:cNvSpPr>
              <a:spLocks noChangeShapeType="1"/>
            </p:cNvSpPr>
            <p:nvPr/>
          </p:nvSpPr>
          <p:spPr bwMode="auto">
            <a:xfrm>
              <a:off x="2209" y="1204"/>
              <a:ext cx="218"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grpSp>
      <p:grpSp>
        <p:nvGrpSpPr>
          <p:cNvPr id="99471" name="Group 143"/>
          <p:cNvGrpSpPr/>
          <p:nvPr/>
        </p:nvGrpSpPr>
        <p:grpSpPr bwMode="auto">
          <a:xfrm>
            <a:off x="4944316" y="3579248"/>
            <a:ext cx="3806825" cy="869950"/>
            <a:chOff x="2792" y="2339"/>
            <a:chExt cx="2398" cy="548"/>
          </a:xfrm>
        </p:grpSpPr>
        <p:sp>
          <p:nvSpPr>
            <p:cNvPr id="51248" name="Line 88"/>
            <p:cNvSpPr>
              <a:spLocks noChangeShapeType="1"/>
            </p:cNvSpPr>
            <p:nvPr/>
          </p:nvSpPr>
          <p:spPr bwMode="auto">
            <a:xfrm>
              <a:off x="2899" y="2342"/>
              <a:ext cx="0" cy="23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254" name="Line 94"/>
            <p:cNvSpPr>
              <a:spLocks noChangeShapeType="1"/>
            </p:cNvSpPr>
            <p:nvPr/>
          </p:nvSpPr>
          <p:spPr bwMode="auto">
            <a:xfrm>
              <a:off x="3014" y="2736"/>
              <a:ext cx="218"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255" name="Line 95"/>
            <p:cNvSpPr>
              <a:spLocks noChangeShapeType="1"/>
            </p:cNvSpPr>
            <p:nvPr/>
          </p:nvSpPr>
          <p:spPr bwMode="auto">
            <a:xfrm>
              <a:off x="3417" y="2736"/>
              <a:ext cx="218"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256" name="Line 96"/>
            <p:cNvSpPr>
              <a:spLocks noChangeShapeType="1"/>
            </p:cNvSpPr>
            <p:nvPr/>
          </p:nvSpPr>
          <p:spPr bwMode="auto">
            <a:xfrm>
              <a:off x="3819" y="2736"/>
              <a:ext cx="218"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257" name="Line 97"/>
            <p:cNvSpPr>
              <a:spLocks noChangeShapeType="1"/>
            </p:cNvSpPr>
            <p:nvPr/>
          </p:nvSpPr>
          <p:spPr bwMode="auto">
            <a:xfrm>
              <a:off x="4222" y="2736"/>
              <a:ext cx="218"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258" name="Line 98"/>
            <p:cNvSpPr>
              <a:spLocks noChangeShapeType="1"/>
            </p:cNvSpPr>
            <p:nvPr/>
          </p:nvSpPr>
          <p:spPr bwMode="auto">
            <a:xfrm>
              <a:off x="4624" y="2736"/>
              <a:ext cx="218"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259" name="Text Box 100"/>
            <p:cNvSpPr txBox="1">
              <a:spLocks noChangeArrowheads="1"/>
            </p:cNvSpPr>
            <p:nvPr/>
          </p:nvSpPr>
          <p:spPr bwMode="auto">
            <a:xfrm>
              <a:off x="2792" y="2560"/>
              <a:ext cx="50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chemeClr val="tx1"/>
                  </a:solidFill>
                  <a:latin typeface="+mn-lt"/>
                </a:rPr>
                <a:t>S</a:t>
              </a:r>
              <a:r>
                <a:rPr kumimoji="0" lang="en-US" altLang="zh-CN" sz="2800" b="1" baseline="-25000" dirty="0">
                  <a:solidFill>
                    <a:schemeClr val="tx1"/>
                  </a:solidFill>
                  <a:latin typeface="+mn-lt"/>
                </a:rPr>
                <a:t>10</a:t>
              </a:r>
              <a:r>
                <a:rPr kumimoji="0" lang="en-US" altLang="zh-CN" sz="2800" b="1" dirty="0">
                  <a:solidFill>
                    <a:schemeClr val="tx1"/>
                  </a:solidFill>
                  <a:latin typeface="+mn-lt"/>
                </a:rPr>
                <a:t> </a:t>
              </a:r>
              <a:endParaRPr kumimoji="0" lang="en-US" altLang="zh-CN" sz="2800" b="1" dirty="0">
                <a:solidFill>
                  <a:schemeClr val="tx1"/>
                </a:solidFill>
                <a:latin typeface="+mn-lt"/>
              </a:endParaRPr>
            </a:p>
          </p:txBody>
        </p:sp>
        <p:sp>
          <p:nvSpPr>
            <p:cNvPr id="51260" name="Text Box 101"/>
            <p:cNvSpPr txBox="1">
              <a:spLocks noChangeArrowheads="1"/>
            </p:cNvSpPr>
            <p:nvPr/>
          </p:nvSpPr>
          <p:spPr bwMode="auto">
            <a:xfrm>
              <a:off x="3176" y="2560"/>
              <a:ext cx="50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chemeClr val="tx1"/>
                  </a:solidFill>
                  <a:latin typeface="+mn-lt"/>
                </a:rPr>
                <a:t>S</a:t>
              </a:r>
              <a:r>
                <a:rPr kumimoji="0" lang="en-US" altLang="zh-CN" sz="2800" b="1" baseline="-25000" dirty="0">
                  <a:solidFill>
                    <a:schemeClr val="tx1"/>
                  </a:solidFill>
                  <a:latin typeface="+mn-lt"/>
                </a:rPr>
                <a:t>11</a:t>
              </a:r>
              <a:r>
                <a:rPr kumimoji="0" lang="en-US" altLang="zh-CN" sz="2800" b="1" dirty="0">
                  <a:solidFill>
                    <a:schemeClr val="tx1"/>
                  </a:solidFill>
                  <a:latin typeface="+mn-lt"/>
                </a:rPr>
                <a:t> </a:t>
              </a:r>
              <a:endParaRPr kumimoji="0" lang="en-US" altLang="zh-CN" sz="2800" b="1" dirty="0">
                <a:solidFill>
                  <a:schemeClr val="tx1"/>
                </a:solidFill>
                <a:latin typeface="+mn-lt"/>
              </a:endParaRPr>
            </a:p>
          </p:txBody>
        </p:sp>
        <p:sp>
          <p:nvSpPr>
            <p:cNvPr id="51261" name="Text Box 102"/>
            <p:cNvSpPr txBox="1">
              <a:spLocks noChangeArrowheads="1"/>
            </p:cNvSpPr>
            <p:nvPr/>
          </p:nvSpPr>
          <p:spPr bwMode="auto">
            <a:xfrm>
              <a:off x="3595" y="2560"/>
              <a:ext cx="39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chemeClr val="tx1"/>
                  </a:solidFill>
                  <a:latin typeface="+mn-lt"/>
                </a:rPr>
                <a:t>S</a:t>
              </a:r>
              <a:r>
                <a:rPr kumimoji="0" lang="en-US" altLang="zh-CN" sz="2800" b="1" baseline="-25000" dirty="0">
                  <a:solidFill>
                    <a:schemeClr val="tx1"/>
                  </a:solidFill>
                  <a:latin typeface="+mn-lt"/>
                </a:rPr>
                <a:t>12</a:t>
              </a:r>
              <a:r>
                <a:rPr kumimoji="0" lang="en-US" altLang="zh-CN" sz="2800" b="1" dirty="0">
                  <a:solidFill>
                    <a:schemeClr val="tx1"/>
                  </a:solidFill>
                  <a:latin typeface="+mn-lt"/>
                </a:rPr>
                <a:t> </a:t>
              </a:r>
              <a:endParaRPr kumimoji="0" lang="en-US" altLang="zh-CN" sz="2800" b="1" dirty="0">
                <a:solidFill>
                  <a:schemeClr val="tx1"/>
                </a:solidFill>
                <a:latin typeface="+mn-lt"/>
              </a:endParaRPr>
            </a:p>
          </p:txBody>
        </p:sp>
        <p:sp>
          <p:nvSpPr>
            <p:cNvPr id="51262" name="Text Box 103"/>
            <p:cNvSpPr txBox="1">
              <a:spLocks noChangeArrowheads="1"/>
            </p:cNvSpPr>
            <p:nvPr/>
          </p:nvSpPr>
          <p:spPr bwMode="auto">
            <a:xfrm>
              <a:off x="3982" y="2560"/>
              <a:ext cx="42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chemeClr val="tx1"/>
                  </a:solidFill>
                  <a:latin typeface="+mn-lt"/>
                </a:rPr>
                <a:t>S</a:t>
              </a:r>
              <a:r>
                <a:rPr kumimoji="0" lang="en-US" altLang="zh-CN" sz="2800" b="1" baseline="-25000" dirty="0">
                  <a:solidFill>
                    <a:schemeClr val="tx1"/>
                  </a:solidFill>
                  <a:latin typeface="+mn-lt"/>
                </a:rPr>
                <a:t>13</a:t>
              </a:r>
              <a:r>
                <a:rPr kumimoji="0" lang="en-US" altLang="zh-CN" sz="2800" b="1" dirty="0">
                  <a:solidFill>
                    <a:schemeClr val="tx1"/>
                  </a:solidFill>
                  <a:latin typeface="+mn-lt"/>
                </a:rPr>
                <a:t> </a:t>
              </a:r>
              <a:endParaRPr kumimoji="0" lang="en-US" altLang="zh-CN" sz="2800" b="1" dirty="0">
                <a:solidFill>
                  <a:schemeClr val="tx1"/>
                </a:solidFill>
                <a:latin typeface="+mn-lt"/>
              </a:endParaRPr>
            </a:p>
          </p:txBody>
        </p:sp>
        <p:sp>
          <p:nvSpPr>
            <p:cNvPr id="51263" name="Text Box 104"/>
            <p:cNvSpPr txBox="1">
              <a:spLocks noChangeArrowheads="1"/>
            </p:cNvSpPr>
            <p:nvPr/>
          </p:nvSpPr>
          <p:spPr bwMode="auto">
            <a:xfrm>
              <a:off x="4798" y="2560"/>
              <a:ext cx="39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rgbClr val="008000"/>
                  </a:solidFill>
                  <a:latin typeface="+mn-lt"/>
                </a:rPr>
                <a:t>S</a:t>
              </a:r>
              <a:r>
                <a:rPr kumimoji="0" lang="en-US" altLang="zh-CN" sz="2800" b="1" baseline="-25000" dirty="0">
                  <a:solidFill>
                    <a:srgbClr val="008000"/>
                  </a:solidFill>
                  <a:latin typeface="+mn-lt"/>
                </a:rPr>
                <a:t>15</a:t>
              </a:r>
              <a:r>
                <a:rPr kumimoji="0" lang="en-US" altLang="zh-CN" sz="2800" b="1" dirty="0">
                  <a:solidFill>
                    <a:srgbClr val="008000"/>
                  </a:solidFill>
                  <a:latin typeface="+mn-lt"/>
                </a:rPr>
                <a:t> </a:t>
              </a:r>
              <a:endParaRPr kumimoji="0" lang="en-US" altLang="zh-CN" sz="2800" b="1" dirty="0">
                <a:solidFill>
                  <a:srgbClr val="008000"/>
                </a:solidFill>
                <a:latin typeface="+mn-lt"/>
              </a:endParaRPr>
            </a:p>
          </p:txBody>
        </p:sp>
        <p:sp>
          <p:nvSpPr>
            <p:cNvPr id="51264" name="Text Box 105"/>
            <p:cNvSpPr txBox="1">
              <a:spLocks noChangeArrowheads="1"/>
            </p:cNvSpPr>
            <p:nvPr/>
          </p:nvSpPr>
          <p:spPr bwMode="auto">
            <a:xfrm>
              <a:off x="4385" y="2560"/>
              <a:ext cx="41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chemeClr val="tx1"/>
                  </a:solidFill>
                  <a:latin typeface="+mn-lt"/>
                </a:rPr>
                <a:t>S</a:t>
              </a:r>
              <a:r>
                <a:rPr kumimoji="0" lang="en-US" altLang="zh-CN" sz="2800" b="1" baseline="-25000" dirty="0">
                  <a:solidFill>
                    <a:schemeClr val="tx1"/>
                  </a:solidFill>
                  <a:latin typeface="+mn-lt"/>
                </a:rPr>
                <a:t>14</a:t>
              </a:r>
              <a:r>
                <a:rPr kumimoji="0" lang="en-US" altLang="zh-CN" sz="2800" b="1" dirty="0">
                  <a:solidFill>
                    <a:schemeClr val="tx1"/>
                  </a:solidFill>
                  <a:latin typeface="+mn-lt"/>
                </a:rPr>
                <a:t> </a:t>
              </a:r>
              <a:endParaRPr kumimoji="0" lang="en-US" altLang="zh-CN" sz="2800" b="1" dirty="0">
                <a:solidFill>
                  <a:schemeClr val="tx1"/>
                </a:solidFill>
                <a:latin typeface="+mn-lt"/>
              </a:endParaRPr>
            </a:p>
          </p:txBody>
        </p:sp>
        <p:sp>
          <p:nvSpPr>
            <p:cNvPr id="51265" name="Line 137"/>
            <p:cNvSpPr>
              <a:spLocks noChangeShapeType="1"/>
            </p:cNvSpPr>
            <p:nvPr/>
          </p:nvSpPr>
          <p:spPr bwMode="auto">
            <a:xfrm flipV="1">
              <a:off x="4952" y="2339"/>
              <a:ext cx="0" cy="285"/>
            </a:xfrm>
            <a:prstGeom prst="line">
              <a:avLst/>
            </a:prstGeom>
            <a:noFill/>
            <a:ln w="2857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266" name="Line 138"/>
            <p:cNvSpPr>
              <a:spLocks noChangeShapeType="1"/>
            </p:cNvSpPr>
            <p:nvPr/>
          </p:nvSpPr>
          <p:spPr bwMode="auto">
            <a:xfrm flipH="1">
              <a:off x="2901" y="2339"/>
              <a:ext cx="2050" cy="0"/>
            </a:xfrm>
            <a:prstGeom prst="line">
              <a:avLst/>
            </a:prstGeom>
            <a:noFill/>
            <a:ln w="2857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grpSp>
      <p:sp>
        <p:nvSpPr>
          <p:cNvPr id="99473" name="Text Box 145"/>
          <p:cNvSpPr txBox="1">
            <a:spLocks noChangeArrowheads="1"/>
          </p:cNvSpPr>
          <p:nvPr/>
        </p:nvSpPr>
        <p:spPr bwMode="auto">
          <a:xfrm>
            <a:off x="6958130" y="5325000"/>
            <a:ext cx="615553" cy="623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mn-lt"/>
              </a:rPr>
              <a:t>…</a:t>
            </a:r>
            <a:endParaRPr lang="en-US" altLang="zh-CN" sz="2800" dirty="0">
              <a:latin typeface="+mn-lt"/>
            </a:endParaRPr>
          </a:p>
        </p:txBody>
      </p:sp>
      <p:sp>
        <p:nvSpPr>
          <p:cNvPr id="99475" name="Text Box 147"/>
          <p:cNvSpPr txBox="1">
            <a:spLocks noChangeArrowheads="1"/>
          </p:cNvSpPr>
          <p:nvPr/>
        </p:nvSpPr>
        <p:spPr bwMode="auto">
          <a:xfrm>
            <a:off x="2216678" y="3641148"/>
            <a:ext cx="108489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660066"/>
                </a:solidFill>
                <a:latin typeface="+mn-lt"/>
              </a:rPr>
              <a:t>预置</a:t>
            </a:r>
            <a:r>
              <a:rPr lang="en-US" altLang="zh-CN" b="1" dirty="0">
                <a:solidFill>
                  <a:srgbClr val="660066"/>
                </a:solidFill>
                <a:latin typeface="+mn-lt"/>
              </a:rPr>
              <a:t>0</a:t>
            </a:r>
            <a:endParaRPr lang="en-US" altLang="zh-CN" b="1" dirty="0">
              <a:solidFill>
                <a:srgbClr val="660066"/>
              </a:solidFill>
              <a:latin typeface="+mn-lt"/>
            </a:endParaRPr>
          </a:p>
        </p:txBody>
      </p:sp>
      <p:sp>
        <p:nvSpPr>
          <p:cNvPr id="70" name="Text Box 4"/>
          <p:cNvSpPr txBox="1">
            <a:spLocks noChangeArrowheads="1"/>
          </p:cNvSpPr>
          <p:nvPr/>
        </p:nvSpPr>
        <p:spPr bwMode="auto">
          <a:xfrm>
            <a:off x="960782" y="2682701"/>
            <a:ext cx="75199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dirty="0">
                <a:latin typeface="宋体" panose="02010600030101010101" pitchFamily="2" charset="-122"/>
              </a:rPr>
              <a:t>b.</a:t>
            </a:r>
            <a:r>
              <a:rPr kumimoji="0" lang="zh-CN" altLang="en-US" sz="2800" b="1" dirty="0">
                <a:latin typeface="宋体" panose="02010600030101010101" pitchFamily="2" charset="-122"/>
                <a:cs typeface="Times New Roman" panose="02020603050405020304" pitchFamily="18" charset="0"/>
              </a:rPr>
              <a:t>置数法（利用置数控制端，并行输入端）</a:t>
            </a:r>
            <a:r>
              <a:rPr kumimoji="0" lang="zh-CN" altLang="en-US" sz="2800" b="1" dirty="0">
                <a:latin typeface="宋体" panose="02010600030101010101" pitchFamily="2" charset="-122"/>
              </a:rPr>
              <a:t> </a:t>
            </a:r>
            <a:endParaRPr kumimoji="0" lang="zh-CN" altLang="en-US" sz="2800" b="1" dirty="0">
              <a:latin typeface="宋体" panose="02010600030101010101" pitchFamily="2" charset="-122"/>
            </a:endParaRPr>
          </a:p>
        </p:txBody>
      </p:sp>
      <p:sp>
        <p:nvSpPr>
          <p:cNvPr id="3" name="Text Box 4"/>
          <p:cNvSpPr txBox="1">
            <a:spLocks noChangeArrowheads="1"/>
          </p:cNvSpPr>
          <p:nvPr/>
        </p:nvSpPr>
        <p:spPr bwMode="auto">
          <a:xfrm>
            <a:off x="961417" y="4915996"/>
            <a:ext cx="7519987"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zh-CN" altLang="en-US" sz="2800" b="1" dirty="0">
                <a:solidFill>
                  <a:srgbClr val="FF0000"/>
                </a:solidFill>
                <a:latin typeface="微软雅黑 Light" panose="020B0502040204020203" charset="-122"/>
                <a:ea typeface="微软雅黑 Light" panose="020B0502040204020203" charset="-122"/>
                <a:cs typeface="微软雅黑 Light" panose="020B0502040204020203" charset="-122"/>
              </a:rPr>
              <a:t>关键：控制端同步</a:t>
            </a:r>
            <a:r>
              <a:rPr kumimoji="0" lang="en-US" altLang="zh-CN" sz="2800" b="1" dirty="0">
                <a:solidFill>
                  <a:srgbClr val="FF0000"/>
                </a:solidFill>
                <a:latin typeface="微软雅黑 Light" panose="020B0502040204020203" charset="-122"/>
                <a:ea typeface="微软雅黑 Light" panose="020B0502040204020203" charset="-122"/>
                <a:cs typeface="微软雅黑 Light" panose="020B0502040204020203" charset="-122"/>
              </a:rPr>
              <a:t>/</a:t>
            </a:r>
            <a:r>
              <a:rPr kumimoji="0" lang="zh-CN" altLang="en-US" sz="2800" b="1" dirty="0">
                <a:solidFill>
                  <a:srgbClr val="FF0000"/>
                </a:solidFill>
                <a:latin typeface="微软雅黑 Light" panose="020B0502040204020203" charset="-122"/>
                <a:ea typeface="微软雅黑 Light" panose="020B0502040204020203" charset="-122"/>
                <a:cs typeface="微软雅黑 Light" panose="020B0502040204020203" charset="-122"/>
              </a:rPr>
              <a:t>异步，起跳状态选择，</a:t>
            </a:r>
            <a:endParaRPr kumimoji="0" lang="zh-CN" altLang="en-US" sz="2800" b="1" dirty="0">
              <a:solidFill>
                <a:srgbClr val="FF0000"/>
              </a:solidFill>
              <a:latin typeface="微软雅黑 Light" panose="020B0502040204020203" charset="-122"/>
              <a:ea typeface="微软雅黑 Light" panose="020B0502040204020203" charset="-122"/>
              <a:cs typeface="微软雅黑 Light" panose="020B0502040204020203" charset="-122"/>
            </a:endParaRPr>
          </a:p>
          <a:p>
            <a:r>
              <a:rPr kumimoji="0" lang="zh-CN" altLang="en-US" sz="2800" b="1" dirty="0">
                <a:solidFill>
                  <a:srgbClr val="FF0000"/>
                </a:solidFill>
                <a:latin typeface="微软雅黑 Light" panose="020B0502040204020203" charset="-122"/>
                <a:ea typeface="微软雅黑 Light" panose="020B0502040204020203" charset="-122"/>
                <a:cs typeface="微软雅黑 Light" panose="020B0502040204020203" charset="-122"/>
              </a:rPr>
              <a:t> </a:t>
            </a:r>
            <a:r>
              <a:rPr kumimoji="0" lang="en-US" altLang="zh-CN" sz="2800" b="1" dirty="0">
                <a:solidFill>
                  <a:srgbClr val="FF0000"/>
                </a:solidFill>
                <a:latin typeface="微软雅黑 Light" panose="020B0502040204020203" charset="-122"/>
                <a:ea typeface="微软雅黑 Light" panose="020B0502040204020203" charset="-122"/>
                <a:cs typeface="微软雅黑 Light" panose="020B0502040204020203" charset="-122"/>
              </a:rPr>
              <a:t>         </a:t>
            </a:r>
            <a:r>
              <a:rPr kumimoji="0" lang="zh-CN" altLang="en-US" sz="2800" b="1" dirty="0">
                <a:solidFill>
                  <a:srgbClr val="FF0000"/>
                </a:solidFill>
                <a:latin typeface="微软雅黑 Light" panose="020B0502040204020203" charset="-122"/>
                <a:ea typeface="微软雅黑 Light" panose="020B0502040204020203" charset="-122"/>
                <a:cs typeface="微软雅黑 Light" panose="020B0502040204020203" charset="-122"/>
              </a:rPr>
              <a:t>反馈引导门的</a:t>
            </a:r>
            <a:r>
              <a:rPr kumimoji="0" lang="zh-CN" altLang="en-US" sz="2800" b="1" dirty="0">
                <a:solidFill>
                  <a:srgbClr val="FF0000"/>
                </a:solidFill>
                <a:latin typeface="微软雅黑 Light" panose="020B0502040204020203" charset="-122"/>
                <a:ea typeface="微软雅黑 Light" panose="020B0502040204020203" charset="-122"/>
                <a:cs typeface="微软雅黑 Light" panose="020B0502040204020203" charset="-122"/>
              </a:rPr>
              <a:t>设计 </a:t>
            </a:r>
            <a:endParaRPr kumimoji="0" lang="zh-CN" altLang="en-US" sz="2800" b="1" dirty="0">
              <a:solidFill>
                <a:srgbClr val="FF0000"/>
              </a:solidFill>
              <a:latin typeface="微软雅黑 Light" panose="020B0502040204020203" charset="-122"/>
              <a:ea typeface="微软雅黑 Light" panose="020B0502040204020203" charset="-122"/>
              <a:cs typeface="微软雅黑 Light" panose="020B0502040204020203"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9469"/>
                                        </p:tgtEl>
                                        <p:attrNameLst>
                                          <p:attrName>style.visibility</p:attrName>
                                        </p:attrNameLst>
                                      </p:cBhvr>
                                      <p:to>
                                        <p:strVal val="visible"/>
                                      </p:to>
                                    </p:set>
                                    <p:animEffect transition="in" filter="wipe(left)">
                                      <p:cBhvr>
                                        <p:cTn id="7" dur="500"/>
                                        <p:tgtEl>
                                          <p:spTgt spid="994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9471"/>
                                        </p:tgtEl>
                                        <p:attrNameLst>
                                          <p:attrName>style.visibility</p:attrName>
                                        </p:attrNameLst>
                                      </p:cBhvr>
                                      <p:to>
                                        <p:strVal val="visible"/>
                                      </p:to>
                                    </p:set>
                                    <p:animEffect transition="in" filter="wipe(left)">
                                      <p:cBhvr>
                                        <p:cTn id="12" dur="500"/>
                                        <p:tgtEl>
                                          <p:spTgt spid="9947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9473"/>
                                        </p:tgtEl>
                                        <p:attrNameLst>
                                          <p:attrName>style.visibility</p:attrName>
                                        </p:attrNameLst>
                                      </p:cBhvr>
                                      <p:to>
                                        <p:strVal val="visible"/>
                                      </p:to>
                                    </p:set>
                                    <p:animEffect transition="in" filter="wipe(up)">
                                      <p:cBhvr>
                                        <p:cTn id="17" dur="500"/>
                                        <p:tgtEl>
                                          <p:spTgt spid="994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9475"/>
                                        </p:tgtEl>
                                        <p:attrNameLst>
                                          <p:attrName>style.visibility</p:attrName>
                                        </p:attrNameLst>
                                      </p:cBhvr>
                                      <p:to>
                                        <p:strVal val="visible"/>
                                      </p:to>
                                    </p:set>
                                    <p:animEffect transition="in" filter="wipe(left)">
                                      <p:cBhvr>
                                        <p:cTn id="22" dur="500"/>
                                        <p:tgtEl>
                                          <p:spTgt spid="994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autoUpdateAnimBg="0"/>
      <p:bldP spid="14" grpId="0" bldLvl="0" animBg="1" autoUpdateAnimBg="0"/>
      <p:bldP spid="99473" grpId="0" bldLvl="0" animBg="1"/>
      <p:bldP spid="99475" grpId="0" bldLvl="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21663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主题五 时序逻辑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83674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5.3 </a:t>
            </a:r>
            <a:r>
              <a:rPr kumimoji="0" lang="zh-CN" altLang="en-US" dirty="0">
                <a:solidFill>
                  <a:srgbClr val="000000"/>
                </a:solidFill>
                <a:latin typeface="黑体" panose="02010609060101010101" pitchFamily="49" charset="-122"/>
                <a:ea typeface="黑体" panose="02010609060101010101" pitchFamily="49" charset="-122"/>
              </a:rPr>
              <a:t>计数器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40716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(6)</a:t>
            </a:r>
            <a:r>
              <a:rPr kumimoji="0" lang="zh-CN" altLang="en-US" sz="2400" dirty="0">
                <a:solidFill>
                  <a:srgbClr val="000000"/>
                </a:solidFill>
                <a:latin typeface="黑体" panose="02010609060101010101" pitchFamily="49" charset="-122"/>
                <a:ea typeface="黑体" panose="02010609060101010101" pitchFamily="49" charset="-122"/>
              </a:rPr>
              <a:t>同步级联（控制</a:t>
            </a:r>
            <a:r>
              <a:rPr kumimoji="0" lang="en-US" altLang="zh-CN" sz="2400" dirty="0">
                <a:solidFill>
                  <a:srgbClr val="000000"/>
                </a:solidFill>
                <a:latin typeface="黑体" panose="02010609060101010101" pitchFamily="49" charset="-122"/>
                <a:ea typeface="黑体" panose="02010609060101010101" pitchFamily="49" charset="-122"/>
              </a:rPr>
              <a:t>CO</a:t>
            </a:r>
            <a:r>
              <a:rPr kumimoji="0" lang="zh-CN" altLang="en-US" sz="2400" dirty="0">
                <a:solidFill>
                  <a:srgbClr val="000000"/>
                </a:solidFill>
                <a:latin typeface="黑体" panose="02010609060101010101" pitchFamily="49" charset="-122"/>
                <a:ea typeface="黑体" panose="02010609060101010101" pitchFamily="49" charset="-122"/>
              </a:rPr>
              <a:t>）、异步级联（控制</a:t>
            </a:r>
            <a:r>
              <a:rPr kumimoji="0" lang="en-US" altLang="zh-CN" sz="2400" dirty="0">
                <a:solidFill>
                  <a:srgbClr val="000000"/>
                </a:solidFill>
                <a:latin typeface="黑体" panose="02010609060101010101" pitchFamily="49" charset="-122"/>
                <a:ea typeface="黑体" panose="02010609060101010101" pitchFamily="49" charset="-122"/>
              </a:rPr>
              <a:t>CLK</a:t>
            </a:r>
            <a:r>
              <a:rPr kumimoji="0" lang="zh-CN" altLang="en-US" sz="2400" dirty="0">
                <a:solidFill>
                  <a:srgbClr val="000000"/>
                </a:solidFill>
                <a:latin typeface="黑体" panose="02010609060101010101" pitchFamily="49" charset="-122"/>
                <a:ea typeface="黑体" panose="02010609060101010101" pitchFamily="49" charset="-122"/>
              </a:rPr>
              <a:t>）</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2" name="Text Box 142"/>
          <p:cNvSpPr txBox="1">
            <a:spLocks noChangeArrowheads="1"/>
          </p:cNvSpPr>
          <p:nvPr>
            <p:custDataLst>
              <p:tags r:id="rId2"/>
            </p:custDataLst>
          </p:nvPr>
        </p:nvSpPr>
        <p:spPr bwMode="auto">
          <a:xfrm>
            <a:off x="742315" y="191579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(7)</a:t>
            </a:r>
            <a:r>
              <a:rPr kumimoji="0" lang="zh-CN" altLang="en-US" sz="2400" dirty="0">
                <a:solidFill>
                  <a:srgbClr val="000000"/>
                </a:solidFill>
                <a:latin typeface="黑体" panose="02010609060101010101" pitchFamily="49" charset="-122"/>
                <a:ea typeface="黑体" panose="02010609060101010101" pitchFamily="49" charset="-122"/>
              </a:rPr>
              <a:t>任意</a:t>
            </a:r>
            <a:r>
              <a:rPr kumimoji="0" lang="en-US" altLang="zh-CN" sz="2400" dirty="0">
                <a:solidFill>
                  <a:srgbClr val="000000"/>
                </a:solidFill>
                <a:latin typeface="黑体" panose="02010609060101010101" pitchFamily="49" charset="-122"/>
                <a:ea typeface="黑体" panose="02010609060101010101" pitchFamily="49" charset="-122"/>
              </a:rPr>
              <a:t>M&lt;16</a:t>
            </a:r>
            <a:r>
              <a:rPr kumimoji="0" lang="zh-CN" altLang="en-US" sz="2400" dirty="0">
                <a:solidFill>
                  <a:srgbClr val="000000"/>
                </a:solidFill>
                <a:latin typeface="黑体" panose="02010609060101010101" pitchFamily="49" charset="-122"/>
                <a:ea typeface="黑体" panose="02010609060101010101" pitchFamily="49" charset="-122"/>
              </a:rPr>
              <a:t>计数器</a:t>
            </a:r>
            <a:r>
              <a:rPr kumimoji="0" lang="zh-CN" altLang="en-US" sz="2400" dirty="0">
                <a:solidFill>
                  <a:srgbClr val="000000"/>
                </a:solidFill>
                <a:latin typeface="黑体" panose="02010609060101010101" pitchFamily="49" charset="-122"/>
                <a:ea typeface="黑体" panose="02010609060101010101" pitchFamily="49" charset="-122"/>
              </a:rPr>
              <a:t>设计</a:t>
            </a:r>
            <a:endParaRPr kumimoji="0" lang="zh-CN" altLang="en-US" sz="2400" dirty="0">
              <a:solidFill>
                <a:srgbClr val="000000"/>
              </a:solidFill>
              <a:latin typeface="黑体" panose="02010609060101010101" pitchFamily="49" charset="-122"/>
              <a:ea typeface="黑体" panose="02010609060101010101" pitchFamily="49" charset="-122"/>
            </a:endParaRPr>
          </a:p>
        </p:txBody>
      </p:sp>
      <p:grpSp>
        <p:nvGrpSpPr>
          <p:cNvPr id="99469" name="Group 141"/>
          <p:cNvGrpSpPr/>
          <p:nvPr/>
        </p:nvGrpSpPr>
        <p:grpSpPr bwMode="auto">
          <a:xfrm>
            <a:off x="899367" y="3086158"/>
            <a:ext cx="4016375" cy="869950"/>
            <a:chOff x="330" y="810"/>
            <a:chExt cx="2530" cy="548"/>
          </a:xfrm>
        </p:grpSpPr>
        <p:sp>
          <p:nvSpPr>
            <p:cNvPr id="51293" name="Text Box 6"/>
            <p:cNvSpPr txBox="1">
              <a:spLocks noChangeArrowheads="1"/>
            </p:cNvSpPr>
            <p:nvPr/>
          </p:nvSpPr>
          <p:spPr bwMode="auto">
            <a:xfrm>
              <a:off x="330" y="1028"/>
              <a:ext cx="36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rgbClr val="FF00FF"/>
                  </a:solidFill>
                  <a:latin typeface="+mn-lt"/>
                </a:rPr>
                <a:t>S</a:t>
              </a:r>
              <a:r>
                <a:rPr kumimoji="0" lang="en-US" altLang="zh-CN" sz="2800" b="1" baseline="-25000" dirty="0">
                  <a:solidFill>
                    <a:srgbClr val="FF00FF"/>
                  </a:solidFill>
                  <a:latin typeface="+mn-lt"/>
                </a:rPr>
                <a:t>0</a:t>
              </a:r>
              <a:r>
                <a:rPr kumimoji="0" lang="en-US" altLang="zh-CN" sz="2800" b="1" dirty="0">
                  <a:latin typeface="+mn-lt"/>
                </a:rPr>
                <a:t> </a:t>
              </a:r>
              <a:endParaRPr kumimoji="0" lang="en-US" altLang="zh-CN" sz="2800" b="1" dirty="0">
                <a:latin typeface="+mn-lt"/>
              </a:endParaRPr>
            </a:p>
          </p:txBody>
        </p:sp>
        <p:sp>
          <p:nvSpPr>
            <p:cNvPr id="51294" name="Text Box 7"/>
            <p:cNvSpPr txBox="1">
              <a:spLocks noChangeArrowheads="1"/>
            </p:cNvSpPr>
            <p:nvPr/>
          </p:nvSpPr>
          <p:spPr bwMode="auto">
            <a:xfrm>
              <a:off x="748" y="1028"/>
              <a:ext cx="38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chemeClr val="tx1"/>
                  </a:solidFill>
                  <a:latin typeface="+mn-lt"/>
                </a:rPr>
                <a:t>S</a:t>
              </a:r>
              <a:r>
                <a:rPr kumimoji="0" lang="en-US" altLang="zh-CN" sz="2800" b="1" baseline="-25000" dirty="0">
                  <a:solidFill>
                    <a:schemeClr val="tx1"/>
                  </a:solidFill>
                  <a:latin typeface="+mn-lt"/>
                </a:rPr>
                <a:t>1</a:t>
              </a:r>
              <a:r>
                <a:rPr kumimoji="0" lang="en-US" altLang="zh-CN" sz="2800" b="1" dirty="0">
                  <a:solidFill>
                    <a:schemeClr val="tx1"/>
                  </a:solidFill>
                  <a:latin typeface="+mn-lt"/>
                </a:rPr>
                <a:t> </a:t>
              </a:r>
              <a:endParaRPr kumimoji="0" lang="en-US" altLang="zh-CN" sz="2800" b="1" dirty="0">
                <a:solidFill>
                  <a:schemeClr val="tx1"/>
                </a:solidFill>
                <a:latin typeface="+mn-lt"/>
              </a:endParaRPr>
            </a:p>
          </p:txBody>
        </p:sp>
        <p:sp>
          <p:nvSpPr>
            <p:cNvPr id="51295" name="Text Box 8"/>
            <p:cNvSpPr txBox="1">
              <a:spLocks noChangeArrowheads="1"/>
            </p:cNvSpPr>
            <p:nvPr/>
          </p:nvSpPr>
          <p:spPr bwMode="auto">
            <a:xfrm>
              <a:off x="1147" y="1028"/>
              <a:ext cx="31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chemeClr val="tx1"/>
                  </a:solidFill>
                  <a:latin typeface="+mn-lt"/>
                </a:rPr>
                <a:t>S</a:t>
              </a:r>
              <a:r>
                <a:rPr kumimoji="0" lang="en-US" altLang="zh-CN" sz="2800" b="1" baseline="-25000" dirty="0">
                  <a:solidFill>
                    <a:schemeClr val="tx1"/>
                  </a:solidFill>
                  <a:latin typeface="+mn-lt"/>
                </a:rPr>
                <a:t>2</a:t>
              </a:r>
              <a:r>
                <a:rPr kumimoji="0" lang="en-US" altLang="zh-CN" sz="2800" b="1" dirty="0">
                  <a:solidFill>
                    <a:schemeClr val="tx1"/>
                  </a:solidFill>
                  <a:latin typeface="+mn-lt"/>
                </a:rPr>
                <a:t> </a:t>
              </a:r>
              <a:endParaRPr kumimoji="0" lang="en-US" altLang="zh-CN" sz="2800" b="1" dirty="0">
                <a:solidFill>
                  <a:schemeClr val="tx1"/>
                </a:solidFill>
                <a:latin typeface="+mn-lt"/>
              </a:endParaRPr>
            </a:p>
          </p:txBody>
        </p:sp>
        <p:sp>
          <p:nvSpPr>
            <p:cNvPr id="51296" name="Text Box 9"/>
            <p:cNvSpPr txBox="1">
              <a:spLocks noChangeArrowheads="1"/>
            </p:cNvSpPr>
            <p:nvPr/>
          </p:nvSpPr>
          <p:spPr bwMode="auto">
            <a:xfrm>
              <a:off x="1557" y="1028"/>
              <a:ext cx="45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chemeClr val="tx1"/>
                  </a:solidFill>
                  <a:latin typeface="+mn-lt"/>
                </a:rPr>
                <a:t>S</a:t>
              </a:r>
              <a:r>
                <a:rPr kumimoji="0" lang="en-US" altLang="zh-CN" sz="2800" b="1" baseline="-25000" dirty="0">
                  <a:solidFill>
                    <a:schemeClr val="tx1"/>
                  </a:solidFill>
                  <a:latin typeface="+mn-lt"/>
                </a:rPr>
                <a:t>3</a:t>
              </a:r>
              <a:r>
                <a:rPr kumimoji="0" lang="en-US" altLang="zh-CN" sz="2800" b="1" dirty="0">
                  <a:solidFill>
                    <a:schemeClr val="tx1"/>
                  </a:solidFill>
                  <a:latin typeface="+mn-lt"/>
                </a:rPr>
                <a:t> </a:t>
              </a:r>
              <a:endParaRPr kumimoji="0" lang="en-US" altLang="zh-CN" sz="2800" b="1" dirty="0">
                <a:solidFill>
                  <a:schemeClr val="tx1"/>
                </a:solidFill>
                <a:latin typeface="+mn-lt"/>
              </a:endParaRPr>
            </a:p>
          </p:txBody>
        </p:sp>
        <p:sp>
          <p:nvSpPr>
            <p:cNvPr id="51297" name="Text Box 10"/>
            <p:cNvSpPr txBox="1">
              <a:spLocks noChangeArrowheads="1"/>
            </p:cNvSpPr>
            <p:nvPr/>
          </p:nvSpPr>
          <p:spPr bwMode="auto">
            <a:xfrm>
              <a:off x="1956" y="1028"/>
              <a:ext cx="3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chemeClr val="tx1"/>
                  </a:solidFill>
                  <a:latin typeface="+mn-lt"/>
                </a:rPr>
                <a:t>S</a:t>
              </a:r>
              <a:r>
                <a:rPr kumimoji="0" lang="en-US" altLang="zh-CN" sz="2800" b="1" baseline="-25000" dirty="0">
                  <a:solidFill>
                    <a:schemeClr val="tx1"/>
                  </a:solidFill>
                  <a:latin typeface="+mn-lt"/>
                </a:rPr>
                <a:t>4</a:t>
              </a:r>
              <a:r>
                <a:rPr kumimoji="0" lang="en-US" altLang="zh-CN" sz="2800" b="1" dirty="0">
                  <a:solidFill>
                    <a:schemeClr val="tx1"/>
                  </a:solidFill>
                  <a:latin typeface="+mn-lt"/>
                </a:rPr>
                <a:t> </a:t>
              </a:r>
              <a:endParaRPr kumimoji="0" lang="en-US" altLang="zh-CN" sz="2800" b="1" dirty="0">
                <a:solidFill>
                  <a:schemeClr val="tx1"/>
                </a:solidFill>
                <a:latin typeface="+mn-lt"/>
              </a:endParaRPr>
            </a:p>
          </p:txBody>
        </p:sp>
        <p:sp>
          <p:nvSpPr>
            <p:cNvPr id="51298" name="Text Box 11"/>
            <p:cNvSpPr txBox="1">
              <a:spLocks noChangeArrowheads="1"/>
            </p:cNvSpPr>
            <p:nvPr/>
          </p:nvSpPr>
          <p:spPr bwMode="auto">
            <a:xfrm>
              <a:off x="2359" y="1028"/>
              <a:ext cx="50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rgbClr val="00B050"/>
                  </a:solidFill>
                  <a:latin typeface="+mn-lt"/>
                </a:rPr>
                <a:t>S</a:t>
              </a:r>
              <a:r>
                <a:rPr kumimoji="0" lang="en-US" altLang="zh-CN" sz="2800" b="1" baseline="-25000" dirty="0">
                  <a:solidFill>
                    <a:srgbClr val="00B050"/>
                  </a:solidFill>
                  <a:latin typeface="+mn-lt"/>
                </a:rPr>
                <a:t>5</a:t>
              </a:r>
              <a:r>
                <a:rPr kumimoji="0" lang="en-US" altLang="zh-CN" sz="2800" b="1" dirty="0">
                  <a:solidFill>
                    <a:schemeClr val="tx1"/>
                  </a:solidFill>
                  <a:latin typeface="+mn-lt"/>
                </a:rPr>
                <a:t> </a:t>
              </a:r>
              <a:endParaRPr kumimoji="0" lang="en-US" altLang="zh-CN" sz="2800" b="1" dirty="0">
                <a:solidFill>
                  <a:schemeClr val="tx1"/>
                </a:solidFill>
                <a:latin typeface="+mn-lt"/>
              </a:endParaRPr>
            </a:p>
          </p:txBody>
        </p:sp>
        <p:sp>
          <p:nvSpPr>
            <p:cNvPr id="51299" name="Line 12"/>
            <p:cNvSpPr>
              <a:spLocks noChangeShapeType="1"/>
            </p:cNvSpPr>
            <p:nvPr/>
          </p:nvSpPr>
          <p:spPr bwMode="auto">
            <a:xfrm>
              <a:off x="600" y="1204"/>
              <a:ext cx="218"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300" name="Line 26"/>
            <p:cNvSpPr>
              <a:spLocks noChangeShapeType="1"/>
            </p:cNvSpPr>
            <p:nvPr/>
          </p:nvSpPr>
          <p:spPr bwMode="auto">
            <a:xfrm flipV="1">
              <a:off x="2481" y="810"/>
              <a:ext cx="0" cy="285"/>
            </a:xfrm>
            <a:prstGeom prst="line">
              <a:avLst/>
            </a:prstGeom>
            <a:noFill/>
            <a:ln w="2857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301" name="Line 27"/>
            <p:cNvSpPr>
              <a:spLocks noChangeShapeType="1"/>
            </p:cNvSpPr>
            <p:nvPr/>
          </p:nvSpPr>
          <p:spPr bwMode="auto">
            <a:xfrm flipH="1">
              <a:off x="493" y="810"/>
              <a:ext cx="1994" cy="0"/>
            </a:xfrm>
            <a:prstGeom prst="line">
              <a:avLst/>
            </a:prstGeom>
            <a:noFill/>
            <a:ln w="2857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302" name="Line 28"/>
            <p:cNvSpPr>
              <a:spLocks noChangeShapeType="1"/>
            </p:cNvSpPr>
            <p:nvPr/>
          </p:nvSpPr>
          <p:spPr bwMode="auto">
            <a:xfrm>
              <a:off x="488" y="810"/>
              <a:ext cx="0" cy="23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303" name="Line 31"/>
            <p:cNvSpPr>
              <a:spLocks noChangeShapeType="1"/>
            </p:cNvSpPr>
            <p:nvPr/>
          </p:nvSpPr>
          <p:spPr bwMode="auto">
            <a:xfrm>
              <a:off x="1002" y="1204"/>
              <a:ext cx="218"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304" name="Line 32"/>
            <p:cNvSpPr>
              <a:spLocks noChangeShapeType="1"/>
            </p:cNvSpPr>
            <p:nvPr/>
          </p:nvSpPr>
          <p:spPr bwMode="auto">
            <a:xfrm>
              <a:off x="1404" y="1204"/>
              <a:ext cx="218"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305" name="Line 33"/>
            <p:cNvSpPr>
              <a:spLocks noChangeShapeType="1"/>
            </p:cNvSpPr>
            <p:nvPr/>
          </p:nvSpPr>
          <p:spPr bwMode="auto">
            <a:xfrm>
              <a:off x="1807" y="1204"/>
              <a:ext cx="218"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306" name="Line 34"/>
            <p:cNvSpPr>
              <a:spLocks noChangeShapeType="1"/>
            </p:cNvSpPr>
            <p:nvPr/>
          </p:nvSpPr>
          <p:spPr bwMode="auto">
            <a:xfrm>
              <a:off x="2209" y="1204"/>
              <a:ext cx="218"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grpSp>
      <p:grpSp>
        <p:nvGrpSpPr>
          <p:cNvPr id="99471" name="Group 143"/>
          <p:cNvGrpSpPr/>
          <p:nvPr/>
        </p:nvGrpSpPr>
        <p:grpSpPr bwMode="auto">
          <a:xfrm>
            <a:off x="4944316" y="3081408"/>
            <a:ext cx="3806825" cy="869950"/>
            <a:chOff x="2792" y="2339"/>
            <a:chExt cx="2398" cy="548"/>
          </a:xfrm>
        </p:grpSpPr>
        <p:sp>
          <p:nvSpPr>
            <p:cNvPr id="51248" name="Line 88"/>
            <p:cNvSpPr>
              <a:spLocks noChangeShapeType="1"/>
            </p:cNvSpPr>
            <p:nvPr/>
          </p:nvSpPr>
          <p:spPr bwMode="auto">
            <a:xfrm>
              <a:off x="2899" y="2342"/>
              <a:ext cx="0" cy="230"/>
            </a:xfrm>
            <a:prstGeom prst="line">
              <a:avLst/>
            </a:prstGeom>
            <a:noFill/>
            <a:ln w="28575">
              <a:solidFill>
                <a:srgbClr val="FF0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254" name="Line 94"/>
            <p:cNvSpPr>
              <a:spLocks noChangeShapeType="1"/>
            </p:cNvSpPr>
            <p:nvPr/>
          </p:nvSpPr>
          <p:spPr bwMode="auto">
            <a:xfrm>
              <a:off x="3014" y="2736"/>
              <a:ext cx="218"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255" name="Line 95"/>
            <p:cNvSpPr>
              <a:spLocks noChangeShapeType="1"/>
            </p:cNvSpPr>
            <p:nvPr/>
          </p:nvSpPr>
          <p:spPr bwMode="auto">
            <a:xfrm>
              <a:off x="3417" y="2736"/>
              <a:ext cx="218"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256" name="Line 96"/>
            <p:cNvSpPr>
              <a:spLocks noChangeShapeType="1"/>
            </p:cNvSpPr>
            <p:nvPr/>
          </p:nvSpPr>
          <p:spPr bwMode="auto">
            <a:xfrm>
              <a:off x="3819" y="2736"/>
              <a:ext cx="218"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257" name="Line 97"/>
            <p:cNvSpPr>
              <a:spLocks noChangeShapeType="1"/>
            </p:cNvSpPr>
            <p:nvPr/>
          </p:nvSpPr>
          <p:spPr bwMode="auto">
            <a:xfrm>
              <a:off x="4222" y="2736"/>
              <a:ext cx="218"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258" name="Line 98"/>
            <p:cNvSpPr>
              <a:spLocks noChangeShapeType="1"/>
            </p:cNvSpPr>
            <p:nvPr/>
          </p:nvSpPr>
          <p:spPr bwMode="auto">
            <a:xfrm>
              <a:off x="4624" y="2736"/>
              <a:ext cx="218" cy="0"/>
            </a:xfrm>
            <a:prstGeom prst="line">
              <a:avLst/>
            </a:prstGeom>
            <a:noFill/>
            <a:ln w="28575">
              <a:solidFill>
                <a:srgbClr val="FF0000"/>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259" name="Text Box 100"/>
            <p:cNvSpPr txBox="1">
              <a:spLocks noChangeArrowheads="1"/>
            </p:cNvSpPr>
            <p:nvPr/>
          </p:nvSpPr>
          <p:spPr bwMode="auto">
            <a:xfrm>
              <a:off x="2792" y="2560"/>
              <a:ext cx="50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chemeClr val="tx1"/>
                  </a:solidFill>
                  <a:latin typeface="+mn-lt"/>
                </a:rPr>
                <a:t>S</a:t>
              </a:r>
              <a:r>
                <a:rPr kumimoji="0" lang="en-US" altLang="zh-CN" sz="2800" b="1" baseline="-25000" dirty="0">
                  <a:solidFill>
                    <a:schemeClr val="tx1"/>
                  </a:solidFill>
                  <a:latin typeface="+mn-lt"/>
                </a:rPr>
                <a:t>10</a:t>
              </a:r>
              <a:r>
                <a:rPr kumimoji="0" lang="en-US" altLang="zh-CN" sz="2800" b="1" dirty="0">
                  <a:solidFill>
                    <a:schemeClr val="tx1"/>
                  </a:solidFill>
                  <a:latin typeface="+mn-lt"/>
                </a:rPr>
                <a:t> </a:t>
              </a:r>
              <a:endParaRPr kumimoji="0" lang="en-US" altLang="zh-CN" sz="2800" b="1" dirty="0">
                <a:solidFill>
                  <a:schemeClr val="tx1"/>
                </a:solidFill>
                <a:latin typeface="+mn-lt"/>
              </a:endParaRPr>
            </a:p>
          </p:txBody>
        </p:sp>
        <p:sp>
          <p:nvSpPr>
            <p:cNvPr id="51260" name="Text Box 101"/>
            <p:cNvSpPr txBox="1">
              <a:spLocks noChangeArrowheads="1"/>
            </p:cNvSpPr>
            <p:nvPr/>
          </p:nvSpPr>
          <p:spPr bwMode="auto">
            <a:xfrm>
              <a:off x="3176" y="2560"/>
              <a:ext cx="50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chemeClr val="tx1"/>
                  </a:solidFill>
                  <a:latin typeface="+mn-lt"/>
                </a:rPr>
                <a:t>S</a:t>
              </a:r>
              <a:r>
                <a:rPr kumimoji="0" lang="en-US" altLang="zh-CN" sz="2800" b="1" baseline="-25000" dirty="0">
                  <a:solidFill>
                    <a:schemeClr val="tx1"/>
                  </a:solidFill>
                  <a:latin typeface="+mn-lt"/>
                </a:rPr>
                <a:t>11</a:t>
              </a:r>
              <a:r>
                <a:rPr kumimoji="0" lang="en-US" altLang="zh-CN" sz="2800" b="1" dirty="0">
                  <a:solidFill>
                    <a:schemeClr val="tx1"/>
                  </a:solidFill>
                  <a:latin typeface="+mn-lt"/>
                </a:rPr>
                <a:t> </a:t>
              </a:r>
              <a:endParaRPr kumimoji="0" lang="en-US" altLang="zh-CN" sz="2800" b="1" dirty="0">
                <a:solidFill>
                  <a:schemeClr val="tx1"/>
                </a:solidFill>
                <a:latin typeface="+mn-lt"/>
              </a:endParaRPr>
            </a:p>
          </p:txBody>
        </p:sp>
        <p:sp>
          <p:nvSpPr>
            <p:cNvPr id="51261" name="Text Box 102"/>
            <p:cNvSpPr txBox="1">
              <a:spLocks noChangeArrowheads="1"/>
            </p:cNvSpPr>
            <p:nvPr/>
          </p:nvSpPr>
          <p:spPr bwMode="auto">
            <a:xfrm>
              <a:off x="3595" y="2560"/>
              <a:ext cx="39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chemeClr val="tx1"/>
                  </a:solidFill>
                  <a:latin typeface="+mn-lt"/>
                </a:rPr>
                <a:t>S</a:t>
              </a:r>
              <a:r>
                <a:rPr kumimoji="0" lang="en-US" altLang="zh-CN" sz="2800" b="1" baseline="-25000" dirty="0">
                  <a:solidFill>
                    <a:schemeClr val="tx1"/>
                  </a:solidFill>
                  <a:latin typeface="+mn-lt"/>
                </a:rPr>
                <a:t>12</a:t>
              </a:r>
              <a:r>
                <a:rPr kumimoji="0" lang="en-US" altLang="zh-CN" sz="2800" b="1" dirty="0">
                  <a:solidFill>
                    <a:schemeClr val="tx1"/>
                  </a:solidFill>
                  <a:latin typeface="+mn-lt"/>
                </a:rPr>
                <a:t> </a:t>
              </a:r>
              <a:endParaRPr kumimoji="0" lang="en-US" altLang="zh-CN" sz="2800" b="1" dirty="0">
                <a:solidFill>
                  <a:schemeClr val="tx1"/>
                </a:solidFill>
                <a:latin typeface="+mn-lt"/>
              </a:endParaRPr>
            </a:p>
          </p:txBody>
        </p:sp>
        <p:sp>
          <p:nvSpPr>
            <p:cNvPr id="51262" name="Text Box 103"/>
            <p:cNvSpPr txBox="1">
              <a:spLocks noChangeArrowheads="1"/>
            </p:cNvSpPr>
            <p:nvPr/>
          </p:nvSpPr>
          <p:spPr bwMode="auto">
            <a:xfrm>
              <a:off x="3982" y="2560"/>
              <a:ext cx="42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chemeClr val="tx1"/>
                  </a:solidFill>
                  <a:latin typeface="+mn-lt"/>
                </a:rPr>
                <a:t>S</a:t>
              </a:r>
              <a:r>
                <a:rPr kumimoji="0" lang="en-US" altLang="zh-CN" sz="2800" b="1" baseline="-25000" dirty="0">
                  <a:solidFill>
                    <a:schemeClr val="tx1"/>
                  </a:solidFill>
                  <a:latin typeface="+mn-lt"/>
                </a:rPr>
                <a:t>13</a:t>
              </a:r>
              <a:r>
                <a:rPr kumimoji="0" lang="en-US" altLang="zh-CN" sz="2800" b="1" dirty="0">
                  <a:solidFill>
                    <a:schemeClr val="tx1"/>
                  </a:solidFill>
                  <a:latin typeface="+mn-lt"/>
                </a:rPr>
                <a:t> </a:t>
              </a:r>
              <a:endParaRPr kumimoji="0" lang="en-US" altLang="zh-CN" sz="2800" b="1" dirty="0">
                <a:solidFill>
                  <a:schemeClr val="tx1"/>
                </a:solidFill>
                <a:latin typeface="+mn-lt"/>
              </a:endParaRPr>
            </a:p>
          </p:txBody>
        </p:sp>
        <p:sp>
          <p:nvSpPr>
            <p:cNvPr id="51263" name="Text Box 104"/>
            <p:cNvSpPr txBox="1">
              <a:spLocks noChangeArrowheads="1"/>
            </p:cNvSpPr>
            <p:nvPr/>
          </p:nvSpPr>
          <p:spPr bwMode="auto">
            <a:xfrm>
              <a:off x="4798" y="2560"/>
              <a:ext cx="39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rgbClr val="008000"/>
                  </a:solidFill>
                  <a:latin typeface="+mn-lt"/>
                </a:rPr>
                <a:t>S</a:t>
              </a:r>
              <a:r>
                <a:rPr kumimoji="0" lang="en-US" altLang="zh-CN" sz="2800" b="1" baseline="-25000" dirty="0">
                  <a:solidFill>
                    <a:srgbClr val="008000"/>
                  </a:solidFill>
                  <a:latin typeface="+mn-lt"/>
                </a:rPr>
                <a:t>15</a:t>
              </a:r>
              <a:r>
                <a:rPr kumimoji="0" lang="en-US" altLang="zh-CN" sz="2800" b="1" dirty="0">
                  <a:solidFill>
                    <a:srgbClr val="008000"/>
                  </a:solidFill>
                  <a:latin typeface="+mn-lt"/>
                </a:rPr>
                <a:t> </a:t>
              </a:r>
              <a:endParaRPr kumimoji="0" lang="en-US" altLang="zh-CN" sz="2800" b="1" dirty="0">
                <a:solidFill>
                  <a:srgbClr val="008000"/>
                </a:solidFill>
                <a:latin typeface="+mn-lt"/>
              </a:endParaRPr>
            </a:p>
          </p:txBody>
        </p:sp>
        <p:sp>
          <p:nvSpPr>
            <p:cNvPr id="51264" name="Text Box 105"/>
            <p:cNvSpPr txBox="1">
              <a:spLocks noChangeArrowheads="1"/>
            </p:cNvSpPr>
            <p:nvPr/>
          </p:nvSpPr>
          <p:spPr bwMode="auto">
            <a:xfrm>
              <a:off x="4385" y="2560"/>
              <a:ext cx="41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i="1" dirty="0">
                  <a:solidFill>
                    <a:schemeClr val="tx1"/>
                  </a:solidFill>
                  <a:latin typeface="+mn-lt"/>
                </a:rPr>
                <a:t>S</a:t>
              </a:r>
              <a:r>
                <a:rPr kumimoji="0" lang="en-US" altLang="zh-CN" sz="2800" b="1" baseline="-25000" dirty="0">
                  <a:solidFill>
                    <a:schemeClr val="tx1"/>
                  </a:solidFill>
                  <a:latin typeface="+mn-lt"/>
                </a:rPr>
                <a:t>14</a:t>
              </a:r>
              <a:r>
                <a:rPr kumimoji="0" lang="en-US" altLang="zh-CN" sz="2800" b="1" dirty="0">
                  <a:solidFill>
                    <a:schemeClr val="tx1"/>
                  </a:solidFill>
                  <a:latin typeface="+mn-lt"/>
                </a:rPr>
                <a:t> </a:t>
              </a:r>
              <a:endParaRPr kumimoji="0" lang="en-US" altLang="zh-CN" sz="2800" b="1" dirty="0">
                <a:solidFill>
                  <a:schemeClr val="tx1"/>
                </a:solidFill>
                <a:latin typeface="+mn-lt"/>
              </a:endParaRPr>
            </a:p>
          </p:txBody>
        </p:sp>
        <p:sp>
          <p:nvSpPr>
            <p:cNvPr id="51265" name="Line 137"/>
            <p:cNvSpPr>
              <a:spLocks noChangeShapeType="1"/>
            </p:cNvSpPr>
            <p:nvPr/>
          </p:nvSpPr>
          <p:spPr bwMode="auto">
            <a:xfrm flipV="1">
              <a:off x="4952" y="2339"/>
              <a:ext cx="0" cy="285"/>
            </a:xfrm>
            <a:prstGeom prst="line">
              <a:avLst/>
            </a:prstGeom>
            <a:noFill/>
            <a:ln w="2857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51266" name="Line 138"/>
            <p:cNvSpPr>
              <a:spLocks noChangeShapeType="1"/>
            </p:cNvSpPr>
            <p:nvPr/>
          </p:nvSpPr>
          <p:spPr bwMode="auto">
            <a:xfrm flipH="1">
              <a:off x="2901" y="2339"/>
              <a:ext cx="2050" cy="0"/>
            </a:xfrm>
            <a:prstGeom prst="line">
              <a:avLst/>
            </a:prstGeom>
            <a:noFill/>
            <a:ln w="28575">
              <a:solidFill>
                <a:srgbClr val="FF0000"/>
              </a:solidFill>
              <a:rou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grpSp>
      <p:sp>
        <p:nvSpPr>
          <p:cNvPr id="99473" name="Text Box 145"/>
          <p:cNvSpPr txBox="1">
            <a:spLocks noChangeArrowheads="1"/>
          </p:cNvSpPr>
          <p:nvPr/>
        </p:nvSpPr>
        <p:spPr bwMode="auto">
          <a:xfrm>
            <a:off x="6958130" y="4507120"/>
            <a:ext cx="615553" cy="623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mn-lt"/>
              </a:rPr>
              <a:t>…</a:t>
            </a:r>
            <a:endParaRPr lang="en-US" altLang="zh-CN" sz="2800" dirty="0">
              <a:latin typeface="+mn-lt"/>
            </a:endParaRPr>
          </a:p>
        </p:txBody>
      </p:sp>
      <p:sp>
        <p:nvSpPr>
          <p:cNvPr id="99475" name="Text Box 147"/>
          <p:cNvSpPr txBox="1">
            <a:spLocks noChangeArrowheads="1"/>
          </p:cNvSpPr>
          <p:nvPr/>
        </p:nvSpPr>
        <p:spPr bwMode="auto">
          <a:xfrm>
            <a:off x="2216678" y="3143308"/>
            <a:ext cx="1084896"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type="none" w="sm"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rgbClr val="660066"/>
                </a:solidFill>
                <a:latin typeface="+mn-lt"/>
              </a:rPr>
              <a:t>预置</a:t>
            </a:r>
            <a:r>
              <a:rPr lang="en-US" altLang="zh-CN" b="1" dirty="0">
                <a:solidFill>
                  <a:srgbClr val="660066"/>
                </a:solidFill>
                <a:latin typeface="+mn-lt"/>
              </a:rPr>
              <a:t>0</a:t>
            </a:r>
            <a:endParaRPr lang="en-US" altLang="zh-CN" b="1" dirty="0">
              <a:solidFill>
                <a:srgbClr val="660066"/>
              </a:solidFill>
              <a:latin typeface="+mn-lt"/>
            </a:endParaRPr>
          </a:p>
        </p:txBody>
      </p:sp>
      <p:sp>
        <p:nvSpPr>
          <p:cNvPr id="70" name="Text Box 4"/>
          <p:cNvSpPr txBox="1">
            <a:spLocks noChangeArrowheads="1"/>
          </p:cNvSpPr>
          <p:nvPr/>
        </p:nvSpPr>
        <p:spPr bwMode="auto">
          <a:xfrm>
            <a:off x="960782" y="2353771"/>
            <a:ext cx="75199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en-US" altLang="zh-CN" sz="2800" b="1" dirty="0">
                <a:latin typeface="宋体" panose="02010600030101010101" pitchFamily="2" charset="-122"/>
              </a:rPr>
              <a:t>b.</a:t>
            </a:r>
            <a:r>
              <a:rPr kumimoji="0" lang="zh-CN" altLang="en-US" sz="2800" b="1" dirty="0">
                <a:latin typeface="宋体" panose="02010600030101010101" pitchFamily="2" charset="-122"/>
                <a:cs typeface="Times New Roman" panose="02020603050405020304" pitchFamily="18" charset="0"/>
              </a:rPr>
              <a:t>置数法（利用置数控制端，并行输入端）</a:t>
            </a:r>
            <a:r>
              <a:rPr kumimoji="0" lang="zh-CN" altLang="en-US" sz="2800" b="1" dirty="0">
                <a:latin typeface="宋体" panose="02010600030101010101" pitchFamily="2" charset="-122"/>
              </a:rPr>
              <a:t> </a:t>
            </a:r>
            <a:endParaRPr kumimoji="0" lang="zh-CN" altLang="en-US" sz="2800" b="1" dirty="0">
              <a:latin typeface="宋体" panose="02010600030101010101" pitchFamily="2" charset="-122"/>
            </a:endParaRPr>
          </a:p>
        </p:txBody>
      </p:sp>
      <p:sp>
        <p:nvSpPr>
          <p:cNvPr id="3" name="Text Box 4"/>
          <p:cNvSpPr txBox="1">
            <a:spLocks noChangeArrowheads="1"/>
          </p:cNvSpPr>
          <p:nvPr/>
        </p:nvSpPr>
        <p:spPr bwMode="auto">
          <a:xfrm>
            <a:off x="961417" y="4098116"/>
            <a:ext cx="7519987"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rgbClr val="000000"/>
                </a:solidFill>
                <a:latin typeface="Times New Roman" panose="02020603050405020304" pitchFamily="18" charset="0"/>
                <a:ea typeface="宋体" panose="02010600030101010101" pitchFamily="2" charset="-122"/>
              </a:defRPr>
            </a:lvl1pPr>
            <a:lvl2pPr marL="742950" indent="-285750">
              <a:defRPr kumimoji="1" sz="2400">
                <a:solidFill>
                  <a:srgbClr val="000000"/>
                </a:solidFill>
                <a:latin typeface="Times New Roman" panose="02020603050405020304" pitchFamily="18" charset="0"/>
                <a:ea typeface="宋体" panose="02010600030101010101" pitchFamily="2" charset="-122"/>
              </a:defRPr>
            </a:lvl2pPr>
            <a:lvl3pPr marL="1143000" indent="-228600">
              <a:defRPr kumimoji="1" sz="2400">
                <a:solidFill>
                  <a:srgbClr val="000000"/>
                </a:solidFill>
                <a:latin typeface="Times New Roman" panose="02020603050405020304" pitchFamily="18" charset="0"/>
                <a:ea typeface="宋体" panose="02010600030101010101" pitchFamily="2" charset="-122"/>
              </a:defRPr>
            </a:lvl3pPr>
            <a:lvl4pPr marL="1600200" indent="-228600">
              <a:defRPr kumimoji="1" sz="2400">
                <a:solidFill>
                  <a:srgbClr val="000000"/>
                </a:solidFill>
                <a:latin typeface="Times New Roman" panose="02020603050405020304" pitchFamily="18" charset="0"/>
                <a:ea typeface="宋体" panose="02010600030101010101" pitchFamily="2" charset="-122"/>
              </a:defRPr>
            </a:lvl4pPr>
            <a:lvl5pPr marL="2057400" indent="-228600">
              <a:defRPr kumimoji="1" sz="2400">
                <a:solidFill>
                  <a:srgbClr val="0000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000000"/>
                </a:solidFill>
                <a:latin typeface="Times New Roman" panose="02020603050405020304" pitchFamily="18" charset="0"/>
                <a:ea typeface="宋体" panose="02010600030101010101" pitchFamily="2" charset="-122"/>
              </a:defRPr>
            </a:lvl9pPr>
          </a:lstStyle>
          <a:p>
            <a:r>
              <a:rPr kumimoji="0" lang="zh-CN" altLang="en-US" sz="2800" b="1" dirty="0">
                <a:solidFill>
                  <a:srgbClr val="FF0000"/>
                </a:solidFill>
                <a:latin typeface="微软雅黑 Light" panose="020B0502040204020203" charset="-122"/>
                <a:ea typeface="微软雅黑 Light" panose="020B0502040204020203" charset="-122"/>
                <a:cs typeface="微软雅黑 Light" panose="020B0502040204020203" charset="-122"/>
              </a:rPr>
              <a:t>关键：控制端同步</a:t>
            </a:r>
            <a:r>
              <a:rPr kumimoji="0" lang="en-US" altLang="zh-CN" sz="2800" b="1" dirty="0">
                <a:solidFill>
                  <a:srgbClr val="FF0000"/>
                </a:solidFill>
                <a:latin typeface="微软雅黑 Light" panose="020B0502040204020203" charset="-122"/>
                <a:ea typeface="微软雅黑 Light" panose="020B0502040204020203" charset="-122"/>
                <a:cs typeface="微软雅黑 Light" panose="020B0502040204020203" charset="-122"/>
              </a:rPr>
              <a:t>/</a:t>
            </a:r>
            <a:r>
              <a:rPr kumimoji="0" lang="zh-CN" altLang="en-US" sz="2800" b="1" dirty="0">
                <a:solidFill>
                  <a:srgbClr val="FF0000"/>
                </a:solidFill>
                <a:latin typeface="微软雅黑 Light" panose="020B0502040204020203" charset="-122"/>
                <a:ea typeface="微软雅黑 Light" panose="020B0502040204020203" charset="-122"/>
                <a:cs typeface="微软雅黑 Light" panose="020B0502040204020203" charset="-122"/>
              </a:rPr>
              <a:t>异步，起跳状态选择，</a:t>
            </a:r>
            <a:endParaRPr kumimoji="0" lang="zh-CN" altLang="en-US" sz="2800" b="1" dirty="0">
              <a:solidFill>
                <a:srgbClr val="FF0000"/>
              </a:solidFill>
              <a:latin typeface="微软雅黑 Light" panose="020B0502040204020203" charset="-122"/>
              <a:ea typeface="微软雅黑 Light" panose="020B0502040204020203" charset="-122"/>
              <a:cs typeface="微软雅黑 Light" panose="020B0502040204020203" charset="-122"/>
            </a:endParaRPr>
          </a:p>
          <a:p>
            <a:r>
              <a:rPr kumimoji="0" lang="zh-CN" altLang="en-US" sz="2800" b="1" dirty="0">
                <a:solidFill>
                  <a:srgbClr val="FF0000"/>
                </a:solidFill>
                <a:latin typeface="微软雅黑 Light" panose="020B0502040204020203" charset="-122"/>
                <a:ea typeface="微软雅黑 Light" panose="020B0502040204020203" charset="-122"/>
                <a:cs typeface="微软雅黑 Light" panose="020B0502040204020203" charset="-122"/>
              </a:rPr>
              <a:t> </a:t>
            </a:r>
            <a:r>
              <a:rPr kumimoji="0" lang="en-US" altLang="zh-CN" sz="2800" b="1" dirty="0">
                <a:solidFill>
                  <a:srgbClr val="FF0000"/>
                </a:solidFill>
                <a:latin typeface="微软雅黑 Light" panose="020B0502040204020203" charset="-122"/>
                <a:ea typeface="微软雅黑 Light" panose="020B0502040204020203" charset="-122"/>
                <a:cs typeface="微软雅黑 Light" panose="020B0502040204020203" charset="-122"/>
              </a:rPr>
              <a:t>         </a:t>
            </a:r>
            <a:r>
              <a:rPr kumimoji="0" lang="zh-CN" altLang="en-US" sz="2800" b="1" dirty="0">
                <a:solidFill>
                  <a:srgbClr val="FF0000"/>
                </a:solidFill>
                <a:latin typeface="微软雅黑 Light" panose="020B0502040204020203" charset="-122"/>
                <a:ea typeface="微软雅黑 Light" panose="020B0502040204020203" charset="-122"/>
                <a:cs typeface="微软雅黑 Light" panose="020B0502040204020203" charset="-122"/>
              </a:rPr>
              <a:t>反馈引导门的</a:t>
            </a:r>
            <a:r>
              <a:rPr kumimoji="0" lang="zh-CN" altLang="en-US" sz="2800" b="1" dirty="0">
                <a:solidFill>
                  <a:srgbClr val="FF0000"/>
                </a:solidFill>
                <a:latin typeface="微软雅黑 Light" panose="020B0502040204020203" charset="-122"/>
                <a:ea typeface="微软雅黑 Light" panose="020B0502040204020203" charset="-122"/>
                <a:cs typeface="微软雅黑 Light" panose="020B0502040204020203" charset="-122"/>
              </a:rPr>
              <a:t>设计 </a:t>
            </a:r>
            <a:endParaRPr kumimoji="0" lang="zh-CN" altLang="en-US" sz="2800" b="1" dirty="0">
              <a:solidFill>
                <a:srgbClr val="FF0000"/>
              </a:solidFill>
              <a:latin typeface="微软雅黑 Light" panose="020B0502040204020203" charset="-122"/>
              <a:ea typeface="微软雅黑 Light" panose="020B0502040204020203" charset="-122"/>
              <a:cs typeface="微软雅黑 Light" panose="020B0502040204020203" charset="-122"/>
            </a:endParaRPr>
          </a:p>
        </p:txBody>
      </p:sp>
      <p:sp>
        <p:nvSpPr>
          <p:cNvPr id="4" name="Text Box 142"/>
          <p:cNvSpPr txBox="1">
            <a:spLocks noChangeArrowheads="1"/>
          </p:cNvSpPr>
          <p:nvPr>
            <p:custDataLst>
              <p:tags r:id="rId3"/>
            </p:custDataLst>
          </p:nvPr>
        </p:nvSpPr>
        <p:spPr bwMode="auto">
          <a:xfrm>
            <a:off x="742315" y="526605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(8)</a:t>
            </a:r>
            <a:r>
              <a:rPr kumimoji="0" lang="zh-CN" altLang="en-US" sz="2400" dirty="0">
                <a:solidFill>
                  <a:srgbClr val="000000"/>
                </a:solidFill>
                <a:latin typeface="黑体" panose="02010609060101010101" pitchFamily="49" charset="-122"/>
                <a:ea typeface="黑体" panose="02010609060101010101" pitchFamily="49" charset="-122"/>
              </a:rPr>
              <a:t>移存型计数器</a:t>
            </a:r>
            <a:r>
              <a:rPr kumimoji="0" lang="en-US" altLang="zh-CN" sz="2400" dirty="0">
                <a:solidFill>
                  <a:srgbClr val="000000"/>
                </a:solidFill>
                <a:latin typeface="黑体" panose="02010609060101010101" pitchFamily="49" charset="-122"/>
                <a:ea typeface="黑体" panose="02010609060101010101" pitchFamily="49" charset="-122"/>
              </a:rPr>
              <a:t>——</a:t>
            </a:r>
            <a:r>
              <a:rPr kumimoji="0" lang="zh-CN" altLang="en-US" sz="2400" dirty="0">
                <a:solidFill>
                  <a:srgbClr val="000000"/>
                </a:solidFill>
                <a:latin typeface="黑体" panose="02010609060101010101" pitchFamily="49" charset="-122"/>
                <a:ea typeface="黑体" panose="02010609060101010101" pitchFamily="49" charset="-122"/>
              </a:rPr>
              <a:t>环形、扭环</a:t>
            </a:r>
            <a:r>
              <a:rPr kumimoji="0" lang="zh-CN" altLang="en-US" sz="2400" dirty="0">
                <a:solidFill>
                  <a:srgbClr val="000000"/>
                </a:solidFill>
                <a:latin typeface="黑体" panose="02010609060101010101" pitchFamily="49" charset="-122"/>
                <a:ea typeface="黑体" panose="02010609060101010101" pitchFamily="49" charset="-122"/>
              </a:rPr>
              <a:t>形</a:t>
            </a:r>
            <a:endParaRPr kumimoji="0" lang="zh-CN" altLang="en-US" sz="2400" dirty="0">
              <a:solidFill>
                <a:srgbClr val="00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9469"/>
                                        </p:tgtEl>
                                        <p:attrNameLst>
                                          <p:attrName>style.visibility</p:attrName>
                                        </p:attrNameLst>
                                      </p:cBhvr>
                                      <p:to>
                                        <p:strVal val="visible"/>
                                      </p:to>
                                    </p:set>
                                    <p:animEffect transition="in" filter="wipe(left)">
                                      <p:cBhvr>
                                        <p:cTn id="7" dur="500"/>
                                        <p:tgtEl>
                                          <p:spTgt spid="9946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9471"/>
                                        </p:tgtEl>
                                        <p:attrNameLst>
                                          <p:attrName>style.visibility</p:attrName>
                                        </p:attrNameLst>
                                      </p:cBhvr>
                                      <p:to>
                                        <p:strVal val="visible"/>
                                      </p:to>
                                    </p:set>
                                    <p:animEffect transition="in" filter="wipe(left)">
                                      <p:cBhvr>
                                        <p:cTn id="12" dur="500"/>
                                        <p:tgtEl>
                                          <p:spTgt spid="9947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9473"/>
                                        </p:tgtEl>
                                        <p:attrNameLst>
                                          <p:attrName>style.visibility</p:attrName>
                                        </p:attrNameLst>
                                      </p:cBhvr>
                                      <p:to>
                                        <p:strVal val="visible"/>
                                      </p:to>
                                    </p:set>
                                    <p:animEffect transition="in" filter="wipe(up)">
                                      <p:cBhvr>
                                        <p:cTn id="17" dur="500"/>
                                        <p:tgtEl>
                                          <p:spTgt spid="994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9475"/>
                                        </p:tgtEl>
                                        <p:attrNameLst>
                                          <p:attrName>style.visibility</p:attrName>
                                        </p:attrNameLst>
                                      </p:cBhvr>
                                      <p:to>
                                        <p:strVal val="visible"/>
                                      </p:to>
                                    </p:set>
                                    <p:animEffect transition="in" filter="wipe(left)">
                                      <p:cBhvr>
                                        <p:cTn id="22" dur="500"/>
                                        <p:tgtEl>
                                          <p:spTgt spid="994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autoUpdateAnimBg="0"/>
      <p:bldP spid="14" grpId="0" bldLvl="0" animBg="1" autoUpdateAnimBg="0"/>
      <p:bldP spid="99473" grpId="0" bldLvl="0" animBg="1"/>
      <p:bldP spid="99475" grpId="0" bldLvl="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2877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主题五 时序逻辑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12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5.4 </a:t>
            </a:r>
            <a:r>
              <a:rPr kumimoji="0" lang="zh-CN" altLang="en-US" dirty="0">
                <a:solidFill>
                  <a:srgbClr val="000000"/>
                </a:solidFill>
                <a:latin typeface="黑体" panose="02010609060101010101" pitchFamily="49" charset="-122"/>
                <a:ea typeface="黑体" panose="02010609060101010101" pitchFamily="49" charset="-122"/>
              </a:rPr>
              <a:t>序列码</a:t>
            </a:r>
            <a:r>
              <a:rPr kumimoji="0" lang="zh-CN" altLang="en-US" dirty="0">
                <a:solidFill>
                  <a:srgbClr val="000000"/>
                </a:solidFill>
                <a:latin typeface="黑体" panose="02010609060101010101" pitchFamily="49" charset="-122"/>
                <a:ea typeface="黑体" panose="02010609060101010101" pitchFamily="49" charset="-122"/>
              </a:rPr>
              <a:t>发生器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61163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dirty="0">
                <a:solidFill>
                  <a:srgbClr val="000000"/>
                </a:solidFill>
                <a:latin typeface="黑体" panose="02010609060101010101" pitchFamily="49" charset="-122"/>
                <a:ea typeface="黑体" panose="02010609060101010101" pitchFamily="49" charset="-122"/>
              </a:rPr>
              <a:t>级联触发器</a:t>
            </a:r>
            <a:r>
              <a:rPr kumimoji="0" lang="en-US" altLang="zh-CN" sz="2400" dirty="0">
                <a:solidFill>
                  <a:srgbClr val="000000"/>
                </a:solidFill>
                <a:latin typeface="黑体" panose="02010609060101010101" pitchFamily="49" charset="-122"/>
                <a:ea typeface="黑体" panose="02010609060101010101" pitchFamily="49" charset="-122"/>
              </a:rPr>
              <a:t>+</a:t>
            </a:r>
            <a:r>
              <a:rPr kumimoji="0" lang="zh-CN" altLang="en-US" sz="2400" dirty="0">
                <a:solidFill>
                  <a:srgbClr val="000000"/>
                </a:solidFill>
                <a:latin typeface="黑体" panose="02010609060101010101" pitchFamily="49" charset="-122"/>
                <a:ea typeface="黑体" panose="02010609060101010101" pitchFamily="49" charset="-122"/>
              </a:rPr>
              <a:t>反馈门</a:t>
            </a:r>
            <a:r>
              <a:rPr kumimoji="0" lang="zh-CN" altLang="en-US" sz="2400" dirty="0">
                <a:solidFill>
                  <a:srgbClr val="000000"/>
                </a:solidFill>
                <a:latin typeface="黑体" panose="02010609060101010101" pitchFamily="49" charset="-122"/>
                <a:ea typeface="黑体" panose="02010609060101010101" pitchFamily="49" charset="-122"/>
              </a:rPr>
              <a:t>电路</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5" name="文本框 4"/>
          <p:cNvSpPr txBox="1"/>
          <p:nvPr/>
        </p:nvSpPr>
        <p:spPr>
          <a:xfrm>
            <a:off x="1263015" y="2173605"/>
            <a:ext cx="4572000" cy="460375"/>
          </a:xfrm>
          <a:prstGeom prst="rect">
            <a:avLst/>
          </a:prstGeom>
          <a:noFill/>
        </p:spPr>
        <p:txBody>
          <a:bodyPr wrap="square" rtlCol="0" anchor="t">
            <a:spAutoFit/>
          </a:bodyPr>
          <a:p>
            <a:r>
              <a:rPr kumimoji="0" lang="en-US" altLang="zh-CN" sz="2400" dirty="0">
                <a:sym typeface="+mn-ea"/>
              </a:rPr>
              <a:t>STEP1. </a:t>
            </a:r>
            <a:r>
              <a:rPr kumimoji="0" lang="zh-CN" altLang="en-US" sz="2400" b="1" dirty="0">
                <a:sym typeface="+mn-ea"/>
              </a:rPr>
              <a:t>求触发器的级数</a:t>
            </a:r>
            <a:endParaRPr kumimoji="0" lang="zh-CN" altLang="en-US" sz="2400" b="1" dirty="0">
              <a:sym typeface="+mn-ea"/>
            </a:endParaRPr>
          </a:p>
        </p:txBody>
      </p:sp>
      <p:sp>
        <p:nvSpPr>
          <p:cNvPr id="6" name="文本框 5"/>
          <p:cNvSpPr txBox="1"/>
          <p:nvPr/>
        </p:nvSpPr>
        <p:spPr>
          <a:xfrm>
            <a:off x="1263015" y="2633980"/>
            <a:ext cx="7584440" cy="460375"/>
          </a:xfrm>
          <a:prstGeom prst="rect">
            <a:avLst/>
          </a:prstGeom>
          <a:noFill/>
        </p:spPr>
        <p:txBody>
          <a:bodyPr wrap="square" rtlCol="0" anchor="t">
            <a:spAutoFit/>
          </a:bodyPr>
          <a:p>
            <a:r>
              <a:rPr kumimoji="0" lang="en-US" altLang="zh-CN" sz="2400" dirty="0">
                <a:sym typeface="+mn-ea"/>
              </a:rPr>
              <a:t>STEP2. </a:t>
            </a:r>
            <a:r>
              <a:rPr kumimoji="0" lang="zh-CN" altLang="en-US" sz="2400" b="1" dirty="0">
                <a:sym typeface="+mn-ea"/>
              </a:rPr>
              <a:t>划线法确定状态（移动方向与划线方向</a:t>
            </a:r>
            <a:r>
              <a:rPr kumimoji="0" lang="zh-CN" altLang="en-US" sz="2400" b="1" dirty="0">
                <a:sym typeface="+mn-ea"/>
              </a:rPr>
              <a:t>相反）</a:t>
            </a:r>
            <a:endParaRPr kumimoji="0" lang="zh-CN" altLang="en-US" sz="2400" b="1" dirty="0">
              <a:sym typeface="+mn-ea"/>
            </a:endParaRPr>
          </a:p>
        </p:txBody>
      </p:sp>
      <p:sp>
        <p:nvSpPr>
          <p:cNvPr id="7" name="文本框 6"/>
          <p:cNvSpPr txBox="1"/>
          <p:nvPr/>
        </p:nvSpPr>
        <p:spPr>
          <a:xfrm>
            <a:off x="1263015" y="3094355"/>
            <a:ext cx="7584440" cy="460375"/>
          </a:xfrm>
          <a:prstGeom prst="rect">
            <a:avLst/>
          </a:prstGeom>
          <a:noFill/>
        </p:spPr>
        <p:txBody>
          <a:bodyPr wrap="square" rtlCol="0" anchor="t">
            <a:spAutoFit/>
          </a:bodyPr>
          <a:p>
            <a:r>
              <a:rPr kumimoji="0" lang="en-US" altLang="zh-CN" sz="2400" dirty="0">
                <a:sym typeface="+mn-ea"/>
              </a:rPr>
              <a:t>STEP3. </a:t>
            </a:r>
            <a:r>
              <a:rPr kumimoji="0" lang="zh-CN" altLang="en-US" sz="2400" b="1" dirty="0">
                <a:sym typeface="+mn-ea"/>
              </a:rPr>
              <a:t>检查状态表循环</a:t>
            </a:r>
            <a:r>
              <a:rPr kumimoji="0" lang="zh-CN" altLang="en-US" sz="2400" b="1" dirty="0">
                <a:sym typeface="+mn-ea"/>
              </a:rPr>
              <a:t>模态内有无重复状态</a:t>
            </a:r>
            <a:endParaRPr kumimoji="0" lang="zh-CN" altLang="en-US" sz="2400" b="1" dirty="0">
              <a:sym typeface="+mn-ea"/>
            </a:endParaRPr>
          </a:p>
        </p:txBody>
      </p:sp>
      <p:sp>
        <p:nvSpPr>
          <p:cNvPr id="9" name="文本框 8"/>
          <p:cNvSpPr txBox="1"/>
          <p:nvPr/>
        </p:nvSpPr>
        <p:spPr>
          <a:xfrm>
            <a:off x="1834515" y="3554730"/>
            <a:ext cx="6110605" cy="460375"/>
          </a:xfrm>
          <a:prstGeom prst="rect">
            <a:avLst/>
          </a:prstGeom>
          <a:noFill/>
        </p:spPr>
        <p:txBody>
          <a:bodyPr wrap="square" rtlCol="0" anchor="t">
            <a:spAutoFit/>
          </a:bodyPr>
          <a:p>
            <a:r>
              <a:rPr kumimoji="0" lang="en-US" altLang="zh-CN" sz="2400" dirty="0">
                <a:sym typeface="+mn-ea"/>
              </a:rPr>
              <a:t>STEP3a. </a:t>
            </a:r>
            <a:r>
              <a:rPr kumimoji="0" lang="zh-CN" altLang="en-US" sz="2400" b="1" dirty="0">
                <a:sym typeface="+mn-ea"/>
              </a:rPr>
              <a:t>有，则触发器级数</a:t>
            </a:r>
            <a:r>
              <a:rPr kumimoji="0" lang="en-US" altLang="zh-CN" sz="2400" b="1" dirty="0">
                <a:sym typeface="+mn-ea"/>
              </a:rPr>
              <a:t>+1</a:t>
            </a:r>
            <a:r>
              <a:rPr kumimoji="0" lang="zh-CN" altLang="en-US" sz="2400" b="1" dirty="0">
                <a:sym typeface="+mn-ea"/>
              </a:rPr>
              <a:t>，重做</a:t>
            </a:r>
            <a:r>
              <a:rPr kumimoji="0" lang="en-US" altLang="zh-CN" sz="2400" b="1" dirty="0">
                <a:sym typeface="+mn-ea"/>
              </a:rPr>
              <a:t>STEP2</a:t>
            </a:r>
            <a:endParaRPr kumimoji="0" lang="en-US" altLang="zh-CN" sz="2400" b="1" dirty="0">
              <a:sym typeface="+mn-ea"/>
            </a:endParaRPr>
          </a:p>
        </p:txBody>
      </p:sp>
      <p:sp>
        <p:nvSpPr>
          <p:cNvPr id="10" name="文本框 9"/>
          <p:cNvSpPr txBox="1"/>
          <p:nvPr/>
        </p:nvSpPr>
        <p:spPr>
          <a:xfrm>
            <a:off x="1834515" y="3970655"/>
            <a:ext cx="6110605" cy="460375"/>
          </a:xfrm>
          <a:prstGeom prst="rect">
            <a:avLst/>
          </a:prstGeom>
          <a:noFill/>
        </p:spPr>
        <p:txBody>
          <a:bodyPr wrap="square" rtlCol="0" anchor="t">
            <a:spAutoFit/>
          </a:bodyPr>
          <a:p>
            <a:r>
              <a:rPr kumimoji="0" lang="en-US" altLang="zh-CN" sz="2400" dirty="0">
                <a:sym typeface="+mn-ea"/>
              </a:rPr>
              <a:t>STEP3b. </a:t>
            </a:r>
            <a:r>
              <a:rPr kumimoji="0" lang="zh-CN" altLang="en-US" sz="2400" b="1" dirty="0">
                <a:sym typeface="+mn-ea"/>
              </a:rPr>
              <a:t>无，做</a:t>
            </a:r>
            <a:r>
              <a:rPr kumimoji="0" lang="en-US" altLang="zh-CN" sz="2400" dirty="0">
                <a:sym typeface="+mn-ea"/>
              </a:rPr>
              <a:t>STEP4</a:t>
            </a:r>
            <a:endParaRPr kumimoji="0" lang="en-US" altLang="zh-CN" sz="2400" dirty="0">
              <a:sym typeface="+mn-ea"/>
            </a:endParaRPr>
          </a:p>
        </p:txBody>
      </p:sp>
      <p:sp>
        <p:nvSpPr>
          <p:cNvPr id="11" name="文本框 10"/>
          <p:cNvSpPr txBox="1"/>
          <p:nvPr/>
        </p:nvSpPr>
        <p:spPr>
          <a:xfrm>
            <a:off x="1263015" y="4431030"/>
            <a:ext cx="7584440" cy="460375"/>
          </a:xfrm>
          <a:prstGeom prst="rect">
            <a:avLst/>
          </a:prstGeom>
          <a:noFill/>
        </p:spPr>
        <p:txBody>
          <a:bodyPr wrap="square" rtlCol="0" anchor="t">
            <a:spAutoFit/>
          </a:bodyPr>
          <a:p>
            <a:r>
              <a:rPr kumimoji="0" lang="en-US" altLang="zh-CN" sz="2400" dirty="0">
                <a:sym typeface="+mn-ea"/>
              </a:rPr>
              <a:t>STEP4. </a:t>
            </a:r>
            <a:r>
              <a:rPr kumimoji="0" lang="zh-CN" altLang="en-US" sz="2400" dirty="0">
                <a:sym typeface="+mn-ea"/>
              </a:rPr>
              <a:t>根据状态表生成反馈门电路的</a:t>
            </a:r>
            <a:r>
              <a:rPr kumimoji="0" lang="zh-CN" altLang="en-US" sz="2400" dirty="0">
                <a:sym typeface="+mn-ea"/>
              </a:rPr>
              <a:t>真值表</a:t>
            </a:r>
            <a:endParaRPr kumimoji="0" lang="zh-CN" altLang="en-US" sz="2400" dirty="0">
              <a:sym typeface="+mn-ea"/>
            </a:endParaRPr>
          </a:p>
        </p:txBody>
      </p:sp>
      <p:sp>
        <p:nvSpPr>
          <p:cNvPr id="12" name="文本框 11"/>
          <p:cNvSpPr txBox="1"/>
          <p:nvPr/>
        </p:nvSpPr>
        <p:spPr>
          <a:xfrm>
            <a:off x="1263015" y="4846955"/>
            <a:ext cx="7584440" cy="460375"/>
          </a:xfrm>
          <a:prstGeom prst="rect">
            <a:avLst/>
          </a:prstGeom>
          <a:noFill/>
        </p:spPr>
        <p:txBody>
          <a:bodyPr wrap="square" rtlCol="0" anchor="t">
            <a:spAutoFit/>
          </a:bodyPr>
          <a:p>
            <a:r>
              <a:rPr kumimoji="0" lang="en-US" altLang="zh-CN" sz="2400" dirty="0">
                <a:sym typeface="+mn-ea"/>
              </a:rPr>
              <a:t>STEP5. </a:t>
            </a:r>
            <a:r>
              <a:rPr kumimoji="0" lang="zh-CN" altLang="en-US" sz="2400" dirty="0">
                <a:sym typeface="+mn-ea"/>
              </a:rPr>
              <a:t>利用卡诺图化简并求取反馈</a:t>
            </a:r>
            <a:r>
              <a:rPr kumimoji="0" lang="zh-CN" altLang="en-US" sz="2400" dirty="0">
                <a:sym typeface="+mn-ea"/>
              </a:rPr>
              <a:t>函数</a:t>
            </a:r>
            <a:endParaRPr kumimoji="0" lang="zh-CN" altLang="en-US" sz="2400" dirty="0">
              <a:sym typeface="+mn-ea"/>
            </a:endParaRPr>
          </a:p>
        </p:txBody>
      </p:sp>
      <p:sp>
        <p:nvSpPr>
          <p:cNvPr id="15" name="文本框 14"/>
          <p:cNvSpPr txBox="1"/>
          <p:nvPr/>
        </p:nvSpPr>
        <p:spPr>
          <a:xfrm>
            <a:off x="1263015" y="5249545"/>
            <a:ext cx="7584440" cy="460375"/>
          </a:xfrm>
          <a:prstGeom prst="rect">
            <a:avLst/>
          </a:prstGeom>
          <a:noFill/>
        </p:spPr>
        <p:txBody>
          <a:bodyPr wrap="square" rtlCol="0" anchor="t">
            <a:spAutoFit/>
          </a:bodyPr>
          <a:p>
            <a:r>
              <a:rPr kumimoji="0" lang="en-US" altLang="zh-CN" sz="2400" dirty="0">
                <a:sym typeface="+mn-ea"/>
              </a:rPr>
              <a:t>STEP6. </a:t>
            </a:r>
            <a:r>
              <a:rPr kumimoji="0" lang="zh-CN" altLang="en-US" sz="2400" dirty="0">
                <a:sym typeface="+mn-ea"/>
              </a:rPr>
              <a:t>得到最终设计</a:t>
            </a:r>
            <a:r>
              <a:rPr kumimoji="0" lang="zh-CN" altLang="en-US" sz="2400" dirty="0">
                <a:sym typeface="+mn-ea"/>
              </a:rPr>
              <a:t>电路</a:t>
            </a:r>
            <a:endParaRPr kumimoji="0" lang="zh-CN" altLang="en-US" sz="2400" dirty="0">
              <a:sym typeface="+mn-ea"/>
            </a:endParaRPr>
          </a:p>
        </p:txBody>
      </p:sp>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2877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主题五 时序逻辑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12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5.4 </a:t>
            </a:r>
            <a:r>
              <a:rPr kumimoji="0" lang="zh-CN" altLang="en-US" dirty="0">
                <a:solidFill>
                  <a:srgbClr val="000000"/>
                </a:solidFill>
                <a:latin typeface="黑体" panose="02010609060101010101" pitchFamily="49" charset="-122"/>
                <a:ea typeface="黑体" panose="02010609060101010101" pitchFamily="49" charset="-122"/>
              </a:rPr>
              <a:t>序列码</a:t>
            </a:r>
            <a:r>
              <a:rPr kumimoji="0" lang="zh-CN" altLang="en-US" dirty="0">
                <a:solidFill>
                  <a:srgbClr val="000000"/>
                </a:solidFill>
                <a:latin typeface="黑体" panose="02010609060101010101" pitchFamily="49" charset="-122"/>
                <a:ea typeface="黑体" panose="02010609060101010101" pitchFamily="49" charset="-122"/>
              </a:rPr>
              <a:t>发生器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57416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zh-CN" altLang="en-US" sz="2400" dirty="0">
                <a:solidFill>
                  <a:srgbClr val="000000"/>
                </a:solidFill>
                <a:latin typeface="黑体" panose="02010609060101010101" pitchFamily="49" charset="-122"/>
                <a:ea typeface="黑体" panose="02010609060101010101" pitchFamily="49" charset="-122"/>
              </a:rPr>
              <a:t>级联触发器</a:t>
            </a:r>
            <a:r>
              <a:rPr kumimoji="0" lang="en-US" altLang="zh-CN" sz="2400" dirty="0">
                <a:solidFill>
                  <a:srgbClr val="000000"/>
                </a:solidFill>
                <a:latin typeface="黑体" panose="02010609060101010101" pitchFamily="49" charset="-122"/>
                <a:ea typeface="黑体" panose="02010609060101010101" pitchFamily="49" charset="-122"/>
              </a:rPr>
              <a:t>+</a:t>
            </a:r>
            <a:r>
              <a:rPr kumimoji="0" lang="zh-CN" altLang="en-US" sz="2400" dirty="0">
                <a:solidFill>
                  <a:srgbClr val="000000"/>
                </a:solidFill>
                <a:latin typeface="黑体" panose="02010609060101010101" pitchFamily="49" charset="-122"/>
                <a:ea typeface="黑体" panose="02010609060101010101" pitchFamily="49" charset="-122"/>
              </a:rPr>
              <a:t>数据</a:t>
            </a:r>
            <a:r>
              <a:rPr kumimoji="0" lang="zh-CN" altLang="en-US" sz="2400" dirty="0">
                <a:solidFill>
                  <a:srgbClr val="000000"/>
                </a:solidFill>
                <a:latin typeface="黑体" panose="02010609060101010101" pitchFamily="49" charset="-122"/>
                <a:ea typeface="黑体" panose="02010609060101010101" pitchFamily="49" charset="-122"/>
              </a:rPr>
              <a:t>选择器</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5" name="文本框 4"/>
          <p:cNvSpPr txBox="1"/>
          <p:nvPr/>
        </p:nvSpPr>
        <p:spPr>
          <a:xfrm>
            <a:off x="1263015" y="2098675"/>
            <a:ext cx="4572000" cy="460375"/>
          </a:xfrm>
          <a:prstGeom prst="rect">
            <a:avLst/>
          </a:prstGeom>
          <a:noFill/>
        </p:spPr>
        <p:txBody>
          <a:bodyPr wrap="square" rtlCol="0" anchor="t">
            <a:spAutoFit/>
          </a:bodyPr>
          <a:p>
            <a:r>
              <a:rPr kumimoji="0" lang="en-US" altLang="zh-CN" sz="2400" dirty="0">
                <a:sym typeface="+mn-ea"/>
              </a:rPr>
              <a:t>STEP1. </a:t>
            </a:r>
            <a:r>
              <a:rPr kumimoji="0" lang="zh-CN" altLang="en-US" sz="2400" b="1" dirty="0">
                <a:sym typeface="+mn-ea"/>
              </a:rPr>
              <a:t>求触发器的级数</a:t>
            </a:r>
            <a:endParaRPr kumimoji="0" lang="zh-CN" altLang="en-US" sz="2400" b="1" dirty="0">
              <a:sym typeface="+mn-ea"/>
            </a:endParaRPr>
          </a:p>
        </p:txBody>
      </p:sp>
      <p:sp>
        <p:nvSpPr>
          <p:cNvPr id="6" name="文本框 5"/>
          <p:cNvSpPr txBox="1"/>
          <p:nvPr/>
        </p:nvSpPr>
        <p:spPr>
          <a:xfrm>
            <a:off x="1263015" y="2559050"/>
            <a:ext cx="7584440" cy="460375"/>
          </a:xfrm>
          <a:prstGeom prst="rect">
            <a:avLst/>
          </a:prstGeom>
          <a:noFill/>
        </p:spPr>
        <p:txBody>
          <a:bodyPr wrap="square" rtlCol="0" anchor="t">
            <a:spAutoFit/>
          </a:bodyPr>
          <a:p>
            <a:r>
              <a:rPr kumimoji="0" lang="en-US" altLang="zh-CN" sz="2400" dirty="0">
                <a:sym typeface="+mn-ea"/>
              </a:rPr>
              <a:t>STEP2. </a:t>
            </a:r>
            <a:r>
              <a:rPr kumimoji="0" lang="zh-CN" altLang="en-US" sz="2400" b="1" dirty="0">
                <a:sym typeface="+mn-ea"/>
              </a:rPr>
              <a:t>划线法确定状态（移动方向与划线方向</a:t>
            </a:r>
            <a:r>
              <a:rPr kumimoji="0" lang="zh-CN" altLang="en-US" sz="2400" b="1" dirty="0">
                <a:sym typeface="+mn-ea"/>
              </a:rPr>
              <a:t>相反）</a:t>
            </a:r>
            <a:endParaRPr kumimoji="0" lang="zh-CN" altLang="en-US" sz="2400" b="1" dirty="0">
              <a:sym typeface="+mn-ea"/>
            </a:endParaRPr>
          </a:p>
        </p:txBody>
      </p:sp>
      <p:sp>
        <p:nvSpPr>
          <p:cNvPr id="7" name="文本框 6"/>
          <p:cNvSpPr txBox="1"/>
          <p:nvPr/>
        </p:nvSpPr>
        <p:spPr>
          <a:xfrm>
            <a:off x="1263015" y="3019425"/>
            <a:ext cx="7584440" cy="460375"/>
          </a:xfrm>
          <a:prstGeom prst="rect">
            <a:avLst/>
          </a:prstGeom>
          <a:noFill/>
        </p:spPr>
        <p:txBody>
          <a:bodyPr wrap="square" rtlCol="0" anchor="t">
            <a:spAutoFit/>
          </a:bodyPr>
          <a:p>
            <a:r>
              <a:rPr kumimoji="0" lang="en-US" altLang="zh-CN" sz="2400" dirty="0">
                <a:sym typeface="+mn-ea"/>
              </a:rPr>
              <a:t>STEP3. </a:t>
            </a:r>
            <a:r>
              <a:rPr kumimoji="0" lang="zh-CN" altLang="en-US" sz="2400" b="1" dirty="0">
                <a:sym typeface="+mn-ea"/>
              </a:rPr>
              <a:t>检查状态表循环</a:t>
            </a:r>
            <a:r>
              <a:rPr kumimoji="0" lang="zh-CN" altLang="en-US" sz="2400" b="1" dirty="0">
                <a:sym typeface="+mn-ea"/>
              </a:rPr>
              <a:t>模态内有无重复状态</a:t>
            </a:r>
            <a:endParaRPr kumimoji="0" lang="zh-CN" altLang="en-US" sz="2400" b="1" dirty="0">
              <a:sym typeface="+mn-ea"/>
            </a:endParaRPr>
          </a:p>
        </p:txBody>
      </p:sp>
      <p:sp>
        <p:nvSpPr>
          <p:cNvPr id="9" name="文本框 8"/>
          <p:cNvSpPr txBox="1"/>
          <p:nvPr/>
        </p:nvSpPr>
        <p:spPr>
          <a:xfrm>
            <a:off x="1834515" y="3479800"/>
            <a:ext cx="6110605" cy="460375"/>
          </a:xfrm>
          <a:prstGeom prst="rect">
            <a:avLst/>
          </a:prstGeom>
          <a:noFill/>
        </p:spPr>
        <p:txBody>
          <a:bodyPr wrap="square" rtlCol="0" anchor="t">
            <a:spAutoFit/>
          </a:bodyPr>
          <a:p>
            <a:r>
              <a:rPr kumimoji="0" lang="en-US" altLang="zh-CN" sz="2400" dirty="0">
                <a:sym typeface="+mn-ea"/>
              </a:rPr>
              <a:t>STEP3a. </a:t>
            </a:r>
            <a:r>
              <a:rPr kumimoji="0" lang="zh-CN" altLang="en-US" sz="2400" b="1" dirty="0">
                <a:sym typeface="+mn-ea"/>
              </a:rPr>
              <a:t>有，则触发器级数</a:t>
            </a:r>
            <a:r>
              <a:rPr kumimoji="0" lang="en-US" altLang="zh-CN" sz="2400" b="1" dirty="0">
                <a:sym typeface="+mn-ea"/>
              </a:rPr>
              <a:t>+1</a:t>
            </a:r>
            <a:r>
              <a:rPr kumimoji="0" lang="zh-CN" altLang="en-US" sz="2400" b="1" dirty="0">
                <a:sym typeface="+mn-ea"/>
              </a:rPr>
              <a:t>，重做</a:t>
            </a:r>
            <a:r>
              <a:rPr kumimoji="0" lang="en-US" altLang="zh-CN" sz="2400" b="1" dirty="0">
                <a:sym typeface="+mn-ea"/>
              </a:rPr>
              <a:t>STEP2</a:t>
            </a:r>
            <a:endParaRPr kumimoji="0" lang="en-US" altLang="zh-CN" sz="2400" b="1" dirty="0">
              <a:sym typeface="+mn-ea"/>
            </a:endParaRPr>
          </a:p>
        </p:txBody>
      </p:sp>
      <p:sp>
        <p:nvSpPr>
          <p:cNvPr id="10" name="文本框 9"/>
          <p:cNvSpPr txBox="1"/>
          <p:nvPr/>
        </p:nvSpPr>
        <p:spPr>
          <a:xfrm>
            <a:off x="1834515" y="3895725"/>
            <a:ext cx="6110605" cy="460375"/>
          </a:xfrm>
          <a:prstGeom prst="rect">
            <a:avLst/>
          </a:prstGeom>
          <a:noFill/>
        </p:spPr>
        <p:txBody>
          <a:bodyPr wrap="square" rtlCol="0" anchor="t">
            <a:spAutoFit/>
          </a:bodyPr>
          <a:p>
            <a:r>
              <a:rPr kumimoji="0" lang="en-US" altLang="zh-CN" sz="2400" dirty="0">
                <a:sym typeface="+mn-ea"/>
              </a:rPr>
              <a:t>STEP3b. </a:t>
            </a:r>
            <a:r>
              <a:rPr kumimoji="0" lang="zh-CN" altLang="en-US" sz="2400" b="1" dirty="0">
                <a:sym typeface="+mn-ea"/>
              </a:rPr>
              <a:t>无，做</a:t>
            </a:r>
            <a:r>
              <a:rPr kumimoji="0" lang="en-US" altLang="zh-CN" sz="2400" dirty="0">
                <a:sym typeface="+mn-ea"/>
              </a:rPr>
              <a:t>STEP4</a:t>
            </a:r>
            <a:endParaRPr kumimoji="0" lang="en-US" altLang="zh-CN" sz="2400" dirty="0">
              <a:sym typeface="+mn-ea"/>
            </a:endParaRPr>
          </a:p>
        </p:txBody>
      </p:sp>
      <p:sp>
        <p:nvSpPr>
          <p:cNvPr id="11" name="文本框 10"/>
          <p:cNvSpPr txBox="1"/>
          <p:nvPr/>
        </p:nvSpPr>
        <p:spPr>
          <a:xfrm>
            <a:off x="1263015" y="4356100"/>
            <a:ext cx="7584440" cy="460375"/>
          </a:xfrm>
          <a:prstGeom prst="rect">
            <a:avLst/>
          </a:prstGeom>
          <a:noFill/>
        </p:spPr>
        <p:txBody>
          <a:bodyPr wrap="square" rtlCol="0" anchor="t">
            <a:spAutoFit/>
          </a:bodyPr>
          <a:p>
            <a:r>
              <a:rPr kumimoji="0" lang="en-US" altLang="zh-CN" sz="2400" dirty="0">
                <a:sym typeface="+mn-ea"/>
              </a:rPr>
              <a:t>STEP4. </a:t>
            </a:r>
            <a:r>
              <a:rPr kumimoji="0" lang="zh-CN" altLang="en-US" sz="2400" dirty="0">
                <a:sym typeface="+mn-ea"/>
              </a:rPr>
              <a:t>根据状态表生成反馈</a:t>
            </a:r>
            <a:r>
              <a:rPr kumimoji="0" lang="zh-CN" altLang="en-US" sz="2400" dirty="0">
                <a:sym typeface="+mn-ea"/>
              </a:rPr>
              <a:t>逻辑的</a:t>
            </a:r>
            <a:r>
              <a:rPr kumimoji="0" lang="zh-CN" altLang="en-US" sz="2400" dirty="0">
                <a:sym typeface="+mn-ea"/>
              </a:rPr>
              <a:t>真值表</a:t>
            </a:r>
            <a:endParaRPr kumimoji="0" lang="zh-CN" altLang="en-US" sz="2400" dirty="0">
              <a:sym typeface="+mn-ea"/>
            </a:endParaRPr>
          </a:p>
        </p:txBody>
      </p:sp>
      <p:sp>
        <p:nvSpPr>
          <p:cNvPr id="12" name="文本框 11"/>
          <p:cNvSpPr txBox="1"/>
          <p:nvPr/>
        </p:nvSpPr>
        <p:spPr>
          <a:xfrm>
            <a:off x="1263015" y="4772025"/>
            <a:ext cx="7584440" cy="460375"/>
          </a:xfrm>
          <a:prstGeom prst="rect">
            <a:avLst/>
          </a:prstGeom>
          <a:noFill/>
        </p:spPr>
        <p:txBody>
          <a:bodyPr wrap="square" rtlCol="0" anchor="t">
            <a:spAutoFit/>
          </a:bodyPr>
          <a:p>
            <a:r>
              <a:rPr kumimoji="0" lang="en-US" altLang="zh-CN" sz="2400" dirty="0">
                <a:solidFill>
                  <a:srgbClr val="FF0000"/>
                </a:solidFill>
                <a:sym typeface="+mn-ea"/>
              </a:rPr>
              <a:t>STEP5. </a:t>
            </a:r>
            <a:r>
              <a:rPr kumimoji="0" lang="zh-CN" altLang="en-US" sz="2400" dirty="0">
                <a:solidFill>
                  <a:srgbClr val="FF0000"/>
                </a:solidFill>
                <a:sym typeface="+mn-ea"/>
              </a:rPr>
              <a:t>检查</a:t>
            </a:r>
            <a:r>
              <a:rPr kumimoji="0" lang="en-US" altLang="zh-CN" sz="2400" dirty="0">
                <a:solidFill>
                  <a:srgbClr val="FF0000"/>
                </a:solidFill>
                <a:sym typeface="+mn-ea"/>
              </a:rPr>
              <a:t>MUX</a:t>
            </a:r>
            <a:r>
              <a:rPr kumimoji="0" lang="zh-CN" altLang="en-US" sz="2400" dirty="0">
                <a:solidFill>
                  <a:srgbClr val="FF0000"/>
                </a:solidFill>
                <a:sym typeface="+mn-ea"/>
              </a:rPr>
              <a:t>地址线是否大于等于触发器状态</a:t>
            </a:r>
            <a:r>
              <a:rPr kumimoji="0" lang="zh-CN" altLang="en-US" sz="2400" dirty="0">
                <a:solidFill>
                  <a:srgbClr val="FF0000"/>
                </a:solidFill>
                <a:sym typeface="+mn-ea"/>
              </a:rPr>
              <a:t>数</a:t>
            </a:r>
            <a:endParaRPr kumimoji="0" lang="zh-CN" altLang="en-US" sz="2400" dirty="0">
              <a:solidFill>
                <a:srgbClr val="FF0000"/>
              </a:solidFill>
              <a:sym typeface="+mn-ea"/>
            </a:endParaRPr>
          </a:p>
        </p:txBody>
      </p:sp>
      <p:sp>
        <p:nvSpPr>
          <p:cNvPr id="15" name="文本框 14"/>
          <p:cNvSpPr txBox="1"/>
          <p:nvPr/>
        </p:nvSpPr>
        <p:spPr>
          <a:xfrm>
            <a:off x="1834515" y="5232400"/>
            <a:ext cx="7584440" cy="460375"/>
          </a:xfrm>
          <a:prstGeom prst="rect">
            <a:avLst/>
          </a:prstGeom>
          <a:noFill/>
        </p:spPr>
        <p:txBody>
          <a:bodyPr wrap="square" rtlCol="0" anchor="t">
            <a:spAutoFit/>
          </a:bodyPr>
          <a:p>
            <a:r>
              <a:rPr kumimoji="0" lang="en-US" altLang="zh-CN" sz="2400" dirty="0">
                <a:solidFill>
                  <a:srgbClr val="FF0000"/>
                </a:solidFill>
                <a:sym typeface="+mn-ea"/>
              </a:rPr>
              <a:t>STEP5a. </a:t>
            </a:r>
            <a:r>
              <a:rPr kumimoji="0" lang="zh-CN" altLang="en-US" sz="2400" dirty="0">
                <a:solidFill>
                  <a:srgbClr val="FF0000"/>
                </a:solidFill>
                <a:sym typeface="+mn-ea"/>
              </a:rPr>
              <a:t>大于等于，无需降</a:t>
            </a:r>
            <a:r>
              <a:rPr kumimoji="0" lang="zh-CN" altLang="en-US" sz="2400" dirty="0">
                <a:solidFill>
                  <a:srgbClr val="FF0000"/>
                </a:solidFill>
                <a:sym typeface="+mn-ea"/>
              </a:rPr>
              <a:t>维</a:t>
            </a:r>
            <a:endParaRPr kumimoji="0" lang="zh-CN" altLang="en-US" sz="2400" dirty="0">
              <a:solidFill>
                <a:srgbClr val="FF0000"/>
              </a:solidFill>
              <a:sym typeface="+mn-ea"/>
            </a:endParaRPr>
          </a:p>
        </p:txBody>
      </p:sp>
      <p:sp>
        <p:nvSpPr>
          <p:cNvPr id="2" name="文本框 1"/>
          <p:cNvSpPr txBox="1"/>
          <p:nvPr/>
        </p:nvSpPr>
        <p:spPr>
          <a:xfrm>
            <a:off x="1834515" y="5641340"/>
            <a:ext cx="7584440" cy="460375"/>
          </a:xfrm>
          <a:prstGeom prst="rect">
            <a:avLst/>
          </a:prstGeom>
          <a:noFill/>
        </p:spPr>
        <p:txBody>
          <a:bodyPr wrap="square" rtlCol="0" anchor="t">
            <a:spAutoFit/>
          </a:bodyPr>
          <a:p>
            <a:r>
              <a:rPr kumimoji="0" lang="en-US" altLang="zh-CN" sz="2400" dirty="0">
                <a:solidFill>
                  <a:srgbClr val="FF0000"/>
                </a:solidFill>
                <a:sym typeface="+mn-ea"/>
              </a:rPr>
              <a:t>STEP5b. </a:t>
            </a:r>
            <a:r>
              <a:rPr kumimoji="0" lang="zh-CN" altLang="en-US" sz="2400" dirty="0">
                <a:solidFill>
                  <a:srgbClr val="FF0000"/>
                </a:solidFill>
                <a:sym typeface="+mn-ea"/>
              </a:rPr>
              <a:t>小于，卡诺图降维，多余状态踢至</a:t>
            </a:r>
            <a:r>
              <a:rPr kumimoji="0" lang="en-US" altLang="zh-CN" sz="2400" dirty="0">
                <a:solidFill>
                  <a:srgbClr val="FF0000"/>
                </a:solidFill>
                <a:sym typeface="+mn-ea"/>
              </a:rPr>
              <a:t>D</a:t>
            </a:r>
            <a:r>
              <a:rPr kumimoji="0" lang="zh-CN" altLang="en-US" sz="2400" dirty="0">
                <a:solidFill>
                  <a:srgbClr val="FF0000"/>
                </a:solidFill>
                <a:sym typeface="+mn-ea"/>
              </a:rPr>
              <a:t>端</a:t>
            </a:r>
            <a:endParaRPr kumimoji="0" lang="zh-CN" altLang="en-US" sz="2400" dirty="0">
              <a:solidFill>
                <a:srgbClr val="FF0000"/>
              </a:solidFill>
              <a:sym typeface="+mn-ea"/>
            </a:endParaRPr>
          </a:p>
        </p:txBody>
      </p:sp>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2877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主题五 时序逻辑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12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5.4 </a:t>
            </a:r>
            <a:r>
              <a:rPr kumimoji="0" lang="zh-CN" altLang="en-US" dirty="0">
                <a:solidFill>
                  <a:srgbClr val="000000"/>
                </a:solidFill>
                <a:latin typeface="黑体" panose="02010609060101010101" pitchFamily="49" charset="-122"/>
                <a:ea typeface="黑体" panose="02010609060101010101" pitchFamily="49" charset="-122"/>
              </a:rPr>
              <a:t>序列码</a:t>
            </a:r>
            <a:r>
              <a:rPr kumimoji="0" lang="zh-CN" altLang="en-US" dirty="0">
                <a:solidFill>
                  <a:srgbClr val="000000"/>
                </a:solidFill>
                <a:latin typeface="黑体" panose="02010609060101010101" pitchFamily="49" charset="-122"/>
                <a:ea typeface="黑体" panose="02010609060101010101" pitchFamily="49" charset="-122"/>
              </a:rPr>
              <a:t>发生器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57416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(3)</a:t>
            </a:r>
            <a:r>
              <a:rPr kumimoji="0" lang="zh-CN" altLang="en-US" sz="2400" dirty="0">
                <a:solidFill>
                  <a:srgbClr val="000000"/>
                </a:solidFill>
                <a:latin typeface="黑体" panose="02010609060101010101" pitchFamily="49" charset="-122"/>
                <a:ea typeface="黑体" panose="02010609060101010101" pitchFamily="49" charset="-122"/>
              </a:rPr>
              <a:t>计数器</a:t>
            </a:r>
            <a:r>
              <a:rPr kumimoji="0" lang="en-US" altLang="zh-CN" sz="2400" dirty="0">
                <a:solidFill>
                  <a:srgbClr val="000000"/>
                </a:solidFill>
                <a:latin typeface="黑体" panose="02010609060101010101" pitchFamily="49" charset="-122"/>
                <a:ea typeface="黑体" panose="02010609060101010101" pitchFamily="49" charset="-122"/>
              </a:rPr>
              <a:t>+</a:t>
            </a:r>
            <a:r>
              <a:rPr kumimoji="0" lang="zh-CN" altLang="en-US" sz="2400" dirty="0">
                <a:solidFill>
                  <a:srgbClr val="000000"/>
                </a:solidFill>
                <a:latin typeface="黑体" panose="02010609060101010101" pitchFamily="49" charset="-122"/>
                <a:ea typeface="黑体" panose="02010609060101010101" pitchFamily="49" charset="-122"/>
              </a:rPr>
              <a:t>数据</a:t>
            </a:r>
            <a:r>
              <a:rPr kumimoji="0" lang="zh-CN" altLang="en-US" sz="2400" dirty="0">
                <a:solidFill>
                  <a:srgbClr val="000000"/>
                </a:solidFill>
                <a:latin typeface="黑体" panose="02010609060101010101" pitchFamily="49" charset="-122"/>
                <a:ea typeface="黑体" panose="02010609060101010101" pitchFamily="49" charset="-122"/>
              </a:rPr>
              <a:t>选择器</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5" name="文本框 4"/>
          <p:cNvSpPr txBox="1"/>
          <p:nvPr/>
        </p:nvSpPr>
        <p:spPr>
          <a:xfrm>
            <a:off x="1263015" y="2042160"/>
            <a:ext cx="4572000" cy="460375"/>
          </a:xfrm>
          <a:prstGeom prst="rect">
            <a:avLst/>
          </a:prstGeom>
          <a:noFill/>
        </p:spPr>
        <p:txBody>
          <a:bodyPr wrap="square" rtlCol="0" anchor="t">
            <a:spAutoFit/>
          </a:bodyPr>
          <a:p>
            <a:r>
              <a:rPr kumimoji="0" lang="en-US" altLang="zh-CN" sz="2400" dirty="0">
                <a:sym typeface="+mn-ea"/>
              </a:rPr>
              <a:t>STEP1. </a:t>
            </a:r>
            <a:r>
              <a:rPr kumimoji="0" lang="zh-CN" altLang="en-US" sz="2400" b="1" dirty="0">
                <a:sym typeface="+mn-ea"/>
              </a:rPr>
              <a:t>求生成序列模长</a:t>
            </a:r>
            <a:r>
              <a:rPr kumimoji="0" lang="en-US" altLang="zh-CN" sz="2400" b="1" dirty="0">
                <a:sym typeface="+mn-ea"/>
              </a:rPr>
              <a:t>M</a:t>
            </a:r>
            <a:endParaRPr kumimoji="0" lang="en-US" altLang="zh-CN" sz="2400" b="1" dirty="0">
              <a:sym typeface="+mn-ea"/>
            </a:endParaRPr>
          </a:p>
        </p:txBody>
      </p:sp>
      <p:sp>
        <p:nvSpPr>
          <p:cNvPr id="6" name="文本框 5"/>
          <p:cNvSpPr txBox="1"/>
          <p:nvPr/>
        </p:nvSpPr>
        <p:spPr>
          <a:xfrm>
            <a:off x="1263015" y="2502535"/>
            <a:ext cx="7584440" cy="460375"/>
          </a:xfrm>
          <a:prstGeom prst="rect">
            <a:avLst/>
          </a:prstGeom>
          <a:noFill/>
        </p:spPr>
        <p:txBody>
          <a:bodyPr wrap="square" rtlCol="0" anchor="t">
            <a:spAutoFit/>
          </a:bodyPr>
          <a:p>
            <a:r>
              <a:rPr kumimoji="0" lang="en-US" altLang="zh-CN" sz="2400" dirty="0">
                <a:sym typeface="+mn-ea"/>
              </a:rPr>
              <a:t>STEP2. </a:t>
            </a:r>
            <a:r>
              <a:rPr kumimoji="0" lang="zh-CN" altLang="en-US" sz="2400" b="1" dirty="0">
                <a:sym typeface="+mn-ea"/>
              </a:rPr>
              <a:t>设计模</a:t>
            </a:r>
            <a:r>
              <a:rPr kumimoji="0" lang="en-US" altLang="zh-CN" sz="2400" b="1" dirty="0">
                <a:sym typeface="+mn-ea"/>
              </a:rPr>
              <a:t>M</a:t>
            </a:r>
            <a:r>
              <a:rPr kumimoji="0" lang="zh-CN" altLang="en-US" sz="2400" b="1" dirty="0">
                <a:sym typeface="+mn-ea"/>
              </a:rPr>
              <a:t>计数器</a:t>
            </a:r>
            <a:endParaRPr kumimoji="0" lang="zh-CN" altLang="en-US" sz="2400" b="1" dirty="0">
              <a:sym typeface="+mn-ea"/>
            </a:endParaRPr>
          </a:p>
        </p:txBody>
      </p:sp>
      <p:sp>
        <p:nvSpPr>
          <p:cNvPr id="7" name="文本框 6"/>
          <p:cNvSpPr txBox="1"/>
          <p:nvPr/>
        </p:nvSpPr>
        <p:spPr>
          <a:xfrm>
            <a:off x="1263015" y="2962910"/>
            <a:ext cx="7584440" cy="460375"/>
          </a:xfrm>
          <a:prstGeom prst="rect">
            <a:avLst/>
          </a:prstGeom>
          <a:noFill/>
        </p:spPr>
        <p:txBody>
          <a:bodyPr wrap="square" rtlCol="0" anchor="t">
            <a:spAutoFit/>
          </a:bodyPr>
          <a:p>
            <a:r>
              <a:rPr kumimoji="0" lang="en-US" altLang="zh-CN" sz="2400" dirty="0">
                <a:sym typeface="+mn-ea"/>
              </a:rPr>
              <a:t>STEP3. </a:t>
            </a:r>
            <a:r>
              <a:rPr kumimoji="0" lang="zh-CN" altLang="en-US" sz="2400" b="1" dirty="0">
                <a:sym typeface="+mn-ea"/>
              </a:rPr>
              <a:t>根据计数状态表生成反馈逻辑的真值表</a:t>
            </a:r>
            <a:endParaRPr kumimoji="0" lang="zh-CN" altLang="en-US" sz="2400" b="1" dirty="0">
              <a:sym typeface="+mn-ea"/>
            </a:endParaRPr>
          </a:p>
        </p:txBody>
      </p:sp>
      <p:sp>
        <p:nvSpPr>
          <p:cNvPr id="12" name="文本框 11"/>
          <p:cNvSpPr txBox="1"/>
          <p:nvPr/>
        </p:nvSpPr>
        <p:spPr>
          <a:xfrm>
            <a:off x="1263015" y="3430905"/>
            <a:ext cx="7584440" cy="460375"/>
          </a:xfrm>
          <a:prstGeom prst="rect">
            <a:avLst/>
          </a:prstGeom>
          <a:noFill/>
        </p:spPr>
        <p:txBody>
          <a:bodyPr wrap="square" rtlCol="0" anchor="t">
            <a:spAutoFit/>
          </a:bodyPr>
          <a:p>
            <a:r>
              <a:rPr kumimoji="0" lang="en-US" altLang="zh-CN" sz="2400" dirty="0">
                <a:solidFill>
                  <a:srgbClr val="FF0000"/>
                </a:solidFill>
                <a:sym typeface="+mn-ea"/>
              </a:rPr>
              <a:t>STEP4. </a:t>
            </a:r>
            <a:r>
              <a:rPr kumimoji="0" lang="zh-CN" altLang="en-US" sz="2400" dirty="0">
                <a:solidFill>
                  <a:srgbClr val="FF0000"/>
                </a:solidFill>
                <a:sym typeface="+mn-ea"/>
              </a:rPr>
              <a:t>检查</a:t>
            </a:r>
            <a:r>
              <a:rPr kumimoji="0" lang="en-US" altLang="zh-CN" sz="2400" dirty="0">
                <a:solidFill>
                  <a:srgbClr val="FF0000"/>
                </a:solidFill>
                <a:sym typeface="+mn-ea"/>
              </a:rPr>
              <a:t>MUX</a:t>
            </a:r>
            <a:r>
              <a:rPr kumimoji="0" lang="zh-CN" altLang="en-US" sz="2400" dirty="0">
                <a:solidFill>
                  <a:srgbClr val="FF0000"/>
                </a:solidFill>
                <a:sym typeface="+mn-ea"/>
              </a:rPr>
              <a:t>地址线是否大于等于触发器状态</a:t>
            </a:r>
            <a:r>
              <a:rPr kumimoji="0" lang="zh-CN" altLang="en-US" sz="2400" dirty="0">
                <a:solidFill>
                  <a:srgbClr val="FF0000"/>
                </a:solidFill>
                <a:sym typeface="+mn-ea"/>
              </a:rPr>
              <a:t>数</a:t>
            </a:r>
            <a:endParaRPr kumimoji="0" lang="zh-CN" altLang="en-US" sz="2400" dirty="0">
              <a:solidFill>
                <a:srgbClr val="FF0000"/>
              </a:solidFill>
              <a:sym typeface="+mn-ea"/>
            </a:endParaRPr>
          </a:p>
        </p:txBody>
      </p:sp>
      <p:sp>
        <p:nvSpPr>
          <p:cNvPr id="15" name="文本框 14"/>
          <p:cNvSpPr txBox="1"/>
          <p:nvPr/>
        </p:nvSpPr>
        <p:spPr>
          <a:xfrm>
            <a:off x="1559560" y="3910330"/>
            <a:ext cx="7584440" cy="460375"/>
          </a:xfrm>
          <a:prstGeom prst="rect">
            <a:avLst/>
          </a:prstGeom>
          <a:noFill/>
        </p:spPr>
        <p:txBody>
          <a:bodyPr wrap="square" rtlCol="0" anchor="t">
            <a:spAutoFit/>
          </a:bodyPr>
          <a:p>
            <a:r>
              <a:rPr kumimoji="0" lang="en-US" altLang="zh-CN" sz="2400" dirty="0">
                <a:solidFill>
                  <a:srgbClr val="FF0000"/>
                </a:solidFill>
                <a:sym typeface="+mn-ea"/>
              </a:rPr>
              <a:t>STEP4a. </a:t>
            </a:r>
            <a:r>
              <a:rPr kumimoji="0" lang="zh-CN" altLang="en-US" sz="2400" dirty="0">
                <a:solidFill>
                  <a:srgbClr val="FF0000"/>
                </a:solidFill>
                <a:sym typeface="+mn-ea"/>
              </a:rPr>
              <a:t>大于等于，无需降</a:t>
            </a:r>
            <a:r>
              <a:rPr kumimoji="0" lang="zh-CN" altLang="en-US" sz="2400" dirty="0">
                <a:solidFill>
                  <a:srgbClr val="FF0000"/>
                </a:solidFill>
                <a:sym typeface="+mn-ea"/>
              </a:rPr>
              <a:t>维</a:t>
            </a:r>
            <a:endParaRPr kumimoji="0" lang="zh-CN" altLang="en-US" sz="2400" dirty="0">
              <a:solidFill>
                <a:srgbClr val="FF0000"/>
              </a:solidFill>
              <a:sym typeface="+mn-ea"/>
            </a:endParaRPr>
          </a:p>
        </p:txBody>
      </p:sp>
      <p:sp>
        <p:nvSpPr>
          <p:cNvPr id="2" name="文本框 1"/>
          <p:cNvSpPr txBox="1"/>
          <p:nvPr/>
        </p:nvSpPr>
        <p:spPr>
          <a:xfrm>
            <a:off x="1559560" y="4359275"/>
            <a:ext cx="7584440" cy="460375"/>
          </a:xfrm>
          <a:prstGeom prst="rect">
            <a:avLst/>
          </a:prstGeom>
          <a:noFill/>
        </p:spPr>
        <p:txBody>
          <a:bodyPr wrap="square" rtlCol="0" anchor="t">
            <a:spAutoFit/>
          </a:bodyPr>
          <a:p>
            <a:r>
              <a:rPr kumimoji="0" lang="en-US" altLang="zh-CN" sz="2400" dirty="0">
                <a:solidFill>
                  <a:srgbClr val="FF0000"/>
                </a:solidFill>
                <a:sym typeface="+mn-ea"/>
              </a:rPr>
              <a:t>STEP4b. </a:t>
            </a:r>
            <a:r>
              <a:rPr kumimoji="0" lang="zh-CN" altLang="en-US" sz="2400" dirty="0">
                <a:solidFill>
                  <a:srgbClr val="FF0000"/>
                </a:solidFill>
                <a:sym typeface="+mn-ea"/>
              </a:rPr>
              <a:t>小于，卡诺图降维，多余状态踢至</a:t>
            </a:r>
            <a:r>
              <a:rPr kumimoji="0" lang="en-US" altLang="zh-CN" sz="2400" dirty="0">
                <a:solidFill>
                  <a:srgbClr val="FF0000"/>
                </a:solidFill>
                <a:sym typeface="+mn-ea"/>
              </a:rPr>
              <a:t>D</a:t>
            </a:r>
            <a:r>
              <a:rPr kumimoji="0" lang="zh-CN" altLang="en-US" sz="2400" dirty="0">
                <a:solidFill>
                  <a:srgbClr val="FF0000"/>
                </a:solidFill>
                <a:sym typeface="+mn-ea"/>
              </a:rPr>
              <a:t>端</a:t>
            </a:r>
            <a:endParaRPr kumimoji="0" lang="zh-CN" altLang="en-US" sz="2400" dirty="0">
              <a:solidFill>
                <a:srgbClr val="FF0000"/>
              </a:solidFill>
              <a:sym typeface="+mn-ea"/>
            </a:endParaRPr>
          </a:p>
        </p:txBody>
      </p:sp>
      <p:sp>
        <p:nvSpPr>
          <p:cNvPr id="3" name="Text Box 142"/>
          <p:cNvSpPr txBox="1">
            <a:spLocks noChangeArrowheads="1"/>
          </p:cNvSpPr>
          <p:nvPr>
            <p:custDataLst>
              <p:tags r:id="rId2"/>
            </p:custDataLst>
          </p:nvPr>
        </p:nvSpPr>
        <p:spPr bwMode="auto">
          <a:xfrm>
            <a:off x="742315" y="485775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(4)</a:t>
            </a:r>
            <a:r>
              <a:rPr kumimoji="0" lang="zh-CN" altLang="en-US" sz="2400" dirty="0">
                <a:solidFill>
                  <a:srgbClr val="000000"/>
                </a:solidFill>
                <a:latin typeface="黑体" panose="02010609060101010101" pitchFamily="49" charset="-122"/>
                <a:ea typeface="黑体" panose="02010609060101010101" pitchFamily="49" charset="-122"/>
              </a:rPr>
              <a:t>其他</a:t>
            </a:r>
            <a:r>
              <a:rPr kumimoji="0" lang="zh-CN" altLang="en-US" sz="2400" dirty="0">
                <a:solidFill>
                  <a:srgbClr val="000000"/>
                </a:solidFill>
                <a:latin typeface="黑体" panose="02010609060101010101" pitchFamily="49" charset="-122"/>
                <a:ea typeface="黑体" panose="02010609060101010101" pitchFamily="49" charset="-122"/>
              </a:rPr>
              <a:t>方案</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4" name="文本框 3"/>
          <p:cNvSpPr txBox="1"/>
          <p:nvPr/>
        </p:nvSpPr>
        <p:spPr>
          <a:xfrm>
            <a:off x="1319530" y="5356225"/>
            <a:ext cx="7584440" cy="460375"/>
          </a:xfrm>
          <a:prstGeom prst="rect">
            <a:avLst/>
          </a:prstGeom>
          <a:noFill/>
        </p:spPr>
        <p:txBody>
          <a:bodyPr wrap="square" rtlCol="0" anchor="t">
            <a:spAutoFit/>
          </a:bodyPr>
          <a:p>
            <a:r>
              <a:rPr kumimoji="0" lang="en-US" sz="2400" dirty="0">
                <a:solidFill>
                  <a:schemeClr val="accent2">
                    <a:lumMod val="75000"/>
                  </a:schemeClr>
                </a:solidFill>
                <a:sym typeface="+mn-ea"/>
              </a:rPr>
              <a:t>MSI</a:t>
            </a:r>
            <a:r>
              <a:rPr kumimoji="0" lang="zh-CN" altLang="en-US" sz="2400" dirty="0">
                <a:solidFill>
                  <a:schemeClr val="accent2">
                    <a:lumMod val="75000"/>
                  </a:schemeClr>
                </a:solidFill>
                <a:sym typeface="+mn-ea"/>
              </a:rPr>
              <a:t>移存器</a:t>
            </a:r>
            <a:r>
              <a:rPr kumimoji="0" lang="en-US" altLang="zh-CN" sz="2400" dirty="0">
                <a:solidFill>
                  <a:schemeClr val="accent2">
                    <a:lumMod val="75000"/>
                  </a:schemeClr>
                </a:solidFill>
                <a:sym typeface="+mn-ea"/>
              </a:rPr>
              <a:t>+</a:t>
            </a:r>
            <a:r>
              <a:rPr kumimoji="0" lang="zh-CN" altLang="en-US" sz="2400" dirty="0">
                <a:solidFill>
                  <a:schemeClr val="accent2">
                    <a:lumMod val="75000"/>
                  </a:schemeClr>
                </a:solidFill>
                <a:sym typeface="+mn-ea"/>
              </a:rPr>
              <a:t>门电路</a:t>
            </a:r>
            <a:r>
              <a:rPr kumimoji="0" lang="en-US" altLang="zh-CN" sz="2400" dirty="0">
                <a:solidFill>
                  <a:schemeClr val="accent2">
                    <a:lumMod val="75000"/>
                  </a:schemeClr>
                </a:solidFill>
                <a:sym typeface="+mn-ea"/>
              </a:rPr>
              <a:t>/</a:t>
            </a:r>
            <a:r>
              <a:rPr kumimoji="0" lang="zh-CN" altLang="en-US" sz="2400" dirty="0">
                <a:solidFill>
                  <a:schemeClr val="accent2">
                    <a:lumMod val="75000"/>
                  </a:schemeClr>
                </a:solidFill>
                <a:sym typeface="+mn-ea"/>
              </a:rPr>
              <a:t>数据选择器。。。</a:t>
            </a:r>
            <a:endParaRPr kumimoji="0" lang="zh-CN" altLang="en-US" sz="2400" dirty="0">
              <a:solidFill>
                <a:schemeClr val="accent2">
                  <a:lumMod val="75000"/>
                </a:schemeClr>
              </a:solidFill>
              <a:sym typeface="+mn-ea"/>
            </a:endParaRPr>
          </a:p>
        </p:txBody>
      </p:sp>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53667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主题五 时序逻辑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46793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5.5 </a:t>
            </a:r>
            <a:r>
              <a:rPr kumimoji="0" lang="zh-CN" altLang="en-US" dirty="0">
                <a:solidFill>
                  <a:srgbClr val="000000"/>
                </a:solidFill>
                <a:latin typeface="黑体" panose="02010609060101010101" pitchFamily="49" charset="-122"/>
                <a:ea typeface="黑体" panose="02010609060101010101" pitchFamily="49" charset="-122"/>
              </a:rPr>
              <a:t>顺序脉冲</a:t>
            </a:r>
            <a:r>
              <a:rPr kumimoji="0" lang="zh-CN" altLang="en-US" dirty="0">
                <a:solidFill>
                  <a:srgbClr val="000000"/>
                </a:solidFill>
                <a:latin typeface="黑体" panose="02010609060101010101" pitchFamily="49" charset="-122"/>
                <a:ea typeface="黑体" panose="02010609060101010101" pitchFamily="49" charset="-122"/>
              </a:rPr>
              <a:t>发生器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214693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dirty="0">
                <a:solidFill>
                  <a:srgbClr val="000000"/>
                </a:solidFill>
                <a:latin typeface="黑体" panose="02010609060101010101" pitchFamily="49" charset="-122"/>
                <a:ea typeface="黑体" panose="02010609060101010101" pitchFamily="49" charset="-122"/>
              </a:rPr>
              <a:t>环形计数器</a:t>
            </a:r>
            <a:r>
              <a:rPr kumimoji="0" lang="zh-CN" altLang="en-US" sz="2400" dirty="0">
                <a:solidFill>
                  <a:srgbClr val="000000"/>
                </a:solidFill>
                <a:latin typeface="黑体" panose="02010609060101010101" pitchFamily="49" charset="-122"/>
                <a:ea typeface="黑体" panose="02010609060101010101" pitchFamily="49" charset="-122"/>
              </a:rPr>
              <a:t>模式</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9" name="Text Box 142"/>
          <p:cNvSpPr txBox="1">
            <a:spLocks noChangeArrowheads="1"/>
          </p:cNvSpPr>
          <p:nvPr>
            <p:custDataLst>
              <p:tags r:id="rId2"/>
            </p:custDataLst>
          </p:nvPr>
        </p:nvSpPr>
        <p:spPr bwMode="auto">
          <a:xfrm>
            <a:off x="742315" y="272034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zh-CN" altLang="en-US" sz="2400" dirty="0">
                <a:solidFill>
                  <a:srgbClr val="000000"/>
                </a:solidFill>
                <a:latin typeface="黑体" panose="02010609060101010101" pitchFamily="49" charset="-122"/>
                <a:ea typeface="黑体" panose="02010609060101010101" pitchFamily="49" charset="-122"/>
              </a:rPr>
              <a:t>扭环形计数器</a:t>
            </a:r>
            <a:r>
              <a:rPr kumimoji="0" lang="zh-CN" altLang="en-US" sz="2400" dirty="0">
                <a:solidFill>
                  <a:srgbClr val="000000"/>
                </a:solidFill>
                <a:latin typeface="黑体" panose="02010609060101010101" pitchFamily="49" charset="-122"/>
                <a:ea typeface="黑体" panose="02010609060101010101" pitchFamily="49" charset="-122"/>
              </a:rPr>
              <a:t>模式</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10" name="Text Box 142"/>
          <p:cNvSpPr txBox="1">
            <a:spLocks noChangeArrowheads="1"/>
          </p:cNvSpPr>
          <p:nvPr>
            <p:custDataLst>
              <p:tags r:id="rId3"/>
            </p:custDataLst>
          </p:nvPr>
        </p:nvSpPr>
        <p:spPr bwMode="auto">
          <a:xfrm>
            <a:off x="742315" y="329374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(3)</a:t>
            </a:r>
            <a:r>
              <a:rPr kumimoji="0" lang="zh-CN" altLang="en-US" sz="2400" dirty="0">
                <a:solidFill>
                  <a:srgbClr val="000000"/>
                </a:solidFill>
                <a:latin typeface="黑体" panose="02010609060101010101" pitchFamily="49" charset="-122"/>
                <a:ea typeface="黑体" panose="02010609060101010101" pitchFamily="49" charset="-122"/>
              </a:rPr>
              <a:t>计数器</a:t>
            </a:r>
            <a:r>
              <a:rPr kumimoji="0" lang="en-US" altLang="zh-CN" sz="2400" dirty="0">
                <a:solidFill>
                  <a:srgbClr val="000000"/>
                </a:solidFill>
                <a:latin typeface="黑体" panose="02010609060101010101" pitchFamily="49" charset="-122"/>
                <a:ea typeface="黑体" panose="02010609060101010101" pitchFamily="49" charset="-122"/>
              </a:rPr>
              <a:t>+</a:t>
            </a:r>
            <a:r>
              <a:rPr kumimoji="0" lang="zh-CN" altLang="en-US" sz="2400" dirty="0">
                <a:solidFill>
                  <a:srgbClr val="000000"/>
                </a:solidFill>
                <a:latin typeface="黑体" panose="02010609060101010101" pitchFamily="49" charset="-122"/>
                <a:ea typeface="黑体" panose="02010609060101010101" pitchFamily="49" charset="-122"/>
              </a:rPr>
              <a:t>译码器模式</a:t>
            </a:r>
            <a:endParaRPr kumimoji="0" lang="zh-CN" altLang="en-US" sz="2400" dirty="0">
              <a:solidFill>
                <a:srgbClr val="000000"/>
              </a:solidFill>
              <a:latin typeface="黑体" panose="02010609060101010101" pitchFamily="49" charset="-122"/>
              <a:ea typeface="黑体" panose="02010609060101010101" pitchFamily="49" charset="-122"/>
            </a:endParaRPr>
          </a:p>
        </p:txBody>
      </p:sp>
      <p:pic>
        <p:nvPicPr>
          <p:cNvPr id="660485" name="Picture 5" descr="6-3-53a"/>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99890" y="1856740"/>
            <a:ext cx="4418330" cy="2647315"/>
          </a:xfrm>
          <a:prstGeom prst="rect">
            <a:avLst/>
          </a:prstGeom>
          <a:noFill/>
          <a:extLst>
            <a:ext uri="{909E8E84-426E-40DD-AFC4-6F175D3DCCD1}">
              <a14:hiddenFill xmlns:a14="http://schemas.microsoft.com/office/drawing/2010/main">
                <a:solidFill>
                  <a:srgbClr val="FFFFFF"/>
                </a:solidFill>
              </a14:hiddenFill>
            </a:ext>
          </a:extLst>
        </p:spPr>
      </p:pic>
      <p:sp>
        <p:nvSpPr>
          <p:cNvPr id="16" name="Text Box 142"/>
          <p:cNvSpPr txBox="1">
            <a:spLocks noChangeArrowheads="1"/>
          </p:cNvSpPr>
          <p:nvPr/>
        </p:nvSpPr>
        <p:spPr bwMode="auto">
          <a:xfrm>
            <a:off x="518598" y="460864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5.6 </a:t>
            </a:r>
            <a:r>
              <a:rPr kumimoji="0" lang="zh-CN" altLang="en-US" dirty="0">
                <a:solidFill>
                  <a:srgbClr val="000000"/>
                </a:solidFill>
                <a:latin typeface="黑体" panose="02010609060101010101" pitchFamily="49" charset="-122"/>
                <a:ea typeface="黑体" panose="02010609060101010101" pitchFamily="49" charset="-122"/>
              </a:rPr>
              <a:t>分频器、节拍</a:t>
            </a:r>
            <a:r>
              <a:rPr kumimoji="0" lang="zh-CN" altLang="en-US" dirty="0">
                <a:solidFill>
                  <a:srgbClr val="000000"/>
                </a:solidFill>
                <a:latin typeface="黑体" panose="02010609060101010101" pitchFamily="49" charset="-122"/>
                <a:ea typeface="黑体" panose="02010609060101010101" pitchFamily="49" charset="-122"/>
              </a:rPr>
              <a:t>器。。。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18" name="文本框 17"/>
          <p:cNvSpPr txBox="1"/>
          <p:nvPr/>
        </p:nvSpPr>
        <p:spPr>
          <a:xfrm>
            <a:off x="4556760" y="6120130"/>
            <a:ext cx="3048000" cy="521970"/>
          </a:xfrm>
          <a:prstGeom prst="rect">
            <a:avLst/>
          </a:prstGeom>
          <a:noFill/>
        </p:spPr>
        <p:txBody>
          <a:bodyPr wrap="square" rtlCol="0">
            <a:spAutoFit/>
          </a:bodyPr>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60485"/>
                                        </p:tgtEl>
                                        <p:attrNameLst>
                                          <p:attrName>style.visibility</p:attrName>
                                        </p:attrNameLst>
                                      </p:cBhvr>
                                      <p:to>
                                        <p:strVal val="visible"/>
                                      </p:to>
                                    </p:set>
                                    <p:animEffect transition="in" filter="dissolve">
                                      <p:cBhvr>
                                        <p:cTn id="7" dur="500"/>
                                        <p:tgtEl>
                                          <p:spTgt spid="66048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mph" presetSubtype="0" fill="hold" nodeType="clickEffect">
                                  <p:stCondLst>
                                    <p:cond delay="0"/>
                                  </p:stCondLst>
                                  <p:childTnLst>
                                    <p:animScale>
                                      <p:cBhvr>
                                        <p:cTn id="11" dur="2000" fill="hold"/>
                                        <p:tgtEl>
                                          <p:spTgt spid="660485"/>
                                        </p:tgtEl>
                                      </p:cBhvr>
                                      <p:by x="80000" y="80000"/>
                                    </p:animScale>
                                  </p:childTnLst>
                                </p:cTn>
                              </p:par>
                              <p:par>
                                <p:cTn id="12" presetID="35" presetClass="path" presetSubtype="0" accel="50000" decel="50000" fill="hold" nodeType="withEffect">
                                  <p:stCondLst>
                                    <p:cond delay="0"/>
                                  </p:stCondLst>
                                  <p:childTnLst>
                                    <p:animMotion origin="layout" path="M 4.72222E-6 -2.22222E-6 L -0.12448 0.00023 " pathEditMode="relative" rAng="0" ptsTypes="AA">
                                      <p:cBhvr>
                                        <p:cTn id="13" dur="2000" fill="hold"/>
                                        <p:tgtEl>
                                          <p:spTgt spid="660485"/>
                                        </p:tgtEl>
                                        <p:attrNameLst>
                                          <p:attrName>ppt_x</p:attrName>
                                          <p:attrName>ppt_y</p:attrName>
                                        </p:attrNameLst>
                                      </p:cBhvr>
                                      <p:rCtr x="-623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autoUpdateAnimBg="0"/>
      <p:bldP spid="14" grpId="0" bldLvl="0" animBg="1"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53667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主题五 时序逻辑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电路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27870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5.7 </a:t>
            </a:r>
            <a:r>
              <a:rPr kumimoji="0" lang="zh-CN" altLang="en-US" dirty="0">
                <a:solidFill>
                  <a:srgbClr val="000000"/>
                </a:solidFill>
                <a:latin typeface="黑体" panose="02010609060101010101" pitchFamily="49" charset="-122"/>
                <a:ea typeface="黑体" panose="02010609060101010101" pitchFamily="49" charset="-122"/>
              </a:rPr>
              <a:t>一般时序电路</a:t>
            </a:r>
            <a:r>
              <a:rPr kumimoji="0" lang="zh-CN" altLang="en-US" dirty="0">
                <a:solidFill>
                  <a:srgbClr val="000000"/>
                </a:solidFill>
                <a:latin typeface="黑体" panose="02010609060101010101" pitchFamily="49" charset="-122"/>
                <a:ea typeface="黑体" panose="02010609060101010101" pitchFamily="49" charset="-122"/>
              </a:rPr>
              <a:t>分析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18" name="文本框 17"/>
          <p:cNvSpPr txBox="1"/>
          <p:nvPr/>
        </p:nvSpPr>
        <p:spPr>
          <a:xfrm>
            <a:off x="4556760" y="6120130"/>
            <a:ext cx="3048000" cy="521970"/>
          </a:xfrm>
          <a:prstGeom prst="rect">
            <a:avLst/>
          </a:prstGeom>
          <a:noFill/>
        </p:spPr>
        <p:txBody>
          <a:bodyPr wrap="square" rtlCol="0">
            <a:spAutoFit/>
          </a:bodyPr>
          <a:p>
            <a:endParaRPr lang="zh-CN" altLang="en-US"/>
          </a:p>
        </p:txBody>
      </p:sp>
      <p:sp>
        <p:nvSpPr>
          <p:cNvPr id="17" name="Text Box 142"/>
          <p:cNvSpPr txBox="1">
            <a:spLocks noChangeArrowheads="1"/>
          </p:cNvSpPr>
          <p:nvPr/>
        </p:nvSpPr>
        <p:spPr bwMode="auto">
          <a:xfrm>
            <a:off x="853878" y="4932490"/>
            <a:ext cx="7183437" cy="953135"/>
          </a:xfrm>
          <a:prstGeom prst="rect">
            <a:avLst/>
          </a:prstGeom>
          <a:noFill/>
          <a:ln w="38100" cmpd="thickThin">
            <a:solidFill>
              <a:schemeClr val="accent1"/>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zh-CN" altLang="en-US" dirty="0">
                <a:solidFill>
                  <a:srgbClr val="FF0000"/>
                </a:solidFill>
                <a:latin typeface="黑体" panose="02010609060101010101" pitchFamily="49" charset="-122"/>
                <a:ea typeface="黑体" panose="02010609060101010101" pitchFamily="49" charset="-122"/>
              </a:rPr>
              <a:t>如无特别说明，所有时序电路分析设计后均需考虑自启动性问题！</a:t>
            </a:r>
            <a:r>
              <a:rPr kumimoji="0" lang="zh-CN" altLang="en-US" dirty="0">
                <a:solidFill>
                  <a:srgbClr val="000000"/>
                </a:solidFill>
                <a:latin typeface="黑体" panose="02010609060101010101" pitchFamily="49" charset="-122"/>
                <a:ea typeface="黑体" panose="02010609060101010101" pitchFamily="49" charset="-122"/>
              </a:rPr>
              <a:t>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3" name="Text Box 14"/>
          <p:cNvSpPr txBox="1">
            <a:spLocks noChangeArrowheads="1"/>
          </p:cNvSpPr>
          <p:nvPr/>
        </p:nvSpPr>
        <p:spPr bwMode="auto">
          <a:xfrm>
            <a:off x="854075" y="2187813"/>
            <a:ext cx="4229100"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r>
              <a:rPr kumimoji="0" lang="en-US" altLang="zh-CN" sz="2100" b="1" baseline="0" dirty="0">
                <a:solidFill>
                  <a:srgbClr val="000000"/>
                </a:solidFill>
                <a:cs typeface="Times New Roman" panose="02020603050405020304" pitchFamily="18" charset="0"/>
              </a:rPr>
              <a:t>(1)</a:t>
            </a:r>
            <a:r>
              <a:rPr kumimoji="0" lang="zh-CN" altLang="en-US" sz="2100" b="1" baseline="0" dirty="0">
                <a:solidFill>
                  <a:srgbClr val="000000"/>
                </a:solidFill>
                <a:cs typeface="Times New Roman" panose="02020603050405020304" pitchFamily="18" charset="0"/>
              </a:rPr>
              <a:t>组合电路、存储电路 </a:t>
            </a:r>
            <a:endParaRPr kumimoji="0" lang="zh-CN" altLang="en-US" sz="2100" b="1" baseline="0" dirty="0">
              <a:solidFill>
                <a:srgbClr val="000000"/>
              </a:solidFill>
              <a:cs typeface="Times New Roman" panose="02020603050405020304" pitchFamily="18" charset="0"/>
            </a:endParaRPr>
          </a:p>
        </p:txBody>
      </p:sp>
      <p:sp>
        <p:nvSpPr>
          <p:cNvPr id="11" name="Text Box 19"/>
          <p:cNvSpPr txBox="1">
            <a:spLocks noChangeArrowheads="1"/>
          </p:cNvSpPr>
          <p:nvPr/>
        </p:nvSpPr>
        <p:spPr bwMode="auto">
          <a:xfrm>
            <a:off x="884555" y="1800543"/>
            <a:ext cx="2146697"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zh-CN" sz="2100" b="1" i="0" u="none" strike="noStrike" kern="0" cap="none" spc="0" normalizeH="0" baseline="0" noProof="0" dirty="0">
                <a:ln>
                  <a:noFill/>
                </a:ln>
                <a:solidFill>
                  <a:srgbClr val="0000FF"/>
                </a:solidFill>
                <a:effectLst/>
                <a:uLnTx/>
                <a:uFillTx/>
                <a:cs typeface="Times New Roman" panose="02020603050405020304" pitchFamily="18" charset="0"/>
              </a:rPr>
              <a:t>1.</a:t>
            </a:r>
            <a:r>
              <a:rPr kumimoji="0" lang="zh-CN" altLang="en-US" sz="2100" b="1" i="0" u="none" strike="noStrike" kern="0" cap="none" spc="0" normalizeH="0" baseline="0" noProof="0" dirty="0">
                <a:ln>
                  <a:noFill/>
                </a:ln>
                <a:solidFill>
                  <a:srgbClr val="0000FF"/>
                </a:solidFill>
                <a:effectLst/>
                <a:uLnTx/>
                <a:uFillTx/>
                <a:cs typeface="Times New Roman" panose="02020603050405020304" pitchFamily="18" charset="0"/>
              </a:rPr>
              <a:t>分析电路结构 </a:t>
            </a:r>
            <a:endParaRPr kumimoji="0" lang="zh-CN" altLang="en-US" sz="2100" b="1" i="0" u="none" strike="noStrike" kern="0" cap="none" spc="0" normalizeH="0" baseline="0" noProof="0" dirty="0">
              <a:ln>
                <a:noFill/>
              </a:ln>
              <a:solidFill>
                <a:srgbClr val="0000FF"/>
              </a:solidFill>
              <a:effectLst/>
              <a:uLnTx/>
              <a:uFillTx/>
              <a:cs typeface="Times New Roman" panose="02020603050405020304" pitchFamily="18" charset="0"/>
            </a:endParaRPr>
          </a:p>
        </p:txBody>
      </p:sp>
      <p:sp>
        <p:nvSpPr>
          <p:cNvPr id="12" name="Text Box 20"/>
          <p:cNvSpPr txBox="1">
            <a:spLocks noChangeArrowheads="1"/>
          </p:cNvSpPr>
          <p:nvPr/>
        </p:nvSpPr>
        <p:spPr bwMode="auto">
          <a:xfrm>
            <a:off x="3808095" y="2182343"/>
            <a:ext cx="4229100"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r>
              <a:rPr kumimoji="0" lang="en-US" altLang="zh-CN" sz="2100" b="1" baseline="0" dirty="0">
                <a:solidFill>
                  <a:srgbClr val="000000"/>
                </a:solidFill>
                <a:cs typeface="Times New Roman" panose="02020603050405020304" pitchFamily="18" charset="0"/>
              </a:rPr>
              <a:t>(2)</a:t>
            </a:r>
            <a:r>
              <a:rPr kumimoji="0" lang="zh-CN" altLang="en-US" sz="2100" b="1" baseline="0" dirty="0">
                <a:solidFill>
                  <a:srgbClr val="000000"/>
                </a:solidFill>
                <a:cs typeface="Times New Roman" panose="02020603050405020304" pitchFamily="18" charset="0"/>
              </a:rPr>
              <a:t>输入信号</a:t>
            </a:r>
            <a:r>
              <a:rPr kumimoji="0" lang="en-US" altLang="zh-CN" sz="2100" b="1" i="1" baseline="0" dirty="0">
                <a:solidFill>
                  <a:srgbClr val="000000"/>
                </a:solidFill>
                <a:cs typeface="Times New Roman" panose="02020603050405020304" pitchFamily="18" charset="0"/>
              </a:rPr>
              <a:t>X</a:t>
            </a:r>
            <a:r>
              <a:rPr kumimoji="0" lang="zh-CN" altLang="en-US" sz="2100" b="1" baseline="0" dirty="0">
                <a:solidFill>
                  <a:srgbClr val="000000"/>
                </a:solidFill>
                <a:cs typeface="Times New Roman" panose="02020603050405020304" pitchFamily="18" charset="0"/>
              </a:rPr>
              <a:t>、输出信号</a:t>
            </a:r>
            <a:r>
              <a:rPr kumimoji="0" lang="en-US" altLang="zh-CN" sz="2100" b="1" i="1" baseline="0" dirty="0">
                <a:solidFill>
                  <a:srgbClr val="000000"/>
                </a:solidFill>
                <a:cs typeface="Times New Roman" panose="02020603050405020304" pitchFamily="18" charset="0"/>
              </a:rPr>
              <a:t>Z</a:t>
            </a:r>
            <a:r>
              <a:rPr kumimoji="0" lang="en-US" altLang="zh-CN" sz="2100" b="1" baseline="0" dirty="0">
                <a:solidFill>
                  <a:srgbClr val="000000"/>
                </a:solidFill>
                <a:cs typeface="Times New Roman" panose="02020603050405020304" pitchFamily="18" charset="0"/>
              </a:rPr>
              <a:t> </a:t>
            </a:r>
            <a:endParaRPr kumimoji="0" lang="en-US" altLang="zh-CN" sz="2100" b="1" baseline="0" dirty="0">
              <a:solidFill>
                <a:srgbClr val="000000"/>
              </a:solidFill>
              <a:cs typeface="Times New Roman" panose="02020603050405020304" pitchFamily="18" charset="0"/>
            </a:endParaRPr>
          </a:p>
        </p:txBody>
      </p:sp>
      <p:sp>
        <p:nvSpPr>
          <p:cNvPr id="4" name="Text Box 20"/>
          <p:cNvSpPr txBox="1">
            <a:spLocks noChangeArrowheads="1"/>
          </p:cNvSpPr>
          <p:nvPr/>
        </p:nvSpPr>
        <p:spPr bwMode="auto">
          <a:xfrm>
            <a:off x="850899" y="2589601"/>
            <a:ext cx="5538787"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r>
              <a:rPr kumimoji="0" lang="en-US" altLang="zh-CN" sz="2100" b="1" baseline="0" dirty="0">
                <a:solidFill>
                  <a:srgbClr val="000000"/>
                </a:solidFill>
                <a:cs typeface="Times New Roman" panose="02020603050405020304" pitchFamily="18" charset="0"/>
              </a:rPr>
              <a:t>(3)</a:t>
            </a:r>
            <a:r>
              <a:rPr kumimoji="0" lang="zh-CN" altLang="en-US" sz="2100" b="1" baseline="0" dirty="0">
                <a:solidFill>
                  <a:srgbClr val="000000"/>
                </a:solidFill>
                <a:cs typeface="Times New Roman" panose="02020603050405020304" pitchFamily="18" charset="0"/>
              </a:rPr>
              <a:t>电路类型（同步、异步；</a:t>
            </a:r>
            <a:r>
              <a:rPr kumimoji="0" lang="en-US" altLang="zh-CN" sz="2100" b="1" baseline="0" dirty="0">
                <a:solidFill>
                  <a:srgbClr val="000000"/>
                </a:solidFill>
                <a:cs typeface="Times New Roman" panose="02020603050405020304" pitchFamily="18" charset="0"/>
              </a:rPr>
              <a:t>Mealy</a:t>
            </a:r>
            <a:r>
              <a:rPr kumimoji="0" lang="zh-CN" altLang="en-US" sz="2100" b="1" baseline="0" dirty="0">
                <a:solidFill>
                  <a:srgbClr val="000000"/>
                </a:solidFill>
                <a:cs typeface="Times New Roman" panose="02020603050405020304" pitchFamily="18" charset="0"/>
              </a:rPr>
              <a:t>、</a:t>
            </a:r>
            <a:r>
              <a:rPr kumimoji="0" lang="en-US" altLang="zh-CN" sz="2100" b="1" baseline="0" dirty="0">
                <a:solidFill>
                  <a:srgbClr val="000000"/>
                </a:solidFill>
                <a:cs typeface="Times New Roman" panose="02020603050405020304" pitchFamily="18" charset="0"/>
              </a:rPr>
              <a:t>Moore</a:t>
            </a:r>
            <a:r>
              <a:rPr kumimoji="0" lang="zh-CN" altLang="en-US" sz="2100" b="1" baseline="0" dirty="0">
                <a:solidFill>
                  <a:srgbClr val="000000"/>
                </a:solidFill>
                <a:cs typeface="Times New Roman" panose="02020603050405020304" pitchFamily="18" charset="0"/>
              </a:rPr>
              <a:t>）</a:t>
            </a:r>
            <a:endParaRPr kumimoji="0" lang="en-US" altLang="zh-CN" sz="2100" b="1" baseline="0" dirty="0">
              <a:solidFill>
                <a:srgbClr val="000000"/>
              </a:solidFill>
              <a:cs typeface="Times New Roman" panose="02020603050405020304" pitchFamily="18" charset="0"/>
            </a:endParaRPr>
          </a:p>
        </p:txBody>
      </p:sp>
      <p:sp>
        <p:nvSpPr>
          <p:cNvPr id="5" name="Text Box 2"/>
          <p:cNvSpPr txBox="1">
            <a:spLocks noChangeArrowheads="1"/>
          </p:cNvSpPr>
          <p:nvPr/>
        </p:nvSpPr>
        <p:spPr bwMode="auto">
          <a:xfrm>
            <a:off x="860425" y="3086021"/>
            <a:ext cx="2106216"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zh-CN" sz="2100" b="1" i="0" u="none" strike="noStrike" kern="0" cap="none" spc="0" normalizeH="0" baseline="0" noProof="0">
                <a:ln>
                  <a:noFill/>
                </a:ln>
                <a:solidFill>
                  <a:srgbClr val="0000FF"/>
                </a:solidFill>
                <a:effectLst/>
                <a:uLnTx/>
                <a:uFillTx/>
                <a:latin typeface="宋体" panose="02010600030101010101" pitchFamily="2" charset="-122"/>
                <a:ea typeface="宋体" panose="02010600030101010101" pitchFamily="2" charset="-122"/>
              </a:rPr>
              <a:t>2.</a:t>
            </a:r>
            <a:r>
              <a:rPr kumimoji="0" lang="zh-CN" altLang="en-US" sz="21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rPr>
              <a:t>写出四组方程 </a:t>
            </a:r>
            <a:endParaRPr kumimoji="0" lang="zh-CN" altLang="en-US" sz="2100" b="1" i="0" u="none" strike="noStrike" kern="0" cap="none" spc="0" normalizeH="0" baseline="0" noProof="0">
              <a:ln>
                <a:noFill/>
              </a:ln>
              <a:solidFill>
                <a:srgbClr val="0000FF"/>
              </a:solidFill>
              <a:effectLst/>
              <a:uLnTx/>
              <a:uFillTx/>
              <a:latin typeface="Times New Roman" panose="02020603050405020304" pitchFamily="18" charset="0"/>
              <a:ea typeface="宋体" panose="02010600030101010101" pitchFamily="2" charset="-122"/>
            </a:endParaRPr>
          </a:p>
        </p:txBody>
      </p:sp>
      <p:sp>
        <p:nvSpPr>
          <p:cNvPr id="6" name="Text Box 3"/>
          <p:cNvSpPr txBox="1">
            <a:spLocks noChangeArrowheads="1"/>
          </p:cNvSpPr>
          <p:nvPr/>
        </p:nvSpPr>
        <p:spPr bwMode="auto">
          <a:xfrm>
            <a:off x="860425" y="3489087"/>
            <a:ext cx="5480447"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zh-CN" sz="21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a:t>
            </a:r>
            <a:r>
              <a:rPr kumimoji="0" lang="zh-CN" altLang="en-US" sz="21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时钟方程 </a:t>
            </a:r>
            <a:endParaRPr kumimoji="0" lang="zh-CN" altLang="en-US" sz="21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 name="Text Box 4"/>
          <p:cNvSpPr txBox="1">
            <a:spLocks noChangeArrowheads="1"/>
          </p:cNvSpPr>
          <p:nvPr/>
        </p:nvSpPr>
        <p:spPr bwMode="auto">
          <a:xfrm>
            <a:off x="2797175" y="3449558"/>
            <a:ext cx="5480447"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zh-CN" sz="21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a:t>
            </a:r>
            <a:r>
              <a:rPr kumimoji="0" lang="zh-CN" altLang="en-US" sz="21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各触发器的激励方程 </a:t>
            </a:r>
            <a:endParaRPr kumimoji="0" lang="zh-CN" altLang="en-US" sz="21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 name="Text Box 5"/>
          <p:cNvSpPr txBox="1">
            <a:spLocks noChangeArrowheads="1"/>
          </p:cNvSpPr>
          <p:nvPr/>
        </p:nvSpPr>
        <p:spPr bwMode="auto">
          <a:xfrm>
            <a:off x="850106" y="3890248"/>
            <a:ext cx="5480447"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zh-CN" sz="21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(3)</a:t>
            </a:r>
            <a:r>
              <a:rPr kumimoji="0" lang="zh-CN" altLang="en-US" sz="21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各触发器的次态方程 </a:t>
            </a:r>
            <a:endParaRPr kumimoji="0" lang="zh-CN" altLang="en-US" sz="21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9" name="Text Box 6"/>
          <p:cNvSpPr txBox="1">
            <a:spLocks noChangeArrowheads="1"/>
          </p:cNvSpPr>
          <p:nvPr/>
        </p:nvSpPr>
        <p:spPr bwMode="auto">
          <a:xfrm>
            <a:off x="3849370" y="3867785"/>
            <a:ext cx="4045585"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zh-CN" sz="21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a:t>
            </a:r>
            <a:r>
              <a:rPr kumimoji="0" lang="zh-CN" altLang="en-US" sz="21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电路的输出方程 </a:t>
            </a:r>
            <a:endParaRPr kumimoji="0" lang="zh-CN" altLang="en-US" sz="21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0" name="Text Box 7"/>
          <p:cNvSpPr txBox="1">
            <a:spLocks noChangeArrowheads="1"/>
          </p:cNvSpPr>
          <p:nvPr/>
        </p:nvSpPr>
        <p:spPr bwMode="auto">
          <a:xfrm>
            <a:off x="860425" y="4364355"/>
            <a:ext cx="6356985" cy="414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800" baseline="-50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aseline="-50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aseline="-50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baseline="-50000">
                <a:solidFill>
                  <a:schemeClr val="tx1"/>
                </a:solidFill>
                <a:latin typeface="Times New Roman" panose="02020603050405020304" pitchFamily="18" charset="0"/>
                <a:ea typeface="宋体" panose="02010600030101010101" pitchFamily="2" charset="-122"/>
              </a:defRPr>
            </a:lvl9pPr>
          </a:lstStyle>
          <a:p>
            <a:pPr marL="0" marR="0" lvl="0" indent="0" defTabSz="914400" eaLnBrk="0" fontAlgn="base" latinLnBrk="0" hangingPunct="0">
              <a:lnSpc>
                <a:spcPct val="100000"/>
              </a:lnSpc>
              <a:spcBef>
                <a:spcPct val="0"/>
              </a:spcBef>
              <a:spcAft>
                <a:spcPct val="0"/>
              </a:spcAft>
              <a:buClrTx/>
              <a:buSzTx/>
              <a:buFontTx/>
              <a:buNone/>
              <a:defRPr/>
            </a:pPr>
            <a:r>
              <a:rPr kumimoji="0" lang="en-US" altLang="zh-CN" sz="2100" b="1" i="0" u="none" strike="noStrike" kern="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rPr>
              <a:t>3.</a:t>
            </a:r>
            <a:r>
              <a:rPr kumimoji="0" lang="zh-CN" altLang="en-US" sz="21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作</a:t>
            </a:r>
            <a:r>
              <a:rPr kumimoji="0" lang="zh-CN" altLang="en-US" sz="21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状态转移</a:t>
            </a:r>
            <a:r>
              <a:rPr kumimoji="0" lang="zh-CN" altLang="en-US" sz="2100" b="1" i="0" u="none" strike="noStrike" kern="0" cap="none" spc="0" normalizeH="0" baseline="0" noProof="0" dirty="0" smtClean="0">
                <a:ln>
                  <a:noFill/>
                </a:ln>
                <a:solidFill>
                  <a:srgbClr val="0000FF"/>
                </a:solidFill>
                <a:effectLst/>
                <a:uLnTx/>
                <a:uFillTx/>
                <a:latin typeface="Times New Roman" panose="02020603050405020304" pitchFamily="18" charset="0"/>
                <a:ea typeface="宋体" panose="02010600030101010101" pitchFamily="2" charset="-122"/>
              </a:rPr>
              <a:t>表</a:t>
            </a:r>
            <a:r>
              <a:rPr kumimoji="0" lang="zh-CN" altLang="en-US" sz="2100" b="1" i="0" u="none" strike="noStrike" kern="0" cap="none" spc="0" normalizeH="0" baseline="0" noProof="0" dirty="0" smtClean="0">
                <a:ln>
                  <a:noFill/>
                </a:ln>
                <a:effectLst/>
                <a:uLnTx/>
                <a:uFillTx/>
                <a:latin typeface="Times New Roman" panose="02020603050405020304" pitchFamily="18" charset="0"/>
                <a:ea typeface="宋体" panose="02010600030101010101" pitchFamily="2" charset="-122"/>
              </a:rPr>
              <a:t>或</a:t>
            </a:r>
            <a:r>
              <a:rPr kumimoji="0" lang="zh-CN" altLang="en-US" sz="2100" b="1" i="0" u="none" strike="noStrike" kern="0" cap="none" spc="0" normalizeH="0" baseline="0" noProof="0" dirty="0" smtClean="0">
                <a:ln>
                  <a:noFill/>
                </a:ln>
                <a:solidFill>
                  <a:srgbClr val="0000FF"/>
                </a:solidFill>
                <a:effectLst/>
                <a:uLnTx/>
                <a:uFillTx/>
                <a:latin typeface="Times New Roman" panose="02020603050405020304" pitchFamily="18" charset="0"/>
                <a:ea typeface="宋体" panose="02010600030101010101" pitchFamily="2" charset="-122"/>
              </a:rPr>
              <a:t>状态转移图</a:t>
            </a:r>
            <a:r>
              <a:rPr kumimoji="0" lang="zh-CN" altLang="en-US" sz="2100" b="1" i="0"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或</a:t>
            </a:r>
            <a:r>
              <a:rPr kumimoji="0" lang="zh-CN" altLang="en-US" sz="21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rPr>
              <a:t>波形图 </a:t>
            </a:r>
            <a:endParaRPr kumimoji="0" lang="zh-CN" altLang="en-US" sz="2100" b="1" i="0" u="none" strike="noStrike" kern="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
                                        </p:tgtEl>
                                        <p:attrNameLst>
                                          <p:attrName>style.visibility</p:attrName>
                                        </p:attrNameLst>
                                      </p:cBhvr>
                                      <p:to>
                                        <p:strVal val="visible"/>
                                      </p:to>
                                    </p:set>
                                  </p:childTnLst>
                                </p:cTn>
                              </p:par>
                            </p:childTnLst>
                          </p:cTn>
                        </p:par>
                        <p:par>
                          <p:cTn id="19" fill="hold">
                            <p:stCondLst>
                              <p:cond delay="500"/>
                            </p:stCondLst>
                            <p:childTnLst>
                              <p:par>
                                <p:cTn id="20" presetID="1" presetClass="entr" presetSubtype="0" fill="hold" grpId="0" nodeType="afterEffect">
                                  <p:stCondLst>
                                    <p:cond delay="0"/>
                                  </p:stCondLst>
                                  <p:childTnLst>
                                    <p:set>
                                      <p:cBhvr>
                                        <p:cTn id="21" dur="1" fill="hold">
                                          <p:stCondLst>
                                            <p:cond delay="499"/>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1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1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autoUpdateAnimBg="0"/>
      <p:bldP spid="14" grpId="0" bldLvl="0" animBg="1" autoUpdateAnimBg="0"/>
      <p:bldP spid="3" grpId="0" bldLvl="0" animBg="1" autoUpdateAnimBg="0"/>
      <p:bldP spid="11" grpId="0" bldLvl="0" animBg="1" autoUpdateAnimBg="0"/>
      <p:bldP spid="12" grpId="0" bldLvl="0" animBg="1" autoUpdateAnimBg="0"/>
      <p:bldP spid="4" grpId="0" bldLvl="0" animBg="1" autoUpdateAnimBg="0"/>
      <p:bldP spid="5" grpId="0" bldLvl="0" animBg="1" autoUpdateAnimBg="0"/>
      <p:bldP spid="6" grpId="0" bldLvl="0" animBg="1" autoUpdateAnimBg="0"/>
      <p:bldP spid="7" grpId="0" bldLvl="0" animBg="1" autoUpdateAnimBg="0"/>
      <p:bldP spid="15" grpId="0" bldLvl="0" animBg="1" autoUpdateAnimBg="0"/>
      <p:bldP spid="19" grpId="0" bldLvl="0" animBg="1" autoUpdateAnimBg="0"/>
      <p:bldP spid="20" grpId="0" bldLvl="0" animBg="1"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2995" y="2617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六 </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A/D</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与</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D/A</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转换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12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6.1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D</a:t>
            </a:r>
            <a:r>
              <a:rPr kumimoji="0" lang="en-US" altLang="zh-CN" dirty="0">
                <a:solidFill>
                  <a:srgbClr val="000000"/>
                </a:solidFill>
                <a:latin typeface="黑体" panose="02010609060101010101" pitchFamily="49" charset="-122"/>
                <a:ea typeface="黑体" panose="02010609060101010101" pitchFamily="49" charset="-122"/>
              </a:rPr>
              <a:t>/A</a:t>
            </a:r>
            <a:r>
              <a:rPr kumimoji="0" lang="zh-CN" altLang="en-US" dirty="0">
                <a:solidFill>
                  <a:srgbClr val="000000"/>
                </a:solidFill>
                <a:latin typeface="黑体" panose="02010609060101010101" pitchFamily="49" charset="-122"/>
                <a:ea typeface="黑体" panose="02010609060101010101" pitchFamily="49" charset="-122"/>
              </a:rPr>
              <a:t>转换</a:t>
            </a:r>
            <a:r>
              <a:rPr kumimoji="0" lang="zh-CN" altLang="en-US" dirty="0">
                <a:solidFill>
                  <a:srgbClr val="000000"/>
                </a:solidFill>
                <a:latin typeface="黑体" panose="02010609060101010101" pitchFamily="49" charset="-122"/>
                <a:ea typeface="黑体" panose="02010609060101010101" pitchFamily="49" charset="-122"/>
              </a:rPr>
              <a:t>电路 </a:t>
            </a:r>
            <a:endParaRPr kumimoji="0" lang="zh-CN" altLang="en-US" dirty="0">
              <a:solidFill>
                <a:srgbClr val="000000"/>
              </a:solidFill>
              <a:latin typeface="黑体" panose="02010609060101010101" pitchFamily="49" charset="-122"/>
              <a:ea typeface="黑体" panose="02010609060101010101" pitchFamily="49" charset="-122"/>
            </a:endParaRPr>
          </a:p>
        </p:txBody>
      </p:sp>
      <p:pic>
        <p:nvPicPr>
          <p:cNvPr id="6"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57445" y="2207908"/>
            <a:ext cx="6844516" cy="3617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 Box 142"/>
          <p:cNvSpPr txBox="1">
            <a:spLocks noChangeArrowheads="1"/>
          </p:cNvSpPr>
          <p:nvPr>
            <p:custDataLst>
              <p:tags r:id="rId2"/>
            </p:custDataLst>
          </p:nvPr>
        </p:nvSpPr>
        <p:spPr bwMode="auto">
          <a:xfrm>
            <a:off x="742315" y="157416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dirty="0">
                <a:solidFill>
                  <a:srgbClr val="000000"/>
                </a:solidFill>
                <a:latin typeface="黑体" panose="02010609060101010101" pitchFamily="49" charset="-122"/>
                <a:ea typeface="黑体" panose="02010609060101010101" pitchFamily="49" charset="-122"/>
              </a:rPr>
              <a:t>权电阻</a:t>
            </a:r>
            <a:r>
              <a:rPr kumimoji="0" lang="zh-CN" altLang="en-US" sz="2400" dirty="0">
                <a:solidFill>
                  <a:srgbClr val="000000"/>
                </a:solidFill>
                <a:latin typeface="黑体" panose="02010609060101010101" pitchFamily="49" charset="-122"/>
                <a:ea typeface="黑体" panose="02010609060101010101" pitchFamily="49" charset="-122"/>
              </a:rPr>
              <a:t>网络</a:t>
            </a:r>
            <a:endParaRPr kumimoji="0" lang="zh-CN" altLang="en-US" sz="2400" dirty="0">
              <a:solidFill>
                <a:srgbClr val="00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autoUpdateAnimBg="0"/>
      <p:bldP spid="14" grpId="0" bldLvl="0" animBg="1"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887095" y="1905635"/>
            <a:ext cx="7124700" cy="4381500"/>
          </a:xfrm>
          <a:prstGeom prst="rect">
            <a:avLst/>
          </a:prstGeom>
        </p:spPr>
      </p:pic>
      <p:sp>
        <p:nvSpPr>
          <p:cNvPr id="13" name="Text Box 4"/>
          <p:cNvSpPr txBox="1">
            <a:spLocks noChangeArrowheads="1"/>
          </p:cNvSpPr>
          <p:nvPr/>
        </p:nvSpPr>
        <p:spPr bwMode="auto">
          <a:xfrm>
            <a:off x="1422995" y="2617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六 </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A/D</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与</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D/A</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转换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12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6.1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D</a:t>
            </a:r>
            <a:r>
              <a:rPr kumimoji="0" lang="en-US" altLang="zh-CN" dirty="0">
                <a:solidFill>
                  <a:srgbClr val="000000"/>
                </a:solidFill>
                <a:latin typeface="黑体" panose="02010609060101010101" pitchFamily="49" charset="-122"/>
                <a:ea typeface="黑体" panose="02010609060101010101" pitchFamily="49" charset="-122"/>
              </a:rPr>
              <a:t>/A</a:t>
            </a:r>
            <a:r>
              <a:rPr kumimoji="0" lang="zh-CN" altLang="en-US" dirty="0">
                <a:solidFill>
                  <a:srgbClr val="000000"/>
                </a:solidFill>
                <a:latin typeface="黑体" panose="02010609060101010101" pitchFamily="49" charset="-122"/>
                <a:ea typeface="黑体" panose="02010609060101010101" pitchFamily="49" charset="-122"/>
              </a:rPr>
              <a:t>转换</a:t>
            </a:r>
            <a:r>
              <a:rPr kumimoji="0" lang="zh-CN" altLang="en-US" dirty="0">
                <a:solidFill>
                  <a:srgbClr val="000000"/>
                </a:solidFill>
                <a:latin typeface="黑体" panose="02010609060101010101" pitchFamily="49" charset="-122"/>
                <a:ea typeface="黑体" panose="02010609060101010101" pitchFamily="49" charset="-122"/>
              </a:rPr>
              <a:t>电路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2"/>
            </p:custDataLst>
          </p:nvPr>
        </p:nvSpPr>
        <p:spPr bwMode="auto">
          <a:xfrm>
            <a:off x="742315" y="157416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zh-CN" altLang="en-US" sz="2400" dirty="0">
                <a:solidFill>
                  <a:srgbClr val="000000"/>
                </a:solidFill>
                <a:latin typeface="黑体" panose="02010609060101010101" pitchFamily="49" charset="-122"/>
                <a:ea typeface="黑体" panose="02010609060101010101" pitchFamily="49" charset="-122"/>
              </a:rPr>
              <a:t>倒</a:t>
            </a:r>
            <a:r>
              <a:rPr kumimoji="0" lang="en-US" altLang="zh-CN" sz="2400" dirty="0">
                <a:solidFill>
                  <a:srgbClr val="000000"/>
                </a:solidFill>
                <a:latin typeface="黑体" panose="02010609060101010101" pitchFamily="49" charset="-122"/>
                <a:ea typeface="黑体" panose="02010609060101010101" pitchFamily="49" charset="-122"/>
              </a:rPr>
              <a:t>T</a:t>
            </a:r>
            <a:r>
              <a:rPr kumimoji="0" lang="zh-CN" altLang="en-US" sz="2400" dirty="0">
                <a:solidFill>
                  <a:srgbClr val="000000"/>
                </a:solidFill>
                <a:latin typeface="黑体" panose="02010609060101010101" pitchFamily="49" charset="-122"/>
                <a:ea typeface="黑体" panose="02010609060101010101" pitchFamily="49" charset="-122"/>
              </a:rPr>
              <a:t>型</a:t>
            </a:r>
            <a:r>
              <a:rPr kumimoji="0" lang="zh-CN" altLang="en-US" sz="2400" dirty="0">
                <a:solidFill>
                  <a:srgbClr val="000000"/>
                </a:solidFill>
                <a:latin typeface="黑体" panose="02010609060101010101" pitchFamily="49" charset="-122"/>
                <a:ea typeface="黑体" panose="02010609060101010101" pitchFamily="49" charset="-122"/>
              </a:rPr>
              <a:t>网络</a:t>
            </a:r>
            <a:endParaRPr kumimoji="0" lang="zh-CN" altLang="en-US" sz="2400" dirty="0">
              <a:solidFill>
                <a:srgbClr val="00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2995" y="2617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六 </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A/D</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与</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D/A</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转换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12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6.2 </a:t>
            </a:r>
            <a:r>
              <a:rPr kumimoji="0" lang="en-US" dirty="0">
                <a:solidFill>
                  <a:srgbClr val="000000"/>
                </a:solidFill>
                <a:latin typeface="黑体" panose="02010609060101010101" pitchFamily="49" charset="-122"/>
                <a:ea typeface="黑体" panose="02010609060101010101" pitchFamily="49" charset="-122"/>
              </a:rPr>
              <a:t>DA</a:t>
            </a:r>
            <a:r>
              <a:rPr kumimoji="0" lang="en-US" dirty="0">
                <a:solidFill>
                  <a:srgbClr val="000000"/>
                </a:solidFill>
                <a:latin typeface="黑体" panose="02010609060101010101" pitchFamily="49" charset="-122"/>
                <a:ea typeface="黑体" panose="02010609060101010101" pitchFamily="49" charset="-122"/>
              </a:rPr>
              <a:t>C</a:t>
            </a:r>
            <a:r>
              <a:rPr kumimoji="0" lang="zh-CN" altLang="en-US" dirty="0">
                <a:solidFill>
                  <a:srgbClr val="000000"/>
                </a:solidFill>
                <a:latin typeface="黑体" panose="02010609060101010101" pitchFamily="49" charset="-122"/>
                <a:ea typeface="黑体" panose="02010609060101010101" pitchFamily="49" charset="-122"/>
              </a:rPr>
              <a:t>常用</a:t>
            </a:r>
            <a:r>
              <a:rPr kumimoji="0" lang="zh-CN" altLang="en-US" dirty="0">
                <a:solidFill>
                  <a:srgbClr val="000000"/>
                </a:solidFill>
                <a:latin typeface="黑体" panose="02010609060101010101" pitchFamily="49" charset="-122"/>
                <a:ea typeface="黑体" panose="02010609060101010101" pitchFamily="49" charset="-122"/>
              </a:rPr>
              <a:t>指标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57416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dirty="0">
                <a:solidFill>
                  <a:srgbClr val="000000"/>
                </a:solidFill>
                <a:latin typeface="黑体" panose="02010609060101010101" pitchFamily="49" charset="-122"/>
                <a:ea typeface="黑体" panose="02010609060101010101" pitchFamily="49" charset="-122"/>
              </a:rPr>
              <a:t>转换</a:t>
            </a:r>
            <a:r>
              <a:rPr kumimoji="0" lang="zh-CN" altLang="en-US" sz="2400" dirty="0">
                <a:solidFill>
                  <a:srgbClr val="000000"/>
                </a:solidFill>
                <a:latin typeface="黑体" panose="02010609060101010101" pitchFamily="49" charset="-122"/>
                <a:ea typeface="黑体" panose="02010609060101010101" pitchFamily="49" charset="-122"/>
              </a:rPr>
              <a:t>电压</a:t>
            </a:r>
            <a:endParaRPr kumimoji="0" lang="zh-CN" altLang="en-US" sz="2400" dirty="0">
              <a:solidFill>
                <a:srgbClr val="000000"/>
              </a:solidFill>
              <a:latin typeface="黑体" panose="02010609060101010101" pitchFamily="49" charset="-122"/>
              <a:ea typeface="黑体" panose="02010609060101010101" pitchFamily="49" charset="-122"/>
            </a:endParaRPr>
          </a:p>
        </p:txBody>
      </p:sp>
      <p:graphicFrame>
        <p:nvGraphicFramePr>
          <p:cNvPr id="15" name="Object 9"/>
          <p:cNvGraphicFramePr>
            <a:graphicFrameLocks noChangeAspect="1"/>
          </p:cNvGraphicFramePr>
          <p:nvPr/>
        </p:nvGraphicFramePr>
        <p:xfrm>
          <a:off x="3190558" y="1697673"/>
          <a:ext cx="2189162" cy="955675"/>
        </p:xfrm>
        <a:graphic>
          <a:graphicData uri="http://schemas.openxmlformats.org/presentationml/2006/ole">
            <mc:AlternateContent xmlns:mc="http://schemas.openxmlformats.org/markup-compatibility/2006">
              <mc:Choice xmlns:v="urn:schemas-microsoft-com:vml" Requires="v">
                <p:oleObj spid="_x0000_s10453" name="Equation" r:id="rId2" imgW="1168400" imgH="482600" progId="Equation.DSMT4">
                  <p:embed/>
                </p:oleObj>
              </mc:Choice>
              <mc:Fallback>
                <p:oleObj name="Equation" r:id="rId2" imgW="1168400" imgH="482600" progId="Equation.DSMT4">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0558" y="1697673"/>
                        <a:ext cx="2189162" cy="95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Text Box 142"/>
          <p:cNvSpPr txBox="1">
            <a:spLocks noChangeArrowheads="1"/>
          </p:cNvSpPr>
          <p:nvPr>
            <p:custDataLst>
              <p:tags r:id="rId4"/>
            </p:custDataLst>
          </p:nvPr>
        </p:nvSpPr>
        <p:spPr bwMode="auto">
          <a:xfrm>
            <a:off x="742315" y="265366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zh-CN" altLang="en-US" sz="2400" dirty="0">
                <a:solidFill>
                  <a:srgbClr val="000000"/>
                </a:solidFill>
                <a:latin typeface="黑体" panose="02010609060101010101" pitchFamily="49" charset="-122"/>
                <a:ea typeface="黑体" panose="02010609060101010101" pitchFamily="49" charset="-122"/>
              </a:rPr>
              <a:t>满</a:t>
            </a:r>
            <a:r>
              <a:rPr kumimoji="0" lang="zh-CN" altLang="en-US" sz="2400" dirty="0">
                <a:solidFill>
                  <a:srgbClr val="000000"/>
                </a:solidFill>
                <a:latin typeface="黑体" panose="02010609060101010101" pitchFamily="49" charset="-122"/>
                <a:ea typeface="黑体" panose="02010609060101010101" pitchFamily="49" charset="-122"/>
              </a:rPr>
              <a:t>量程电压</a:t>
            </a:r>
            <a:endParaRPr kumimoji="0" lang="zh-CN" altLang="en-US" sz="2400" dirty="0">
              <a:solidFill>
                <a:srgbClr val="000000"/>
              </a:solidFill>
              <a:latin typeface="黑体" panose="02010609060101010101" pitchFamily="49" charset="-122"/>
              <a:ea typeface="黑体" panose="02010609060101010101" pitchFamily="49" charset="-122"/>
            </a:endParaRPr>
          </a:p>
        </p:txBody>
      </p:sp>
      <p:graphicFrame>
        <p:nvGraphicFramePr>
          <p:cNvPr id="100356" name="Object 4"/>
          <p:cNvGraphicFramePr>
            <a:graphicFrameLocks noChangeAspect="1"/>
          </p:cNvGraphicFramePr>
          <p:nvPr/>
        </p:nvGraphicFramePr>
        <p:xfrm>
          <a:off x="3028315" y="2932113"/>
          <a:ext cx="2830513" cy="993775"/>
        </p:xfrm>
        <a:graphic>
          <a:graphicData uri="http://schemas.openxmlformats.org/presentationml/2006/ole">
            <mc:AlternateContent xmlns:mc="http://schemas.openxmlformats.org/markup-compatibility/2006">
              <mc:Choice xmlns:v="urn:schemas-microsoft-com:vml" Requires="v">
                <p:oleObj spid="_x0000_s10450" name="Equation" r:id="rId5" imgW="1193800" imgH="419100" progId="Equation.DSMT4">
                  <p:embed/>
                </p:oleObj>
              </mc:Choice>
              <mc:Fallback>
                <p:oleObj name="Equation" r:id="rId5" imgW="1193800" imgH="4191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28315" y="2932113"/>
                        <a:ext cx="2830513" cy="993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Text Box 142"/>
          <p:cNvSpPr txBox="1">
            <a:spLocks noChangeArrowheads="1"/>
          </p:cNvSpPr>
          <p:nvPr>
            <p:custDataLst>
              <p:tags r:id="rId7"/>
            </p:custDataLst>
          </p:nvPr>
        </p:nvSpPr>
        <p:spPr bwMode="auto">
          <a:xfrm>
            <a:off x="742315" y="386016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(3)</a:t>
            </a:r>
            <a:r>
              <a:rPr kumimoji="0" lang="zh-CN" altLang="en-US" sz="2400" dirty="0">
                <a:solidFill>
                  <a:srgbClr val="000000"/>
                </a:solidFill>
                <a:latin typeface="黑体" panose="02010609060101010101" pitchFamily="49" charset="-122"/>
                <a:ea typeface="黑体" panose="02010609060101010101" pitchFamily="49" charset="-122"/>
              </a:rPr>
              <a:t>分辨率</a:t>
            </a:r>
            <a:endParaRPr kumimoji="0" lang="zh-CN" altLang="en-US" sz="2400" dirty="0">
              <a:solidFill>
                <a:srgbClr val="000000"/>
              </a:solidFill>
              <a:latin typeface="黑体" panose="02010609060101010101" pitchFamily="49" charset="-122"/>
              <a:ea typeface="黑体" panose="02010609060101010101" pitchFamily="49" charset="-122"/>
            </a:endParaRPr>
          </a:p>
        </p:txBody>
      </p:sp>
      <p:graphicFrame>
        <p:nvGraphicFramePr>
          <p:cNvPr id="5" name="Object 9"/>
          <p:cNvGraphicFramePr>
            <a:graphicFrameLocks noChangeAspect="1"/>
          </p:cNvGraphicFramePr>
          <p:nvPr/>
        </p:nvGraphicFramePr>
        <p:xfrm>
          <a:off x="910474" y="4452549"/>
          <a:ext cx="2144093" cy="936000"/>
        </p:xfrm>
        <a:graphic>
          <a:graphicData uri="http://schemas.openxmlformats.org/presentationml/2006/ole">
            <mc:AlternateContent xmlns:mc="http://schemas.openxmlformats.org/markup-compatibility/2006">
              <mc:Choice xmlns:v="urn:schemas-microsoft-com:vml" Requires="v">
                <p:oleObj spid="_x0000_s55316" name="Equation" r:id="rId8" imgW="1168400" imgH="482600" progId="Equation.DSMT4">
                  <p:embed/>
                </p:oleObj>
              </mc:Choice>
              <mc:Fallback>
                <p:oleObj name="Equation" r:id="rId8" imgW="1168400" imgH="482600" progId="Equation.DSMT4">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474" y="4452549"/>
                        <a:ext cx="2144093" cy="936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3726" name="Object 238"/>
          <p:cNvGraphicFramePr>
            <a:graphicFrameLocks noChangeAspect="1"/>
          </p:cNvGraphicFramePr>
          <p:nvPr/>
        </p:nvGraphicFramePr>
        <p:xfrm>
          <a:off x="3674423" y="4489019"/>
          <a:ext cx="3192188" cy="900000"/>
        </p:xfrm>
        <a:graphic>
          <a:graphicData uri="http://schemas.openxmlformats.org/presentationml/2006/ole">
            <mc:AlternateContent xmlns:mc="http://schemas.openxmlformats.org/markup-compatibility/2006">
              <mc:Choice xmlns:v="urn:schemas-microsoft-com:vml" Requires="v">
                <p:oleObj spid="_x0000_s55314" name="Equation" r:id="rId9" imgW="33528000" imgH="9448800" progId="Equation.DSMT4">
                  <p:embed/>
                </p:oleObj>
              </mc:Choice>
              <mc:Fallback>
                <p:oleObj name="Equation" r:id="rId9" imgW="33528000" imgH="9448800" progId="Equation.DSMT4">
                  <p:embed/>
                  <p:pic>
                    <p:nvPicPr>
                      <p:cNvPr id="0" name="Object 238"/>
                      <p:cNvPicPr>
                        <a:picLocks noChangeAspect="1" noChangeArrowheads="1"/>
                      </p:cNvPicPr>
                      <p:nvPr/>
                    </p:nvPicPr>
                    <p:blipFill>
                      <a:blip r:embed="rId10"/>
                      <a:srcRect/>
                      <a:stretch>
                        <a:fillRect/>
                      </a:stretch>
                    </p:blipFill>
                    <p:spPr bwMode="auto">
                      <a:xfrm>
                        <a:off x="3674423" y="4489019"/>
                        <a:ext cx="3192188" cy="900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238"/>
          <p:cNvGraphicFramePr>
            <a:graphicFrameLocks noChangeAspect="1"/>
          </p:cNvGraphicFramePr>
          <p:nvPr/>
        </p:nvGraphicFramePr>
        <p:xfrm>
          <a:off x="6924587" y="4492932"/>
          <a:ext cx="1161563" cy="900000"/>
        </p:xfrm>
        <a:graphic>
          <a:graphicData uri="http://schemas.openxmlformats.org/presentationml/2006/ole">
            <mc:AlternateContent xmlns:mc="http://schemas.openxmlformats.org/markup-compatibility/2006">
              <mc:Choice xmlns:v="urn:schemas-microsoft-com:vml" Requires="v">
                <p:oleObj spid="_x0000_s55317" name="Equation" r:id="rId11" imgW="12192000" imgH="9448800" progId="Equation.DSMT4">
                  <p:embed/>
                </p:oleObj>
              </mc:Choice>
              <mc:Fallback>
                <p:oleObj name="Equation" r:id="rId11" imgW="12192000" imgH="9448800" progId="Equation.DSMT4">
                  <p:embed/>
                  <p:pic>
                    <p:nvPicPr>
                      <p:cNvPr id="0" name="Object 238"/>
                      <p:cNvPicPr>
                        <a:picLocks noChangeAspect="1" noChangeArrowheads="1"/>
                      </p:cNvPicPr>
                      <p:nvPr/>
                    </p:nvPicPr>
                    <p:blipFill>
                      <a:blip r:embed="rId12"/>
                      <a:srcRect/>
                      <a:stretch>
                        <a:fillRect/>
                      </a:stretch>
                    </p:blipFill>
                    <p:spPr bwMode="auto">
                      <a:xfrm>
                        <a:off x="6924587" y="4492932"/>
                        <a:ext cx="1161563" cy="900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20"/>
          <p:cNvGraphicFramePr>
            <a:graphicFrameLocks noChangeAspect="1"/>
          </p:cNvGraphicFramePr>
          <p:nvPr/>
        </p:nvGraphicFramePr>
        <p:xfrm>
          <a:off x="2761644" y="5185396"/>
          <a:ext cx="3047166" cy="1044000"/>
        </p:xfrm>
        <a:graphic>
          <a:graphicData uri="http://schemas.openxmlformats.org/presentationml/2006/ole">
            <mc:AlternateContent xmlns:mc="http://schemas.openxmlformats.org/markup-compatibility/2006">
              <mc:Choice xmlns:v="urn:schemas-microsoft-com:vml" Requires="v">
                <p:oleObj spid="_x0000_s47140" name="Equation" r:id="rId13" imgW="32918400" imgH="11277600" progId="Equation.DSMT4">
                  <p:embed/>
                </p:oleObj>
              </mc:Choice>
              <mc:Fallback>
                <p:oleObj name="Equation" r:id="rId13" imgW="32918400" imgH="11277600" progId="Equation.DSMT4">
                  <p:embed/>
                  <p:pic>
                    <p:nvPicPr>
                      <p:cNvPr id="0" name="Object 20"/>
                      <p:cNvPicPr>
                        <a:picLocks noChangeAspect="1" noChangeArrowheads="1"/>
                      </p:cNvPicPr>
                      <p:nvPr/>
                    </p:nvPicPr>
                    <p:blipFill>
                      <a:blip r:embed="rId14"/>
                      <a:srcRect/>
                      <a:stretch>
                        <a:fillRect/>
                      </a:stretch>
                    </p:blipFill>
                    <p:spPr bwMode="auto">
                      <a:xfrm>
                        <a:off x="2761644" y="5185396"/>
                        <a:ext cx="3047166" cy="104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003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637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autoUpdateAnimBg="0"/>
      <p:bldP spid="14" grpId="0" bldLvl="0" animBg="1"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2995" y="2617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六 </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A/D</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与</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D/A</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转换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90659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6.3 A/D</a:t>
            </a:r>
            <a:r>
              <a:rPr kumimoji="0" lang="zh-CN" altLang="en-US" dirty="0">
                <a:solidFill>
                  <a:srgbClr val="000000"/>
                </a:solidFill>
                <a:latin typeface="黑体" panose="02010609060101010101" pitchFamily="49" charset="-122"/>
                <a:ea typeface="黑体" panose="02010609060101010101" pitchFamily="49" charset="-122"/>
              </a:rPr>
              <a:t>的一般</a:t>
            </a:r>
            <a:r>
              <a:rPr kumimoji="0" lang="zh-CN" altLang="en-US" dirty="0">
                <a:solidFill>
                  <a:srgbClr val="000000"/>
                </a:solidFill>
                <a:latin typeface="黑体" panose="02010609060101010101" pitchFamily="49" charset="-122"/>
                <a:ea typeface="黑体" panose="02010609060101010101" pitchFamily="49" charset="-122"/>
              </a:rPr>
              <a:t>流程 </a:t>
            </a:r>
            <a:endParaRPr kumimoji="0" lang="zh-CN" altLang="en-US" dirty="0">
              <a:solidFill>
                <a:srgbClr val="000000"/>
              </a:solidFill>
              <a:latin typeface="黑体" panose="02010609060101010101" pitchFamily="49" charset="-122"/>
              <a:ea typeface="黑体" panose="02010609060101010101" pitchFamily="49" charset="-122"/>
            </a:endParaRPr>
          </a:p>
        </p:txBody>
      </p:sp>
      <p:grpSp>
        <p:nvGrpSpPr>
          <p:cNvPr id="7" name="组合 6"/>
          <p:cNvGrpSpPr/>
          <p:nvPr/>
        </p:nvGrpSpPr>
        <p:grpSpPr>
          <a:xfrm>
            <a:off x="6044247" y="2316482"/>
            <a:ext cx="2008188" cy="1819273"/>
            <a:chOff x="5992812" y="2533652"/>
            <a:chExt cx="2008188" cy="1819273"/>
          </a:xfrm>
        </p:grpSpPr>
        <p:grpSp>
          <p:nvGrpSpPr>
            <p:cNvPr id="16458" name="Group 391"/>
            <p:cNvGrpSpPr/>
            <p:nvPr/>
          </p:nvGrpSpPr>
          <p:grpSpPr bwMode="auto">
            <a:xfrm>
              <a:off x="6218238" y="3032125"/>
              <a:ext cx="1416050" cy="1309688"/>
              <a:chOff x="3917" y="2020"/>
              <a:chExt cx="892" cy="715"/>
            </a:xfrm>
          </p:grpSpPr>
          <p:sp>
            <p:nvSpPr>
              <p:cNvPr id="16463" name="Line 383"/>
              <p:cNvSpPr>
                <a:spLocks noChangeShapeType="1"/>
              </p:cNvSpPr>
              <p:nvPr/>
            </p:nvSpPr>
            <p:spPr bwMode="auto">
              <a:xfrm>
                <a:off x="4241" y="2020"/>
                <a:ext cx="0" cy="715"/>
              </a:xfrm>
              <a:prstGeom prst="line">
                <a:avLst/>
              </a:prstGeom>
              <a:noFill/>
              <a:ln w="6350">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459" name="Line 379"/>
              <p:cNvSpPr>
                <a:spLocks noChangeShapeType="1"/>
              </p:cNvSpPr>
              <p:nvPr/>
            </p:nvSpPr>
            <p:spPr bwMode="auto">
              <a:xfrm>
                <a:off x="3917" y="2020"/>
                <a:ext cx="0" cy="715"/>
              </a:xfrm>
              <a:prstGeom prst="line">
                <a:avLst/>
              </a:prstGeom>
              <a:noFill/>
              <a:ln w="6350">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460" name="Line 380"/>
              <p:cNvSpPr>
                <a:spLocks noChangeShapeType="1"/>
              </p:cNvSpPr>
              <p:nvPr/>
            </p:nvSpPr>
            <p:spPr bwMode="auto">
              <a:xfrm>
                <a:off x="3998" y="2020"/>
                <a:ext cx="0" cy="715"/>
              </a:xfrm>
              <a:prstGeom prst="line">
                <a:avLst/>
              </a:prstGeom>
              <a:noFill/>
              <a:ln w="6350">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461" name="Line 381"/>
              <p:cNvSpPr>
                <a:spLocks noChangeShapeType="1"/>
              </p:cNvSpPr>
              <p:nvPr/>
            </p:nvSpPr>
            <p:spPr bwMode="auto">
              <a:xfrm>
                <a:off x="4079" y="2020"/>
                <a:ext cx="0" cy="715"/>
              </a:xfrm>
              <a:prstGeom prst="line">
                <a:avLst/>
              </a:prstGeom>
              <a:noFill/>
              <a:ln w="6350">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462" name="Line 382"/>
              <p:cNvSpPr>
                <a:spLocks noChangeShapeType="1"/>
              </p:cNvSpPr>
              <p:nvPr/>
            </p:nvSpPr>
            <p:spPr bwMode="auto">
              <a:xfrm>
                <a:off x="4160" y="2020"/>
                <a:ext cx="0" cy="715"/>
              </a:xfrm>
              <a:prstGeom prst="line">
                <a:avLst/>
              </a:prstGeom>
              <a:noFill/>
              <a:ln w="6350">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464" name="Line 384"/>
              <p:cNvSpPr>
                <a:spLocks noChangeShapeType="1"/>
              </p:cNvSpPr>
              <p:nvPr/>
            </p:nvSpPr>
            <p:spPr bwMode="auto">
              <a:xfrm>
                <a:off x="4322" y="2020"/>
                <a:ext cx="0" cy="715"/>
              </a:xfrm>
              <a:prstGeom prst="line">
                <a:avLst/>
              </a:prstGeom>
              <a:noFill/>
              <a:ln w="6350">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465" name="Line 385"/>
              <p:cNvSpPr>
                <a:spLocks noChangeShapeType="1"/>
              </p:cNvSpPr>
              <p:nvPr/>
            </p:nvSpPr>
            <p:spPr bwMode="auto">
              <a:xfrm>
                <a:off x="4403" y="2020"/>
                <a:ext cx="0" cy="715"/>
              </a:xfrm>
              <a:prstGeom prst="line">
                <a:avLst/>
              </a:prstGeom>
              <a:noFill/>
              <a:ln w="6350">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466" name="Line 386"/>
              <p:cNvSpPr>
                <a:spLocks noChangeShapeType="1"/>
              </p:cNvSpPr>
              <p:nvPr/>
            </p:nvSpPr>
            <p:spPr bwMode="auto">
              <a:xfrm>
                <a:off x="4484" y="2020"/>
                <a:ext cx="0" cy="715"/>
              </a:xfrm>
              <a:prstGeom prst="line">
                <a:avLst/>
              </a:prstGeom>
              <a:noFill/>
              <a:ln w="6350">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467" name="Line 387"/>
              <p:cNvSpPr>
                <a:spLocks noChangeShapeType="1"/>
              </p:cNvSpPr>
              <p:nvPr/>
            </p:nvSpPr>
            <p:spPr bwMode="auto">
              <a:xfrm>
                <a:off x="4565" y="2020"/>
                <a:ext cx="0" cy="715"/>
              </a:xfrm>
              <a:prstGeom prst="line">
                <a:avLst/>
              </a:prstGeom>
              <a:noFill/>
              <a:ln w="6350">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468" name="Line 388"/>
              <p:cNvSpPr>
                <a:spLocks noChangeShapeType="1"/>
              </p:cNvSpPr>
              <p:nvPr/>
            </p:nvSpPr>
            <p:spPr bwMode="auto">
              <a:xfrm>
                <a:off x="4646" y="2020"/>
                <a:ext cx="0" cy="715"/>
              </a:xfrm>
              <a:prstGeom prst="line">
                <a:avLst/>
              </a:prstGeom>
              <a:noFill/>
              <a:ln w="6350">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469" name="Line 389"/>
              <p:cNvSpPr>
                <a:spLocks noChangeShapeType="1"/>
              </p:cNvSpPr>
              <p:nvPr/>
            </p:nvSpPr>
            <p:spPr bwMode="auto">
              <a:xfrm>
                <a:off x="4727" y="2020"/>
                <a:ext cx="0" cy="715"/>
              </a:xfrm>
              <a:prstGeom prst="line">
                <a:avLst/>
              </a:prstGeom>
              <a:noFill/>
              <a:ln w="6350">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470" name="Line 390"/>
              <p:cNvSpPr>
                <a:spLocks noChangeShapeType="1"/>
              </p:cNvSpPr>
              <p:nvPr/>
            </p:nvSpPr>
            <p:spPr bwMode="auto">
              <a:xfrm>
                <a:off x="4809" y="2020"/>
                <a:ext cx="0" cy="715"/>
              </a:xfrm>
              <a:prstGeom prst="line">
                <a:avLst/>
              </a:prstGeom>
              <a:noFill/>
              <a:ln w="6350">
                <a:solidFill>
                  <a:schemeClr val="hlink"/>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16406" name="Line 52"/>
            <p:cNvSpPr>
              <a:spLocks noChangeShapeType="1"/>
            </p:cNvSpPr>
            <p:nvPr/>
          </p:nvSpPr>
          <p:spPr bwMode="auto">
            <a:xfrm>
              <a:off x="6135688" y="4352925"/>
              <a:ext cx="1746250" cy="0"/>
            </a:xfrm>
            <a:prstGeom prst="line">
              <a:avLst/>
            </a:prstGeom>
            <a:noFill/>
            <a:ln w="2857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07" name="Text Box 53"/>
            <p:cNvSpPr txBox="1">
              <a:spLocks noChangeArrowheads="1"/>
            </p:cNvSpPr>
            <p:nvPr/>
          </p:nvSpPr>
          <p:spPr bwMode="auto">
            <a:xfrm>
              <a:off x="7797800" y="3975100"/>
              <a:ext cx="203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1600" b="1" i="1"/>
                <a:t>t</a:t>
              </a:r>
              <a:endParaRPr lang="en-US" altLang="zh-CN" sz="1600" b="1" i="1"/>
            </a:p>
          </p:txBody>
        </p:sp>
        <p:sp>
          <p:nvSpPr>
            <p:cNvPr id="16408" name="Line 235"/>
            <p:cNvSpPr>
              <a:spLocks noChangeShapeType="1"/>
            </p:cNvSpPr>
            <p:nvPr/>
          </p:nvSpPr>
          <p:spPr bwMode="auto">
            <a:xfrm rot="16200000">
              <a:off x="5392738" y="3597275"/>
              <a:ext cx="1492250" cy="0"/>
            </a:xfrm>
            <a:prstGeom prst="line">
              <a:avLst/>
            </a:prstGeom>
            <a:noFill/>
            <a:ln w="2857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09" name="Line 57"/>
            <p:cNvSpPr>
              <a:spLocks noChangeShapeType="1"/>
            </p:cNvSpPr>
            <p:nvPr/>
          </p:nvSpPr>
          <p:spPr bwMode="auto">
            <a:xfrm flipV="1">
              <a:off x="6218238" y="3000375"/>
              <a:ext cx="0" cy="2159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10" name="Line 58"/>
            <p:cNvSpPr>
              <a:spLocks noChangeShapeType="1"/>
            </p:cNvSpPr>
            <p:nvPr/>
          </p:nvSpPr>
          <p:spPr bwMode="auto">
            <a:xfrm>
              <a:off x="6143625" y="3203575"/>
              <a:ext cx="6191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11" name="Line 59"/>
            <p:cNvSpPr>
              <a:spLocks noChangeShapeType="1"/>
            </p:cNvSpPr>
            <p:nvPr/>
          </p:nvSpPr>
          <p:spPr bwMode="auto">
            <a:xfrm>
              <a:off x="6211888" y="3013075"/>
              <a:ext cx="777875"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12" name="Line 237"/>
            <p:cNvSpPr>
              <a:spLocks noChangeShapeType="1"/>
            </p:cNvSpPr>
            <p:nvPr/>
          </p:nvSpPr>
          <p:spPr bwMode="auto">
            <a:xfrm>
              <a:off x="6986588" y="3203575"/>
              <a:ext cx="14446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13" name="Line 238"/>
            <p:cNvSpPr>
              <a:spLocks noChangeShapeType="1"/>
            </p:cNvSpPr>
            <p:nvPr/>
          </p:nvSpPr>
          <p:spPr bwMode="auto">
            <a:xfrm>
              <a:off x="7118350" y="3013075"/>
              <a:ext cx="39846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14" name="Line 240"/>
            <p:cNvSpPr>
              <a:spLocks noChangeShapeType="1"/>
            </p:cNvSpPr>
            <p:nvPr/>
          </p:nvSpPr>
          <p:spPr bwMode="auto">
            <a:xfrm flipV="1">
              <a:off x="7123113" y="3000375"/>
              <a:ext cx="0" cy="2159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15" name="Line 243"/>
            <p:cNvSpPr>
              <a:spLocks noChangeShapeType="1"/>
            </p:cNvSpPr>
            <p:nvPr/>
          </p:nvSpPr>
          <p:spPr bwMode="auto">
            <a:xfrm flipV="1">
              <a:off x="7505700" y="3000375"/>
              <a:ext cx="0" cy="2159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16" name="Line 244"/>
            <p:cNvSpPr>
              <a:spLocks noChangeShapeType="1"/>
            </p:cNvSpPr>
            <p:nvPr/>
          </p:nvSpPr>
          <p:spPr bwMode="auto">
            <a:xfrm>
              <a:off x="7519988" y="3203575"/>
              <a:ext cx="123825"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17" name="Line 247"/>
            <p:cNvSpPr>
              <a:spLocks noChangeShapeType="1"/>
            </p:cNvSpPr>
            <p:nvPr/>
          </p:nvSpPr>
          <p:spPr bwMode="auto">
            <a:xfrm flipV="1">
              <a:off x="6989763" y="3000375"/>
              <a:ext cx="0" cy="2159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18" name="Line 250"/>
            <p:cNvSpPr>
              <a:spLocks noChangeShapeType="1"/>
            </p:cNvSpPr>
            <p:nvPr/>
          </p:nvSpPr>
          <p:spPr bwMode="auto">
            <a:xfrm flipV="1">
              <a:off x="6218238" y="3355975"/>
              <a:ext cx="0" cy="2159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19" name="Line 251"/>
            <p:cNvSpPr>
              <a:spLocks noChangeShapeType="1"/>
            </p:cNvSpPr>
            <p:nvPr/>
          </p:nvSpPr>
          <p:spPr bwMode="auto">
            <a:xfrm>
              <a:off x="6143625" y="3559175"/>
              <a:ext cx="5556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20" name="Line 252"/>
            <p:cNvSpPr>
              <a:spLocks noChangeShapeType="1"/>
            </p:cNvSpPr>
            <p:nvPr/>
          </p:nvSpPr>
          <p:spPr bwMode="auto">
            <a:xfrm>
              <a:off x="6205538" y="3368675"/>
              <a:ext cx="530225"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21" name="Line 255"/>
            <p:cNvSpPr>
              <a:spLocks noChangeShapeType="1"/>
            </p:cNvSpPr>
            <p:nvPr/>
          </p:nvSpPr>
          <p:spPr bwMode="auto">
            <a:xfrm flipV="1">
              <a:off x="6734175" y="3355975"/>
              <a:ext cx="0" cy="2159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22" name="Line 258"/>
            <p:cNvSpPr>
              <a:spLocks noChangeShapeType="1"/>
            </p:cNvSpPr>
            <p:nvPr/>
          </p:nvSpPr>
          <p:spPr bwMode="auto">
            <a:xfrm>
              <a:off x="6726238" y="3559175"/>
              <a:ext cx="25876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23" name="Line 261"/>
            <p:cNvSpPr>
              <a:spLocks noChangeShapeType="1"/>
            </p:cNvSpPr>
            <p:nvPr/>
          </p:nvSpPr>
          <p:spPr bwMode="auto">
            <a:xfrm flipV="1">
              <a:off x="7116763" y="3355975"/>
              <a:ext cx="0" cy="2159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24" name="Line 263"/>
            <p:cNvSpPr>
              <a:spLocks noChangeShapeType="1"/>
            </p:cNvSpPr>
            <p:nvPr/>
          </p:nvSpPr>
          <p:spPr bwMode="auto">
            <a:xfrm>
              <a:off x="6985000" y="3368675"/>
              <a:ext cx="12541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25" name="Line 264"/>
            <p:cNvSpPr>
              <a:spLocks noChangeShapeType="1"/>
            </p:cNvSpPr>
            <p:nvPr/>
          </p:nvSpPr>
          <p:spPr bwMode="auto">
            <a:xfrm>
              <a:off x="7123113" y="3559175"/>
              <a:ext cx="26511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26" name="Line 266"/>
            <p:cNvSpPr>
              <a:spLocks noChangeShapeType="1"/>
            </p:cNvSpPr>
            <p:nvPr/>
          </p:nvSpPr>
          <p:spPr bwMode="auto">
            <a:xfrm flipV="1">
              <a:off x="7508875" y="3355975"/>
              <a:ext cx="0" cy="2159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27" name="Line 269"/>
            <p:cNvSpPr>
              <a:spLocks noChangeShapeType="1"/>
            </p:cNvSpPr>
            <p:nvPr/>
          </p:nvSpPr>
          <p:spPr bwMode="auto">
            <a:xfrm>
              <a:off x="7386638" y="3559175"/>
              <a:ext cx="123825"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28" name="Line 271"/>
            <p:cNvSpPr>
              <a:spLocks noChangeShapeType="1"/>
            </p:cNvSpPr>
            <p:nvPr/>
          </p:nvSpPr>
          <p:spPr bwMode="auto">
            <a:xfrm>
              <a:off x="7510463" y="3368675"/>
              <a:ext cx="13811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29" name="Line 272"/>
            <p:cNvSpPr>
              <a:spLocks noChangeShapeType="1"/>
            </p:cNvSpPr>
            <p:nvPr/>
          </p:nvSpPr>
          <p:spPr bwMode="auto">
            <a:xfrm flipV="1">
              <a:off x="6989763" y="3355975"/>
              <a:ext cx="0" cy="2159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30" name="Line 273"/>
            <p:cNvSpPr>
              <a:spLocks noChangeShapeType="1"/>
            </p:cNvSpPr>
            <p:nvPr/>
          </p:nvSpPr>
          <p:spPr bwMode="auto">
            <a:xfrm flipV="1">
              <a:off x="6218238" y="3717925"/>
              <a:ext cx="0" cy="2159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31" name="Line 274"/>
            <p:cNvSpPr>
              <a:spLocks noChangeShapeType="1"/>
            </p:cNvSpPr>
            <p:nvPr/>
          </p:nvSpPr>
          <p:spPr bwMode="auto">
            <a:xfrm>
              <a:off x="6137275" y="3921125"/>
              <a:ext cx="7461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32" name="Line 275"/>
            <p:cNvSpPr>
              <a:spLocks noChangeShapeType="1"/>
            </p:cNvSpPr>
            <p:nvPr/>
          </p:nvSpPr>
          <p:spPr bwMode="auto">
            <a:xfrm>
              <a:off x="6211888" y="3730625"/>
              <a:ext cx="396875"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33" name="Line 278"/>
            <p:cNvSpPr>
              <a:spLocks noChangeShapeType="1"/>
            </p:cNvSpPr>
            <p:nvPr/>
          </p:nvSpPr>
          <p:spPr bwMode="auto">
            <a:xfrm flipV="1">
              <a:off x="6600825" y="3717925"/>
              <a:ext cx="0" cy="2159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34" name="Line 279"/>
            <p:cNvSpPr>
              <a:spLocks noChangeShapeType="1"/>
            </p:cNvSpPr>
            <p:nvPr/>
          </p:nvSpPr>
          <p:spPr bwMode="auto">
            <a:xfrm>
              <a:off x="6746875" y="3730625"/>
              <a:ext cx="12541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35" name="Line 280"/>
            <p:cNvSpPr>
              <a:spLocks noChangeShapeType="1"/>
            </p:cNvSpPr>
            <p:nvPr/>
          </p:nvSpPr>
          <p:spPr bwMode="auto">
            <a:xfrm flipV="1">
              <a:off x="6732588" y="3717925"/>
              <a:ext cx="0" cy="2159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36" name="Line 281"/>
            <p:cNvSpPr>
              <a:spLocks noChangeShapeType="1"/>
            </p:cNvSpPr>
            <p:nvPr/>
          </p:nvSpPr>
          <p:spPr bwMode="auto">
            <a:xfrm>
              <a:off x="6599238" y="3921125"/>
              <a:ext cx="12541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37" name="Line 282"/>
            <p:cNvSpPr>
              <a:spLocks noChangeShapeType="1"/>
            </p:cNvSpPr>
            <p:nvPr/>
          </p:nvSpPr>
          <p:spPr bwMode="auto">
            <a:xfrm flipV="1">
              <a:off x="6864350" y="3717925"/>
              <a:ext cx="0" cy="2159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38" name="Line 284"/>
            <p:cNvSpPr>
              <a:spLocks noChangeShapeType="1"/>
            </p:cNvSpPr>
            <p:nvPr/>
          </p:nvSpPr>
          <p:spPr bwMode="auto">
            <a:xfrm flipV="1">
              <a:off x="7116763" y="3717925"/>
              <a:ext cx="0" cy="2159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39" name="Line 285"/>
            <p:cNvSpPr>
              <a:spLocks noChangeShapeType="1"/>
            </p:cNvSpPr>
            <p:nvPr/>
          </p:nvSpPr>
          <p:spPr bwMode="auto">
            <a:xfrm>
              <a:off x="6859588" y="3921125"/>
              <a:ext cx="12541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40" name="Line 286"/>
            <p:cNvSpPr>
              <a:spLocks noChangeShapeType="1"/>
            </p:cNvSpPr>
            <p:nvPr/>
          </p:nvSpPr>
          <p:spPr bwMode="auto">
            <a:xfrm>
              <a:off x="6985000" y="3730625"/>
              <a:ext cx="12541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41" name="Line 287"/>
            <p:cNvSpPr>
              <a:spLocks noChangeShapeType="1"/>
            </p:cNvSpPr>
            <p:nvPr/>
          </p:nvSpPr>
          <p:spPr bwMode="auto">
            <a:xfrm>
              <a:off x="7129463" y="3921125"/>
              <a:ext cx="374650"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42" name="Line 295"/>
            <p:cNvSpPr>
              <a:spLocks noChangeShapeType="1"/>
            </p:cNvSpPr>
            <p:nvPr/>
          </p:nvSpPr>
          <p:spPr bwMode="auto">
            <a:xfrm flipV="1">
              <a:off x="6989763" y="3717925"/>
              <a:ext cx="0" cy="2159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43" name="Line 296"/>
            <p:cNvSpPr>
              <a:spLocks noChangeShapeType="1"/>
            </p:cNvSpPr>
            <p:nvPr/>
          </p:nvSpPr>
          <p:spPr bwMode="auto">
            <a:xfrm flipV="1">
              <a:off x="6346825" y="4054475"/>
              <a:ext cx="0" cy="2159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44" name="Line 297"/>
            <p:cNvSpPr>
              <a:spLocks noChangeShapeType="1"/>
            </p:cNvSpPr>
            <p:nvPr/>
          </p:nvSpPr>
          <p:spPr bwMode="auto">
            <a:xfrm>
              <a:off x="6148388" y="4257675"/>
              <a:ext cx="196850"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45" name="Line 298"/>
            <p:cNvSpPr>
              <a:spLocks noChangeShapeType="1"/>
            </p:cNvSpPr>
            <p:nvPr/>
          </p:nvSpPr>
          <p:spPr bwMode="auto">
            <a:xfrm>
              <a:off x="6342063" y="4067175"/>
              <a:ext cx="396875"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46" name="Line 301"/>
            <p:cNvSpPr>
              <a:spLocks noChangeShapeType="1"/>
            </p:cNvSpPr>
            <p:nvPr/>
          </p:nvSpPr>
          <p:spPr bwMode="auto">
            <a:xfrm flipV="1">
              <a:off x="6727825" y="4054475"/>
              <a:ext cx="0" cy="2159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47" name="Line 304"/>
            <p:cNvSpPr>
              <a:spLocks noChangeShapeType="1"/>
            </p:cNvSpPr>
            <p:nvPr/>
          </p:nvSpPr>
          <p:spPr bwMode="auto">
            <a:xfrm>
              <a:off x="6743700" y="4257675"/>
              <a:ext cx="247650"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48" name="Line 307"/>
            <p:cNvSpPr>
              <a:spLocks noChangeShapeType="1"/>
            </p:cNvSpPr>
            <p:nvPr/>
          </p:nvSpPr>
          <p:spPr bwMode="auto">
            <a:xfrm flipV="1">
              <a:off x="7124700" y="4054475"/>
              <a:ext cx="0" cy="2159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49" name="Line 308"/>
            <p:cNvSpPr>
              <a:spLocks noChangeShapeType="1"/>
            </p:cNvSpPr>
            <p:nvPr/>
          </p:nvSpPr>
          <p:spPr bwMode="auto">
            <a:xfrm>
              <a:off x="7113588" y="4257675"/>
              <a:ext cx="12541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50" name="Line 309"/>
            <p:cNvSpPr>
              <a:spLocks noChangeShapeType="1"/>
            </p:cNvSpPr>
            <p:nvPr/>
          </p:nvSpPr>
          <p:spPr bwMode="auto">
            <a:xfrm>
              <a:off x="6985000" y="4067175"/>
              <a:ext cx="12541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51" name="Line 311"/>
            <p:cNvSpPr>
              <a:spLocks noChangeShapeType="1"/>
            </p:cNvSpPr>
            <p:nvPr/>
          </p:nvSpPr>
          <p:spPr bwMode="auto">
            <a:xfrm flipV="1">
              <a:off x="7250113" y="4054475"/>
              <a:ext cx="0" cy="2159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52" name="Line 313"/>
            <p:cNvSpPr>
              <a:spLocks noChangeShapeType="1"/>
            </p:cNvSpPr>
            <p:nvPr/>
          </p:nvSpPr>
          <p:spPr bwMode="auto">
            <a:xfrm>
              <a:off x="7254875" y="4067175"/>
              <a:ext cx="263525"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53" name="Line 314"/>
            <p:cNvSpPr>
              <a:spLocks noChangeShapeType="1"/>
            </p:cNvSpPr>
            <p:nvPr/>
          </p:nvSpPr>
          <p:spPr bwMode="auto">
            <a:xfrm flipV="1">
              <a:off x="7505700" y="3721100"/>
              <a:ext cx="0" cy="2159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54" name="Line 315"/>
            <p:cNvSpPr>
              <a:spLocks noChangeShapeType="1"/>
            </p:cNvSpPr>
            <p:nvPr/>
          </p:nvSpPr>
          <p:spPr bwMode="auto">
            <a:xfrm>
              <a:off x="7505700" y="3725863"/>
              <a:ext cx="123825"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55" name="Line 317"/>
            <p:cNvSpPr>
              <a:spLocks noChangeShapeType="1"/>
            </p:cNvSpPr>
            <p:nvPr/>
          </p:nvSpPr>
          <p:spPr bwMode="auto">
            <a:xfrm>
              <a:off x="7516813" y="4067175"/>
              <a:ext cx="12541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56" name="Line 318"/>
            <p:cNvSpPr>
              <a:spLocks noChangeShapeType="1"/>
            </p:cNvSpPr>
            <p:nvPr/>
          </p:nvSpPr>
          <p:spPr bwMode="auto">
            <a:xfrm flipV="1">
              <a:off x="6989763" y="4054475"/>
              <a:ext cx="0" cy="21590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6457" name="Text Box 340"/>
            <p:cNvSpPr txBox="1">
              <a:spLocks noChangeArrowheads="1"/>
            </p:cNvSpPr>
            <p:nvPr/>
          </p:nvSpPr>
          <p:spPr bwMode="auto">
            <a:xfrm>
              <a:off x="5992812" y="2533652"/>
              <a:ext cx="30162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i="1" dirty="0"/>
                <a:t>D</a:t>
              </a:r>
              <a:endParaRPr lang="en-US" altLang="zh-CN" sz="1600" b="1" dirty="0"/>
            </a:p>
          </p:txBody>
        </p:sp>
      </p:grpSp>
      <p:sp>
        <p:nvSpPr>
          <p:cNvPr id="57380" name="Text Box 36">
            <a:hlinkClick r:id="" action="ppaction://customshow?id=5&amp;return=true"/>
          </p:cNvPr>
          <p:cNvSpPr txBox="1">
            <a:spLocks noChangeArrowheads="1"/>
          </p:cNvSpPr>
          <p:nvPr/>
        </p:nvSpPr>
        <p:spPr bwMode="auto">
          <a:xfrm>
            <a:off x="1415097" y="1669321"/>
            <a:ext cx="1022350"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lang="zh-CN" altLang="en-US" b="1" u="sng" dirty="0">
                <a:solidFill>
                  <a:srgbClr val="FF0000"/>
                </a:solidFill>
                <a:ea typeface="楷体_GB2312" pitchFamily="49" charset="-122"/>
              </a:rPr>
              <a:t>采样</a:t>
            </a:r>
            <a:endParaRPr lang="zh-CN" altLang="en-US" b="1" u="sng" dirty="0">
              <a:solidFill>
                <a:srgbClr val="FF0000"/>
              </a:solidFill>
              <a:ea typeface="楷体_GB2312" pitchFamily="49" charset="-122"/>
            </a:endParaRPr>
          </a:p>
        </p:txBody>
      </p:sp>
      <p:sp>
        <p:nvSpPr>
          <p:cNvPr id="57381" name="Text Box 37"/>
          <p:cNvSpPr txBox="1">
            <a:spLocks noChangeArrowheads="1"/>
          </p:cNvSpPr>
          <p:nvPr/>
        </p:nvSpPr>
        <p:spPr bwMode="auto">
          <a:xfrm>
            <a:off x="2780347" y="1669321"/>
            <a:ext cx="1022350"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lang="zh-CN" altLang="en-US" b="1" dirty="0">
                <a:solidFill>
                  <a:srgbClr val="FF0000"/>
                </a:solidFill>
                <a:ea typeface="楷体_GB2312" pitchFamily="49" charset="-122"/>
              </a:rPr>
              <a:t>保持</a:t>
            </a:r>
            <a:endParaRPr lang="zh-CN" altLang="en-US" b="1" dirty="0">
              <a:solidFill>
                <a:srgbClr val="FF0000"/>
              </a:solidFill>
              <a:ea typeface="楷体_GB2312" pitchFamily="49" charset="-122"/>
            </a:endParaRPr>
          </a:p>
        </p:txBody>
      </p:sp>
      <p:sp>
        <p:nvSpPr>
          <p:cNvPr id="57382" name="Text Box 38"/>
          <p:cNvSpPr txBox="1">
            <a:spLocks noChangeArrowheads="1"/>
          </p:cNvSpPr>
          <p:nvPr/>
        </p:nvSpPr>
        <p:spPr bwMode="auto">
          <a:xfrm>
            <a:off x="4139247" y="1669321"/>
            <a:ext cx="1022350"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lang="zh-CN" altLang="en-US" b="1" dirty="0">
                <a:solidFill>
                  <a:srgbClr val="FF0000"/>
                </a:solidFill>
                <a:ea typeface="楷体_GB2312" pitchFamily="49" charset="-122"/>
              </a:rPr>
              <a:t>量化</a:t>
            </a:r>
            <a:endParaRPr lang="zh-CN" altLang="en-US" b="1" dirty="0">
              <a:solidFill>
                <a:srgbClr val="FF0000"/>
              </a:solidFill>
              <a:ea typeface="楷体_GB2312" pitchFamily="49" charset="-122"/>
            </a:endParaRPr>
          </a:p>
        </p:txBody>
      </p:sp>
      <p:sp>
        <p:nvSpPr>
          <p:cNvPr id="57383" name="Text Box 39"/>
          <p:cNvSpPr txBox="1">
            <a:spLocks noChangeArrowheads="1"/>
          </p:cNvSpPr>
          <p:nvPr/>
        </p:nvSpPr>
        <p:spPr bwMode="auto">
          <a:xfrm>
            <a:off x="5504497" y="1669321"/>
            <a:ext cx="1022350"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lang="zh-CN" altLang="en-US" b="1" dirty="0">
                <a:solidFill>
                  <a:srgbClr val="FF0000"/>
                </a:solidFill>
                <a:ea typeface="楷体_GB2312" pitchFamily="49" charset="-122"/>
              </a:rPr>
              <a:t>编码</a:t>
            </a:r>
            <a:endParaRPr lang="zh-CN" altLang="en-US" b="1" dirty="0">
              <a:solidFill>
                <a:srgbClr val="FF0000"/>
              </a:solidFill>
              <a:ea typeface="楷体_GB2312" pitchFamily="49" charset="-122"/>
            </a:endParaRPr>
          </a:p>
        </p:txBody>
      </p:sp>
      <p:sp>
        <p:nvSpPr>
          <p:cNvPr id="57384" name="Line 40"/>
          <p:cNvSpPr>
            <a:spLocks noChangeShapeType="1"/>
          </p:cNvSpPr>
          <p:nvPr/>
        </p:nvSpPr>
        <p:spPr bwMode="auto">
          <a:xfrm>
            <a:off x="2437447" y="1893159"/>
            <a:ext cx="339725" cy="0"/>
          </a:xfrm>
          <a:prstGeom prst="line">
            <a:avLst/>
          </a:prstGeom>
          <a:noFill/>
          <a:ln w="12700">
            <a:solidFill>
              <a:schemeClr val="tx1"/>
            </a:solidFill>
            <a:round/>
            <a:headEnd type="none" w="sm" len="sm"/>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6" name="Line 42"/>
          <p:cNvSpPr>
            <a:spLocks noChangeShapeType="1"/>
          </p:cNvSpPr>
          <p:nvPr/>
        </p:nvSpPr>
        <p:spPr bwMode="auto">
          <a:xfrm>
            <a:off x="3802697" y="1893159"/>
            <a:ext cx="339725" cy="0"/>
          </a:xfrm>
          <a:prstGeom prst="line">
            <a:avLst/>
          </a:prstGeom>
          <a:noFill/>
          <a:ln w="12700">
            <a:solidFill>
              <a:schemeClr val="tx1"/>
            </a:solidFill>
            <a:round/>
            <a:headEnd type="none" w="sm" len="sm"/>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387" name="Line 43"/>
          <p:cNvSpPr>
            <a:spLocks noChangeShapeType="1"/>
          </p:cNvSpPr>
          <p:nvPr/>
        </p:nvSpPr>
        <p:spPr bwMode="auto">
          <a:xfrm>
            <a:off x="5164772" y="1893159"/>
            <a:ext cx="339725" cy="0"/>
          </a:xfrm>
          <a:prstGeom prst="line">
            <a:avLst/>
          </a:prstGeom>
          <a:noFill/>
          <a:ln w="12700">
            <a:solidFill>
              <a:schemeClr val="tx1"/>
            </a:solidFill>
            <a:round/>
            <a:headEnd type="none" w="sm" len="sm"/>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7696" name="Group 352"/>
          <p:cNvGrpSpPr/>
          <p:nvPr/>
        </p:nvGrpSpPr>
        <p:grpSpPr bwMode="auto">
          <a:xfrm>
            <a:off x="489585" y="2400618"/>
            <a:ext cx="2073275" cy="1625600"/>
            <a:chOff x="276" y="1649"/>
            <a:chExt cx="1306" cy="1024"/>
          </a:xfrm>
        </p:grpSpPr>
        <p:sp>
          <p:nvSpPr>
            <p:cNvPr id="16601" name="Line 106"/>
            <p:cNvSpPr>
              <a:spLocks noChangeShapeType="1"/>
            </p:cNvSpPr>
            <p:nvPr/>
          </p:nvSpPr>
          <p:spPr bwMode="auto">
            <a:xfrm flipV="1">
              <a:off x="448" y="1765"/>
              <a:ext cx="0" cy="810"/>
            </a:xfrm>
            <a:prstGeom prst="line">
              <a:avLst/>
            </a:prstGeom>
            <a:noFill/>
            <a:ln w="2857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602" name="Line 107"/>
            <p:cNvSpPr>
              <a:spLocks noChangeShapeType="1"/>
            </p:cNvSpPr>
            <p:nvPr/>
          </p:nvSpPr>
          <p:spPr bwMode="auto">
            <a:xfrm>
              <a:off x="448" y="2575"/>
              <a:ext cx="1087" cy="0"/>
            </a:xfrm>
            <a:prstGeom prst="line">
              <a:avLst/>
            </a:prstGeom>
            <a:noFill/>
            <a:ln w="2857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603" name="Text Box 108"/>
            <p:cNvSpPr txBox="1">
              <a:spLocks noChangeArrowheads="1"/>
            </p:cNvSpPr>
            <p:nvPr/>
          </p:nvSpPr>
          <p:spPr bwMode="auto">
            <a:xfrm>
              <a:off x="276" y="2461"/>
              <a:ext cx="153"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t>0</a:t>
              </a:r>
              <a:endParaRPr lang="en-US" altLang="zh-CN" sz="1600" b="1"/>
            </a:p>
          </p:txBody>
        </p:sp>
        <p:sp>
          <p:nvSpPr>
            <p:cNvPr id="16604" name="Text Box 109"/>
            <p:cNvSpPr txBox="1">
              <a:spLocks noChangeArrowheads="1"/>
            </p:cNvSpPr>
            <p:nvPr/>
          </p:nvSpPr>
          <p:spPr bwMode="auto">
            <a:xfrm>
              <a:off x="1427" y="2277"/>
              <a:ext cx="155"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i="1"/>
                <a:t>t</a:t>
              </a:r>
              <a:endParaRPr lang="en-US" altLang="zh-CN" sz="1600" b="1"/>
            </a:p>
          </p:txBody>
        </p:sp>
        <p:sp>
          <p:nvSpPr>
            <p:cNvPr id="16605" name="Text Box 110"/>
            <p:cNvSpPr txBox="1">
              <a:spLocks noChangeArrowheads="1"/>
            </p:cNvSpPr>
            <p:nvPr/>
          </p:nvSpPr>
          <p:spPr bwMode="auto">
            <a:xfrm>
              <a:off x="443" y="1649"/>
              <a:ext cx="323"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i="1"/>
                <a:t>u</a:t>
              </a:r>
              <a:r>
                <a:rPr lang="en-US" altLang="zh-CN" sz="1600" b="1" baseline="-25000"/>
                <a:t>1</a:t>
              </a:r>
              <a:r>
                <a:rPr lang="en-US" altLang="zh-CN" sz="1600" b="1"/>
                <a:t>(</a:t>
              </a:r>
              <a:r>
                <a:rPr lang="en-US" altLang="zh-CN" sz="1600" b="1" i="1"/>
                <a:t>t</a:t>
              </a:r>
              <a:r>
                <a:rPr lang="en-US" altLang="zh-CN" sz="1600" b="1"/>
                <a:t>)</a:t>
              </a:r>
              <a:endParaRPr lang="en-US" altLang="zh-CN" sz="1600" b="1"/>
            </a:p>
          </p:txBody>
        </p:sp>
        <p:sp>
          <p:nvSpPr>
            <p:cNvPr id="16606" name="Freeform 111"/>
            <p:cNvSpPr/>
            <p:nvPr/>
          </p:nvSpPr>
          <p:spPr bwMode="auto">
            <a:xfrm>
              <a:off x="448" y="1925"/>
              <a:ext cx="928" cy="461"/>
            </a:xfrm>
            <a:custGeom>
              <a:avLst/>
              <a:gdLst>
                <a:gd name="T0" fmla="*/ 0 w 2784"/>
                <a:gd name="T1" fmla="*/ 27 h 1176"/>
                <a:gd name="T2" fmla="*/ 18 w 2784"/>
                <a:gd name="T3" fmla="*/ 4 h 1176"/>
                <a:gd name="T4" fmla="*/ 55 w 2784"/>
                <a:gd name="T5" fmla="*/ 53 h 1176"/>
                <a:gd name="T6" fmla="*/ 82 w 2784"/>
                <a:gd name="T7" fmla="*/ 42 h 1176"/>
                <a:gd name="T8" fmla="*/ 96 w 2784"/>
                <a:gd name="T9" fmla="*/ 65 h 1176"/>
                <a:gd name="T10" fmla="*/ 103 w 2784"/>
                <a:gd name="T11" fmla="*/ 71 h 117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784" h="1176">
                  <a:moveTo>
                    <a:pt x="0" y="456"/>
                  </a:moveTo>
                  <a:cubicBezTo>
                    <a:pt x="116" y="228"/>
                    <a:pt x="232" y="0"/>
                    <a:pt x="480" y="72"/>
                  </a:cubicBezTo>
                  <a:cubicBezTo>
                    <a:pt x="728" y="144"/>
                    <a:pt x="1200" y="784"/>
                    <a:pt x="1488" y="888"/>
                  </a:cubicBezTo>
                  <a:cubicBezTo>
                    <a:pt x="1776" y="992"/>
                    <a:pt x="2024" y="664"/>
                    <a:pt x="2208" y="696"/>
                  </a:cubicBezTo>
                  <a:cubicBezTo>
                    <a:pt x="2392" y="728"/>
                    <a:pt x="2496" y="1000"/>
                    <a:pt x="2592" y="1080"/>
                  </a:cubicBezTo>
                  <a:cubicBezTo>
                    <a:pt x="2688" y="1160"/>
                    <a:pt x="2752" y="1152"/>
                    <a:pt x="2784" y="1176"/>
                  </a:cubicBezTo>
                </a:path>
              </a:pathLst>
            </a:custGeom>
            <a:noFill/>
            <a:ln w="28575" cap="flat" cmpd="sng">
              <a:solidFill>
                <a:schemeClr val="accent2"/>
              </a:solidFill>
              <a:prstDash val="solid"/>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7577" name="Group 233"/>
          <p:cNvGrpSpPr/>
          <p:nvPr/>
        </p:nvGrpSpPr>
        <p:grpSpPr bwMode="auto">
          <a:xfrm>
            <a:off x="1672273" y="4523105"/>
            <a:ext cx="2051050" cy="1343025"/>
            <a:chOff x="1987" y="2730"/>
            <a:chExt cx="1292" cy="846"/>
          </a:xfrm>
        </p:grpSpPr>
        <p:sp>
          <p:nvSpPr>
            <p:cNvPr id="16548" name="Text Box 113"/>
            <p:cNvSpPr txBox="1">
              <a:spLocks noChangeArrowheads="1"/>
            </p:cNvSpPr>
            <p:nvPr/>
          </p:nvSpPr>
          <p:spPr bwMode="auto">
            <a:xfrm>
              <a:off x="1987" y="3364"/>
              <a:ext cx="212"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t>0</a:t>
              </a:r>
              <a:endParaRPr lang="en-US" altLang="zh-CN" sz="1600" b="1"/>
            </a:p>
          </p:txBody>
        </p:sp>
        <p:sp>
          <p:nvSpPr>
            <p:cNvPr id="16549" name="Line 114"/>
            <p:cNvSpPr>
              <a:spLocks noChangeShapeType="1"/>
            </p:cNvSpPr>
            <p:nvPr/>
          </p:nvSpPr>
          <p:spPr bwMode="auto">
            <a:xfrm flipV="1">
              <a:off x="2232" y="3003"/>
              <a:ext cx="0" cy="501"/>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50" name="Line 115"/>
            <p:cNvSpPr>
              <a:spLocks noChangeShapeType="1"/>
            </p:cNvSpPr>
            <p:nvPr/>
          </p:nvSpPr>
          <p:spPr bwMode="auto">
            <a:xfrm flipV="1">
              <a:off x="2272" y="2952"/>
              <a:ext cx="0" cy="552"/>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51" name="Line 116"/>
            <p:cNvSpPr>
              <a:spLocks noChangeShapeType="1"/>
            </p:cNvSpPr>
            <p:nvPr/>
          </p:nvSpPr>
          <p:spPr bwMode="auto">
            <a:xfrm flipV="1">
              <a:off x="2313" y="2934"/>
              <a:ext cx="0" cy="57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52" name="Line 117"/>
            <p:cNvSpPr>
              <a:spLocks noChangeShapeType="1"/>
            </p:cNvSpPr>
            <p:nvPr/>
          </p:nvSpPr>
          <p:spPr bwMode="auto">
            <a:xfrm flipV="1">
              <a:off x="2353" y="2941"/>
              <a:ext cx="0" cy="563"/>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53" name="Line 118"/>
            <p:cNvSpPr>
              <a:spLocks noChangeShapeType="1"/>
            </p:cNvSpPr>
            <p:nvPr/>
          </p:nvSpPr>
          <p:spPr bwMode="auto">
            <a:xfrm flipV="1">
              <a:off x="2393" y="2958"/>
              <a:ext cx="0" cy="546"/>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54" name="Line 119"/>
            <p:cNvSpPr>
              <a:spLocks noChangeShapeType="1"/>
            </p:cNvSpPr>
            <p:nvPr/>
          </p:nvSpPr>
          <p:spPr bwMode="auto">
            <a:xfrm flipV="1">
              <a:off x="2433" y="2996"/>
              <a:ext cx="0" cy="508"/>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55" name="Line 120"/>
            <p:cNvSpPr>
              <a:spLocks noChangeShapeType="1"/>
            </p:cNvSpPr>
            <p:nvPr/>
          </p:nvSpPr>
          <p:spPr bwMode="auto">
            <a:xfrm flipV="1">
              <a:off x="2474" y="3030"/>
              <a:ext cx="0" cy="474"/>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56" name="Line 121"/>
            <p:cNvSpPr>
              <a:spLocks noChangeShapeType="1"/>
            </p:cNvSpPr>
            <p:nvPr/>
          </p:nvSpPr>
          <p:spPr bwMode="auto">
            <a:xfrm flipV="1">
              <a:off x="2514" y="3077"/>
              <a:ext cx="0" cy="427"/>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57" name="Line 122"/>
            <p:cNvSpPr>
              <a:spLocks noChangeShapeType="1"/>
            </p:cNvSpPr>
            <p:nvPr/>
          </p:nvSpPr>
          <p:spPr bwMode="auto">
            <a:xfrm flipV="1">
              <a:off x="2555" y="3116"/>
              <a:ext cx="0" cy="388"/>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58" name="Line 123"/>
            <p:cNvSpPr>
              <a:spLocks noChangeShapeType="1"/>
            </p:cNvSpPr>
            <p:nvPr/>
          </p:nvSpPr>
          <p:spPr bwMode="auto">
            <a:xfrm flipV="1">
              <a:off x="2595" y="3158"/>
              <a:ext cx="0" cy="346"/>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59" name="Line 124"/>
            <p:cNvSpPr>
              <a:spLocks noChangeShapeType="1"/>
            </p:cNvSpPr>
            <p:nvPr/>
          </p:nvSpPr>
          <p:spPr bwMode="auto">
            <a:xfrm flipV="1">
              <a:off x="2635" y="3193"/>
              <a:ext cx="0" cy="311"/>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60" name="Line 125"/>
            <p:cNvSpPr>
              <a:spLocks noChangeShapeType="1"/>
            </p:cNvSpPr>
            <p:nvPr/>
          </p:nvSpPr>
          <p:spPr bwMode="auto">
            <a:xfrm flipV="1">
              <a:off x="2676" y="3222"/>
              <a:ext cx="0" cy="282"/>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61" name="Line 126"/>
            <p:cNvSpPr>
              <a:spLocks noChangeShapeType="1"/>
            </p:cNvSpPr>
            <p:nvPr/>
          </p:nvSpPr>
          <p:spPr bwMode="auto">
            <a:xfrm flipV="1">
              <a:off x="2716" y="3234"/>
              <a:ext cx="0" cy="27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62" name="Line 127"/>
            <p:cNvSpPr>
              <a:spLocks noChangeShapeType="1"/>
            </p:cNvSpPr>
            <p:nvPr/>
          </p:nvSpPr>
          <p:spPr bwMode="auto">
            <a:xfrm flipV="1">
              <a:off x="2756" y="3234"/>
              <a:ext cx="0" cy="27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63" name="Line 128"/>
            <p:cNvSpPr>
              <a:spLocks noChangeShapeType="1"/>
            </p:cNvSpPr>
            <p:nvPr/>
          </p:nvSpPr>
          <p:spPr bwMode="auto">
            <a:xfrm flipV="1">
              <a:off x="2797" y="3220"/>
              <a:ext cx="0" cy="284"/>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64" name="Line 129"/>
            <p:cNvSpPr>
              <a:spLocks noChangeShapeType="1"/>
            </p:cNvSpPr>
            <p:nvPr/>
          </p:nvSpPr>
          <p:spPr bwMode="auto">
            <a:xfrm flipV="1">
              <a:off x="2837" y="3201"/>
              <a:ext cx="0" cy="303"/>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65" name="Line 130"/>
            <p:cNvSpPr>
              <a:spLocks noChangeShapeType="1"/>
            </p:cNvSpPr>
            <p:nvPr/>
          </p:nvSpPr>
          <p:spPr bwMode="auto">
            <a:xfrm flipV="1">
              <a:off x="2877" y="3184"/>
              <a:ext cx="0" cy="32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66" name="Line 131"/>
            <p:cNvSpPr>
              <a:spLocks noChangeShapeType="1"/>
            </p:cNvSpPr>
            <p:nvPr/>
          </p:nvSpPr>
          <p:spPr bwMode="auto">
            <a:xfrm flipV="1">
              <a:off x="2958" y="3167"/>
              <a:ext cx="0" cy="337"/>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67" name="Line 132"/>
            <p:cNvSpPr>
              <a:spLocks noChangeShapeType="1"/>
            </p:cNvSpPr>
            <p:nvPr/>
          </p:nvSpPr>
          <p:spPr bwMode="auto">
            <a:xfrm flipV="1">
              <a:off x="2918" y="3157"/>
              <a:ext cx="0" cy="347"/>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68" name="Line 133"/>
            <p:cNvSpPr>
              <a:spLocks noChangeShapeType="1"/>
            </p:cNvSpPr>
            <p:nvPr/>
          </p:nvSpPr>
          <p:spPr bwMode="auto">
            <a:xfrm flipV="1">
              <a:off x="2998" y="3205"/>
              <a:ext cx="0" cy="299"/>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69" name="Line 134"/>
            <p:cNvSpPr>
              <a:spLocks noChangeShapeType="1"/>
            </p:cNvSpPr>
            <p:nvPr/>
          </p:nvSpPr>
          <p:spPr bwMode="auto">
            <a:xfrm flipV="1">
              <a:off x="3039" y="3260"/>
              <a:ext cx="0" cy="244"/>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6570" name="Object 135"/>
            <p:cNvGraphicFramePr>
              <a:graphicFrameLocks noChangeAspect="1"/>
            </p:cNvGraphicFramePr>
            <p:nvPr/>
          </p:nvGraphicFramePr>
          <p:xfrm>
            <a:off x="2222" y="2730"/>
            <a:ext cx="252" cy="149"/>
          </p:xfrm>
          <a:graphic>
            <a:graphicData uri="http://schemas.openxmlformats.org/presentationml/2006/ole">
              <mc:AlternateContent xmlns:mc="http://schemas.openxmlformats.org/markup-compatibility/2006">
                <mc:Choice xmlns:v="urn:schemas-microsoft-com:vml" Requires="v">
                  <p:oleObj spid="_x0000_s16661" name="Equation" r:id="rId1" imgW="355600" imgH="203200" progId="Equation.DSMT4">
                    <p:embed/>
                  </p:oleObj>
                </mc:Choice>
                <mc:Fallback>
                  <p:oleObj name="Equation" r:id="rId1" imgW="355600" imgH="203200" progId="Equation.DSMT4">
                    <p:embed/>
                    <p:pic>
                      <p:nvPicPr>
                        <p:cNvPr id="0" name="Object 1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2" y="2730"/>
                          <a:ext cx="252" cy="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571" name="Line 136"/>
            <p:cNvSpPr>
              <a:spLocks noChangeShapeType="1"/>
            </p:cNvSpPr>
            <p:nvPr/>
          </p:nvSpPr>
          <p:spPr bwMode="auto">
            <a:xfrm flipV="1">
              <a:off x="3079" y="3304"/>
              <a:ext cx="0" cy="20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72" name="Line 137"/>
            <p:cNvSpPr>
              <a:spLocks noChangeShapeType="1"/>
            </p:cNvSpPr>
            <p:nvPr/>
          </p:nvSpPr>
          <p:spPr bwMode="auto">
            <a:xfrm flipV="1">
              <a:off x="3120" y="3327"/>
              <a:ext cx="0" cy="177"/>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73" name="Line 138"/>
            <p:cNvSpPr>
              <a:spLocks noChangeShapeType="1"/>
            </p:cNvSpPr>
            <p:nvPr/>
          </p:nvSpPr>
          <p:spPr bwMode="auto">
            <a:xfrm flipV="1">
              <a:off x="2192" y="3002"/>
              <a:ext cx="39" cy="7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74" name="Line 139"/>
            <p:cNvSpPr>
              <a:spLocks noChangeShapeType="1"/>
            </p:cNvSpPr>
            <p:nvPr/>
          </p:nvSpPr>
          <p:spPr bwMode="auto">
            <a:xfrm flipV="1">
              <a:off x="2271" y="2936"/>
              <a:ext cx="41" cy="2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75" name="Line 140"/>
            <p:cNvSpPr>
              <a:spLocks noChangeShapeType="1"/>
            </p:cNvSpPr>
            <p:nvPr/>
          </p:nvSpPr>
          <p:spPr bwMode="auto">
            <a:xfrm>
              <a:off x="2352" y="2941"/>
              <a:ext cx="41" cy="21"/>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76" name="Line 141"/>
            <p:cNvSpPr>
              <a:spLocks noChangeShapeType="1"/>
            </p:cNvSpPr>
            <p:nvPr/>
          </p:nvSpPr>
          <p:spPr bwMode="auto">
            <a:xfrm>
              <a:off x="2433" y="2996"/>
              <a:ext cx="41" cy="36"/>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77" name="Line 142"/>
            <p:cNvSpPr>
              <a:spLocks noChangeShapeType="1"/>
            </p:cNvSpPr>
            <p:nvPr/>
          </p:nvSpPr>
          <p:spPr bwMode="auto">
            <a:xfrm>
              <a:off x="2515" y="3077"/>
              <a:ext cx="43" cy="41"/>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78" name="Line 143"/>
            <p:cNvSpPr>
              <a:spLocks noChangeShapeType="1"/>
            </p:cNvSpPr>
            <p:nvPr/>
          </p:nvSpPr>
          <p:spPr bwMode="auto">
            <a:xfrm>
              <a:off x="2594" y="3158"/>
              <a:ext cx="41" cy="37"/>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79" name="Line 144"/>
            <p:cNvSpPr>
              <a:spLocks noChangeShapeType="1"/>
            </p:cNvSpPr>
            <p:nvPr/>
          </p:nvSpPr>
          <p:spPr bwMode="auto">
            <a:xfrm>
              <a:off x="2675" y="3222"/>
              <a:ext cx="41" cy="1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80" name="Line 145"/>
            <p:cNvSpPr>
              <a:spLocks noChangeShapeType="1"/>
            </p:cNvSpPr>
            <p:nvPr/>
          </p:nvSpPr>
          <p:spPr bwMode="auto">
            <a:xfrm flipV="1">
              <a:off x="2756" y="3222"/>
              <a:ext cx="41" cy="13"/>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81" name="Line 146"/>
            <p:cNvSpPr>
              <a:spLocks noChangeShapeType="1"/>
            </p:cNvSpPr>
            <p:nvPr/>
          </p:nvSpPr>
          <p:spPr bwMode="auto">
            <a:xfrm flipV="1">
              <a:off x="2837" y="3182"/>
              <a:ext cx="41" cy="19"/>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82" name="Line 147"/>
            <p:cNvSpPr>
              <a:spLocks noChangeShapeType="1"/>
            </p:cNvSpPr>
            <p:nvPr/>
          </p:nvSpPr>
          <p:spPr bwMode="auto">
            <a:xfrm>
              <a:off x="2918" y="3160"/>
              <a:ext cx="39" cy="7"/>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83" name="Line 148"/>
            <p:cNvSpPr>
              <a:spLocks noChangeShapeType="1"/>
            </p:cNvSpPr>
            <p:nvPr/>
          </p:nvSpPr>
          <p:spPr bwMode="auto">
            <a:xfrm>
              <a:off x="2997" y="3205"/>
              <a:ext cx="42" cy="5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84" name="Line 149"/>
            <p:cNvSpPr>
              <a:spLocks noChangeShapeType="1"/>
            </p:cNvSpPr>
            <p:nvPr/>
          </p:nvSpPr>
          <p:spPr bwMode="auto">
            <a:xfrm>
              <a:off x="3079" y="3306"/>
              <a:ext cx="43" cy="21"/>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85" name="Line 150"/>
            <p:cNvSpPr>
              <a:spLocks noChangeShapeType="1"/>
            </p:cNvSpPr>
            <p:nvPr/>
          </p:nvSpPr>
          <p:spPr bwMode="auto">
            <a:xfrm flipV="1">
              <a:off x="2191" y="3073"/>
              <a:ext cx="0" cy="429"/>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86" name="Line 151"/>
            <p:cNvSpPr>
              <a:spLocks noChangeShapeType="1"/>
            </p:cNvSpPr>
            <p:nvPr/>
          </p:nvSpPr>
          <p:spPr bwMode="auto">
            <a:xfrm flipV="1">
              <a:off x="2192" y="2770"/>
              <a:ext cx="0" cy="734"/>
            </a:xfrm>
            <a:prstGeom prst="line">
              <a:avLst/>
            </a:prstGeom>
            <a:noFill/>
            <a:ln w="2857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87" name="Line 152"/>
            <p:cNvSpPr>
              <a:spLocks noChangeShapeType="1"/>
            </p:cNvSpPr>
            <p:nvPr/>
          </p:nvSpPr>
          <p:spPr bwMode="auto">
            <a:xfrm>
              <a:off x="2192" y="3503"/>
              <a:ext cx="1087" cy="0"/>
            </a:xfrm>
            <a:prstGeom prst="line">
              <a:avLst/>
            </a:prstGeom>
            <a:noFill/>
            <a:ln w="2857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88" name="Line 153"/>
            <p:cNvSpPr>
              <a:spLocks noChangeShapeType="1"/>
            </p:cNvSpPr>
            <p:nvPr/>
          </p:nvSpPr>
          <p:spPr bwMode="auto">
            <a:xfrm>
              <a:off x="2231" y="3505"/>
              <a:ext cx="40"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89" name="Line 154"/>
            <p:cNvSpPr>
              <a:spLocks noChangeShapeType="1"/>
            </p:cNvSpPr>
            <p:nvPr/>
          </p:nvSpPr>
          <p:spPr bwMode="auto">
            <a:xfrm>
              <a:off x="2312" y="3505"/>
              <a:ext cx="40"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90" name="Line 155"/>
            <p:cNvSpPr>
              <a:spLocks noChangeShapeType="1"/>
            </p:cNvSpPr>
            <p:nvPr/>
          </p:nvSpPr>
          <p:spPr bwMode="auto">
            <a:xfrm>
              <a:off x="2393" y="3505"/>
              <a:ext cx="40"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91" name="Line 156"/>
            <p:cNvSpPr>
              <a:spLocks noChangeShapeType="1"/>
            </p:cNvSpPr>
            <p:nvPr/>
          </p:nvSpPr>
          <p:spPr bwMode="auto">
            <a:xfrm>
              <a:off x="2474" y="3505"/>
              <a:ext cx="40"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92" name="Line 157"/>
            <p:cNvSpPr>
              <a:spLocks noChangeShapeType="1"/>
            </p:cNvSpPr>
            <p:nvPr/>
          </p:nvSpPr>
          <p:spPr bwMode="auto">
            <a:xfrm>
              <a:off x="2553" y="3505"/>
              <a:ext cx="40"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93" name="Line 158"/>
            <p:cNvSpPr>
              <a:spLocks noChangeShapeType="1"/>
            </p:cNvSpPr>
            <p:nvPr/>
          </p:nvSpPr>
          <p:spPr bwMode="auto">
            <a:xfrm>
              <a:off x="2636" y="3505"/>
              <a:ext cx="41"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94" name="Line 159"/>
            <p:cNvSpPr>
              <a:spLocks noChangeShapeType="1"/>
            </p:cNvSpPr>
            <p:nvPr/>
          </p:nvSpPr>
          <p:spPr bwMode="auto">
            <a:xfrm>
              <a:off x="2717" y="3505"/>
              <a:ext cx="41"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95" name="Line 160"/>
            <p:cNvSpPr>
              <a:spLocks noChangeShapeType="1"/>
            </p:cNvSpPr>
            <p:nvPr/>
          </p:nvSpPr>
          <p:spPr bwMode="auto">
            <a:xfrm>
              <a:off x="2799" y="3505"/>
              <a:ext cx="40"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96" name="Line 161"/>
            <p:cNvSpPr>
              <a:spLocks noChangeShapeType="1"/>
            </p:cNvSpPr>
            <p:nvPr/>
          </p:nvSpPr>
          <p:spPr bwMode="auto">
            <a:xfrm>
              <a:off x="2880" y="3505"/>
              <a:ext cx="40"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97" name="Line 162"/>
            <p:cNvSpPr>
              <a:spLocks noChangeShapeType="1"/>
            </p:cNvSpPr>
            <p:nvPr/>
          </p:nvSpPr>
          <p:spPr bwMode="auto">
            <a:xfrm>
              <a:off x="2959" y="3505"/>
              <a:ext cx="40"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98" name="Line 163"/>
            <p:cNvSpPr>
              <a:spLocks noChangeShapeType="1"/>
            </p:cNvSpPr>
            <p:nvPr/>
          </p:nvSpPr>
          <p:spPr bwMode="auto">
            <a:xfrm>
              <a:off x="3040" y="3505"/>
              <a:ext cx="40"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99" name="Line 164"/>
            <p:cNvSpPr>
              <a:spLocks noChangeShapeType="1"/>
            </p:cNvSpPr>
            <p:nvPr/>
          </p:nvSpPr>
          <p:spPr bwMode="auto">
            <a:xfrm>
              <a:off x="3121" y="3505"/>
              <a:ext cx="41" cy="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600" name="Text Box 165"/>
            <p:cNvSpPr txBox="1">
              <a:spLocks noChangeArrowheads="1"/>
            </p:cNvSpPr>
            <p:nvPr/>
          </p:nvSpPr>
          <p:spPr bwMode="auto">
            <a:xfrm>
              <a:off x="3144" y="3283"/>
              <a:ext cx="135"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t>t</a:t>
              </a:r>
              <a:endParaRPr lang="en-US" altLang="zh-CN" sz="1600" b="1"/>
            </a:p>
          </p:txBody>
        </p:sp>
      </p:grpSp>
      <p:grpSp>
        <p:nvGrpSpPr>
          <p:cNvPr id="57698" name="Group 354"/>
          <p:cNvGrpSpPr/>
          <p:nvPr/>
        </p:nvGrpSpPr>
        <p:grpSpPr bwMode="auto">
          <a:xfrm>
            <a:off x="3143885" y="2473643"/>
            <a:ext cx="2136775" cy="1752600"/>
            <a:chOff x="1948" y="1695"/>
            <a:chExt cx="1346" cy="1104"/>
          </a:xfrm>
        </p:grpSpPr>
        <p:sp>
          <p:nvSpPr>
            <p:cNvPr id="16509" name="Text Box 167"/>
            <p:cNvSpPr txBox="1">
              <a:spLocks noChangeArrowheads="1"/>
            </p:cNvSpPr>
            <p:nvPr/>
          </p:nvSpPr>
          <p:spPr bwMode="auto">
            <a:xfrm>
              <a:off x="1948" y="2587"/>
              <a:ext cx="214"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a:t>0</a:t>
              </a:r>
              <a:endParaRPr lang="en-US" altLang="zh-CN" sz="1600" b="1"/>
            </a:p>
          </p:txBody>
        </p:sp>
        <p:sp>
          <p:nvSpPr>
            <p:cNvPr id="16510" name="Text Box 168"/>
            <p:cNvSpPr txBox="1">
              <a:spLocks noChangeArrowheads="1"/>
            </p:cNvSpPr>
            <p:nvPr/>
          </p:nvSpPr>
          <p:spPr bwMode="auto">
            <a:xfrm>
              <a:off x="3154" y="2532"/>
              <a:ext cx="140"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i="1"/>
                <a:t>t</a:t>
              </a:r>
              <a:endParaRPr lang="en-US" altLang="zh-CN" sz="1600" b="1"/>
            </a:p>
          </p:txBody>
        </p:sp>
        <p:sp>
          <p:nvSpPr>
            <p:cNvPr id="16511" name="Text Box 169"/>
            <p:cNvSpPr txBox="1">
              <a:spLocks noChangeArrowheads="1"/>
            </p:cNvSpPr>
            <p:nvPr/>
          </p:nvSpPr>
          <p:spPr bwMode="auto">
            <a:xfrm>
              <a:off x="2136" y="1695"/>
              <a:ext cx="368"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600" b="1" i="1"/>
                <a:t>u</a:t>
              </a:r>
              <a:r>
                <a:rPr lang="en-US" altLang="zh-CN" sz="1600" b="1" baseline="-25000"/>
                <a:t>O</a:t>
              </a:r>
              <a:r>
                <a:rPr lang="en-US" altLang="zh-CN" sz="1600" b="1"/>
                <a:t>(t)</a:t>
              </a:r>
              <a:endParaRPr lang="en-US" altLang="zh-CN" sz="1600" b="1"/>
            </a:p>
          </p:txBody>
        </p:sp>
        <p:sp>
          <p:nvSpPr>
            <p:cNvPr id="16512" name="Line 193"/>
            <p:cNvSpPr>
              <a:spLocks noChangeShapeType="1"/>
            </p:cNvSpPr>
            <p:nvPr/>
          </p:nvSpPr>
          <p:spPr bwMode="auto">
            <a:xfrm flipV="1">
              <a:off x="2142" y="2155"/>
              <a:ext cx="0" cy="552"/>
            </a:xfrm>
            <a:prstGeom prst="line">
              <a:avLst/>
            </a:prstGeom>
            <a:noFill/>
            <a:ln w="28575" cap="rnd">
              <a:solidFill>
                <a:schemeClr val="hlink"/>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13" name="Line 194"/>
            <p:cNvSpPr>
              <a:spLocks noChangeShapeType="1"/>
            </p:cNvSpPr>
            <p:nvPr/>
          </p:nvSpPr>
          <p:spPr bwMode="auto">
            <a:xfrm flipV="1">
              <a:off x="2143" y="2063"/>
              <a:ext cx="39" cy="97"/>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14" name="Line 195"/>
            <p:cNvSpPr>
              <a:spLocks noChangeShapeType="1"/>
            </p:cNvSpPr>
            <p:nvPr/>
          </p:nvSpPr>
          <p:spPr bwMode="auto">
            <a:xfrm flipV="1">
              <a:off x="2223" y="1979"/>
              <a:ext cx="42" cy="2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15" name="Line 196"/>
            <p:cNvSpPr>
              <a:spLocks noChangeShapeType="1"/>
            </p:cNvSpPr>
            <p:nvPr/>
          </p:nvSpPr>
          <p:spPr bwMode="auto">
            <a:xfrm>
              <a:off x="2306" y="1985"/>
              <a:ext cx="41" cy="27"/>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16" name="Line 197"/>
            <p:cNvSpPr>
              <a:spLocks noChangeShapeType="1"/>
            </p:cNvSpPr>
            <p:nvPr/>
          </p:nvSpPr>
          <p:spPr bwMode="auto">
            <a:xfrm>
              <a:off x="2388" y="2056"/>
              <a:ext cx="41" cy="47"/>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17" name="Line 198"/>
            <p:cNvSpPr>
              <a:spLocks noChangeShapeType="1"/>
            </p:cNvSpPr>
            <p:nvPr/>
          </p:nvSpPr>
          <p:spPr bwMode="auto">
            <a:xfrm>
              <a:off x="2471" y="2161"/>
              <a:ext cx="43" cy="52"/>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18" name="Line 199"/>
            <p:cNvSpPr>
              <a:spLocks noChangeShapeType="1"/>
            </p:cNvSpPr>
            <p:nvPr/>
          </p:nvSpPr>
          <p:spPr bwMode="auto">
            <a:xfrm>
              <a:off x="2551" y="2265"/>
              <a:ext cx="41" cy="47"/>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19" name="Line 200"/>
            <p:cNvSpPr>
              <a:spLocks noChangeShapeType="1"/>
            </p:cNvSpPr>
            <p:nvPr/>
          </p:nvSpPr>
          <p:spPr bwMode="auto">
            <a:xfrm>
              <a:off x="2633" y="2347"/>
              <a:ext cx="42" cy="2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20" name="Line 201"/>
            <p:cNvSpPr>
              <a:spLocks noChangeShapeType="1"/>
            </p:cNvSpPr>
            <p:nvPr/>
          </p:nvSpPr>
          <p:spPr bwMode="auto">
            <a:xfrm flipV="1">
              <a:off x="2715" y="2350"/>
              <a:ext cx="41" cy="17"/>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21" name="Line 202"/>
            <p:cNvSpPr>
              <a:spLocks noChangeShapeType="1"/>
            </p:cNvSpPr>
            <p:nvPr/>
          </p:nvSpPr>
          <p:spPr bwMode="auto">
            <a:xfrm flipV="1">
              <a:off x="2798" y="2295"/>
              <a:ext cx="41" cy="2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22" name="Line 203"/>
            <p:cNvSpPr>
              <a:spLocks noChangeShapeType="1"/>
            </p:cNvSpPr>
            <p:nvPr/>
          </p:nvSpPr>
          <p:spPr bwMode="auto">
            <a:xfrm>
              <a:off x="2881" y="2268"/>
              <a:ext cx="39" cy="8"/>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23" name="Line 204"/>
            <p:cNvSpPr>
              <a:spLocks noChangeShapeType="1"/>
            </p:cNvSpPr>
            <p:nvPr/>
          </p:nvSpPr>
          <p:spPr bwMode="auto">
            <a:xfrm>
              <a:off x="2962" y="2327"/>
              <a:ext cx="41" cy="71"/>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24" name="Line 205"/>
            <p:cNvSpPr>
              <a:spLocks noChangeShapeType="1"/>
            </p:cNvSpPr>
            <p:nvPr/>
          </p:nvSpPr>
          <p:spPr bwMode="auto">
            <a:xfrm>
              <a:off x="3043" y="2457"/>
              <a:ext cx="44" cy="28"/>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25" name="Line 206"/>
            <p:cNvSpPr>
              <a:spLocks noChangeShapeType="1"/>
            </p:cNvSpPr>
            <p:nvPr/>
          </p:nvSpPr>
          <p:spPr bwMode="auto">
            <a:xfrm>
              <a:off x="2182" y="2064"/>
              <a:ext cx="41"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26" name="Line 207"/>
            <p:cNvSpPr>
              <a:spLocks noChangeShapeType="1"/>
            </p:cNvSpPr>
            <p:nvPr/>
          </p:nvSpPr>
          <p:spPr bwMode="auto">
            <a:xfrm>
              <a:off x="2265" y="1979"/>
              <a:ext cx="45"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27" name="Line 208"/>
            <p:cNvSpPr>
              <a:spLocks noChangeShapeType="1"/>
            </p:cNvSpPr>
            <p:nvPr/>
          </p:nvSpPr>
          <p:spPr bwMode="auto">
            <a:xfrm>
              <a:off x="2306" y="1976"/>
              <a:ext cx="0" cy="14"/>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28" name="Line 209"/>
            <p:cNvSpPr>
              <a:spLocks noChangeShapeType="1"/>
            </p:cNvSpPr>
            <p:nvPr/>
          </p:nvSpPr>
          <p:spPr bwMode="auto">
            <a:xfrm flipV="1">
              <a:off x="2347" y="2014"/>
              <a:ext cx="43"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29" name="Line 210"/>
            <p:cNvSpPr>
              <a:spLocks noChangeShapeType="1"/>
            </p:cNvSpPr>
            <p:nvPr/>
          </p:nvSpPr>
          <p:spPr bwMode="auto">
            <a:xfrm>
              <a:off x="2388" y="2012"/>
              <a:ext cx="0" cy="50"/>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30" name="Line 211"/>
            <p:cNvSpPr>
              <a:spLocks noChangeShapeType="1"/>
            </p:cNvSpPr>
            <p:nvPr/>
          </p:nvSpPr>
          <p:spPr bwMode="auto">
            <a:xfrm flipV="1">
              <a:off x="2429" y="2100"/>
              <a:ext cx="42" cy="3"/>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31" name="Line 212"/>
            <p:cNvSpPr>
              <a:spLocks noChangeShapeType="1"/>
            </p:cNvSpPr>
            <p:nvPr/>
          </p:nvSpPr>
          <p:spPr bwMode="auto">
            <a:xfrm>
              <a:off x="2471" y="2100"/>
              <a:ext cx="0" cy="63"/>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32" name="Line 213"/>
            <p:cNvSpPr>
              <a:spLocks noChangeShapeType="1"/>
            </p:cNvSpPr>
            <p:nvPr/>
          </p:nvSpPr>
          <p:spPr bwMode="auto">
            <a:xfrm>
              <a:off x="2512" y="2213"/>
              <a:ext cx="37"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33" name="Line 214"/>
            <p:cNvSpPr>
              <a:spLocks noChangeShapeType="1"/>
            </p:cNvSpPr>
            <p:nvPr/>
          </p:nvSpPr>
          <p:spPr bwMode="auto">
            <a:xfrm>
              <a:off x="2549" y="2213"/>
              <a:ext cx="0" cy="55"/>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34" name="Line 215"/>
            <p:cNvSpPr>
              <a:spLocks noChangeShapeType="1"/>
            </p:cNvSpPr>
            <p:nvPr/>
          </p:nvSpPr>
          <p:spPr bwMode="auto">
            <a:xfrm>
              <a:off x="2592" y="2315"/>
              <a:ext cx="41"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35" name="Line 216"/>
            <p:cNvSpPr>
              <a:spLocks noChangeShapeType="1"/>
            </p:cNvSpPr>
            <p:nvPr/>
          </p:nvSpPr>
          <p:spPr bwMode="auto">
            <a:xfrm>
              <a:off x="2633" y="2313"/>
              <a:ext cx="0" cy="34"/>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36" name="Line 217"/>
            <p:cNvSpPr>
              <a:spLocks noChangeShapeType="1"/>
            </p:cNvSpPr>
            <p:nvPr/>
          </p:nvSpPr>
          <p:spPr bwMode="auto">
            <a:xfrm>
              <a:off x="2675" y="2366"/>
              <a:ext cx="39"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37" name="Line 218"/>
            <p:cNvSpPr>
              <a:spLocks noChangeShapeType="1"/>
            </p:cNvSpPr>
            <p:nvPr/>
          </p:nvSpPr>
          <p:spPr bwMode="auto">
            <a:xfrm>
              <a:off x="2757" y="2348"/>
              <a:ext cx="41"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38" name="Line 219"/>
            <p:cNvSpPr>
              <a:spLocks noChangeShapeType="1"/>
            </p:cNvSpPr>
            <p:nvPr/>
          </p:nvSpPr>
          <p:spPr bwMode="auto">
            <a:xfrm flipV="1">
              <a:off x="2798" y="2317"/>
              <a:ext cx="0" cy="34"/>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39" name="Line 220"/>
            <p:cNvSpPr>
              <a:spLocks noChangeShapeType="1"/>
            </p:cNvSpPr>
            <p:nvPr/>
          </p:nvSpPr>
          <p:spPr bwMode="auto">
            <a:xfrm flipH="1" flipV="1">
              <a:off x="2223" y="2001"/>
              <a:ext cx="0" cy="63"/>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40" name="Line 221"/>
            <p:cNvSpPr>
              <a:spLocks noChangeShapeType="1"/>
            </p:cNvSpPr>
            <p:nvPr/>
          </p:nvSpPr>
          <p:spPr bwMode="auto">
            <a:xfrm>
              <a:off x="2837" y="2296"/>
              <a:ext cx="44"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41" name="Line 222"/>
            <p:cNvSpPr>
              <a:spLocks noChangeShapeType="1"/>
            </p:cNvSpPr>
            <p:nvPr/>
          </p:nvSpPr>
          <p:spPr bwMode="auto">
            <a:xfrm flipV="1">
              <a:off x="2881" y="2267"/>
              <a:ext cx="0" cy="32"/>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42" name="Line 223"/>
            <p:cNvSpPr>
              <a:spLocks noChangeShapeType="1"/>
            </p:cNvSpPr>
            <p:nvPr/>
          </p:nvSpPr>
          <p:spPr bwMode="auto">
            <a:xfrm flipH="1">
              <a:off x="2963" y="2279"/>
              <a:ext cx="0" cy="56"/>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43" name="Line 224"/>
            <p:cNvSpPr>
              <a:spLocks noChangeShapeType="1"/>
            </p:cNvSpPr>
            <p:nvPr/>
          </p:nvSpPr>
          <p:spPr bwMode="auto">
            <a:xfrm>
              <a:off x="2918" y="2276"/>
              <a:ext cx="45"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44" name="Line 225"/>
            <p:cNvSpPr>
              <a:spLocks noChangeShapeType="1"/>
            </p:cNvSpPr>
            <p:nvPr/>
          </p:nvSpPr>
          <p:spPr bwMode="auto">
            <a:xfrm>
              <a:off x="3048" y="2400"/>
              <a:ext cx="0" cy="58"/>
            </a:xfrm>
            <a:prstGeom prst="line">
              <a:avLst/>
            </a:prstGeom>
            <a:noFill/>
            <a:ln w="28575">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545" name="Line 226"/>
            <p:cNvSpPr>
              <a:spLocks noChangeShapeType="1"/>
            </p:cNvSpPr>
            <p:nvPr/>
          </p:nvSpPr>
          <p:spPr bwMode="auto">
            <a:xfrm>
              <a:off x="3002" y="2395"/>
              <a:ext cx="43"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546" name="Line 227"/>
            <p:cNvSpPr>
              <a:spLocks noChangeShapeType="1"/>
            </p:cNvSpPr>
            <p:nvPr/>
          </p:nvSpPr>
          <p:spPr bwMode="auto">
            <a:xfrm flipV="1">
              <a:off x="2142" y="1769"/>
              <a:ext cx="0" cy="945"/>
            </a:xfrm>
            <a:prstGeom prst="line">
              <a:avLst/>
            </a:prstGeom>
            <a:noFill/>
            <a:ln w="2857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547" name="Line 228"/>
            <p:cNvSpPr>
              <a:spLocks noChangeShapeType="1"/>
            </p:cNvSpPr>
            <p:nvPr/>
          </p:nvSpPr>
          <p:spPr bwMode="auto">
            <a:xfrm>
              <a:off x="2142" y="2714"/>
              <a:ext cx="1099" cy="0"/>
            </a:xfrm>
            <a:prstGeom prst="line">
              <a:avLst/>
            </a:prstGeom>
            <a:noFill/>
            <a:ln w="28575">
              <a:solidFill>
                <a:schemeClr val="tx1"/>
              </a:solidFill>
              <a:rou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7700" name="Group 356"/>
          <p:cNvGrpSpPr/>
          <p:nvPr/>
        </p:nvGrpSpPr>
        <p:grpSpPr bwMode="auto">
          <a:xfrm>
            <a:off x="3440748" y="2927668"/>
            <a:ext cx="1460500" cy="1103312"/>
            <a:chOff x="3304" y="2300"/>
            <a:chExt cx="627" cy="695"/>
          </a:xfrm>
        </p:grpSpPr>
        <p:sp>
          <p:nvSpPr>
            <p:cNvPr id="16471" name="Line 357"/>
            <p:cNvSpPr>
              <a:spLocks noChangeShapeType="1"/>
            </p:cNvSpPr>
            <p:nvPr/>
          </p:nvSpPr>
          <p:spPr bwMode="auto">
            <a:xfrm>
              <a:off x="3304" y="2300"/>
              <a:ext cx="627" cy="0"/>
            </a:xfrm>
            <a:prstGeom prst="line">
              <a:avLst/>
            </a:prstGeom>
            <a:noFill/>
            <a:ln w="12700">
              <a:solidFill>
                <a:srgbClr val="3399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472" name="Line 358"/>
            <p:cNvSpPr>
              <a:spLocks noChangeShapeType="1"/>
            </p:cNvSpPr>
            <p:nvPr/>
          </p:nvSpPr>
          <p:spPr bwMode="auto">
            <a:xfrm>
              <a:off x="3304" y="2392"/>
              <a:ext cx="622" cy="0"/>
            </a:xfrm>
            <a:prstGeom prst="line">
              <a:avLst/>
            </a:prstGeom>
            <a:noFill/>
            <a:ln w="12700">
              <a:solidFill>
                <a:srgbClr val="3399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473" name="Line 359"/>
            <p:cNvSpPr>
              <a:spLocks noChangeShapeType="1"/>
            </p:cNvSpPr>
            <p:nvPr/>
          </p:nvSpPr>
          <p:spPr bwMode="auto">
            <a:xfrm>
              <a:off x="3304" y="2439"/>
              <a:ext cx="618" cy="0"/>
            </a:xfrm>
            <a:prstGeom prst="line">
              <a:avLst/>
            </a:prstGeom>
            <a:noFill/>
            <a:ln w="12700">
              <a:solidFill>
                <a:srgbClr val="3399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474" name="Line 360"/>
            <p:cNvSpPr>
              <a:spLocks noChangeShapeType="1"/>
            </p:cNvSpPr>
            <p:nvPr/>
          </p:nvSpPr>
          <p:spPr bwMode="auto">
            <a:xfrm>
              <a:off x="3304" y="2485"/>
              <a:ext cx="622" cy="0"/>
            </a:xfrm>
            <a:prstGeom prst="line">
              <a:avLst/>
            </a:prstGeom>
            <a:noFill/>
            <a:ln w="12700">
              <a:solidFill>
                <a:srgbClr val="3399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475" name="Line 361"/>
            <p:cNvSpPr>
              <a:spLocks noChangeShapeType="1"/>
            </p:cNvSpPr>
            <p:nvPr/>
          </p:nvSpPr>
          <p:spPr bwMode="auto">
            <a:xfrm>
              <a:off x="3304" y="2531"/>
              <a:ext cx="622" cy="0"/>
            </a:xfrm>
            <a:prstGeom prst="line">
              <a:avLst/>
            </a:prstGeom>
            <a:noFill/>
            <a:ln w="12700">
              <a:solidFill>
                <a:srgbClr val="3399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476" name="Line 362"/>
            <p:cNvSpPr>
              <a:spLocks noChangeShapeType="1"/>
            </p:cNvSpPr>
            <p:nvPr/>
          </p:nvSpPr>
          <p:spPr bwMode="auto">
            <a:xfrm>
              <a:off x="3304" y="2578"/>
              <a:ext cx="622" cy="0"/>
            </a:xfrm>
            <a:prstGeom prst="line">
              <a:avLst/>
            </a:prstGeom>
            <a:noFill/>
            <a:ln w="12700">
              <a:solidFill>
                <a:srgbClr val="3399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477" name="Line 363"/>
            <p:cNvSpPr>
              <a:spLocks noChangeShapeType="1"/>
            </p:cNvSpPr>
            <p:nvPr/>
          </p:nvSpPr>
          <p:spPr bwMode="auto">
            <a:xfrm>
              <a:off x="3304" y="2624"/>
              <a:ext cx="624" cy="0"/>
            </a:xfrm>
            <a:prstGeom prst="line">
              <a:avLst/>
            </a:prstGeom>
            <a:noFill/>
            <a:ln w="12700">
              <a:solidFill>
                <a:srgbClr val="3399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478" name="Line 364"/>
            <p:cNvSpPr>
              <a:spLocks noChangeShapeType="1"/>
            </p:cNvSpPr>
            <p:nvPr/>
          </p:nvSpPr>
          <p:spPr bwMode="auto">
            <a:xfrm>
              <a:off x="3304" y="2671"/>
              <a:ext cx="622" cy="0"/>
            </a:xfrm>
            <a:prstGeom prst="line">
              <a:avLst/>
            </a:prstGeom>
            <a:noFill/>
            <a:ln w="12700">
              <a:solidFill>
                <a:srgbClr val="3399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479" name="Line 365"/>
            <p:cNvSpPr>
              <a:spLocks noChangeShapeType="1"/>
            </p:cNvSpPr>
            <p:nvPr/>
          </p:nvSpPr>
          <p:spPr bwMode="auto">
            <a:xfrm>
              <a:off x="3304" y="2717"/>
              <a:ext cx="622" cy="0"/>
            </a:xfrm>
            <a:prstGeom prst="line">
              <a:avLst/>
            </a:prstGeom>
            <a:noFill/>
            <a:ln w="12700">
              <a:solidFill>
                <a:srgbClr val="3399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480" name="Line 366"/>
            <p:cNvSpPr>
              <a:spLocks noChangeShapeType="1"/>
            </p:cNvSpPr>
            <p:nvPr/>
          </p:nvSpPr>
          <p:spPr bwMode="auto">
            <a:xfrm>
              <a:off x="3304" y="2763"/>
              <a:ext cx="622" cy="0"/>
            </a:xfrm>
            <a:prstGeom prst="line">
              <a:avLst/>
            </a:prstGeom>
            <a:noFill/>
            <a:ln w="12700">
              <a:solidFill>
                <a:srgbClr val="3399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481" name="Line 367"/>
            <p:cNvSpPr>
              <a:spLocks noChangeShapeType="1"/>
            </p:cNvSpPr>
            <p:nvPr/>
          </p:nvSpPr>
          <p:spPr bwMode="auto">
            <a:xfrm>
              <a:off x="3304" y="2810"/>
              <a:ext cx="619" cy="0"/>
            </a:xfrm>
            <a:prstGeom prst="line">
              <a:avLst/>
            </a:prstGeom>
            <a:noFill/>
            <a:ln w="12700">
              <a:solidFill>
                <a:srgbClr val="3399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16482" name="Line 368"/>
            <p:cNvSpPr>
              <a:spLocks noChangeShapeType="1"/>
            </p:cNvSpPr>
            <p:nvPr/>
          </p:nvSpPr>
          <p:spPr bwMode="auto">
            <a:xfrm>
              <a:off x="3304" y="2856"/>
              <a:ext cx="622" cy="0"/>
            </a:xfrm>
            <a:prstGeom prst="line">
              <a:avLst/>
            </a:prstGeom>
            <a:noFill/>
            <a:ln w="12700">
              <a:solidFill>
                <a:srgbClr val="3399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483" name="Line 369"/>
            <p:cNvSpPr>
              <a:spLocks noChangeShapeType="1"/>
            </p:cNvSpPr>
            <p:nvPr/>
          </p:nvSpPr>
          <p:spPr bwMode="auto">
            <a:xfrm>
              <a:off x="3304" y="2902"/>
              <a:ext cx="622" cy="0"/>
            </a:xfrm>
            <a:prstGeom prst="line">
              <a:avLst/>
            </a:prstGeom>
            <a:noFill/>
            <a:ln w="12700">
              <a:solidFill>
                <a:srgbClr val="3399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484" name="Line 370"/>
            <p:cNvSpPr>
              <a:spLocks noChangeShapeType="1"/>
            </p:cNvSpPr>
            <p:nvPr/>
          </p:nvSpPr>
          <p:spPr bwMode="auto">
            <a:xfrm>
              <a:off x="3304" y="2949"/>
              <a:ext cx="622" cy="0"/>
            </a:xfrm>
            <a:prstGeom prst="line">
              <a:avLst/>
            </a:prstGeom>
            <a:noFill/>
            <a:ln w="12700">
              <a:solidFill>
                <a:srgbClr val="3399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485" name="Line 371"/>
            <p:cNvSpPr>
              <a:spLocks noChangeShapeType="1"/>
            </p:cNvSpPr>
            <p:nvPr/>
          </p:nvSpPr>
          <p:spPr bwMode="auto">
            <a:xfrm>
              <a:off x="3304" y="2995"/>
              <a:ext cx="622" cy="0"/>
            </a:xfrm>
            <a:prstGeom prst="line">
              <a:avLst/>
            </a:prstGeom>
            <a:noFill/>
            <a:ln w="12700">
              <a:solidFill>
                <a:srgbClr val="3399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486" name="Line 372"/>
            <p:cNvSpPr>
              <a:spLocks noChangeShapeType="1"/>
            </p:cNvSpPr>
            <p:nvPr/>
          </p:nvSpPr>
          <p:spPr bwMode="auto">
            <a:xfrm>
              <a:off x="3304" y="2346"/>
              <a:ext cx="622" cy="0"/>
            </a:xfrm>
            <a:prstGeom prst="line">
              <a:avLst/>
            </a:prstGeom>
            <a:noFill/>
            <a:ln w="12700">
              <a:solidFill>
                <a:srgbClr val="3399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9" name="椭圆 8"/>
          <p:cNvSpPr/>
          <p:nvPr/>
        </p:nvSpPr>
        <p:spPr bwMode="auto">
          <a:xfrm>
            <a:off x="4650422" y="2656206"/>
            <a:ext cx="128588" cy="862013"/>
          </a:xfrm>
          <a:prstGeom prst="ellipse">
            <a:avLst/>
          </a:prstGeom>
          <a:noFill/>
          <a:ln w="15875" cap="flat" cmpd="sng" algn="ctr">
            <a:solidFill>
              <a:schemeClr val="hlink"/>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spAutoFit/>
          </a:bodyPr>
          <a:lstStyle/>
          <a:p>
            <a:pPr marL="0" marR="0" indent="0" algn="ctr" defTabSz="914400" rtl="0" eaLnBrk="1" fontAlgn="base" latinLnBrk="0" hangingPunct="1">
              <a:lnSpc>
                <a:spcPct val="100000"/>
              </a:lnSpc>
              <a:spcBef>
                <a:spcPct val="50000"/>
              </a:spcBef>
              <a:spcAft>
                <a:spcPct val="0"/>
              </a:spcAft>
              <a:buClrTx/>
              <a:buSzTx/>
              <a:buFontTx/>
              <a:buNone/>
            </a:pPr>
            <a:endParaRPr kumimoji="1" lang="zh-CN" altLang="en-US" sz="2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224" name="Text Box 20"/>
          <p:cNvSpPr txBox="1">
            <a:spLocks noChangeArrowheads="1"/>
          </p:cNvSpPr>
          <p:nvPr/>
        </p:nvSpPr>
        <p:spPr bwMode="auto">
          <a:xfrm>
            <a:off x="6367495" y="4499500"/>
            <a:ext cx="124698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lnSpc>
                <a:spcPct val="130000"/>
              </a:lnSpc>
              <a:spcBef>
                <a:spcPct val="0"/>
              </a:spcBef>
            </a:pPr>
            <a:r>
              <a:rPr kumimoji="0" lang="zh-CN" altLang="en-US" sz="2000" b="1" dirty="0">
                <a:solidFill>
                  <a:schemeClr val="hlink"/>
                </a:solidFill>
                <a:latin typeface="楷体_GB2312" pitchFamily="49" charset="-122"/>
                <a:ea typeface="楷体_GB2312" pitchFamily="49" charset="-122"/>
              </a:rPr>
              <a:t>量化电平</a:t>
            </a:r>
            <a:endParaRPr kumimoji="0" lang="en-US" altLang="zh-CN" sz="2000" b="1" dirty="0">
              <a:solidFill>
                <a:srgbClr val="000000"/>
              </a:solidFill>
              <a:latin typeface="楷体_GB2312" pitchFamily="49" charset="-122"/>
              <a:ea typeface="楷体_GB2312" pitchFamily="49" charset="-122"/>
            </a:endParaRPr>
          </a:p>
        </p:txBody>
      </p:sp>
      <p:sp>
        <p:nvSpPr>
          <p:cNvPr id="225" name="Text Box 20"/>
          <p:cNvSpPr txBox="1">
            <a:spLocks noChangeArrowheads="1"/>
          </p:cNvSpPr>
          <p:nvPr/>
        </p:nvSpPr>
        <p:spPr bwMode="auto">
          <a:xfrm>
            <a:off x="6367495" y="5013711"/>
            <a:ext cx="2578513" cy="525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marL="0" indent="0" algn="l">
              <a:lnSpc>
                <a:spcPct val="130000"/>
              </a:lnSpc>
              <a:spcBef>
                <a:spcPct val="0"/>
              </a:spcBef>
            </a:pPr>
            <a:r>
              <a:rPr kumimoji="0" lang="zh-CN" altLang="en-US" sz="2000" b="1" dirty="0">
                <a:solidFill>
                  <a:schemeClr val="accent2"/>
                </a:solidFill>
                <a:latin typeface="楷体_GB2312" pitchFamily="49" charset="-122"/>
                <a:ea typeface="楷体_GB2312" pitchFamily="49" charset="-122"/>
              </a:rPr>
              <a:t>量化单位</a:t>
            </a:r>
            <a:r>
              <a:rPr kumimoji="0" lang="zh-CN" altLang="en-US" sz="2400" b="1" dirty="0">
                <a:solidFill>
                  <a:schemeClr val="accent2"/>
                </a:solidFill>
                <a:latin typeface="楷体_GB2312" pitchFamily="49" charset="-122"/>
                <a:ea typeface="楷体_GB2312" pitchFamily="49" charset="-122"/>
              </a:rPr>
              <a:t>△</a:t>
            </a:r>
            <a:r>
              <a:rPr kumimoji="0" lang="zh-CN" altLang="en-US" sz="2000" b="1" dirty="0">
                <a:solidFill>
                  <a:srgbClr val="000000"/>
                </a:solidFill>
                <a:latin typeface="楷体_GB2312" pitchFamily="49" charset="-122"/>
                <a:ea typeface="楷体_GB2312" pitchFamily="49" charset="-122"/>
              </a:rPr>
              <a:t>的整数倍 </a:t>
            </a:r>
            <a:endParaRPr kumimoji="0" lang="zh-CN" altLang="en-US" sz="2000" b="1" dirty="0">
              <a:solidFill>
                <a:srgbClr val="000000"/>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7696"/>
                                        </p:tgtEl>
                                        <p:attrNameLst>
                                          <p:attrName>style.visibility</p:attrName>
                                        </p:attrNameLst>
                                      </p:cBhvr>
                                      <p:to>
                                        <p:strVal val="visible"/>
                                      </p:to>
                                    </p:set>
                                    <p:animEffect transition="in" filter="wipe(left)">
                                      <p:cBhvr>
                                        <p:cTn id="7" dur="500"/>
                                        <p:tgtEl>
                                          <p:spTgt spid="5769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7380"/>
                                        </p:tgtEl>
                                        <p:attrNameLst>
                                          <p:attrName>style.visibility</p:attrName>
                                        </p:attrNameLst>
                                      </p:cBhvr>
                                      <p:to>
                                        <p:strVal val="visible"/>
                                      </p:to>
                                    </p:set>
                                    <p:animEffect transition="in" filter="wipe(left)">
                                      <p:cBhvr>
                                        <p:cTn id="11" dur="500"/>
                                        <p:tgtEl>
                                          <p:spTgt spid="5738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7577"/>
                                        </p:tgtEl>
                                        <p:attrNameLst>
                                          <p:attrName>style.visibility</p:attrName>
                                        </p:attrNameLst>
                                      </p:cBhvr>
                                      <p:to>
                                        <p:strVal val="visible"/>
                                      </p:to>
                                    </p:set>
                                    <p:animEffect transition="in" filter="wipe(left)">
                                      <p:cBhvr>
                                        <p:cTn id="16" dur="500"/>
                                        <p:tgtEl>
                                          <p:spTgt spid="5757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7384"/>
                                        </p:tgtEl>
                                        <p:attrNameLst>
                                          <p:attrName>style.visibility</p:attrName>
                                        </p:attrNameLst>
                                      </p:cBhvr>
                                      <p:to>
                                        <p:strVal val="visible"/>
                                      </p:to>
                                    </p:set>
                                    <p:animEffect transition="in" filter="wipe(left)">
                                      <p:cBhvr>
                                        <p:cTn id="21" dur="500"/>
                                        <p:tgtEl>
                                          <p:spTgt spid="57384"/>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57381"/>
                                        </p:tgtEl>
                                        <p:attrNameLst>
                                          <p:attrName>style.visibility</p:attrName>
                                        </p:attrNameLst>
                                      </p:cBhvr>
                                      <p:to>
                                        <p:strVal val="visible"/>
                                      </p:to>
                                    </p:set>
                                    <p:animEffect transition="in" filter="wipe(left)">
                                      <p:cBhvr>
                                        <p:cTn id="25" dur="500"/>
                                        <p:tgtEl>
                                          <p:spTgt spid="5738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57698"/>
                                        </p:tgtEl>
                                        <p:attrNameLst>
                                          <p:attrName>style.visibility</p:attrName>
                                        </p:attrNameLst>
                                      </p:cBhvr>
                                      <p:to>
                                        <p:strVal val="visible"/>
                                      </p:to>
                                    </p:set>
                                    <p:animEffect transition="in" filter="wipe(left)">
                                      <p:cBhvr>
                                        <p:cTn id="30" dur="500"/>
                                        <p:tgtEl>
                                          <p:spTgt spid="5769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down)">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35" presetClass="emph" presetSubtype="0" repeatCount="3000" fill="hold" grpId="1" nodeType="clickEffect">
                                  <p:stCondLst>
                                    <p:cond delay="0"/>
                                  </p:stCondLst>
                                  <p:childTnLst>
                                    <p:anim calcmode="discrete" valueType="str">
                                      <p:cBhvr>
                                        <p:cTn id="39" dur="1000" fill="hold"/>
                                        <p:tgtEl>
                                          <p:spTgt spid="9"/>
                                        </p:tgtEl>
                                        <p:attrNameLst>
                                          <p:attrName>style.visibility</p:attrName>
                                        </p:attrNameLst>
                                      </p:cBhvr>
                                      <p:tavLst>
                                        <p:tav tm="0">
                                          <p:val>
                                            <p:strVal val="hidden"/>
                                          </p:val>
                                        </p:tav>
                                        <p:tav tm="50000">
                                          <p:val>
                                            <p:strVal val="visible"/>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57386"/>
                                        </p:tgtEl>
                                        <p:attrNameLst>
                                          <p:attrName>style.visibility</p:attrName>
                                        </p:attrNameLst>
                                      </p:cBhvr>
                                      <p:to>
                                        <p:strVal val="visible"/>
                                      </p:to>
                                    </p:set>
                                    <p:animEffect transition="in" filter="wipe(left)">
                                      <p:cBhvr>
                                        <p:cTn id="44" dur="500"/>
                                        <p:tgtEl>
                                          <p:spTgt spid="57386"/>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57382"/>
                                        </p:tgtEl>
                                        <p:attrNameLst>
                                          <p:attrName>style.visibility</p:attrName>
                                        </p:attrNameLst>
                                      </p:cBhvr>
                                      <p:to>
                                        <p:strVal val="visible"/>
                                      </p:to>
                                    </p:set>
                                    <p:animEffect transition="in" filter="wipe(left)">
                                      <p:cBhvr>
                                        <p:cTn id="48" dur="500"/>
                                        <p:tgtEl>
                                          <p:spTgt spid="5738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57700"/>
                                        </p:tgtEl>
                                        <p:attrNameLst>
                                          <p:attrName>style.visibility</p:attrName>
                                        </p:attrNameLst>
                                      </p:cBhvr>
                                      <p:to>
                                        <p:strVal val="visible"/>
                                      </p:to>
                                    </p:set>
                                    <p:animEffect transition="in" filter="wipe(left)">
                                      <p:cBhvr>
                                        <p:cTn id="53" dur="500"/>
                                        <p:tgtEl>
                                          <p:spTgt spid="5770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24"/>
                                        </p:tgtEl>
                                        <p:attrNameLst>
                                          <p:attrName>style.visibility</p:attrName>
                                        </p:attrNameLst>
                                      </p:cBhvr>
                                      <p:to>
                                        <p:strVal val="visible"/>
                                      </p:to>
                                    </p:set>
                                    <p:animEffect transition="in" filter="wipe(left)">
                                      <p:cBhvr>
                                        <p:cTn id="58" dur="500"/>
                                        <p:tgtEl>
                                          <p:spTgt spid="224"/>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25"/>
                                        </p:tgtEl>
                                        <p:attrNameLst>
                                          <p:attrName>style.visibility</p:attrName>
                                        </p:attrNameLst>
                                      </p:cBhvr>
                                      <p:to>
                                        <p:strVal val="visible"/>
                                      </p:to>
                                    </p:set>
                                    <p:animEffect transition="in" filter="wipe(left)">
                                      <p:cBhvr>
                                        <p:cTn id="63" dur="500"/>
                                        <p:tgtEl>
                                          <p:spTgt spid="225"/>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57387"/>
                                        </p:tgtEl>
                                        <p:attrNameLst>
                                          <p:attrName>style.visibility</p:attrName>
                                        </p:attrNameLst>
                                      </p:cBhvr>
                                      <p:to>
                                        <p:strVal val="visible"/>
                                      </p:to>
                                    </p:set>
                                    <p:animEffect transition="in" filter="wipe(left)">
                                      <p:cBhvr>
                                        <p:cTn id="68" dur="500"/>
                                        <p:tgtEl>
                                          <p:spTgt spid="57387"/>
                                        </p:tgtEl>
                                      </p:cBhvr>
                                    </p:animEffect>
                                  </p:childTnLst>
                                </p:cTn>
                              </p:par>
                            </p:childTnLst>
                          </p:cTn>
                        </p:par>
                        <p:par>
                          <p:cTn id="69" fill="hold">
                            <p:stCondLst>
                              <p:cond delay="500"/>
                            </p:stCondLst>
                            <p:childTnLst>
                              <p:par>
                                <p:cTn id="70" presetID="22" presetClass="entr" presetSubtype="8" fill="hold" grpId="0" nodeType="afterEffect">
                                  <p:stCondLst>
                                    <p:cond delay="0"/>
                                  </p:stCondLst>
                                  <p:childTnLst>
                                    <p:set>
                                      <p:cBhvr>
                                        <p:cTn id="71" dur="1" fill="hold">
                                          <p:stCondLst>
                                            <p:cond delay="0"/>
                                          </p:stCondLst>
                                        </p:cTn>
                                        <p:tgtEl>
                                          <p:spTgt spid="57383"/>
                                        </p:tgtEl>
                                        <p:attrNameLst>
                                          <p:attrName>style.visibility</p:attrName>
                                        </p:attrNameLst>
                                      </p:cBhvr>
                                      <p:to>
                                        <p:strVal val="visible"/>
                                      </p:to>
                                    </p:set>
                                    <p:animEffect transition="in" filter="wipe(left)">
                                      <p:cBhvr>
                                        <p:cTn id="72" dur="500"/>
                                        <p:tgtEl>
                                          <p:spTgt spid="5738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7"/>
                                        </p:tgtEl>
                                        <p:attrNameLst>
                                          <p:attrName>style.visibility</p:attrName>
                                        </p:attrNameLst>
                                      </p:cBhvr>
                                      <p:to>
                                        <p:strVal val="visible"/>
                                      </p:to>
                                    </p:set>
                                    <p:animEffect transition="in" filter="wipe(left)">
                                      <p:cBhvr>
                                        <p:cTn id="7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autoUpdateAnimBg="0"/>
      <p:bldP spid="14" grpId="0" bldLvl="0" animBg="1" autoUpdateAnimBg="0"/>
      <p:bldP spid="57380" grpId="0"/>
      <p:bldP spid="57381" grpId="0"/>
      <p:bldP spid="57382" grpId="0"/>
      <p:bldP spid="57383" grpId="0"/>
      <p:bldP spid="57384" grpId="0" bldLvl="0" animBg="1"/>
      <p:bldP spid="57386" grpId="0" bldLvl="0" animBg="1"/>
      <p:bldP spid="57387" grpId="0" bldLvl="0" animBg="1"/>
      <p:bldP spid="9" grpId="0" bldLvl="0" animBg="1"/>
      <p:bldP spid="9" grpId="1" bldLvl="0" animBg="1"/>
      <p:bldP spid="224" grpId="0" bldLvl="0" animBg="1"/>
      <p:bldP spid="225" grpId="0"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2995" y="2617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六 </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A/D</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与</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D/A</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转换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90659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6.4 A/D</a:t>
            </a:r>
            <a:r>
              <a:rPr kumimoji="0" lang="zh-CN" altLang="en-US" dirty="0">
                <a:solidFill>
                  <a:srgbClr val="000000"/>
                </a:solidFill>
                <a:latin typeface="黑体" panose="02010609060101010101" pitchFamily="49" charset="-122"/>
                <a:ea typeface="黑体" panose="02010609060101010101" pitchFamily="49" charset="-122"/>
              </a:rPr>
              <a:t>的量化</a:t>
            </a:r>
            <a:r>
              <a:rPr kumimoji="0" lang="zh-CN" altLang="en-US" dirty="0">
                <a:solidFill>
                  <a:srgbClr val="000000"/>
                </a:solidFill>
                <a:latin typeface="黑体" panose="02010609060101010101" pitchFamily="49" charset="-122"/>
                <a:ea typeface="黑体" panose="02010609060101010101" pitchFamily="49" charset="-122"/>
              </a:rPr>
              <a:t>方案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42875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dirty="0">
                <a:solidFill>
                  <a:srgbClr val="000000"/>
                </a:solidFill>
                <a:latin typeface="黑体" panose="02010609060101010101" pitchFamily="49" charset="-122"/>
                <a:ea typeface="黑体" panose="02010609060101010101" pitchFamily="49" charset="-122"/>
              </a:rPr>
              <a:t>舍尾</a:t>
            </a:r>
            <a:r>
              <a:rPr kumimoji="0" lang="zh-CN" altLang="en-US" sz="2400" dirty="0">
                <a:solidFill>
                  <a:srgbClr val="000000"/>
                </a:solidFill>
                <a:latin typeface="黑体" panose="02010609060101010101" pitchFamily="49" charset="-122"/>
                <a:ea typeface="黑体" panose="02010609060101010101" pitchFamily="49" charset="-122"/>
              </a:rPr>
              <a:t>方案</a:t>
            </a:r>
            <a:endParaRPr kumimoji="0" lang="zh-CN" altLang="en-US" sz="2400" dirty="0">
              <a:solidFill>
                <a:srgbClr val="000000"/>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2"/>
          <a:srcRect t="7903"/>
          <a:stretch>
            <a:fillRect/>
          </a:stretch>
        </p:blipFill>
        <p:spPr>
          <a:xfrm>
            <a:off x="994410" y="1889125"/>
            <a:ext cx="7161530" cy="4285615"/>
          </a:xfrm>
          <a:prstGeom prst="rect">
            <a:avLst/>
          </a:prstGeom>
        </p:spPr>
      </p:pic>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2995" y="2617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六 </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A/D</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与</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D/A</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转换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90659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6.4 A/D</a:t>
            </a:r>
            <a:r>
              <a:rPr kumimoji="0" lang="zh-CN" altLang="en-US" dirty="0">
                <a:solidFill>
                  <a:srgbClr val="000000"/>
                </a:solidFill>
                <a:latin typeface="黑体" panose="02010609060101010101" pitchFamily="49" charset="-122"/>
                <a:ea typeface="黑体" panose="02010609060101010101" pitchFamily="49" charset="-122"/>
              </a:rPr>
              <a:t>的量化</a:t>
            </a:r>
            <a:r>
              <a:rPr kumimoji="0" lang="zh-CN" altLang="en-US" dirty="0">
                <a:solidFill>
                  <a:srgbClr val="000000"/>
                </a:solidFill>
                <a:latin typeface="黑体" panose="02010609060101010101" pitchFamily="49" charset="-122"/>
                <a:ea typeface="黑体" panose="02010609060101010101" pitchFamily="49" charset="-122"/>
              </a:rPr>
              <a:t>方案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42875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zh-CN" altLang="en-US" sz="2400" dirty="0">
                <a:solidFill>
                  <a:srgbClr val="000000"/>
                </a:solidFill>
                <a:latin typeface="黑体" panose="02010609060101010101" pitchFamily="49" charset="-122"/>
                <a:ea typeface="黑体" panose="02010609060101010101" pitchFamily="49" charset="-122"/>
              </a:rPr>
              <a:t>四舍五入方案</a:t>
            </a:r>
            <a:endParaRPr kumimoji="0" lang="zh-CN" altLang="en-US" sz="2400" dirty="0">
              <a:solidFill>
                <a:srgbClr val="000000"/>
              </a:solidFill>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2"/>
          <a:stretch>
            <a:fillRect/>
          </a:stretch>
        </p:blipFill>
        <p:spPr>
          <a:xfrm>
            <a:off x="1423035" y="1768475"/>
            <a:ext cx="6424295" cy="4409440"/>
          </a:xfrm>
          <a:prstGeom prst="rect">
            <a:avLst/>
          </a:prstGeom>
        </p:spPr>
      </p:pic>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2995" y="2617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六 </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A/D</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与</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D/A</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转换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90659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6.5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A</a:t>
            </a:r>
            <a:r>
              <a:rPr kumimoji="0" lang="en-US" altLang="zh-CN" dirty="0">
                <a:solidFill>
                  <a:srgbClr val="000000"/>
                </a:solidFill>
                <a:latin typeface="黑体" panose="02010609060101010101" pitchFamily="49" charset="-122"/>
                <a:ea typeface="黑体" panose="02010609060101010101" pitchFamily="49" charset="-122"/>
              </a:rPr>
              <a:t>/D</a:t>
            </a:r>
            <a:r>
              <a:rPr kumimoji="0" lang="zh-CN" altLang="en-US" dirty="0">
                <a:solidFill>
                  <a:srgbClr val="000000"/>
                </a:solidFill>
                <a:latin typeface="黑体" panose="02010609060101010101" pitchFamily="49" charset="-122"/>
                <a:ea typeface="黑体" panose="02010609060101010101" pitchFamily="49" charset="-122"/>
              </a:rPr>
              <a:t>电路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42875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dirty="0">
                <a:solidFill>
                  <a:srgbClr val="000000"/>
                </a:solidFill>
                <a:latin typeface="黑体" panose="02010609060101010101" pitchFamily="49" charset="-122"/>
                <a:ea typeface="黑体" panose="02010609060101010101" pitchFamily="49" charset="-122"/>
              </a:rPr>
              <a:t>并行比较型</a:t>
            </a:r>
            <a:r>
              <a:rPr kumimoji="0" lang="en-US" altLang="zh-CN" sz="2400" dirty="0">
                <a:solidFill>
                  <a:srgbClr val="000000"/>
                </a:solidFill>
                <a:latin typeface="黑体" panose="02010609060101010101" pitchFamily="49" charset="-122"/>
                <a:ea typeface="黑体" panose="02010609060101010101" pitchFamily="49" charset="-122"/>
              </a:rPr>
              <a:t>ADC</a:t>
            </a:r>
            <a:endParaRPr kumimoji="0" lang="en-US" altLang="zh-CN" sz="2400" dirty="0">
              <a:solidFill>
                <a:srgbClr val="000000"/>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2"/>
          <a:stretch>
            <a:fillRect/>
          </a:stretch>
        </p:blipFill>
        <p:spPr>
          <a:xfrm>
            <a:off x="1337310" y="1899920"/>
            <a:ext cx="5825490" cy="4164330"/>
          </a:xfrm>
          <a:prstGeom prst="rect">
            <a:avLst/>
          </a:prstGeom>
        </p:spPr>
      </p:pic>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1221105" y="1699895"/>
            <a:ext cx="6292850" cy="4467225"/>
          </a:xfrm>
          <a:prstGeom prst="rect">
            <a:avLst/>
          </a:prstGeom>
        </p:spPr>
      </p:pic>
      <p:sp>
        <p:nvSpPr>
          <p:cNvPr id="13" name="Text Box 4"/>
          <p:cNvSpPr txBox="1">
            <a:spLocks noChangeArrowheads="1"/>
          </p:cNvSpPr>
          <p:nvPr/>
        </p:nvSpPr>
        <p:spPr bwMode="auto">
          <a:xfrm>
            <a:off x="1422995" y="26171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六 </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A/D</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与</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D/A</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转换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90659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6.5 </a:t>
            </a:r>
            <a:r>
              <a:rPr kumimoji="0" lang="zh-CN" altLang="en-US" dirty="0">
                <a:solidFill>
                  <a:srgbClr val="000000"/>
                </a:solidFill>
                <a:latin typeface="黑体" panose="02010609060101010101" pitchFamily="49" charset="-122"/>
                <a:ea typeface="黑体" panose="02010609060101010101" pitchFamily="49" charset="-122"/>
              </a:rPr>
              <a:t>常用的</a:t>
            </a:r>
            <a:r>
              <a:rPr kumimoji="0" lang="en-US" altLang="zh-CN" dirty="0">
                <a:solidFill>
                  <a:srgbClr val="000000"/>
                </a:solidFill>
                <a:latin typeface="黑体" panose="02010609060101010101" pitchFamily="49" charset="-122"/>
                <a:ea typeface="黑体" panose="02010609060101010101" pitchFamily="49" charset="-122"/>
              </a:rPr>
              <a:t>A</a:t>
            </a:r>
            <a:r>
              <a:rPr kumimoji="0" lang="en-US" altLang="zh-CN" dirty="0">
                <a:solidFill>
                  <a:srgbClr val="000000"/>
                </a:solidFill>
                <a:latin typeface="黑体" panose="02010609060101010101" pitchFamily="49" charset="-122"/>
                <a:ea typeface="黑体" panose="02010609060101010101" pitchFamily="49" charset="-122"/>
              </a:rPr>
              <a:t>/D</a:t>
            </a:r>
            <a:r>
              <a:rPr kumimoji="0" lang="zh-CN" altLang="en-US" dirty="0">
                <a:solidFill>
                  <a:srgbClr val="000000"/>
                </a:solidFill>
                <a:latin typeface="黑体" panose="02010609060101010101" pitchFamily="49" charset="-122"/>
                <a:ea typeface="黑体" panose="02010609060101010101" pitchFamily="49" charset="-122"/>
              </a:rPr>
              <a:t>电路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2"/>
            </p:custDataLst>
          </p:nvPr>
        </p:nvSpPr>
        <p:spPr bwMode="auto">
          <a:xfrm>
            <a:off x="742315" y="131508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zh-CN" altLang="en-US" sz="2400" dirty="0">
                <a:solidFill>
                  <a:srgbClr val="000000"/>
                </a:solidFill>
                <a:latin typeface="黑体" panose="02010609060101010101" pitchFamily="49" charset="-122"/>
                <a:ea typeface="黑体" panose="02010609060101010101" pitchFamily="49" charset="-122"/>
              </a:rPr>
              <a:t>逐次</a:t>
            </a:r>
            <a:r>
              <a:rPr kumimoji="0" lang="zh-CN" altLang="en-US" sz="2400" dirty="0">
                <a:solidFill>
                  <a:srgbClr val="000000"/>
                </a:solidFill>
                <a:latin typeface="黑体" panose="02010609060101010101" pitchFamily="49" charset="-122"/>
                <a:ea typeface="黑体" panose="02010609060101010101" pitchFamily="49" charset="-122"/>
              </a:rPr>
              <a:t>逼近型</a:t>
            </a:r>
            <a:r>
              <a:rPr kumimoji="0" lang="en-US" altLang="zh-CN" sz="2400" dirty="0">
                <a:solidFill>
                  <a:srgbClr val="000000"/>
                </a:solidFill>
                <a:latin typeface="黑体" panose="02010609060101010101" pitchFamily="49" charset="-122"/>
                <a:ea typeface="黑体" panose="02010609060101010101" pitchFamily="49" charset="-122"/>
              </a:rPr>
              <a:t>ADC</a:t>
            </a:r>
            <a:endParaRPr kumimoji="0" lang="en-US" altLang="zh-CN" sz="2400" dirty="0">
              <a:solidFill>
                <a:srgbClr val="00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2360" y="478887"/>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六 </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A/D</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与</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D/A</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转换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42856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6.6 </a:t>
            </a:r>
            <a:r>
              <a:rPr kumimoji="0" lang="en-US" dirty="0">
                <a:solidFill>
                  <a:srgbClr val="000000"/>
                </a:solidFill>
                <a:latin typeface="黑体" panose="02010609060101010101" pitchFamily="49" charset="-122"/>
                <a:ea typeface="黑体" panose="02010609060101010101" pitchFamily="49" charset="-122"/>
              </a:rPr>
              <a:t>AD</a:t>
            </a:r>
            <a:r>
              <a:rPr kumimoji="0" lang="en-US" dirty="0">
                <a:solidFill>
                  <a:srgbClr val="000000"/>
                </a:solidFill>
                <a:latin typeface="黑体" panose="02010609060101010101" pitchFamily="49" charset="-122"/>
                <a:ea typeface="黑体" panose="02010609060101010101" pitchFamily="49" charset="-122"/>
              </a:rPr>
              <a:t>C</a:t>
            </a:r>
            <a:r>
              <a:rPr kumimoji="0" lang="zh-CN" altLang="en-US" dirty="0">
                <a:solidFill>
                  <a:srgbClr val="000000"/>
                </a:solidFill>
                <a:latin typeface="黑体" panose="02010609060101010101" pitchFamily="49" charset="-122"/>
                <a:ea typeface="黑体" panose="02010609060101010101" pitchFamily="49" charset="-122"/>
              </a:rPr>
              <a:t>的常用</a:t>
            </a:r>
            <a:r>
              <a:rPr kumimoji="0" lang="zh-CN" altLang="en-US" dirty="0">
                <a:solidFill>
                  <a:srgbClr val="000000"/>
                </a:solidFill>
                <a:latin typeface="黑体" panose="02010609060101010101" pitchFamily="49" charset="-122"/>
                <a:ea typeface="黑体" panose="02010609060101010101" pitchFamily="49" charset="-122"/>
              </a:rPr>
              <a:t>指标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95072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dirty="0">
                <a:solidFill>
                  <a:srgbClr val="000000"/>
                </a:solidFill>
                <a:latin typeface="黑体" panose="02010609060101010101" pitchFamily="49" charset="-122"/>
                <a:ea typeface="黑体" panose="02010609060101010101" pitchFamily="49" charset="-122"/>
              </a:rPr>
              <a:t>分辨率</a:t>
            </a:r>
            <a:endParaRPr kumimoji="0" lang="zh-CN" altLang="en-US" sz="2400" dirty="0">
              <a:solidFill>
                <a:srgbClr val="000000"/>
              </a:solidFill>
              <a:latin typeface="黑体" panose="02010609060101010101" pitchFamily="49" charset="-122"/>
              <a:ea typeface="黑体" panose="02010609060101010101" pitchFamily="49" charset="-122"/>
            </a:endParaRPr>
          </a:p>
        </p:txBody>
      </p:sp>
      <p:graphicFrame>
        <p:nvGraphicFramePr>
          <p:cNvPr id="61571" name="Object 131"/>
          <p:cNvGraphicFramePr>
            <a:graphicFrameLocks noChangeAspect="1"/>
          </p:cNvGraphicFramePr>
          <p:nvPr/>
        </p:nvGraphicFramePr>
        <p:xfrm>
          <a:off x="2754066" y="2139467"/>
          <a:ext cx="2595563" cy="981075"/>
        </p:xfrm>
        <a:graphic>
          <a:graphicData uri="http://schemas.openxmlformats.org/presentationml/2006/ole">
            <mc:AlternateContent xmlns:mc="http://schemas.openxmlformats.org/markup-compatibility/2006">
              <mc:Choice xmlns:v="urn:schemas-microsoft-com:vml" Requires="v">
                <p:oleObj spid="_x0000_s48228" name="Equation" r:id="rId2" imgW="1040765" imgH="393700" progId="Equation.DSMT4">
                  <p:embed/>
                </p:oleObj>
              </mc:Choice>
              <mc:Fallback>
                <p:oleObj name="Equation" r:id="rId2" imgW="1040765" imgH="393700" progId="Equation.DSMT4">
                  <p:embed/>
                  <p:pic>
                    <p:nvPicPr>
                      <p:cNvPr id="0" name="Object 1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54066" y="2139467"/>
                        <a:ext cx="2595563" cy="981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65" name="Object 125"/>
          <p:cNvGraphicFramePr>
            <a:graphicFrameLocks noChangeAspect="1"/>
          </p:cNvGraphicFramePr>
          <p:nvPr/>
        </p:nvGraphicFramePr>
        <p:xfrm>
          <a:off x="2294890" y="3120073"/>
          <a:ext cx="3514725" cy="1479550"/>
        </p:xfrm>
        <a:graphic>
          <a:graphicData uri="http://schemas.openxmlformats.org/presentationml/2006/ole">
            <mc:AlternateContent xmlns:mc="http://schemas.openxmlformats.org/markup-compatibility/2006">
              <mc:Choice xmlns:v="urn:schemas-microsoft-com:vml" Requires="v">
                <p:oleObj spid="_x0000_s48227" name="Equation" r:id="rId4" imgW="1447800" imgH="609600" progId="Equation.DSMT4">
                  <p:embed/>
                </p:oleObj>
              </mc:Choice>
              <mc:Fallback>
                <p:oleObj name="Equation" r:id="rId4" imgW="1447800" imgH="609600" progId="Equation.DSMT4">
                  <p:embed/>
                  <p:pic>
                    <p:nvPicPr>
                      <p:cNvPr id="0" name="Object 1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94890" y="3120073"/>
                        <a:ext cx="3514725" cy="1479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Text Box 142"/>
          <p:cNvSpPr txBox="1">
            <a:spLocks noChangeArrowheads="1"/>
          </p:cNvSpPr>
          <p:nvPr>
            <p:custDataLst>
              <p:tags r:id="rId6"/>
            </p:custDataLst>
          </p:nvPr>
        </p:nvSpPr>
        <p:spPr bwMode="auto">
          <a:xfrm>
            <a:off x="742315" y="476059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zh-CN" altLang="en-US" sz="2400" dirty="0">
                <a:solidFill>
                  <a:srgbClr val="000000"/>
                </a:solidFill>
                <a:latin typeface="黑体" panose="02010609060101010101" pitchFamily="49" charset="-122"/>
                <a:ea typeface="黑体" panose="02010609060101010101" pitchFamily="49" charset="-122"/>
              </a:rPr>
              <a:t>时间复杂度、空间</a:t>
            </a:r>
            <a:r>
              <a:rPr kumimoji="0" lang="zh-CN" altLang="en-US" sz="2400" dirty="0">
                <a:solidFill>
                  <a:srgbClr val="000000"/>
                </a:solidFill>
                <a:latin typeface="黑体" panose="02010609060101010101" pitchFamily="49" charset="-122"/>
                <a:ea typeface="黑体" panose="02010609060101010101" pitchFamily="49" charset="-122"/>
              </a:rPr>
              <a:t>复杂度</a:t>
            </a:r>
            <a:endParaRPr kumimoji="0" lang="zh-CN" altLang="en-US" sz="2400" dirty="0">
              <a:solidFill>
                <a:srgbClr val="00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615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615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autoUpdateAnimBg="0"/>
      <p:bldP spid="14" grpId="0" bldLvl="0" animBg="1"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1861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七 可编程逻辑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器件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12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7.1 PROM</a:t>
            </a:r>
            <a:r>
              <a:rPr kumimoji="0" lang="zh-CN" altLang="en-US" dirty="0">
                <a:solidFill>
                  <a:srgbClr val="000000"/>
                </a:solidFill>
                <a:latin typeface="黑体" panose="02010609060101010101" pitchFamily="49" charset="-122"/>
                <a:ea typeface="黑体" panose="02010609060101010101" pitchFamily="49" charset="-122"/>
              </a:rPr>
              <a:t>、</a:t>
            </a:r>
            <a:r>
              <a:rPr kumimoji="0" lang="en-US" altLang="zh-CN" dirty="0">
                <a:solidFill>
                  <a:srgbClr val="000000"/>
                </a:solidFill>
                <a:latin typeface="黑体" panose="02010609060101010101" pitchFamily="49" charset="-122"/>
                <a:ea typeface="黑体" panose="02010609060101010101" pitchFamily="49" charset="-122"/>
              </a:rPr>
              <a:t>PLA</a:t>
            </a:r>
            <a:r>
              <a:rPr kumimoji="0" lang="zh-CN" altLang="en-US" dirty="0">
                <a:solidFill>
                  <a:srgbClr val="000000"/>
                </a:solidFill>
                <a:latin typeface="黑体" panose="02010609060101010101" pitchFamily="49" charset="-122"/>
                <a:ea typeface="黑体" panose="02010609060101010101" pitchFamily="49" charset="-122"/>
              </a:rPr>
              <a:t>、</a:t>
            </a:r>
            <a:r>
              <a:rPr kumimoji="0" lang="en-US" altLang="zh-CN" dirty="0">
                <a:solidFill>
                  <a:srgbClr val="000000"/>
                </a:solidFill>
                <a:latin typeface="黑体" panose="02010609060101010101" pitchFamily="49" charset="-122"/>
                <a:ea typeface="黑体" panose="02010609060101010101" pitchFamily="49" charset="-122"/>
              </a:rPr>
              <a:t>PAL</a:t>
            </a:r>
            <a:r>
              <a:rPr kumimoji="0" lang="zh-CN" altLang="en-US" dirty="0">
                <a:solidFill>
                  <a:srgbClr val="000000"/>
                </a:solidFill>
                <a:latin typeface="黑体" panose="02010609060101010101" pitchFamily="49" charset="-122"/>
                <a:ea typeface="黑体" panose="02010609060101010101" pitchFamily="49" charset="-122"/>
              </a:rPr>
              <a:t>、</a:t>
            </a:r>
            <a:r>
              <a:rPr kumimoji="0" lang="en-US" altLang="zh-CN" dirty="0">
                <a:solidFill>
                  <a:srgbClr val="000000"/>
                </a:solidFill>
                <a:latin typeface="黑体" panose="02010609060101010101" pitchFamily="49" charset="-122"/>
                <a:ea typeface="黑体" panose="02010609060101010101" pitchFamily="49" charset="-122"/>
              </a:rPr>
              <a:t>GAL</a:t>
            </a:r>
            <a:r>
              <a:rPr kumimoji="0" lang="zh-CN" altLang="en-US" dirty="0">
                <a:solidFill>
                  <a:srgbClr val="000000"/>
                </a:solidFill>
                <a:latin typeface="黑体" panose="02010609060101010101" pitchFamily="49" charset="-122"/>
                <a:ea typeface="黑体" panose="02010609060101010101" pitchFamily="49" charset="-122"/>
              </a:rPr>
              <a:t>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15380" name="Rectangle 20"/>
          <p:cNvSpPr>
            <a:spLocks noChangeArrowheads="1"/>
          </p:cNvSpPr>
          <p:nvPr/>
        </p:nvSpPr>
        <p:spPr bwMode="auto">
          <a:xfrm>
            <a:off x="2825750" y="1781175"/>
            <a:ext cx="3489325" cy="522288"/>
          </a:xfrm>
          <a:prstGeom prst="rect">
            <a:avLst/>
          </a:prstGeom>
          <a:solidFill>
            <a:srgbClr val="FF99CC"/>
          </a:solidFill>
          <a:ln w="28575">
            <a:solidFill>
              <a:schemeClr val="tx1"/>
            </a:solidFill>
            <a:miter lim="800000"/>
          </a:ln>
        </p:spPr>
        <p:txBody>
          <a:bodyPr anchor="ctr">
            <a:spAutoFit/>
          </a:bodyPr>
          <a:p>
            <a:pPr algn="ctr"/>
            <a:r>
              <a:rPr lang="en-US" altLang="zh-CN" b="1"/>
              <a:t>PLD</a:t>
            </a:r>
            <a:endParaRPr lang="en-US" altLang="zh-CN" b="1"/>
          </a:p>
        </p:txBody>
      </p:sp>
      <p:sp>
        <p:nvSpPr>
          <p:cNvPr id="15381" name="Rectangle 21"/>
          <p:cNvSpPr>
            <a:spLocks noChangeArrowheads="1"/>
          </p:cNvSpPr>
          <p:nvPr/>
        </p:nvSpPr>
        <p:spPr bwMode="auto">
          <a:xfrm>
            <a:off x="941388" y="3146425"/>
            <a:ext cx="3641725" cy="954088"/>
          </a:xfrm>
          <a:prstGeom prst="rect">
            <a:avLst/>
          </a:prstGeom>
          <a:solidFill>
            <a:srgbClr val="00CCFF"/>
          </a:solidFill>
          <a:ln w="28575">
            <a:solidFill>
              <a:schemeClr val="tx1"/>
            </a:solidFill>
            <a:miter lim="800000"/>
          </a:ln>
        </p:spPr>
        <p:txBody>
          <a:bodyPr anchor="ctr">
            <a:spAutoFit/>
          </a:bodyPr>
          <a:p>
            <a:pPr algn="ctr"/>
            <a:r>
              <a:rPr lang="en-US" altLang="zh-CN" b="1"/>
              <a:t>LDPLD</a:t>
            </a:r>
            <a:endParaRPr lang="en-US" altLang="zh-CN" b="1"/>
          </a:p>
          <a:p>
            <a:pPr algn="ctr"/>
            <a:r>
              <a:rPr lang="en-US" altLang="zh-CN" b="1">
                <a:solidFill>
                  <a:srgbClr val="000000"/>
                </a:solidFill>
              </a:rPr>
              <a:t>(Low-Density PLD)</a:t>
            </a:r>
            <a:endParaRPr lang="en-US" altLang="zh-CN" b="1"/>
          </a:p>
        </p:txBody>
      </p:sp>
      <p:sp>
        <p:nvSpPr>
          <p:cNvPr id="15382" name="Rectangle 22"/>
          <p:cNvSpPr>
            <a:spLocks noChangeArrowheads="1"/>
          </p:cNvSpPr>
          <p:nvPr/>
        </p:nvSpPr>
        <p:spPr bwMode="auto">
          <a:xfrm>
            <a:off x="5108575" y="3146425"/>
            <a:ext cx="3333750" cy="954088"/>
          </a:xfrm>
          <a:prstGeom prst="rect">
            <a:avLst/>
          </a:prstGeom>
          <a:solidFill>
            <a:srgbClr val="00CCFF"/>
          </a:solidFill>
          <a:ln w="28575">
            <a:solidFill>
              <a:schemeClr val="tx1"/>
            </a:solidFill>
            <a:miter lim="800000"/>
          </a:ln>
        </p:spPr>
        <p:txBody>
          <a:bodyPr anchor="ctr">
            <a:spAutoFit/>
          </a:bodyPr>
          <a:p>
            <a:pPr algn="ctr"/>
            <a:r>
              <a:rPr lang="en-US" altLang="zh-CN" b="1"/>
              <a:t>HDPLD</a:t>
            </a:r>
            <a:endParaRPr lang="en-US" altLang="zh-CN" b="1"/>
          </a:p>
          <a:p>
            <a:pPr algn="ctr"/>
            <a:r>
              <a:rPr lang="en-US" altLang="zh-CN" b="1">
                <a:solidFill>
                  <a:srgbClr val="000000"/>
                </a:solidFill>
              </a:rPr>
              <a:t>(High-Density PLD)</a:t>
            </a:r>
            <a:endParaRPr lang="en-US" altLang="zh-CN" b="1"/>
          </a:p>
        </p:txBody>
      </p:sp>
      <p:grpSp>
        <p:nvGrpSpPr>
          <p:cNvPr id="15403" name="Group 43"/>
          <p:cNvGrpSpPr/>
          <p:nvPr/>
        </p:nvGrpSpPr>
        <p:grpSpPr bwMode="auto">
          <a:xfrm>
            <a:off x="2752725" y="2336800"/>
            <a:ext cx="3887788" cy="792163"/>
            <a:chOff x="1884" y="1591"/>
            <a:chExt cx="2184" cy="371"/>
          </a:xfrm>
        </p:grpSpPr>
        <p:sp>
          <p:nvSpPr>
            <p:cNvPr id="94235" name="Line 23"/>
            <p:cNvSpPr>
              <a:spLocks noChangeShapeType="1"/>
            </p:cNvSpPr>
            <p:nvPr/>
          </p:nvSpPr>
          <p:spPr bwMode="auto">
            <a:xfrm>
              <a:off x="1891" y="1764"/>
              <a:ext cx="2173" cy="0"/>
            </a:xfrm>
            <a:prstGeom prst="line">
              <a:avLst/>
            </a:prstGeom>
            <a:noFill/>
            <a:ln w="28575">
              <a:solidFill>
                <a:schemeClr val="tx1"/>
              </a:solidFill>
              <a:round/>
            </a:ln>
          </p:spPr>
          <p:txBody>
            <a:bodyPr/>
            <a:p>
              <a:endParaRPr lang="zh-CN" altLang="en-US"/>
            </a:p>
          </p:txBody>
        </p:sp>
        <p:sp>
          <p:nvSpPr>
            <p:cNvPr id="94236" name="Line 24"/>
            <p:cNvSpPr>
              <a:spLocks noChangeShapeType="1"/>
            </p:cNvSpPr>
            <p:nvPr/>
          </p:nvSpPr>
          <p:spPr bwMode="auto">
            <a:xfrm>
              <a:off x="2880" y="1591"/>
              <a:ext cx="0" cy="173"/>
            </a:xfrm>
            <a:prstGeom prst="line">
              <a:avLst/>
            </a:prstGeom>
            <a:noFill/>
            <a:ln w="28575">
              <a:solidFill>
                <a:schemeClr val="tx1"/>
              </a:solidFill>
              <a:round/>
            </a:ln>
          </p:spPr>
          <p:txBody>
            <a:bodyPr/>
            <a:p>
              <a:endParaRPr lang="zh-CN" altLang="en-US"/>
            </a:p>
          </p:txBody>
        </p:sp>
        <p:sp>
          <p:nvSpPr>
            <p:cNvPr id="94237" name="Line 25"/>
            <p:cNvSpPr>
              <a:spLocks noChangeShapeType="1"/>
            </p:cNvSpPr>
            <p:nvPr/>
          </p:nvSpPr>
          <p:spPr bwMode="auto">
            <a:xfrm>
              <a:off x="1884" y="1765"/>
              <a:ext cx="0" cy="197"/>
            </a:xfrm>
            <a:prstGeom prst="line">
              <a:avLst/>
            </a:prstGeom>
            <a:noFill/>
            <a:ln w="28575">
              <a:solidFill>
                <a:schemeClr val="tx1"/>
              </a:solidFill>
              <a:round/>
              <a:tailEnd type="triangle" w="med" len="med"/>
            </a:ln>
          </p:spPr>
          <p:txBody>
            <a:bodyPr/>
            <a:p>
              <a:endParaRPr lang="zh-CN" altLang="en-US"/>
            </a:p>
          </p:txBody>
        </p:sp>
        <p:sp>
          <p:nvSpPr>
            <p:cNvPr id="94238" name="Line 26"/>
            <p:cNvSpPr>
              <a:spLocks noChangeShapeType="1"/>
            </p:cNvSpPr>
            <p:nvPr/>
          </p:nvSpPr>
          <p:spPr bwMode="auto">
            <a:xfrm>
              <a:off x="4068" y="1765"/>
              <a:ext cx="0" cy="197"/>
            </a:xfrm>
            <a:prstGeom prst="line">
              <a:avLst/>
            </a:prstGeom>
            <a:noFill/>
            <a:ln w="28575">
              <a:solidFill>
                <a:schemeClr val="tx1"/>
              </a:solidFill>
              <a:round/>
              <a:tailEnd type="triangle" w="med" len="med"/>
            </a:ln>
          </p:spPr>
          <p:txBody>
            <a:bodyPr/>
            <a:p>
              <a:endParaRPr lang="zh-CN" altLang="en-US"/>
            </a:p>
          </p:txBody>
        </p:sp>
      </p:grpSp>
      <p:sp>
        <p:nvSpPr>
          <p:cNvPr id="15387" name="Rectangle 27"/>
          <p:cNvSpPr>
            <a:spLocks noChangeArrowheads="1"/>
          </p:cNvSpPr>
          <p:nvPr/>
        </p:nvSpPr>
        <p:spPr bwMode="auto">
          <a:xfrm>
            <a:off x="674688" y="5054600"/>
            <a:ext cx="1022350" cy="431800"/>
          </a:xfrm>
          <a:prstGeom prst="rect">
            <a:avLst/>
          </a:prstGeom>
          <a:solidFill>
            <a:srgbClr val="CCFFCC"/>
          </a:solidFill>
          <a:ln w="28575">
            <a:solidFill>
              <a:schemeClr val="tx1"/>
            </a:solidFill>
            <a:miter lim="800000"/>
          </a:ln>
        </p:spPr>
        <p:txBody>
          <a:bodyPr wrap="none" anchor="ctr" anchorCtr="1"/>
          <a:p>
            <a:pPr algn="ctr"/>
            <a:r>
              <a:rPr lang="en-US" altLang="zh-CN" sz="2400" b="1"/>
              <a:t>PROM</a:t>
            </a:r>
            <a:endParaRPr lang="en-US" altLang="zh-CN" sz="2400" b="1"/>
          </a:p>
        </p:txBody>
      </p:sp>
      <p:sp>
        <p:nvSpPr>
          <p:cNvPr id="15388" name="Rectangle 28"/>
          <p:cNvSpPr>
            <a:spLocks noChangeArrowheads="1"/>
          </p:cNvSpPr>
          <p:nvPr/>
        </p:nvSpPr>
        <p:spPr bwMode="auto">
          <a:xfrm>
            <a:off x="1914525" y="5054600"/>
            <a:ext cx="769938" cy="431800"/>
          </a:xfrm>
          <a:prstGeom prst="rect">
            <a:avLst/>
          </a:prstGeom>
          <a:solidFill>
            <a:srgbClr val="3366FF"/>
          </a:solidFill>
          <a:ln w="28575">
            <a:solidFill>
              <a:schemeClr val="tx1"/>
            </a:solidFill>
            <a:miter lim="800000"/>
          </a:ln>
        </p:spPr>
        <p:txBody>
          <a:bodyPr wrap="none" anchor="ctr"/>
          <a:p>
            <a:pPr algn="ctr"/>
            <a:r>
              <a:rPr lang="en-US" altLang="zh-CN" sz="2400" b="1"/>
              <a:t> PLA</a:t>
            </a:r>
            <a:endParaRPr lang="en-US" altLang="zh-CN" sz="2400" b="1"/>
          </a:p>
        </p:txBody>
      </p:sp>
      <p:sp>
        <p:nvSpPr>
          <p:cNvPr id="15389" name="Rectangle 29"/>
          <p:cNvSpPr>
            <a:spLocks noChangeArrowheads="1"/>
          </p:cNvSpPr>
          <p:nvPr/>
        </p:nvSpPr>
        <p:spPr bwMode="auto">
          <a:xfrm>
            <a:off x="2901950" y="5054600"/>
            <a:ext cx="765175" cy="431800"/>
          </a:xfrm>
          <a:prstGeom prst="rect">
            <a:avLst/>
          </a:prstGeom>
          <a:solidFill>
            <a:srgbClr val="FF9900"/>
          </a:solidFill>
          <a:ln w="28575">
            <a:solidFill>
              <a:schemeClr val="tx1"/>
            </a:solidFill>
            <a:miter lim="800000"/>
          </a:ln>
        </p:spPr>
        <p:txBody>
          <a:bodyPr wrap="none" anchor="ctr"/>
          <a:p>
            <a:pPr algn="ctr"/>
            <a:r>
              <a:rPr lang="en-US" altLang="zh-CN" sz="2400" b="1"/>
              <a:t>PAL</a:t>
            </a:r>
            <a:endParaRPr lang="en-US" altLang="zh-CN" sz="2400" b="1"/>
          </a:p>
        </p:txBody>
      </p:sp>
      <p:sp>
        <p:nvSpPr>
          <p:cNvPr id="15390" name="Rectangle 30"/>
          <p:cNvSpPr>
            <a:spLocks noChangeArrowheads="1"/>
          </p:cNvSpPr>
          <p:nvPr/>
        </p:nvSpPr>
        <p:spPr bwMode="auto">
          <a:xfrm>
            <a:off x="3816350" y="5054600"/>
            <a:ext cx="785813" cy="431800"/>
          </a:xfrm>
          <a:prstGeom prst="rect">
            <a:avLst/>
          </a:prstGeom>
          <a:solidFill>
            <a:srgbClr val="008000"/>
          </a:solidFill>
          <a:ln w="28575">
            <a:solidFill>
              <a:schemeClr val="tx1"/>
            </a:solidFill>
            <a:miter lim="800000"/>
          </a:ln>
        </p:spPr>
        <p:txBody>
          <a:bodyPr wrap="none" anchor="ctr"/>
          <a:p>
            <a:pPr algn="ctr"/>
            <a:r>
              <a:rPr lang="en-US" altLang="zh-CN" sz="2400" b="1"/>
              <a:t>GAL</a:t>
            </a:r>
            <a:endParaRPr lang="en-US" altLang="zh-CN" sz="2400" b="1"/>
          </a:p>
        </p:txBody>
      </p:sp>
      <p:sp>
        <p:nvSpPr>
          <p:cNvPr id="15391" name="Rectangle 31"/>
          <p:cNvSpPr>
            <a:spLocks noChangeArrowheads="1"/>
          </p:cNvSpPr>
          <p:nvPr/>
        </p:nvSpPr>
        <p:spPr bwMode="auto">
          <a:xfrm>
            <a:off x="5381625" y="5054600"/>
            <a:ext cx="906463" cy="431800"/>
          </a:xfrm>
          <a:prstGeom prst="rect">
            <a:avLst/>
          </a:prstGeom>
          <a:solidFill>
            <a:srgbClr val="808000"/>
          </a:solidFill>
          <a:ln w="28575">
            <a:solidFill>
              <a:schemeClr val="tx1"/>
            </a:solidFill>
            <a:miter lim="800000"/>
          </a:ln>
        </p:spPr>
        <p:txBody>
          <a:bodyPr wrap="none" anchor="ctr"/>
          <a:p>
            <a:pPr algn="ctr"/>
            <a:r>
              <a:rPr lang="en-US" altLang="zh-CN" sz="2400" b="1"/>
              <a:t>CPLD</a:t>
            </a:r>
            <a:endParaRPr lang="en-US" altLang="zh-CN" sz="2400" b="1"/>
          </a:p>
        </p:txBody>
      </p:sp>
      <p:sp>
        <p:nvSpPr>
          <p:cNvPr id="15392" name="Rectangle 32"/>
          <p:cNvSpPr>
            <a:spLocks noChangeArrowheads="1"/>
          </p:cNvSpPr>
          <p:nvPr/>
        </p:nvSpPr>
        <p:spPr bwMode="auto">
          <a:xfrm>
            <a:off x="7189788" y="5054600"/>
            <a:ext cx="976312" cy="431800"/>
          </a:xfrm>
          <a:prstGeom prst="rect">
            <a:avLst/>
          </a:prstGeom>
          <a:solidFill>
            <a:srgbClr val="008080"/>
          </a:solidFill>
          <a:ln w="28575">
            <a:solidFill>
              <a:schemeClr val="tx1"/>
            </a:solidFill>
            <a:miter lim="800000"/>
          </a:ln>
        </p:spPr>
        <p:txBody>
          <a:bodyPr wrap="none" anchor="ctr"/>
          <a:p>
            <a:pPr algn="ctr"/>
            <a:r>
              <a:rPr lang="en-US" altLang="zh-CN" sz="2400" b="1"/>
              <a:t>FPGA</a:t>
            </a:r>
            <a:endParaRPr lang="en-US" altLang="zh-CN" sz="2400" b="1"/>
          </a:p>
        </p:txBody>
      </p:sp>
      <p:grpSp>
        <p:nvGrpSpPr>
          <p:cNvPr id="15404" name="Group 44"/>
          <p:cNvGrpSpPr/>
          <p:nvPr/>
        </p:nvGrpSpPr>
        <p:grpSpPr bwMode="auto">
          <a:xfrm>
            <a:off x="1193800" y="4111625"/>
            <a:ext cx="3003550" cy="900113"/>
            <a:chOff x="894" y="2589"/>
            <a:chExt cx="1892" cy="460"/>
          </a:xfrm>
        </p:grpSpPr>
        <p:sp>
          <p:nvSpPr>
            <p:cNvPr id="94229" name="Line 33"/>
            <p:cNvSpPr>
              <a:spLocks noChangeShapeType="1"/>
            </p:cNvSpPr>
            <p:nvPr/>
          </p:nvSpPr>
          <p:spPr bwMode="auto">
            <a:xfrm>
              <a:off x="894" y="2804"/>
              <a:ext cx="1884" cy="0"/>
            </a:xfrm>
            <a:prstGeom prst="line">
              <a:avLst/>
            </a:prstGeom>
            <a:noFill/>
            <a:ln w="28575">
              <a:solidFill>
                <a:schemeClr val="tx1"/>
              </a:solidFill>
              <a:round/>
            </a:ln>
          </p:spPr>
          <p:txBody>
            <a:bodyPr/>
            <a:p>
              <a:endParaRPr lang="zh-CN" altLang="en-US"/>
            </a:p>
          </p:txBody>
        </p:sp>
        <p:sp>
          <p:nvSpPr>
            <p:cNvPr id="94230" name="Line 34"/>
            <p:cNvSpPr>
              <a:spLocks noChangeShapeType="1"/>
            </p:cNvSpPr>
            <p:nvPr/>
          </p:nvSpPr>
          <p:spPr bwMode="auto">
            <a:xfrm>
              <a:off x="1890" y="2589"/>
              <a:ext cx="0" cy="220"/>
            </a:xfrm>
            <a:prstGeom prst="line">
              <a:avLst/>
            </a:prstGeom>
            <a:noFill/>
            <a:ln w="28575">
              <a:solidFill>
                <a:schemeClr val="tx1"/>
              </a:solidFill>
              <a:round/>
            </a:ln>
          </p:spPr>
          <p:txBody>
            <a:bodyPr/>
            <a:p>
              <a:endParaRPr lang="zh-CN" altLang="en-US"/>
            </a:p>
          </p:txBody>
        </p:sp>
        <p:sp>
          <p:nvSpPr>
            <p:cNvPr id="94231" name="Line 35"/>
            <p:cNvSpPr>
              <a:spLocks noChangeShapeType="1"/>
            </p:cNvSpPr>
            <p:nvPr/>
          </p:nvSpPr>
          <p:spPr bwMode="auto">
            <a:xfrm>
              <a:off x="900" y="2800"/>
              <a:ext cx="0" cy="249"/>
            </a:xfrm>
            <a:prstGeom prst="line">
              <a:avLst/>
            </a:prstGeom>
            <a:noFill/>
            <a:ln w="28575">
              <a:solidFill>
                <a:schemeClr val="tx1"/>
              </a:solidFill>
              <a:round/>
              <a:tailEnd type="triangle" w="med" len="med"/>
            </a:ln>
          </p:spPr>
          <p:txBody>
            <a:bodyPr/>
            <a:p>
              <a:endParaRPr lang="zh-CN" altLang="en-US"/>
            </a:p>
          </p:txBody>
        </p:sp>
        <p:sp>
          <p:nvSpPr>
            <p:cNvPr id="94232" name="Line 36"/>
            <p:cNvSpPr>
              <a:spLocks noChangeShapeType="1"/>
            </p:cNvSpPr>
            <p:nvPr/>
          </p:nvSpPr>
          <p:spPr bwMode="auto">
            <a:xfrm>
              <a:off x="1596" y="2800"/>
              <a:ext cx="0" cy="249"/>
            </a:xfrm>
            <a:prstGeom prst="line">
              <a:avLst/>
            </a:prstGeom>
            <a:noFill/>
            <a:ln w="28575">
              <a:solidFill>
                <a:schemeClr val="tx1"/>
              </a:solidFill>
              <a:round/>
              <a:tailEnd type="triangle" w="med" len="med"/>
            </a:ln>
          </p:spPr>
          <p:txBody>
            <a:bodyPr/>
            <a:p>
              <a:endParaRPr lang="zh-CN" altLang="en-US"/>
            </a:p>
          </p:txBody>
        </p:sp>
        <p:sp>
          <p:nvSpPr>
            <p:cNvPr id="94233" name="Line 37"/>
            <p:cNvSpPr>
              <a:spLocks noChangeShapeType="1"/>
            </p:cNvSpPr>
            <p:nvPr/>
          </p:nvSpPr>
          <p:spPr bwMode="auto">
            <a:xfrm>
              <a:off x="2222" y="2800"/>
              <a:ext cx="0" cy="249"/>
            </a:xfrm>
            <a:prstGeom prst="line">
              <a:avLst/>
            </a:prstGeom>
            <a:noFill/>
            <a:ln w="28575">
              <a:solidFill>
                <a:schemeClr val="tx1"/>
              </a:solidFill>
              <a:round/>
              <a:tailEnd type="triangle" w="med" len="med"/>
            </a:ln>
          </p:spPr>
          <p:txBody>
            <a:bodyPr/>
            <a:p>
              <a:endParaRPr lang="zh-CN" altLang="en-US"/>
            </a:p>
          </p:txBody>
        </p:sp>
        <p:sp>
          <p:nvSpPr>
            <p:cNvPr id="94234" name="Line 38"/>
            <p:cNvSpPr>
              <a:spLocks noChangeShapeType="1"/>
            </p:cNvSpPr>
            <p:nvPr/>
          </p:nvSpPr>
          <p:spPr bwMode="auto">
            <a:xfrm>
              <a:off x="2786" y="2800"/>
              <a:ext cx="0" cy="249"/>
            </a:xfrm>
            <a:prstGeom prst="line">
              <a:avLst/>
            </a:prstGeom>
            <a:noFill/>
            <a:ln w="28575">
              <a:solidFill>
                <a:schemeClr val="tx1"/>
              </a:solidFill>
              <a:round/>
              <a:tailEnd type="triangle" w="med" len="med"/>
            </a:ln>
          </p:spPr>
          <p:txBody>
            <a:bodyPr/>
            <a:p>
              <a:endParaRPr lang="zh-CN" altLang="en-US"/>
            </a:p>
          </p:txBody>
        </p:sp>
      </p:grpSp>
      <p:grpSp>
        <p:nvGrpSpPr>
          <p:cNvPr id="15405" name="Group 45"/>
          <p:cNvGrpSpPr/>
          <p:nvPr/>
        </p:nvGrpSpPr>
        <p:grpSpPr bwMode="auto">
          <a:xfrm>
            <a:off x="5854700" y="4097338"/>
            <a:ext cx="1836738" cy="900112"/>
            <a:chOff x="3688" y="2589"/>
            <a:chExt cx="886" cy="460"/>
          </a:xfrm>
        </p:grpSpPr>
        <p:sp>
          <p:nvSpPr>
            <p:cNvPr id="94225" name="Line 39"/>
            <p:cNvSpPr>
              <a:spLocks noChangeShapeType="1"/>
            </p:cNvSpPr>
            <p:nvPr/>
          </p:nvSpPr>
          <p:spPr bwMode="auto">
            <a:xfrm>
              <a:off x="3688" y="2804"/>
              <a:ext cx="882" cy="0"/>
            </a:xfrm>
            <a:prstGeom prst="line">
              <a:avLst/>
            </a:prstGeom>
            <a:noFill/>
            <a:ln w="28575">
              <a:solidFill>
                <a:schemeClr val="tx1"/>
              </a:solidFill>
              <a:round/>
            </a:ln>
          </p:spPr>
          <p:txBody>
            <a:bodyPr/>
            <a:p>
              <a:endParaRPr lang="zh-CN" altLang="en-US"/>
            </a:p>
          </p:txBody>
        </p:sp>
        <p:sp>
          <p:nvSpPr>
            <p:cNvPr id="94226" name="Line 40"/>
            <p:cNvSpPr>
              <a:spLocks noChangeShapeType="1"/>
            </p:cNvSpPr>
            <p:nvPr/>
          </p:nvSpPr>
          <p:spPr bwMode="auto">
            <a:xfrm>
              <a:off x="4140" y="2589"/>
              <a:ext cx="0" cy="220"/>
            </a:xfrm>
            <a:prstGeom prst="line">
              <a:avLst/>
            </a:prstGeom>
            <a:noFill/>
            <a:ln w="28575">
              <a:solidFill>
                <a:schemeClr val="tx1"/>
              </a:solidFill>
              <a:round/>
            </a:ln>
          </p:spPr>
          <p:txBody>
            <a:bodyPr/>
            <a:p>
              <a:endParaRPr lang="zh-CN" altLang="en-US"/>
            </a:p>
          </p:txBody>
        </p:sp>
        <p:sp>
          <p:nvSpPr>
            <p:cNvPr id="94227" name="Line 41"/>
            <p:cNvSpPr>
              <a:spLocks noChangeShapeType="1"/>
            </p:cNvSpPr>
            <p:nvPr/>
          </p:nvSpPr>
          <p:spPr bwMode="auto">
            <a:xfrm>
              <a:off x="3688" y="2800"/>
              <a:ext cx="0" cy="249"/>
            </a:xfrm>
            <a:prstGeom prst="line">
              <a:avLst/>
            </a:prstGeom>
            <a:noFill/>
            <a:ln w="28575">
              <a:solidFill>
                <a:schemeClr val="tx1"/>
              </a:solidFill>
              <a:round/>
              <a:tailEnd type="triangle" w="med" len="med"/>
            </a:ln>
          </p:spPr>
          <p:txBody>
            <a:bodyPr/>
            <a:p>
              <a:endParaRPr lang="zh-CN" altLang="en-US"/>
            </a:p>
          </p:txBody>
        </p:sp>
        <p:sp>
          <p:nvSpPr>
            <p:cNvPr id="94228" name="Line 42"/>
            <p:cNvSpPr>
              <a:spLocks noChangeShapeType="1"/>
            </p:cNvSpPr>
            <p:nvPr/>
          </p:nvSpPr>
          <p:spPr bwMode="auto">
            <a:xfrm>
              <a:off x="4574" y="2800"/>
              <a:ext cx="0" cy="249"/>
            </a:xfrm>
            <a:prstGeom prst="line">
              <a:avLst/>
            </a:prstGeom>
            <a:noFill/>
            <a:ln w="28575">
              <a:solidFill>
                <a:schemeClr val="tx1"/>
              </a:solidFill>
              <a:round/>
              <a:tailEnd type="triangle" w="med" len="med"/>
            </a:ln>
          </p:spPr>
          <p:txBody>
            <a:bodyPr/>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3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54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538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538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540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538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538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538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539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1540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539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53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autoUpdateAnimBg="0"/>
      <p:bldP spid="14" grpId="0" bldLvl="0" animBg="1" autoUpdateAnimBg="0"/>
      <p:bldP spid="15380" grpId="0" bldLvl="0" animBg="1" autoUpdateAnimBg="0"/>
      <p:bldP spid="15381" grpId="0" bldLvl="0" animBg="1" autoUpdateAnimBg="0"/>
      <p:bldP spid="15382" grpId="0" bldLvl="0" animBg="1" autoUpdateAnimBg="0"/>
      <p:bldP spid="15387" grpId="0" bldLvl="0" animBg="1" autoUpdateAnimBg="0"/>
      <p:bldP spid="15388" grpId="0" bldLvl="0" animBg="1" autoUpdateAnimBg="0"/>
      <p:bldP spid="15389" grpId="0" bldLvl="0" animBg="1" autoUpdateAnimBg="0"/>
      <p:bldP spid="15390" grpId="0" bldLvl="0" animBg="1" autoUpdateAnimBg="0"/>
      <p:bldP spid="15391" grpId="0" bldLvl="0" animBg="1" autoUpdateAnimBg="0"/>
      <p:bldP spid="15392" grpId="0" bldLvl="0" animBg="1"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1861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七 可编程逻辑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器件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12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7.1 PROM</a:t>
            </a:r>
            <a:r>
              <a:rPr kumimoji="0" lang="zh-CN" altLang="en-US" dirty="0">
                <a:solidFill>
                  <a:srgbClr val="000000"/>
                </a:solidFill>
                <a:latin typeface="黑体" panose="02010609060101010101" pitchFamily="49" charset="-122"/>
                <a:ea typeface="黑体" panose="02010609060101010101" pitchFamily="49" charset="-122"/>
              </a:rPr>
              <a:t>、</a:t>
            </a:r>
            <a:r>
              <a:rPr kumimoji="0" lang="en-US" altLang="zh-CN" dirty="0">
                <a:solidFill>
                  <a:srgbClr val="000000"/>
                </a:solidFill>
                <a:latin typeface="黑体" panose="02010609060101010101" pitchFamily="49" charset="-122"/>
                <a:ea typeface="黑体" panose="02010609060101010101" pitchFamily="49" charset="-122"/>
              </a:rPr>
              <a:t>PLA</a:t>
            </a:r>
            <a:r>
              <a:rPr kumimoji="0" lang="zh-CN" altLang="en-US" dirty="0">
                <a:solidFill>
                  <a:srgbClr val="000000"/>
                </a:solidFill>
                <a:latin typeface="黑体" panose="02010609060101010101" pitchFamily="49" charset="-122"/>
                <a:ea typeface="黑体" panose="02010609060101010101" pitchFamily="49" charset="-122"/>
              </a:rPr>
              <a:t>、</a:t>
            </a:r>
            <a:r>
              <a:rPr kumimoji="0" lang="en-US" altLang="zh-CN" dirty="0">
                <a:solidFill>
                  <a:srgbClr val="000000"/>
                </a:solidFill>
                <a:latin typeface="黑体" panose="02010609060101010101" pitchFamily="49" charset="-122"/>
                <a:ea typeface="黑体" panose="02010609060101010101" pitchFamily="49" charset="-122"/>
              </a:rPr>
              <a:t>PAL</a:t>
            </a:r>
            <a:r>
              <a:rPr kumimoji="0" lang="zh-CN" altLang="en-US" dirty="0">
                <a:solidFill>
                  <a:srgbClr val="000000"/>
                </a:solidFill>
                <a:latin typeface="黑体" panose="02010609060101010101" pitchFamily="49" charset="-122"/>
                <a:ea typeface="黑体" panose="02010609060101010101" pitchFamily="49" charset="-122"/>
              </a:rPr>
              <a:t>、</a:t>
            </a:r>
            <a:r>
              <a:rPr kumimoji="0" lang="en-US" altLang="zh-CN" dirty="0">
                <a:solidFill>
                  <a:srgbClr val="000000"/>
                </a:solidFill>
                <a:latin typeface="黑体" panose="02010609060101010101" pitchFamily="49" charset="-122"/>
                <a:ea typeface="黑体" panose="02010609060101010101" pitchFamily="49" charset="-122"/>
              </a:rPr>
              <a:t>GAL</a:t>
            </a:r>
            <a:r>
              <a:rPr kumimoji="0" lang="zh-CN" altLang="en-US" dirty="0">
                <a:solidFill>
                  <a:srgbClr val="000000"/>
                </a:solidFill>
                <a:latin typeface="黑体" panose="02010609060101010101" pitchFamily="49" charset="-122"/>
                <a:ea typeface="黑体" panose="02010609060101010101" pitchFamily="49" charset="-122"/>
              </a:rPr>
              <a:t>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52781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(1)PROM</a:t>
            </a:r>
            <a:endParaRPr kumimoji="0" lang="en-US" altLang="zh-CN" sz="2400" dirty="0">
              <a:solidFill>
                <a:srgbClr val="000000"/>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2"/>
          <a:srcRect t="10351"/>
          <a:stretch>
            <a:fillRect/>
          </a:stretch>
        </p:blipFill>
        <p:spPr>
          <a:xfrm>
            <a:off x="1423670" y="2080895"/>
            <a:ext cx="6173470" cy="4038600"/>
          </a:xfrm>
          <a:prstGeom prst="rect">
            <a:avLst/>
          </a:prstGeom>
        </p:spPr>
      </p:pic>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1861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七 可编程逻辑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器件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12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7.1 PROM</a:t>
            </a:r>
            <a:r>
              <a:rPr kumimoji="0" lang="zh-CN" altLang="en-US" dirty="0">
                <a:solidFill>
                  <a:srgbClr val="000000"/>
                </a:solidFill>
                <a:latin typeface="黑体" panose="02010609060101010101" pitchFamily="49" charset="-122"/>
                <a:ea typeface="黑体" panose="02010609060101010101" pitchFamily="49" charset="-122"/>
              </a:rPr>
              <a:t>、</a:t>
            </a:r>
            <a:r>
              <a:rPr kumimoji="0" lang="en-US" altLang="zh-CN" dirty="0">
                <a:solidFill>
                  <a:srgbClr val="000000"/>
                </a:solidFill>
                <a:latin typeface="黑体" panose="02010609060101010101" pitchFamily="49" charset="-122"/>
                <a:ea typeface="黑体" panose="02010609060101010101" pitchFamily="49" charset="-122"/>
              </a:rPr>
              <a:t>PLA</a:t>
            </a:r>
            <a:r>
              <a:rPr kumimoji="0" lang="zh-CN" altLang="en-US" dirty="0">
                <a:solidFill>
                  <a:srgbClr val="000000"/>
                </a:solidFill>
                <a:latin typeface="黑体" panose="02010609060101010101" pitchFamily="49" charset="-122"/>
                <a:ea typeface="黑体" panose="02010609060101010101" pitchFamily="49" charset="-122"/>
              </a:rPr>
              <a:t>、</a:t>
            </a:r>
            <a:r>
              <a:rPr kumimoji="0" lang="en-US" altLang="zh-CN" dirty="0">
                <a:solidFill>
                  <a:srgbClr val="000000"/>
                </a:solidFill>
                <a:latin typeface="黑体" panose="02010609060101010101" pitchFamily="49" charset="-122"/>
                <a:ea typeface="黑体" panose="02010609060101010101" pitchFamily="49" charset="-122"/>
              </a:rPr>
              <a:t>PAL</a:t>
            </a:r>
            <a:r>
              <a:rPr kumimoji="0" lang="zh-CN" altLang="en-US" dirty="0">
                <a:solidFill>
                  <a:srgbClr val="000000"/>
                </a:solidFill>
                <a:latin typeface="黑体" panose="02010609060101010101" pitchFamily="49" charset="-122"/>
                <a:ea typeface="黑体" panose="02010609060101010101" pitchFamily="49" charset="-122"/>
              </a:rPr>
              <a:t>、</a:t>
            </a:r>
            <a:r>
              <a:rPr kumimoji="0" lang="en-US" altLang="zh-CN" dirty="0">
                <a:solidFill>
                  <a:srgbClr val="000000"/>
                </a:solidFill>
                <a:latin typeface="黑体" panose="02010609060101010101" pitchFamily="49" charset="-122"/>
                <a:ea typeface="黑体" panose="02010609060101010101" pitchFamily="49" charset="-122"/>
              </a:rPr>
              <a:t>GAL</a:t>
            </a:r>
            <a:r>
              <a:rPr kumimoji="0" lang="zh-CN" altLang="en-US" dirty="0">
                <a:solidFill>
                  <a:srgbClr val="000000"/>
                </a:solidFill>
                <a:latin typeface="黑体" panose="02010609060101010101" pitchFamily="49" charset="-122"/>
                <a:ea typeface="黑体" panose="02010609060101010101" pitchFamily="49" charset="-122"/>
              </a:rPr>
              <a:t>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48399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(2)PLA</a:t>
            </a:r>
            <a:endParaRPr kumimoji="0" lang="en-US" altLang="zh-CN" sz="2400" dirty="0">
              <a:solidFill>
                <a:srgbClr val="000000"/>
              </a:solidFill>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2"/>
          <a:stretch>
            <a:fillRect/>
          </a:stretch>
        </p:blipFill>
        <p:spPr>
          <a:xfrm>
            <a:off x="1222375" y="1944370"/>
            <a:ext cx="7204710" cy="4224655"/>
          </a:xfrm>
          <a:prstGeom prst="rect">
            <a:avLst/>
          </a:prstGeom>
        </p:spPr>
      </p:pic>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1861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七 可编程逻辑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器件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12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7.1 PROM</a:t>
            </a:r>
            <a:r>
              <a:rPr kumimoji="0" lang="zh-CN" altLang="en-US" dirty="0">
                <a:solidFill>
                  <a:srgbClr val="000000"/>
                </a:solidFill>
                <a:latin typeface="黑体" panose="02010609060101010101" pitchFamily="49" charset="-122"/>
                <a:ea typeface="黑体" panose="02010609060101010101" pitchFamily="49" charset="-122"/>
              </a:rPr>
              <a:t>、</a:t>
            </a:r>
            <a:r>
              <a:rPr kumimoji="0" lang="en-US" altLang="zh-CN" dirty="0">
                <a:solidFill>
                  <a:srgbClr val="000000"/>
                </a:solidFill>
                <a:latin typeface="黑体" panose="02010609060101010101" pitchFamily="49" charset="-122"/>
                <a:ea typeface="黑体" panose="02010609060101010101" pitchFamily="49" charset="-122"/>
              </a:rPr>
              <a:t>PLA</a:t>
            </a:r>
            <a:r>
              <a:rPr kumimoji="0" lang="zh-CN" altLang="en-US" dirty="0">
                <a:solidFill>
                  <a:srgbClr val="000000"/>
                </a:solidFill>
                <a:latin typeface="黑体" panose="02010609060101010101" pitchFamily="49" charset="-122"/>
                <a:ea typeface="黑体" panose="02010609060101010101" pitchFamily="49" charset="-122"/>
              </a:rPr>
              <a:t>、</a:t>
            </a:r>
            <a:r>
              <a:rPr kumimoji="0" lang="en-US" altLang="zh-CN" dirty="0">
                <a:solidFill>
                  <a:srgbClr val="000000"/>
                </a:solidFill>
                <a:latin typeface="黑体" panose="02010609060101010101" pitchFamily="49" charset="-122"/>
                <a:ea typeface="黑体" panose="02010609060101010101" pitchFamily="49" charset="-122"/>
              </a:rPr>
              <a:t>PAL</a:t>
            </a:r>
            <a:r>
              <a:rPr kumimoji="0" lang="zh-CN" altLang="en-US" dirty="0">
                <a:solidFill>
                  <a:srgbClr val="000000"/>
                </a:solidFill>
                <a:latin typeface="黑体" panose="02010609060101010101" pitchFamily="49" charset="-122"/>
                <a:ea typeface="黑体" panose="02010609060101010101" pitchFamily="49" charset="-122"/>
              </a:rPr>
              <a:t>、</a:t>
            </a:r>
            <a:r>
              <a:rPr kumimoji="0" lang="en-US" altLang="zh-CN" dirty="0">
                <a:solidFill>
                  <a:srgbClr val="000000"/>
                </a:solidFill>
                <a:latin typeface="黑体" panose="02010609060101010101" pitchFamily="49" charset="-122"/>
                <a:ea typeface="黑体" panose="02010609060101010101" pitchFamily="49" charset="-122"/>
              </a:rPr>
              <a:t>GAL</a:t>
            </a:r>
            <a:r>
              <a:rPr kumimoji="0" lang="zh-CN" altLang="en-US" dirty="0">
                <a:solidFill>
                  <a:srgbClr val="000000"/>
                </a:solidFill>
                <a:latin typeface="黑体" panose="02010609060101010101" pitchFamily="49" charset="-122"/>
                <a:ea typeface="黑体" panose="02010609060101010101" pitchFamily="49" charset="-122"/>
              </a:rPr>
              <a:t>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48399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(3)PAL</a:t>
            </a:r>
            <a:endParaRPr kumimoji="0" lang="en-US" altLang="zh-CN" sz="2400" dirty="0">
              <a:solidFill>
                <a:srgbClr val="000000"/>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2"/>
          <a:stretch>
            <a:fillRect/>
          </a:stretch>
        </p:blipFill>
        <p:spPr>
          <a:xfrm>
            <a:off x="1072515" y="1944370"/>
            <a:ext cx="7185660" cy="4146550"/>
          </a:xfrm>
          <a:prstGeom prst="rect">
            <a:avLst/>
          </a:prstGeom>
        </p:spPr>
      </p:pic>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1861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七 可编程逻辑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器件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12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7.1 PROM</a:t>
            </a:r>
            <a:r>
              <a:rPr kumimoji="0" lang="zh-CN" altLang="en-US" dirty="0">
                <a:solidFill>
                  <a:srgbClr val="000000"/>
                </a:solidFill>
                <a:latin typeface="黑体" panose="02010609060101010101" pitchFamily="49" charset="-122"/>
                <a:ea typeface="黑体" panose="02010609060101010101" pitchFamily="49" charset="-122"/>
              </a:rPr>
              <a:t>、</a:t>
            </a:r>
            <a:r>
              <a:rPr kumimoji="0" lang="en-US" altLang="zh-CN" dirty="0">
                <a:solidFill>
                  <a:srgbClr val="000000"/>
                </a:solidFill>
                <a:latin typeface="黑体" panose="02010609060101010101" pitchFamily="49" charset="-122"/>
                <a:ea typeface="黑体" panose="02010609060101010101" pitchFamily="49" charset="-122"/>
              </a:rPr>
              <a:t>PLA</a:t>
            </a:r>
            <a:r>
              <a:rPr kumimoji="0" lang="zh-CN" altLang="en-US" dirty="0">
                <a:solidFill>
                  <a:srgbClr val="000000"/>
                </a:solidFill>
                <a:latin typeface="黑体" panose="02010609060101010101" pitchFamily="49" charset="-122"/>
                <a:ea typeface="黑体" panose="02010609060101010101" pitchFamily="49" charset="-122"/>
              </a:rPr>
              <a:t>、</a:t>
            </a:r>
            <a:r>
              <a:rPr kumimoji="0" lang="en-US" altLang="zh-CN" dirty="0">
                <a:solidFill>
                  <a:srgbClr val="000000"/>
                </a:solidFill>
                <a:latin typeface="黑体" panose="02010609060101010101" pitchFamily="49" charset="-122"/>
                <a:ea typeface="黑体" panose="02010609060101010101" pitchFamily="49" charset="-122"/>
              </a:rPr>
              <a:t>PAL</a:t>
            </a:r>
            <a:r>
              <a:rPr kumimoji="0" lang="zh-CN" altLang="en-US" dirty="0">
                <a:solidFill>
                  <a:srgbClr val="000000"/>
                </a:solidFill>
                <a:latin typeface="黑体" panose="02010609060101010101" pitchFamily="49" charset="-122"/>
                <a:ea typeface="黑体" panose="02010609060101010101" pitchFamily="49" charset="-122"/>
              </a:rPr>
              <a:t>、</a:t>
            </a:r>
            <a:r>
              <a:rPr kumimoji="0" lang="en-US" altLang="zh-CN" dirty="0">
                <a:solidFill>
                  <a:srgbClr val="000000"/>
                </a:solidFill>
                <a:latin typeface="黑体" panose="02010609060101010101" pitchFamily="49" charset="-122"/>
                <a:ea typeface="黑体" panose="02010609060101010101" pitchFamily="49" charset="-122"/>
              </a:rPr>
              <a:t>GAL</a:t>
            </a:r>
            <a:r>
              <a:rPr kumimoji="0" lang="zh-CN" altLang="en-US" dirty="0">
                <a:solidFill>
                  <a:srgbClr val="000000"/>
                </a:solidFill>
                <a:latin typeface="黑体" panose="02010609060101010101" pitchFamily="49" charset="-122"/>
                <a:ea typeface="黑体" panose="02010609060101010101" pitchFamily="49" charset="-122"/>
              </a:rPr>
              <a:t>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48399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(4)GAL</a:t>
            </a:r>
            <a:endParaRPr kumimoji="0" lang="en-US" altLang="zh-CN" sz="2400" dirty="0">
              <a:solidFill>
                <a:srgbClr val="000000"/>
              </a:solidFill>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2"/>
          <a:stretch>
            <a:fillRect/>
          </a:stretch>
        </p:blipFill>
        <p:spPr>
          <a:xfrm>
            <a:off x="1203960" y="1884680"/>
            <a:ext cx="6858635" cy="4204970"/>
          </a:xfrm>
          <a:prstGeom prst="rect">
            <a:avLst/>
          </a:prstGeom>
        </p:spPr>
      </p:pic>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1861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七 可编程逻辑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器件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12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7.1 PROM</a:t>
            </a:r>
            <a:r>
              <a:rPr kumimoji="0" lang="zh-CN" altLang="en-US" dirty="0">
                <a:solidFill>
                  <a:srgbClr val="000000"/>
                </a:solidFill>
                <a:latin typeface="黑体" panose="02010609060101010101" pitchFamily="49" charset="-122"/>
                <a:ea typeface="黑体" panose="02010609060101010101" pitchFamily="49" charset="-122"/>
              </a:rPr>
              <a:t>、</a:t>
            </a:r>
            <a:r>
              <a:rPr kumimoji="0" lang="en-US" altLang="zh-CN" dirty="0">
                <a:solidFill>
                  <a:srgbClr val="000000"/>
                </a:solidFill>
                <a:latin typeface="黑体" panose="02010609060101010101" pitchFamily="49" charset="-122"/>
                <a:ea typeface="黑体" panose="02010609060101010101" pitchFamily="49" charset="-122"/>
              </a:rPr>
              <a:t>PLA</a:t>
            </a:r>
            <a:r>
              <a:rPr kumimoji="0" lang="zh-CN" altLang="en-US" dirty="0">
                <a:solidFill>
                  <a:srgbClr val="000000"/>
                </a:solidFill>
                <a:latin typeface="黑体" panose="02010609060101010101" pitchFamily="49" charset="-122"/>
                <a:ea typeface="黑体" panose="02010609060101010101" pitchFamily="49" charset="-122"/>
              </a:rPr>
              <a:t>、</a:t>
            </a:r>
            <a:r>
              <a:rPr kumimoji="0" lang="en-US" altLang="zh-CN" dirty="0">
                <a:solidFill>
                  <a:srgbClr val="000000"/>
                </a:solidFill>
                <a:latin typeface="黑体" panose="02010609060101010101" pitchFamily="49" charset="-122"/>
                <a:ea typeface="黑体" panose="02010609060101010101" pitchFamily="49" charset="-122"/>
              </a:rPr>
              <a:t>PAL</a:t>
            </a:r>
            <a:r>
              <a:rPr kumimoji="0" lang="zh-CN" altLang="en-US" dirty="0">
                <a:solidFill>
                  <a:srgbClr val="000000"/>
                </a:solidFill>
                <a:latin typeface="黑体" panose="02010609060101010101" pitchFamily="49" charset="-122"/>
                <a:ea typeface="黑体" panose="02010609060101010101" pitchFamily="49" charset="-122"/>
              </a:rPr>
              <a:t>、</a:t>
            </a:r>
            <a:r>
              <a:rPr kumimoji="0" lang="en-US" altLang="zh-CN" dirty="0">
                <a:solidFill>
                  <a:srgbClr val="000000"/>
                </a:solidFill>
                <a:latin typeface="黑体" panose="02010609060101010101" pitchFamily="49" charset="-122"/>
                <a:ea typeface="黑体" panose="02010609060101010101" pitchFamily="49" charset="-122"/>
              </a:rPr>
              <a:t>GAL</a:t>
            </a:r>
            <a:r>
              <a:rPr kumimoji="0" lang="zh-CN" altLang="en-US" dirty="0">
                <a:solidFill>
                  <a:srgbClr val="000000"/>
                </a:solidFill>
                <a:latin typeface="黑体" panose="02010609060101010101" pitchFamily="49" charset="-122"/>
                <a:ea typeface="黑体" panose="02010609060101010101" pitchFamily="49" charset="-122"/>
              </a:rPr>
              <a:t>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56337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(5)</a:t>
            </a:r>
            <a:r>
              <a:rPr kumimoji="0" lang="zh-CN" altLang="en-US" sz="2400" dirty="0">
                <a:solidFill>
                  <a:srgbClr val="000000"/>
                </a:solidFill>
                <a:latin typeface="黑体" panose="02010609060101010101" pitchFamily="49" charset="-122"/>
                <a:ea typeface="黑体" panose="02010609060101010101" pitchFamily="49" charset="-122"/>
              </a:rPr>
              <a:t>比较</a:t>
            </a:r>
            <a:endParaRPr kumimoji="0" lang="zh-CN" altLang="en-US" sz="2400" dirty="0">
              <a:solidFill>
                <a:srgbClr val="000000"/>
              </a:solidFill>
              <a:latin typeface="黑体" panose="02010609060101010101" pitchFamily="49" charset="-122"/>
              <a:ea typeface="黑体" panose="02010609060101010101" pitchFamily="49" charset="-122"/>
            </a:endParaRPr>
          </a:p>
        </p:txBody>
      </p:sp>
      <p:graphicFrame>
        <p:nvGraphicFramePr>
          <p:cNvPr id="91236" name="Group 100"/>
          <p:cNvGraphicFramePr>
            <a:graphicFrameLocks noGrp="1"/>
          </p:cNvGraphicFramePr>
          <p:nvPr/>
        </p:nvGraphicFramePr>
        <p:xfrm>
          <a:off x="1428750" y="2265680"/>
          <a:ext cx="6496050" cy="3211831"/>
        </p:xfrm>
        <a:graphic>
          <a:graphicData uri="http://schemas.openxmlformats.org/drawingml/2006/table">
            <a:tbl>
              <a:tblPr/>
              <a:tblGrid>
                <a:gridCol w="1538288"/>
                <a:gridCol w="1538287"/>
                <a:gridCol w="1538288"/>
                <a:gridCol w="1881187"/>
              </a:tblGrid>
              <a:tr h="61468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名称</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与阵列</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或阵列</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输出部分</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13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PROM</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固定</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可编程</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固定</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397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PLA</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可编程</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可编程</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固定</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627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PAL</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可编程</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固定</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固定</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397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GAL</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可编程</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固定</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可配置</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1861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七 可编程逻辑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器件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12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7.1 PROM</a:t>
            </a:r>
            <a:r>
              <a:rPr kumimoji="0" lang="zh-CN" altLang="en-US" dirty="0">
                <a:solidFill>
                  <a:srgbClr val="000000"/>
                </a:solidFill>
                <a:latin typeface="黑体" panose="02010609060101010101" pitchFamily="49" charset="-122"/>
                <a:ea typeface="黑体" panose="02010609060101010101" pitchFamily="49" charset="-122"/>
              </a:rPr>
              <a:t>、</a:t>
            </a:r>
            <a:r>
              <a:rPr kumimoji="0" lang="en-US" altLang="zh-CN" dirty="0">
                <a:solidFill>
                  <a:srgbClr val="000000"/>
                </a:solidFill>
                <a:latin typeface="黑体" panose="02010609060101010101" pitchFamily="49" charset="-122"/>
                <a:ea typeface="黑体" panose="02010609060101010101" pitchFamily="49" charset="-122"/>
              </a:rPr>
              <a:t>PLA</a:t>
            </a:r>
            <a:r>
              <a:rPr kumimoji="0" lang="zh-CN" altLang="en-US" dirty="0">
                <a:solidFill>
                  <a:srgbClr val="000000"/>
                </a:solidFill>
                <a:latin typeface="黑体" panose="02010609060101010101" pitchFamily="49" charset="-122"/>
                <a:ea typeface="黑体" panose="02010609060101010101" pitchFamily="49" charset="-122"/>
              </a:rPr>
              <a:t>、</a:t>
            </a:r>
            <a:r>
              <a:rPr kumimoji="0" lang="en-US" altLang="zh-CN" dirty="0">
                <a:solidFill>
                  <a:srgbClr val="000000"/>
                </a:solidFill>
                <a:latin typeface="黑体" panose="02010609060101010101" pitchFamily="49" charset="-122"/>
                <a:ea typeface="黑体" panose="02010609060101010101" pitchFamily="49" charset="-122"/>
              </a:rPr>
              <a:t>PAL</a:t>
            </a:r>
            <a:r>
              <a:rPr kumimoji="0" lang="zh-CN" altLang="en-US" dirty="0">
                <a:solidFill>
                  <a:srgbClr val="000000"/>
                </a:solidFill>
                <a:latin typeface="黑体" panose="02010609060101010101" pitchFamily="49" charset="-122"/>
                <a:ea typeface="黑体" panose="02010609060101010101" pitchFamily="49" charset="-122"/>
              </a:rPr>
              <a:t>、</a:t>
            </a:r>
            <a:r>
              <a:rPr kumimoji="0" lang="en-US" altLang="zh-CN" dirty="0">
                <a:solidFill>
                  <a:srgbClr val="000000"/>
                </a:solidFill>
                <a:latin typeface="黑体" panose="02010609060101010101" pitchFamily="49" charset="-122"/>
                <a:ea typeface="黑体" panose="02010609060101010101" pitchFamily="49" charset="-122"/>
              </a:rPr>
              <a:t>GAL</a:t>
            </a:r>
            <a:r>
              <a:rPr kumimoji="0" lang="zh-CN" altLang="en-US" dirty="0">
                <a:solidFill>
                  <a:srgbClr val="000000"/>
                </a:solidFill>
                <a:latin typeface="黑体" panose="02010609060101010101" pitchFamily="49" charset="-122"/>
                <a:ea typeface="黑体" panose="02010609060101010101" pitchFamily="49" charset="-122"/>
              </a:rPr>
              <a:t>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56337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(5)</a:t>
            </a:r>
            <a:r>
              <a:rPr kumimoji="0" lang="zh-CN" altLang="en-US" sz="2400" dirty="0">
                <a:solidFill>
                  <a:srgbClr val="000000"/>
                </a:solidFill>
                <a:latin typeface="黑体" panose="02010609060101010101" pitchFamily="49" charset="-122"/>
                <a:ea typeface="黑体" panose="02010609060101010101" pitchFamily="49" charset="-122"/>
              </a:rPr>
              <a:t>比较</a:t>
            </a:r>
            <a:endParaRPr kumimoji="0" lang="zh-CN" altLang="en-US" sz="2400" dirty="0">
              <a:solidFill>
                <a:srgbClr val="000000"/>
              </a:solidFill>
              <a:latin typeface="黑体" panose="02010609060101010101" pitchFamily="49" charset="-122"/>
              <a:ea typeface="黑体" panose="02010609060101010101" pitchFamily="49" charset="-122"/>
            </a:endParaRPr>
          </a:p>
        </p:txBody>
      </p:sp>
      <p:graphicFrame>
        <p:nvGraphicFramePr>
          <p:cNvPr id="91236" name="Group 100"/>
          <p:cNvGraphicFramePr>
            <a:graphicFrameLocks noGrp="1"/>
          </p:cNvGraphicFramePr>
          <p:nvPr/>
        </p:nvGraphicFramePr>
        <p:xfrm>
          <a:off x="1428750" y="2265680"/>
          <a:ext cx="6496050" cy="3211831"/>
        </p:xfrm>
        <a:graphic>
          <a:graphicData uri="http://schemas.openxmlformats.org/drawingml/2006/table">
            <a:tbl>
              <a:tblPr/>
              <a:tblGrid>
                <a:gridCol w="1538288"/>
                <a:gridCol w="1538287"/>
                <a:gridCol w="1538288"/>
                <a:gridCol w="1881187"/>
              </a:tblGrid>
              <a:tr h="61468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名称</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与阵列</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或阵列</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输出部分</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1350">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PROM</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固定</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可编程</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固定</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397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PLA</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可编程</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可编程</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固定</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76275">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PAL</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可编程</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固定</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固定</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39763">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GAL</a:t>
                      </a:r>
                      <a:endParaRPr kumimoji="1"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可编程</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固定</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anose="02020603050405020304" pitchFamily="18" charset="0"/>
                          <a:ea typeface="宋体" panose="02010600030101010101" pitchFamily="2" charset="-122"/>
                        </a:defRPr>
                      </a:lvl1pPr>
                      <a:lvl2pPr>
                        <a:spcBef>
                          <a:spcPct val="20000"/>
                        </a:spcBef>
                        <a:defRPr kumimoji="1" sz="2400">
                          <a:solidFill>
                            <a:schemeClr val="tx1"/>
                          </a:solidFill>
                          <a:latin typeface="Times New Roman" panose="02020603050405020304" pitchFamily="18" charset="0"/>
                          <a:ea typeface="宋体" panose="02010600030101010101" pitchFamily="2" charset="-122"/>
                        </a:defRPr>
                      </a:lvl2pPr>
                      <a:lvl3pPr>
                        <a:spcBef>
                          <a:spcPct val="20000"/>
                        </a:spcBef>
                        <a:defRPr kumimoji="1" sz="2000">
                          <a:solidFill>
                            <a:schemeClr val="tx1"/>
                          </a:solidFill>
                          <a:latin typeface="Times New Roman" panose="02020603050405020304" pitchFamily="18" charset="0"/>
                          <a:ea typeface="宋体" panose="02010600030101010101" pitchFamily="2" charset="-122"/>
                        </a:defRPr>
                      </a:lvl3pPr>
                      <a:lvl4pPr>
                        <a:spcBef>
                          <a:spcPct val="20000"/>
                        </a:spcBef>
                        <a:defRPr kumimoji="1">
                          <a:solidFill>
                            <a:schemeClr val="tx1"/>
                          </a:solidFill>
                          <a:latin typeface="Times New Roman" panose="02020603050405020304" pitchFamily="18" charset="0"/>
                          <a:ea typeface="宋体" panose="02010600030101010101" pitchFamily="2" charset="-122"/>
                        </a:defRPr>
                      </a:lvl4pPr>
                      <a:lvl5pPr>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可配置</a:t>
                      </a:r>
                      <a:endParaRPr kumimoji="1" lang="zh-CN" altLang="en-US"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1861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七 可编程逻辑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器件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12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7.2 </a:t>
            </a:r>
            <a:r>
              <a:rPr kumimoji="0" lang="en-US" dirty="0">
                <a:solidFill>
                  <a:srgbClr val="000000"/>
                </a:solidFill>
                <a:latin typeface="黑体" panose="02010609060101010101" pitchFamily="49" charset="-122"/>
                <a:ea typeface="黑体" panose="02010609060101010101" pitchFamily="49" charset="-122"/>
              </a:rPr>
              <a:t>ROM</a:t>
            </a:r>
            <a:r>
              <a:rPr kumimoji="0" lang="zh-CN" altLang="en-US" dirty="0">
                <a:solidFill>
                  <a:srgbClr val="000000"/>
                </a:solidFill>
                <a:latin typeface="黑体" panose="02010609060101010101" pitchFamily="49" charset="-122"/>
                <a:ea typeface="黑体" panose="02010609060101010101" pitchFamily="49" charset="-122"/>
              </a:rPr>
              <a:t>的</a:t>
            </a:r>
            <a:r>
              <a:rPr kumimoji="0" lang="zh-CN" altLang="en-US" dirty="0">
                <a:solidFill>
                  <a:srgbClr val="000000"/>
                </a:solidFill>
                <a:latin typeface="黑体" panose="02010609060101010101" pitchFamily="49" charset="-122"/>
                <a:ea typeface="黑体" panose="02010609060101010101" pitchFamily="49" charset="-122"/>
              </a:rPr>
              <a:t>功能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56337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dirty="0">
                <a:solidFill>
                  <a:srgbClr val="000000"/>
                </a:solidFill>
                <a:latin typeface="黑体" panose="02010609060101010101" pitchFamily="49" charset="-122"/>
                <a:ea typeface="黑体" panose="02010609060101010101" pitchFamily="49" charset="-122"/>
              </a:rPr>
              <a:t>存储</a:t>
            </a:r>
            <a:r>
              <a:rPr kumimoji="0" lang="zh-CN" altLang="en-US" sz="2400" dirty="0">
                <a:solidFill>
                  <a:srgbClr val="000000"/>
                </a:solidFill>
                <a:latin typeface="黑体" panose="02010609060101010101" pitchFamily="49" charset="-122"/>
                <a:ea typeface="黑体" panose="02010609060101010101" pitchFamily="49" charset="-122"/>
              </a:rPr>
              <a:t>功能</a:t>
            </a:r>
            <a:endParaRPr kumimoji="0" lang="zh-CN" altLang="en-US" sz="2400" dirty="0">
              <a:solidFill>
                <a:srgbClr val="000000"/>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2"/>
          <a:stretch>
            <a:fillRect/>
          </a:stretch>
        </p:blipFill>
        <p:spPr>
          <a:xfrm>
            <a:off x="1226820" y="2149475"/>
            <a:ext cx="6494780" cy="3938905"/>
          </a:xfrm>
          <a:prstGeom prst="rect">
            <a:avLst/>
          </a:prstGeom>
        </p:spPr>
      </p:pic>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669540" y="1893570"/>
            <a:ext cx="3883660" cy="4279900"/>
          </a:xfrm>
          <a:prstGeom prst="rect">
            <a:avLst/>
          </a:prstGeom>
        </p:spPr>
      </p:pic>
      <p:sp>
        <p:nvSpPr>
          <p:cNvPr id="13" name="Text Box 4"/>
          <p:cNvSpPr txBox="1">
            <a:spLocks noChangeArrowheads="1"/>
          </p:cNvSpPr>
          <p:nvPr/>
        </p:nvSpPr>
        <p:spPr bwMode="auto">
          <a:xfrm>
            <a:off x="1423630" y="1861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七 可编程逻辑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器件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121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7.2 </a:t>
            </a:r>
            <a:r>
              <a:rPr kumimoji="0" lang="en-US" dirty="0">
                <a:solidFill>
                  <a:srgbClr val="000000"/>
                </a:solidFill>
                <a:latin typeface="黑体" panose="02010609060101010101" pitchFamily="49" charset="-122"/>
                <a:ea typeface="黑体" panose="02010609060101010101" pitchFamily="49" charset="-122"/>
              </a:rPr>
              <a:t>ROM</a:t>
            </a:r>
            <a:r>
              <a:rPr kumimoji="0" lang="zh-CN" altLang="en-US" dirty="0">
                <a:solidFill>
                  <a:srgbClr val="000000"/>
                </a:solidFill>
                <a:latin typeface="黑体" panose="02010609060101010101" pitchFamily="49" charset="-122"/>
                <a:ea typeface="黑体" panose="02010609060101010101" pitchFamily="49" charset="-122"/>
              </a:rPr>
              <a:t>的</a:t>
            </a:r>
            <a:r>
              <a:rPr kumimoji="0" lang="zh-CN" altLang="en-US" dirty="0">
                <a:solidFill>
                  <a:srgbClr val="000000"/>
                </a:solidFill>
                <a:latin typeface="黑体" panose="02010609060101010101" pitchFamily="49" charset="-122"/>
                <a:ea typeface="黑体" panose="02010609060101010101" pitchFamily="49" charset="-122"/>
              </a:rPr>
              <a:t>作用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2"/>
            </p:custDataLst>
          </p:nvPr>
        </p:nvSpPr>
        <p:spPr bwMode="auto">
          <a:xfrm>
            <a:off x="742315" y="156337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zh-CN" altLang="en-US" sz="2400" dirty="0">
                <a:solidFill>
                  <a:srgbClr val="000000"/>
                </a:solidFill>
                <a:latin typeface="黑体" panose="02010609060101010101" pitchFamily="49" charset="-122"/>
                <a:ea typeface="黑体" panose="02010609060101010101" pitchFamily="49" charset="-122"/>
              </a:rPr>
              <a:t>实现</a:t>
            </a:r>
            <a:r>
              <a:rPr kumimoji="0" lang="zh-CN" altLang="en-US" sz="2400" dirty="0">
                <a:solidFill>
                  <a:srgbClr val="000000"/>
                </a:solidFill>
                <a:latin typeface="黑体" panose="02010609060101010101" pitchFamily="49" charset="-122"/>
                <a:ea typeface="黑体" panose="02010609060101010101" pitchFamily="49" charset="-122"/>
              </a:rPr>
              <a:t>逻辑函数</a:t>
            </a:r>
            <a:endParaRPr kumimoji="0" lang="zh-CN" altLang="en-US" sz="2400" dirty="0">
              <a:solidFill>
                <a:srgbClr val="00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1861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七 可编程逻辑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器件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93580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7.3 </a:t>
            </a:r>
            <a:r>
              <a:rPr kumimoji="0" lang="en-US" dirty="0">
                <a:solidFill>
                  <a:srgbClr val="000000"/>
                </a:solidFill>
                <a:latin typeface="黑体" panose="02010609060101010101" pitchFamily="49" charset="-122"/>
                <a:ea typeface="黑体" panose="02010609060101010101" pitchFamily="49" charset="-122"/>
              </a:rPr>
              <a:t>ROM</a:t>
            </a:r>
            <a:r>
              <a:rPr kumimoji="0" lang="zh-CN" altLang="en-US" dirty="0">
                <a:solidFill>
                  <a:srgbClr val="000000"/>
                </a:solidFill>
                <a:latin typeface="黑体" panose="02010609060101010101" pitchFamily="49" charset="-122"/>
                <a:ea typeface="黑体" panose="02010609060101010101" pitchFamily="49" charset="-122"/>
              </a:rPr>
              <a:t>的</a:t>
            </a:r>
            <a:r>
              <a:rPr kumimoji="0" lang="zh-CN" altLang="en-US" dirty="0">
                <a:solidFill>
                  <a:srgbClr val="000000"/>
                </a:solidFill>
                <a:latin typeface="黑体" panose="02010609060101010101" pitchFamily="49" charset="-122"/>
                <a:ea typeface="黑体" panose="02010609060101010101" pitchFamily="49" charset="-122"/>
              </a:rPr>
              <a:t>扩展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45796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dirty="0">
                <a:solidFill>
                  <a:srgbClr val="000000"/>
                </a:solidFill>
                <a:latin typeface="黑体" panose="02010609060101010101" pitchFamily="49" charset="-122"/>
                <a:ea typeface="黑体" panose="02010609060101010101" pitchFamily="49" charset="-122"/>
              </a:rPr>
              <a:t>字扩展</a:t>
            </a:r>
            <a:r>
              <a:rPr kumimoji="0" lang="en-US" altLang="zh-CN" sz="2400" dirty="0">
                <a:solidFill>
                  <a:srgbClr val="000000"/>
                </a:solidFill>
                <a:latin typeface="黑体" panose="02010609060101010101" pitchFamily="49" charset="-122"/>
                <a:ea typeface="黑体" panose="02010609060101010101" pitchFamily="49" charset="-122"/>
              </a:rPr>
              <a:t> </a:t>
            </a:r>
            <a:endParaRPr kumimoji="0" lang="en-US" altLang="zh-CN" sz="2400" dirty="0">
              <a:solidFill>
                <a:srgbClr val="000000"/>
              </a:solidFill>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2"/>
          <a:stretch>
            <a:fillRect/>
          </a:stretch>
        </p:blipFill>
        <p:spPr>
          <a:xfrm>
            <a:off x="1835785" y="1986280"/>
            <a:ext cx="5349240" cy="3962400"/>
          </a:xfrm>
          <a:prstGeom prst="rect">
            <a:avLst/>
          </a:prstGeom>
        </p:spPr>
      </p:pic>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1861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七 可编程逻辑</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器件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935800"/>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7.3 </a:t>
            </a:r>
            <a:r>
              <a:rPr kumimoji="0" lang="en-US" dirty="0">
                <a:solidFill>
                  <a:srgbClr val="000000"/>
                </a:solidFill>
                <a:latin typeface="黑体" panose="02010609060101010101" pitchFamily="49" charset="-122"/>
                <a:ea typeface="黑体" panose="02010609060101010101" pitchFamily="49" charset="-122"/>
              </a:rPr>
              <a:t>ROM</a:t>
            </a:r>
            <a:r>
              <a:rPr kumimoji="0" lang="zh-CN" altLang="en-US" dirty="0">
                <a:solidFill>
                  <a:srgbClr val="000000"/>
                </a:solidFill>
                <a:latin typeface="黑体" panose="02010609060101010101" pitchFamily="49" charset="-122"/>
                <a:ea typeface="黑体" panose="02010609060101010101" pitchFamily="49" charset="-122"/>
              </a:rPr>
              <a:t>的</a:t>
            </a:r>
            <a:r>
              <a:rPr kumimoji="0" lang="zh-CN" altLang="en-US" dirty="0">
                <a:solidFill>
                  <a:srgbClr val="000000"/>
                </a:solidFill>
                <a:latin typeface="黑体" panose="02010609060101010101" pitchFamily="49" charset="-122"/>
                <a:ea typeface="黑体" panose="02010609060101010101" pitchFamily="49" charset="-122"/>
              </a:rPr>
              <a:t>扩展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457960"/>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zh-CN" altLang="en-US" sz="2400" dirty="0">
                <a:solidFill>
                  <a:srgbClr val="000000"/>
                </a:solidFill>
                <a:latin typeface="黑体" panose="02010609060101010101" pitchFamily="49" charset="-122"/>
                <a:ea typeface="黑体" panose="02010609060101010101" pitchFamily="49" charset="-122"/>
              </a:rPr>
              <a:t>位扩展</a:t>
            </a:r>
            <a:r>
              <a:rPr kumimoji="0" lang="en-US" altLang="zh-CN" sz="2400" dirty="0">
                <a:solidFill>
                  <a:srgbClr val="000000"/>
                </a:solidFill>
                <a:latin typeface="黑体" panose="02010609060101010101" pitchFamily="49" charset="-122"/>
                <a:ea typeface="黑体" panose="02010609060101010101" pitchFamily="49" charset="-122"/>
              </a:rPr>
              <a:t> </a:t>
            </a:r>
            <a:endParaRPr kumimoji="0" lang="en-US" altLang="zh-CN" sz="2400" dirty="0">
              <a:solidFill>
                <a:srgbClr val="000000"/>
              </a:solidFill>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2"/>
          <a:stretch>
            <a:fillRect/>
          </a:stretch>
        </p:blipFill>
        <p:spPr>
          <a:xfrm>
            <a:off x="1722755" y="1837690"/>
            <a:ext cx="5791835" cy="4171315"/>
          </a:xfrm>
          <a:prstGeom prst="rect">
            <a:avLst/>
          </a:prstGeom>
        </p:spPr>
      </p:pic>
    </p:spTree>
  </p:cSld>
  <p:clrMapOvr>
    <a:masterClrMapping/>
  </p:clrMapOvr>
  <p:timing>
    <p:tnLst>
      <p:par>
        <p:cTn id="1" dur="indefinite" restart="never" nodeType="tmRoot"/>
      </p:par>
    </p:tnLst>
    <p:bldLst>
      <p:bldP spid="13" grpId="0" bldLvl="0" animBg="1" autoUpdateAnimBg="0"/>
      <p:bldP spid="14" grpId="0" bldLvl="0" animBg="1"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1861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主题八 </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Verilog</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语言</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初步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946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8.1 </a:t>
            </a:r>
            <a:r>
              <a:rPr kumimoji="0" lang="zh-CN" altLang="en-US" dirty="0">
                <a:solidFill>
                  <a:srgbClr val="000000"/>
                </a:solidFill>
                <a:latin typeface="黑体" panose="02010609060101010101" pitchFamily="49" charset="-122"/>
                <a:ea typeface="黑体" panose="02010609060101010101" pitchFamily="49" charset="-122"/>
              </a:rPr>
              <a:t>门原语定义器件</a:t>
            </a:r>
            <a:r>
              <a:rPr kumimoji="0" lang="zh-CN" altLang="en-US" dirty="0">
                <a:solidFill>
                  <a:srgbClr val="000000"/>
                </a:solidFill>
                <a:latin typeface="黑体" panose="02010609060101010101" pitchFamily="49" charset="-122"/>
                <a:ea typeface="黑体" panose="02010609060101010101" pitchFamily="49" charset="-122"/>
              </a:rPr>
              <a:t>语法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9" name="Text Box 12"/>
          <p:cNvSpPr txBox="1">
            <a:spLocks noChangeArrowheads="1"/>
          </p:cNvSpPr>
          <p:nvPr/>
        </p:nvSpPr>
        <p:spPr bwMode="auto">
          <a:xfrm>
            <a:off x="2193227" y="1837905"/>
            <a:ext cx="4370315" cy="461665"/>
          </a:xfrm>
          <a:prstGeom prst="rect">
            <a:avLst/>
          </a:prstGeom>
          <a:noFill/>
          <a:ln w="28575" algn="ctr">
            <a:solidFill>
              <a:srgbClr val="0000CC"/>
            </a:solidFill>
            <a:miter lim="800000"/>
          </a:ln>
        </p:spPr>
        <p:txBody>
          <a:bodyPr wrap="square">
            <a:spAutoFit/>
          </a:bodyPr>
          <a:lstStyle/>
          <a:p>
            <a:pPr defTabSz="685800">
              <a:spcBef>
                <a:spcPct val="50000"/>
              </a:spcBef>
            </a:pPr>
            <a:r>
              <a:rPr lang="zh-CN" altLang="en-US" sz="2400" dirty="0">
                <a:solidFill>
                  <a:srgbClr val="990033"/>
                </a:solidFill>
                <a:ea typeface="微软雅黑" panose="020B0503020204020204" charset="-122"/>
                <a:cs typeface="Times New Roman" panose="02020603050405020304" pitchFamily="18" charset="0"/>
              </a:rPr>
              <a:t>门原语名    实例名  </a:t>
            </a:r>
            <a:r>
              <a:rPr lang="en-US" altLang="zh-CN" sz="2400" dirty="0">
                <a:solidFill>
                  <a:srgbClr val="990033"/>
                </a:solidFill>
                <a:ea typeface="微软雅黑" panose="020B0503020204020204" charset="-122"/>
                <a:cs typeface="Times New Roman" panose="02020603050405020304" pitchFamily="18" charset="0"/>
              </a:rPr>
              <a:t>(</a:t>
            </a:r>
            <a:r>
              <a:rPr lang="zh-CN" altLang="en-US" sz="2400" dirty="0">
                <a:solidFill>
                  <a:srgbClr val="990033"/>
                </a:solidFill>
                <a:ea typeface="微软雅黑" panose="020B0503020204020204" charset="-122"/>
                <a:cs typeface="Times New Roman" panose="02020603050405020304" pitchFamily="18" charset="0"/>
              </a:rPr>
              <a:t>端口连接</a:t>
            </a:r>
            <a:r>
              <a:rPr lang="en-US" altLang="zh-CN" sz="2400" dirty="0">
                <a:solidFill>
                  <a:srgbClr val="990033"/>
                </a:solidFill>
                <a:ea typeface="微软雅黑" panose="020B0503020204020204" charset="-122"/>
                <a:cs typeface="Times New Roman" panose="02020603050405020304" pitchFamily="18" charset="0"/>
              </a:rPr>
              <a:t>)</a:t>
            </a:r>
            <a:endParaRPr lang="en-US" altLang="zh-CN" sz="2400" dirty="0">
              <a:solidFill>
                <a:srgbClr val="990033"/>
              </a:solidFill>
              <a:ea typeface="微软雅黑" panose="020B0503020204020204" charset="-122"/>
              <a:cs typeface="Times New Roman" panose="02020603050405020304" pitchFamily="18" charset="0"/>
            </a:endParaRPr>
          </a:p>
        </p:txBody>
      </p:sp>
      <p:sp>
        <p:nvSpPr>
          <p:cNvPr id="11" name="Text Box 15"/>
          <p:cNvSpPr txBox="1">
            <a:spLocks noChangeArrowheads="1"/>
          </p:cNvSpPr>
          <p:nvPr/>
        </p:nvSpPr>
        <p:spPr bwMode="auto">
          <a:xfrm>
            <a:off x="642567" y="2356905"/>
            <a:ext cx="7858451" cy="580865"/>
          </a:xfrm>
          <a:prstGeom prst="rect">
            <a:avLst/>
          </a:prstGeom>
          <a:noFill/>
          <a:ln w="9525">
            <a:noFill/>
            <a:miter lim="800000"/>
          </a:ln>
        </p:spPr>
        <p:txBody>
          <a:bodyPr wrap="square">
            <a:spAutoFit/>
          </a:bodyPr>
          <a:lstStyle/>
          <a:p>
            <a:pPr defTabSz="685800">
              <a:lnSpc>
                <a:spcPct val="150000"/>
              </a:lnSpc>
            </a:pPr>
            <a:r>
              <a:rPr lang="zh-CN" altLang="en-US" sz="2400" dirty="0">
                <a:solidFill>
                  <a:prstClr val="black"/>
                </a:solidFill>
                <a:ea typeface="微软雅黑" panose="020B0503020204020204" charset="-122"/>
                <a:cs typeface="Times New Roman" panose="02020603050405020304" pitchFamily="18" charset="0"/>
              </a:rPr>
              <a:t>注：实例名可省略，端口连接采用</a:t>
            </a:r>
            <a:r>
              <a:rPr lang="zh-CN" altLang="en-US" sz="2400" dirty="0">
                <a:solidFill>
                  <a:srgbClr val="0000CC"/>
                </a:solidFill>
                <a:ea typeface="微软雅黑" panose="020B0503020204020204" charset="-122"/>
                <a:cs typeface="Times New Roman" panose="02020603050405020304" pitchFamily="18" charset="0"/>
              </a:rPr>
              <a:t>输出在前</a:t>
            </a:r>
            <a:r>
              <a:rPr lang="zh-CN" altLang="en-US" sz="2400" dirty="0">
                <a:solidFill>
                  <a:prstClr val="black"/>
                </a:solidFill>
                <a:ea typeface="微软雅黑" panose="020B0503020204020204" charset="-122"/>
                <a:cs typeface="Times New Roman" panose="02020603050405020304" pitchFamily="18" charset="0"/>
              </a:rPr>
              <a:t>，</a:t>
            </a:r>
            <a:r>
              <a:rPr lang="zh-CN" altLang="en-US" sz="2400" dirty="0">
                <a:solidFill>
                  <a:srgbClr val="FF0000"/>
                </a:solidFill>
                <a:ea typeface="微软雅黑" panose="020B0503020204020204" charset="-122"/>
                <a:cs typeface="Times New Roman" panose="02020603050405020304" pitchFamily="18" charset="0"/>
              </a:rPr>
              <a:t>输入在后</a:t>
            </a:r>
            <a:r>
              <a:rPr lang="zh-CN" altLang="en-US" sz="2400" dirty="0">
                <a:solidFill>
                  <a:prstClr val="black"/>
                </a:solidFill>
                <a:ea typeface="微软雅黑" panose="020B0503020204020204" charset="-122"/>
                <a:cs typeface="Times New Roman" panose="02020603050405020304" pitchFamily="18" charset="0"/>
              </a:rPr>
              <a:t>。</a:t>
            </a:r>
            <a:endParaRPr lang="zh-CN" altLang="en-US" sz="2400" dirty="0">
              <a:solidFill>
                <a:prstClr val="black"/>
              </a:solidFill>
              <a:ea typeface="微软雅黑" panose="020B0503020204020204" charset="-122"/>
              <a:cs typeface="Times New Roman" panose="02020603050405020304" pitchFamily="18" charset="0"/>
            </a:endParaRPr>
          </a:p>
        </p:txBody>
      </p:sp>
      <p:graphicFrame>
        <p:nvGraphicFramePr>
          <p:cNvPr id="2" name="Group 22"/>
          <p:cNvGraphicFramePr>
            <a:graphicFrameLocks noGrp="1"/>
          </p:cNvGraphicFramePr>
          <p:nvPr/>
        </p:nvGraphicFramePr>
        <p:xfrm>
          <a:off x="1296433" y="3305944"/>
          <a:ext cx="6486880" cy="868680"/>
        </p:xfrm>
        <a:graphic>
          <a:graphicData uri="http://schemas.openxmlformats.org/drawingml/2006/table">
            <a:tbl>
              <a:tblPr/>
              <a:tblGrid>
                <a:gridCol w="2028993"/>
                <a:gridCol w="1960576"/>
                <a:gridCol w="2497311"/>
              </a:tblGrid>
              <a:tr h="342900">
                <a:tc>
                  <a:txBody>
                    <a:bodyPr/>
                    <a:lstStyle>
                      <a:lvl1pPr marL="0" algn="l" defTabSz="914400" rtl="0" eaLnBrk="1" latinLnBrk="0" hangingPunct="1">
                        <a:defRPr sz="1800" kern="1200">
                          <a:solidFill>
                            <a:schemeClr val="tx1"/>
                          </a:solidFill>
                          <a:latin typeface="Verdana" panose="020B0604030504040204"/>
                          <a:ea typeface="黑体" panose="02010609060101010101" pitchFamily="49" charset="-122"/>
                        </a:defRPr>
                      </a:lvl1pPr>
                      <a:lvl2pPr marL="457200" algn="l" defTabSz="914400" rtl="0" eaLnBrk="1" latinLnBrk="0" hangingPunct="1">
                        <a:defRPr sz="1800" kern="1200">
                          <a:solidFill>
                            <a:schemeClr val="tx1"/>
                          </a:solidFill>
                          <a:latin typeface="Verdana" panose="020B0604030504040204"/>
                          <a:ea typeface="黑体" panose="02010609060101010101" pitchFamily="49" charset="-122"/>
                        </a:defRPr>
                      </a:lvl2pPr>
                      <a:lvl3pPr marL="914400" algn="l" defTabSz="914400" rtl="0" eaLnBrk="1" latinLnBrk="0" hangingPunct="1">
                        <a:defRPr sz="1800" kern="1200">
                          <a:solidFill>
                            <a:schemeClr val="tx1"/>
                          </a:solidFill>
                          <a:latin typeface="Verdana" panose="020B0604030504040204"/>
                          <a:ea typeface="黑体" panose="02010609060101010101" pitchFamily="49" charset="-122"/>
                        </a:defRPr>
                      </a:lvl3pPr>
                      <a:lvl4pPr marL="1371600" algn="l" defTabSz="914400" rtl="0" eaLnBrk="1" latinLnBrk="0" hangingPunct="1">
                        <a:defRPr sz="1800" kern="1200">
                          <a:solidFill>
                            <a:schemeClr val="tx1"/>
                          </a:solidFill>
                          <a:latin typeface="Verdana" panose="020B0604030504040204"/>
                          <a:ea typeface="黑体" panose="02010609060101010101" pitchFamily="49" charset="-122"/>
                        </a:defRPr>
                      </a:lvl4pPr>
                      <a:lvl5pPr marL="1828800" algn="l" defTabSz="914400" rtl="0" eaLnBrk="1" latinLnBrk="0" hangingPunct="1">
                        <a:defRPr sz="1800" kern="1200">
                          <a:solidFill>
                            <a:schemeClr val="tx1"/>
                          </a:solidFill>
                          <a:latin typeface="Verdana" panose="020B0604030504040204"/>
                          <a:ea typeface="黑体" panose="02010609060101010101" pitchFamily="49" charset="-122"/>
                        </a:defRPr>
                      </a:lvl5pPr>
                      <a:lvl6pPr marL="2286000" algn="l" defTabSz="914400" rtl="0" eaLnBrk="1" latinLnBrk="0" hangingPunct="1">
                        <a:defRPr sz="1800" kern="1200">
                          <a:solidFill>
                            <a:schemeClr val="tx1"/>
                          </a:solidFill>
                          <a:latin typeface="Verdana" panose="020B0604030504040204"/>
                          <a:ea typeface="黑体" panose="02010609060101010101" pitchFamily="49" charset="-122"/>
                        </a:defRPr>
                      </a:lvl6pPr>
                      <a:lvl7pPr marL="2743200" algn="l" defTabSz="914400" rtl="0" eaLnBrk="1" latinLnBrk="0" hangingPunct="1">
                        <a:defRPr sz="1800" kern="1200">
                          <a:solidFill>
                            <a:schemeClr val="tx1"/>
                          </a:solidFill>
                          <a:latin typeface="Verdana" panose="020B0604030504040204"/>
                          <a:ea typeface="黑体" panose="02010609060101010101" pitchFamily="49" charset="-122"/>
                        </a:defRPr>
                      </a:lvl7pPr>
                      <a:lvl8pPr marL="3200400" algn="l" defTabSz="914400" rtl="0" eaLnBrk="1" latinLnBrk="0" hangingPunct="1">
                        <a:defRPr sz="1800" kern="1200">
                          <a:solidFill>
                            <a:schemeClr val="tx1"/>
                          </a:solidFill>
                          <a:latin typeface="Verdana" panose="020B0604030504040204"/>
                          <a:ea typeface="黑体" panose="02010609060101010101" pitchFamily="49" charset="-122"/>
                        </a:defRPr>
                      </a:lvl8pPr>
                      <a:lvl9pPr marL="3657600" algn="l" defTabSz="914400" rtl="0" eaLnBrk="1" latinLnBrk="0" hangingPunct="1">
                        <a:defRPr sz="1800" kern="1200">
                          <a:solidFill>
                            <a:schemeClr val="tx1"/>
                          </a:solidFill>
                          <a:latin typeface="Verdana" panose="020B0604030504040204"/>
                          <a:ea typeface="黑体" panose="02010609060101010101" pitchFamily="49" charset="-122"/>
                        </a:defRPr>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dirty="0">
                          <a:ln>
                            <a:noFill/>
                          </a:ln>
                          <a:solidFill>
                            <a:srgbClr val="080808"/>
                          </a:solidFill>
                          <a:effectLst/>
                          <a:latin typeface="Times New Roman" panose="02020603050405020304" pitchFamily="18" charset="0"/>
                          <a:ea typeface="微软雅黑" panose="020B0503020204020204" charset="-122"/>
                          <a:cs typeface="Times New Roman" panose="02020603050405020304" pitchFamily="18" charset="0"/>
                        </a:rPr>
                        <a:t>and </a:t>
                      </a:r>
                      <a:r>
                        <a:rPr kumimoji="0" lang="zh-CN" altLang="en-US" sz="2400" b="0" i="0" u="none" strike="noStrike" cap="none" normalizeH="0" baseline="0" dirty="0">
                          <a:ln>
                            <a:noFill/>
                          </a:ln>
                          <a:solidFill>
                            <a:srgbClr val="080808"/>
                          </a:solidFill>
                          <a:effectLst/>
                          <a:latin typeface="Times New Roman" panose="02020603050405020304" pitchFamily="18" charset="0"/>
                          <a:ea typeface="微软雅黑" panose="020B0503020204020204" charset="-122"/>
                          <a:cs typeface="Times New Roman" panose="02020603050405020304" pitchFamily="18" charset="0"/>
                        </a:rPr>
                        <a:t>（与）</a:t>
                      </a:r>
                      <a:endParaRPr kumimoji="0" lang="zh-CN" altLang="en-US" sz="2400" b="0" i="0" u="none" strike="noStrike" cap="none" normalizeH="0" baseline="0" dirty="0">
                        <a:ln>
                          <a:noFill/>
                        </a:ln>
                        <a:solidFill>
                          <a:srgbClr val="080808"/>
                        </a:solidFill>
                        <a:effectLst/>
                        <a:latin typeface="Times New Roman" panose="02020603050405020304" pitchFamily="18" charset="0"/>
                        <a:ea typeface="微软雅黑" panose="020B0503020204020204" charset="-122"/>
                        <a:cs typeface="Times New Roman" panose="02020603050405020304" pitchFamily="18" charset="0"/>
                      </a:endParaRPr>
                    </a:p>
                  </a:txBody>
                  <a:tcPr marL="68580" marR="68580" marT="34290" marB="34290" horzOverflow="overflow">
                    <a:lnL w="12700" cap="flat" cmpd="sng" algn="ctr">
                      <a:solidFill>
                        <a:srgbClr val="080808"/>
                      </a:solidFill>
                      <a:prstDash val="solid"/>
                      <a:round/>
                      <a:headEnd type="none" w="med" len="med"/>
                      <a:tailEnd type="none" w="med" len="med"/>
                    </a:lnL>
                    <a:lnR w="12700" cap="flat" cmpd="sng" algn="ctr">
                      <a:solidFill>
                        <a:srgbClr val="080808"/>
                      </a:solidFill>
                      <a:prstDash val="solid"/>
                      <a:round/>
                      <a:headEnd type="none" w="med" len="med"/>
                      <a:tailEnd type="none" w="med" len="med"/>
                    </a:lnR>
                    <a:lnT w="28575" cap="flat" cmpd="sng" algn="ctr">
                      <a:solidFill>
                        <a:srgbClr val="080808"/>
                      </a:solidFill>
                      <a:prstDash val="solid"/>
                      <a:round/>
                      <a:headEnd type="none" w="med" len="med"/>
                      <a:tailEnd type="none" w="med" len="med"/>
                    </a:lnT>
                    <a:lnB w="12700" cap="flat" cmpd="sng" algn="ctr">
                      <a:solidFill>
                        <a:srgbClr val="080808"/>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Verdana" panose="020B0604030504040204"/>
                          <a:ea typeface="黑体" panose="02010609060101010101" pitchFamily="49" charset="-122"/>
                        </a:defRPr>
                      </a:lvl1pPr>
                      <a:lvl2pPr marL="457200" algn="l" defTabSz="914400" rtl="0" eaLnBrk="1" latinLnBrk="0" hangingPunct="1">
                        <a:defRPr sz="1800" kern="1200">
                          <a:solidFill>
                            <a:schemeClr val="tx1"/>
                          </a:solidFill>
                          <a:latin typeface="Verdana" panose="020B0604030504040204"/>
                          <a:ea typeface="黑体" panose="02010609060101010101" pitchFamily="49" charset="-122"/>
                        </a:defRPr>
                      </a:lvl2pPr>
                      <a:lvl3pPr marL="914400" algn="l" defTabSz="914400" rtl="0" eaLnBrk="1" latinLnBrk="0" hangingPunct="1">
                        <a:defRPr sz="1800" kern="1200">
                          <a:solidFill>
                            <a:schemeClr val="tx1"/>
                          </a:solidFill>
                          <a:latin typeface="Verdana" panose="020B0604030504040204"/>
                          <a:ea typeface="黑体" panose="02010609060101010101" pitchFamily="49" charset="-122"/>
                        </a:defRPr>
                      </a:lvl3pPr>
                      <a:lvl4pPr marL="1371600" algn="l" defTabSz="914400" rtl="0" eaLnBrk="1" latinLnBrk="0" hangingPunct="1">
                        <a:defRPr sz="1800" kern="1200">
                          <a:solidFill>
                            <a:schemeClr val="tx1"/>
                          </a:solidFill>
                          <a:latin typeface="Verdana" panose="020B0604030504040204"/>
                          <a:ea typeface="黑体" panose="02010609060101010101" pitchFamily="49" charset="-122"/>
                        </a:defRPr>
                      </a:lvl4pPr>
                      <a:lvl5pPr marL="1828800" algn="l" defTabSz="914400" rtl="0" eaLnBrk="1" latinLnBrk="0" hangingPunct="1">
                        <a:defRPr sz="1800" kern="1200">
                          <a:solidFill>
                            <a:schemeClr val="tx1"/>
                          </a:solidFill>
                          <a:latin typeface="Verdana" panose="020B0604030504040204"/>
                          <a:ea typeface="黑体" panose="02010609060101010101" pitchFamily="49" charset="-122"/>
                        </a:defRPr>
                      </a:lvl5pPr>
                      <a:lvl6pPr marL="2286000" algn="l" defTabSz="914400" rtl="0" eaLnBrk="1" latinLnBrk="0" hangingPunct="1">
                        <a:defRPr sz="1800" kern="1200">
                          <a:solidFill>
                            <a:schemeClr val="tx1"/>
                          </a:solidFill>
                          <a:latin typeface="Verdana" panose="020B0604030504040204"/>
                          <a:ea typeface="黑体" panose="02010609060101010101" pitchFamily="49" charset="-122"/>
                        </a:defRPr>
                      </a:lvl6pPr>
                      <a:lvl7pPr marL="2743200" algn="l" defTabSz="914400" rtl="0" eaLnBrk="1" latinLnBrk="0" hangingPunct="1">
                        <a:defRPr sz="1800" kern="1200">
                          <a:solidFill>
                            <a:schemeClr val="tx1"/>
                          </a:solidFill>
                          <a:latin typeface="Verdana" panose="020B0604030504040204"/>
                          <a:ea typeface="黑体" panose="02010609060101010101" pitchFamily="49" charset="-122"/>
                        </a:defRPr>
                      </a:lvl7pPr>
                      <a:lvl8pPr marL="3200400" algn="l" defTabSz="914400" rtl="0" eaLnBrk="1" latinLnBrk="0" hangingPunct="1">
                        <a:defRPr sz="1800" kern="1200">
                          <a:solidFill>
                            <a:schemeClr val="tx1"/>
                          </a:solidFill>
                          <a:latin typeface="Verdana" panose="020B0604030504040204"/>
                          <a:ea typeface="黑体" panose="02010609060101010101" pitchFamily="49" charset="-122"/>
                        </a:defRPr>
                      </a:lvl8pPr>
                      <a:lvl9pPr marL="3657600" algn="l" defTabSz="914400" rtl="0" eaLnBrk="1" latinLnBrk="0" hangingPunct="1">
                        <a:defRPr sz="1800" kern="1200">
                          <a:solidFill>
                            <a:schemeClr val="tx1"/>
                          </a:solidFill>
                          <a:latin typeface="Verdana" panose="020B0604030504040204"/>
                          <a:ea typeface="黑体" panose="02010609060101010101" pitchFamily="49" charset="-122"/>
                        </a:defRPr>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dirty="0">
                          <a:ln>
                            <a:noFill/>
                          </a:ln>
                          <a:solidFill>
                            <a:srgbClr val="080808"/>
                          </a:solidFill>
                          <a:effectLst/>
                          <a:latin typeface="Times New Roman" panose="02020603050405020304" pitchFamily="18" charset="0"/>
                          <a:ea typeface="微软雅黑" panose="020B0503020204020204" charset="-122"/>
                          <a:cs typeface="Times New Roman" panose="02020603050405020304" pitchFamily="18" charset="0"/>
                        </a:rPr>
                        <a:t>or</a:t>
                      </a:r>
                      <a:r>
                        <a:rPr kumimoji="0" lang="zh-CN" altLang="en-US" sz="2400" b="0" i="0" u="none" strike="noStrike" cap="none" normalizeH="0" baseline="0" dirty="0">
                          <a:ln>
                            <a:noFill/>
                          </a:ln>
                          <a:solidFill>
                            <a:srgbClr val="080808"/>
                          </a:solidFill>
                          <a:effectLst/>
                          <a:latin typeface="Times New Roman" panose="02020603050405020304" pitchFamily="18" charset="0"/>
                          <a:ea typeface="微软雅黑" panose="020B0503020204020204" charset="-122"/>
                          <a:cs typeface="Times New Roman" panose="02020603050405020304" pitchFamily="18" charset="0"/>
                        </a:rPr>
                        <a:t>（或）</a:t>
                      </a:r>
                      <a:endParaRPr kumimoji="0" lang="zh-CN" altLang="en-US" sz="2400" b="0" i="0" u="none" strike="noStrike" cap="none" normalizeH="0" baseline="0" dirty="0">
                        <a:ln>
                          <a:noFill/>
                        </a:ln>
                        <a:solidFill>
                          <a:srgbClr val="080808"/>
                        </a:solidFill>
                        <a:effectLst/>
                        <a:latin typeface="Times New Roman" panose="02020603050405020304" pitchFamily="18" charset="0"/>
                        <a:ea typeface="微软雅黑" panose="020B0503020204020204" charset="-122"/>
                        <a:cs typeface="Times New Roman" panose="02020603050405020304" pitchFamily="18" charset="0"/>
                      </a:endParaRPr>
                    </a:p>
                  </a:txBody>
                  <a:tcPr marL="68580" marR="68580" marT="34290" marB="34290" horzOverflow="overflow">
                    <a:lnL w="12700" cap="flat" cmpd="sng" algn="ctr">
                      <a:solidFill>
                        <a:srgbClr val="080808"/>
                      </a:solidFill>
                      <a:prstDash val="solid"/>
                      <a:round/>
                      <a:headEnd type="none" w="med" len="med"/>
                      <a:tailEnd type="none" w="med" len="med"/>
                    </a:lnL>
                    <a:lnR w="12700" cap="flat" cmpd="sng" algn="ctr">
                      <a:solidFill>
                        <a:srgbClr val="080808"/>
                      </a:solidFill>
                      <a:prstDash val="solid"/>
                      <a:round/>
                      <a:headEnd type="none" w="med" len="med"/>
                      <a:tailEnd type="none" w="med" len="med"/>
                    </a:lnR>
                    <a:lnT w="28575" cap="flat" cmpd="sng" algn="ctr">
                      <a:solidFill>
                        <a:srgbClr val="080808"/>
                      </a:solidFill>
                      <a:prstDash val="solid"/>
                      <a:round/>
                      <a:headEnd type="none" w="med" len="med"/>
                      <a:tailEnd type="none" w="med" len="med"/>
                    </a:lnT>
                    <a:lnB w="12700" cap="flat" cmpd="sng" algn="ctr">
                      <a:solidFill>
                        <a:srgbClr val="080808"/>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Verdana" panose="020B0604030504040204"/>
                          <a:ea typeface="黑体" panose="02010609060101010101" pitchFamily="49" charset="-122"/>
                        </a:defRPr>
                      </a:lvl1pPr>
                      <a:lvl2pPr marL="457200" algn="l" defTabSz="914400" rtl="0" eaLnBrk="1" latinLnBrk="0" hangingPunct="1">
                        <a:defRPr sz="1800" kern="1200">
                          <a:solidFill>
                            <a:schemeClr val="tx1"/>
                          </a:solidFill>
                          <a:latin typeface="Verdana" panose="020B0604030504040204"/>
                          <a:ea typeface="黑体" panose="02010609060101010101" pitchFamily="49" charset="-122"/>
                        </a:defRPr>
                      </a:lvl2pPr>
                      <a:lvl3pPr marL="914400" algn="l" defTabSz="914400" rtl="0" eaLnBrk="1" latinLnBrk="0" hangingPunct="1">
                        <a:defRPr sz="1800" kern="1200">
                          <a:solidFill>
                            <a:schemeClr val="tx1"/>
                          </a:solidFill>
                          <a:latin typeface="Verdana" panose="020B0604030504040204"/>
                          <a:ea typeface="黑体" panose="02010609060101010101" pitchFamily="49" charset="-122"/>
                        </a:defRPr>
                      </a:lvl3pPr>
                      <a:lvl4pPr marL="1371600" algn="l" defTabSz="914400" rtl="0" eaLnBrk="1" latinLnBrk="0" hangingPunct="1">
                        <a:defRPr sz="1800" kern="1200">
                          <a:solidFill>
                            <a:schemeClr val="tx1"/>
                          </a:solidFill>
                          <a:latin typeface="Verdana" panose="020B0604030504040204"/>
                          <a:ea typeface="黑体" panose="02010609060101010101" pitchFamily="49" charset="-122"/>
                        </a:defRPr>
                      </a:lvl4pPr>
                      <a:lvl5pPr marL="1828800" algn="l" defTabSz="914400" rtl="0" eaLnBrk="1" latinLnBrk="0" hangingPunct="1">
                        <a:defRPr sz="1800" kern="1200">
                          <a:solidFill>
                            <a:schemeClr val="tx1"/>
                          </a:solidFill>
                          <a:latin typeface="Verdana" panose="020B0604030504040204"/>
                          <a:ea typeface="黑体" panose="02010609060101010101" pitchFamily="49" charset="-122"/>
                        </a:defRPr>
                      </a:lvl5pPr>
                      <a:lvl6pPr marL="2286000" algn="l" defTabSz="914400" rtl="0" eaLnBrk="1" latinLnBrk="0" hangingPunct="1">
                        <a:defRPr sz="1800" kern="1200">
                          <a:solidFill>
                            <a:schemeClr val="tx1"/>
                          </a:solidFill>
                          <a:latin typeface="Verdana" panose="020B0604030504040204"/>
                          <a:ea typeface="黑体" panose="02010609060101010101" pitchFamily="49" charset="-122"/>
                        </a:defRPr>
                      </a:lvl6pPr>
                      <a:lvl7pPr marL="2743200" algn="l" defTabSz="914400" rtl="0" eaLnBrk="1" latinLnBrk="0" hangingPunct="1">
                        <a:defRPr sz="1800" kern="1200">
                          <a:solidFill>
                            <a:schemeClr val="tx1"/>
                          </a:solidFill>
                          <a:latin typeface="Verdana" panose="020B0604030504040204"/>
                          <a:ea typeface="黑体" panose="02010609060101010101" pitchFamily="49" charset="-122"/>
                        </a:defRPr>
                      </a:lvl7pPr>
                      <a:lvl8pPr marL="3200400" algn="l" defTabSz="914400" rtl="0" eaLnBrk="1" latinLnBrk="0" hangingPunct="1">
                        <a:defRPr sz="1800" kern="1200">
                          <a:solidFill>
                            <a:schemeClr val="tx1"/>
                          </a:solidFill>
                          <a:latin typeface="Verdana" panose="020B0604030504040204"/>
                          <a:ea typeface="黑体" panose="02010609060101010101" pitchFamily="49" charset="-122"/>
                        </a:defRPr>
                      </a:lvl8pPr>
                      <a:lvl9pPr marL="3657600" algn="l" defTabSz="914400" rtl="0" eaLnBrk="1" latinLnBrk="0" hangingPunct="1">
                        <a:defRPr sz="1800" kern="1200">
                          <a:solidFill>
                            <a:schemeClr val="tx1"/>
                          </a:solidFill>
                          <a:latin typeface="Verdana" panose="020B0604030504040204"/>
                          <a:ea typeface="黑体" panose="02010609060101010101" pitchFamily="49" charset="-122"/>
                        </a:defRPr>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dirty="0" err="1">
                          <a:ln>
                            <a:noFill/>
                          </a:ln>
                          <a:solidFill>
                            <a:srgbClr val="080808"/>
                          </a:solidFill>
                          <a:effectLst/>
                          <a:latin typeface="Times New Roman" panose="02020603050405020304" pitchFamily="18" charset="0"/>
                          <a:ea typeface="微软雅黑" panose="020B0503020204020204" charset="-122"/>
                          <a:cs typeface="Times New Roman" panose="02020603050405020304" pitchFamily="18" charset="0"/>
                        </a:rPr>
                        <a:t>xor</a:t>
                      </a:r>
                      <a:r>
                        <a:rPr kumimoji="0" lang="zh-CN" altLang="en-US" sz="2400" b="0" i="0" u="none" strike="noStrike" cap="none" normalizeH="0" baseline="0" dirty="0">
                          <a:ln>
                            <a:noFill/>
                          </a:ln>
                          <a:solidFill>
                            <a:srgbClr val="080808"/>
                          </a:solidFill>
                          <a:effectLst/>
                          <a:latin typeface="Times New Roman" panose="02020603050405020304" pitchFamily="18" charset="0"/>
                          <a:ea typeface="微软雅黑" panose="020B0503020204020204" charset="-122"/>
                          <a:cs typeface="Times New Roman" panose="02020603050405020304" pitchFamily="18" charset="0"/>
                        </a:rPr>
                        <a:t>（异或）</a:t>
                      </a:r>
                      <a:endParaRPr kumimoji="0" lang="zh-CN" altLang="en-US" sz="2400" b="0" i="0" u="none" strike="noStrike" cap="none" normalizeH="0" baseline="0" dirty="0">
                        <a:ln>
                          <a:noFill/>
                        </a:ln>
                        <a:solidFill>
                          <a:srgbClr val="080808"/>
                        </a:solidFill>
                        <a:effectLst/>
                        <a:latin typeface="Times New Roman" panose="02020603050405020304" pitchFamily="18" charset="0"/>
                        <a:ea typeface="微软雅黑" panose="020B0503020204020204" charset="-122"/>
                        <a:cs typeface="Times New Roman" panose="02020603050405020304" pitchFamily="18" charset="0"/>
                      </a:endParaRPr>
                    </a:p>
                  </a:txBody>
                  <a:tcPr marL="68580" marR="68580" marT="34290" marB="34290" horzOverflow="overflow">
                    <a:lnL w="12700" cap="flat" cmpd="sng" algn="ctr">
                      <a:solidFill>
                        <a:srgbClr val="080808"/>
                      </a:solidFill>
                      <a:prstDash val="solid"/>
                      <a:round/>
                      <a:headEnd type="none" w="med" len="med"/>
                      <a:tailEnd type="none" w="med" len="med"/>
                    </a:lnL>
                    <a:lnR w="28575" cap="flat" cmpd="sng" algn="ctr">
                      <a:solidFill>
                        <a:srgbClr val="080808"/>
                      </a:solidFill>
                      <a:prstDash val="solid"/>
                      <a:round/>
                      <a:headEnd type="none" w="med" len="med"/>
                      <a:tailEnd type="none" w="med" len="med"/>
                    </a:lnR>
                    <a:lnT w="28575" cap="flat" cmpd="sng" algn="ctr">
                      <a:solidFill>
                        <a:srgbClr val="080808"/>
                      </a:solidFill>
                      <a:prstDash val="solid"/>
                      <a:round/>
                      <a:headEnd type="none" w="med" len="med"/>
                      <a:tailEnd type="none" w="med" len="med"/>
                    </a:lnT>
                    <a:lnB w="12700" cap="flat" cmpd="sng" algn="ctr">
                      <a:solidFill>
                        <a:srgbClr val="080808"/>
                      </a:solidFill>
                      <a:prstDash val="solid"/>
                      <a:round/>
                      <a:headEnd type="none" w="med" len="med"/>
                      <a:tailEnd type="none" w="med" len="med"/>
                    </a:lnB>
                    <a:lnTlToBr>
                      <a:noFill/>
                    </a:lnTlToBr>
                    <a:lnBlToTr>
                      <a:noFill/>
                    </a:lnBlToTr>
                    <a:noFill/>
                  </a:tcPr>
                </a:tc>
              </a:tr>
              <a:tr h="342900">
                <a:tc>
                  <a:txBody>
                    <a:bodyPr/>
                    <a:lstStyle>
                      <a:lvl1pPr marL="0" algn="l" defTabSz="914400" rtl="0" eaLnBrk="1" latinLnBrk="0" hangingPunct="1">
                        <a:defRPr sz="1800" kern="1200">
                          <a:solidFill>
                            <a:schemeClr val="tx1"/>
                          </a:solidFill>
                          <a:latin typeface="Verdana" panose="020B0604030504040204"/>
                          <a:ea typeface="黑体" panose="02010609060101010101" pitchFamily="49" charset="-122"/>
                        </a:defRPr>
                      </a:lvl1pPr>
                      <a:lvl2pPr marL="457200" algn="l" defTabSz="914400" rtl="0" eaLnBrk="1" latinLnBrk="0" hangingPunct="1">
                        <a:defRPr sz="1800" kern="1200">
                          <a:solidFill>
                            <a:schemeClr val="tx1"/>
                          </a:solidFill>
                          <a:latin typeface="Verdana" panose="020B0604030504040204"/>
                          <a:ea typeface="黑体" panose="02010609060101010101" pitchFamily="49" charset="-122"/>
                        </a:defRPr>
                      </a:lvl2pPr>
                      <a:lvl3pPr marL="914400" algn="l" defTabSz="914400" rtl="0" eaLnBrk="1" latinLnBrk="0" hangingPunct="1">
                        <a:defRPr sz="1800" kern="1200">
                          <a:solidFill>
                            <a:schemeClr val="tx1"/>
                          </a:solidFill>
                          <a:latin typeface="Verdana" panose="020B0604030504040204"/>
                          <a:ea typeface="黑体" panose="02010609060101010101" pitchFamily="49" charset="-122"/>
                        </a:defRPr>
                      </a:lvl3pPr>
                      <a:lvl4pPr marL="1371600" algn="l" defTabSz="914400" rtl="0" eaLnBrk="1" latinLnBrk="0" hangingPunct="1">
                        <a:defRPr sz="1800" kern="1200">
                          <a:solidFill>
                            <a:schemeClr val="tx1"/>
                          </a:solidFill>
                          <a:latin typeface="Verdana" panose="020B0604030504040204"/>
                          <a:ea typeface="黑体" panose="02010609060101010101" pitchFamily="49" charset="-122"/>
                        </a:defRPr>
                      </a:lvl4pPr>
                      <a:lvl5pPr marL="1828800" algn="l" defTabSz="914400" rtl="0" eaLnBrk="1" latinLnBrk="0" hangingPunct="1">
                        <a:defRPr sz="1800" kern="1200">
                          <a:solidFill>
                            <a:schemeClr val="tx1"/>
                          </a:solidFill>
                          <a:latin typeface="Verdana" panose="020B0604030504040204"/>
                          <a:ea typeface="黑体" panose="02010609060101010101" pitchFamily="49" charset="-122"/>
                        </a:defRPr>
                      </a:lvl5pPr>
                      <a:lvl6pPr marL="2286000" algn="l" defTabSz="914400" rtl="0" eaLnBrk="1" latinLnBrk="0" hangingPunct="1">
                        <a:defRPr sz="1800" kern="1200">
                          <a:solidFill>
                            <a:schemeClr val="tx1"/>
                          </a:solidFill>
                          <a:latin typeface="Verdana" panose="020B0604030504040204"/>
                          <a:ea typeface="黑体" panose="02010609060101010101" pitchFamily="49" charset="-122"/>
                        </a:defRPr>
                      </a:lvl6pPr>
                      <a:lvl7pPr marL="2743200" algn="l" defTabSz="914400" rtl="0" eaLnBrk="1" latinLnBrk="0" hangingPunct="1">
                        <a:defRPr sz="1800" kern="1200">
                          <a:solidFill>
                            <a:schemeClr val="tx1"/>
                          </a:solidFill>
                          <a:latin typeface="Verdana" panose="020B0604030504040204"/>
                          <a:ea typeface="黑体" panose="02010609060101010101" pitchFamily="49" charset="-122"/>
                        </a:defRPr>
                      </a:lvl7pPr>
                      <a:lvl8pPr marL="3200400" algn="l" defTabSz="914400" rtl="0" eaLnBrk="1" latinLnBrk="0" hangingPunct="1">
                        <a:defRPr sz="1800" kern="1200">
                          <a:solidFill>
                            <a:schemeClr val="tx1"/>
                          </a:solidFill>
                          <a:latin typeface="Verdana" panose="020B0604030504040204"/>
                          <a:ea typeface="黑体" panose="02010609060101010101" pitchFamily="49" charset="-122"/>
                        </a:defRPr>
                      </a:lvl8pPr>
                      <a:lvl9pPr marL="3657600" algn="l" defTabSz="914400" rtl="0" eaLnBrk="1" latinLnBrk="0" hangingPunct="1">
                        <a:defRPr sz="1800" kern="1200">
                          <a:solidFill>
                            <a:schemeClr val="tx1"/>
                          </a:solidFill>
                          <a:latin typeface="Verdana" panose="020B0604030504040204"/>
                          <a:ea typeface="黑体" panose="02010609060101010101" pitchFamily="49" charset="-122"/>
                        </a:defRPr>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dirty="0" err="1">
                          <a:ln>
                            <a:noFill/>
                          </a:ln>
                          <a:solidFill>
                            <a:srgbClr val="080808"/>
                          </a:solidFill>
                          <a:effectLst/>
                          <a:latin typeface="Times New Roman" panose="02020603050405020304" pitchFamily="18" charset="0"/>
                          <a:ea typeface="微软雅黑" panose="020B0503020204020204" charset="-122"/>
                          <a:cs typeface="Times New Roman" panose="02020603050405020304" pitchFamily="18" charset="0"/>
                        </a:rPr>
                        <a:t>nand</a:t>
                      </a:r>
                      <a:r>
                        <a:rPr kumimoji="0" lang="zh-CN" altLang="en-US" sz="2400" b="0" i="0" u="none" strike="noStrike" cap="none" normalizeH="0" baseline="0" dirty="0">
                          <a:ln>
                            <a:noFill/>
                          </a:ln>
                          <a:solidFill>
                            <a:srgbClr val="080808"/>
                          </a:solidFill>
                          <a:effectLst/>
                          <a:latin typeface="Times New Roman" panose="02020603050405020304" pitchFamily="18" charset="0"/>
                          <a:ea typeface="微软雅黑" panose="020B0503020204020204" charset="-122"/>
                          <a:cs typeface="Times New Roman" panose="02020603050405020304" pitchFamily="18" charset="0"/>
                        </a:rPr>
                        <a:t>（与非）</a:t>
                      </a:r>
                      <a:endParaRPr kumimoji="0" lang="zh-CN" altLang="en-US" sz="2400" b="0" i="0" u="none" strike="noStrike" cap="none" normalizeH="0" baseline="0" dirty="0">
                        <a:ln>
                          <a:noFill/>
                        </a:ln>
                        <a:solidFill>
                          <a:srgbClr val="080808"/>
                        </a:solidFill>
                        <a:effectLst/>
                        <a:latin typeface="Times New Roman" panose="02020603050405020304" pitchFamily="18" charset="0"/>
                        <a:ea typeface="微软雅黑" panose="020B0503020204020204" charset="-122"/>
                        <a:cs typeface="Times New Roman" panose="02020603050405020304" pitchFamily="18" charset="0"/>
                      </a:endParaRPr>
                    </a:p>
                  </a:txBody>
                  <a:tcPr marL="68580" marR="68580" marT="34290" marB="34290" horzOverflow="overflow">
                    <a:lnL w="12700" cap="flat" cmpd="sng" algn="ctr">
                      <a:solidFill>
                        <a:srgbClr val="080808"/>
                      </a:solidFill>
                      <a:prstDash val="solid"/>
                      <a:round/>
                      <a:headEnd type="none" w="med" len="med"/>
                      <a:tailEnd type="none" w="med" len="med"/>
                    </a:lnL>
                    <a:lnR w="12700" cap="flat" cmpd="sng" algn="ctr">
                      <a:solidFill>
                        <a:srgbClr val="080808"/>
                      </a:solidFill>
                      <a:prstDash val="solid"/>
                      <a:round/>
                      <a:headEnd type="none" w="med" len="med"/>
                      <a:tailEnd type="none" w="med" len="med"/>
                    </a:lnR>
                    <a:lnT w="12700" cap="flat" cmpd="sng" algn="ctr">
                      <a:solidFill>
                        <a:srgbClr val="080808"/>
                      </a:solidFill>
                      <a:prstDash val="solid"/>
                      <a:round/>
                      <a:headEnd type="none" w="med" len="med"/>
                      <a:tailEnd type="none" w="med" len="med"/>
                    </a:lnT>
                    <a:lnB w="28575" cap="flat" cmpd="sng" algn="ctr">
                      <a:solidFill>
                        <a:srgbClr val="080808"/>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Verdana" panose="020B0604030504040204"/>
                          <a:ea typeface="黑体" panose="02010609060101010101" pitchFamily="49" charset="-122"/>
                        </a:defRPr>
                      </a:lvl1pPr>
                      <a:lvl2pPr marL="457200" algn="l" defTabSz="914400" rtl="0" eaLnBrk="1" latinLnBrk="0" hangingPunct="1">
                        <a:defRPr sz="1800" kern="1200">
                          <a:solidFill>
                            <a:schemeClr val="tx1"/>
                          </a:solidFill>
                          <a:latin typeface="Verdana" panose="020B0604030504040204"/>
                          <a:ea typeface="黑体" panose="02010609060101010101" pitchFamily="49" charset="-122"/>
                        </a:defRPr>
                      </a:lvl2pPr>
                      <a:lvl3pPr marL="914400" algn="l" defTabSz="914400" rtl="0" eaLnBrk="1" latinLnBrk="0" hangingPunct="1">
                        <a:defRPr sz="1800" kern="1200">
                          <a:solidFill>
                            <a:schemeClr val="tx1"/>
                          </a:solidFill>
                          <a:latin typeface="Verdana" panose="020B0604030504040204"/>
                          <a:ea typeface="黑体" panose="02010609060101010101" pitchFamily="49" charset="-122"/>
                        </a:defRPr>
                      </a:lvl3pPr>
                      <a:lvl4pPr marL="1371600" algn="l" defTabSz="914400" rtl="0" eaLnBrk="1" latinLnBrk="0" hangingPunct="1">
                        <a:defRPr sz="1800" kern="1200">
                          <a:solidFill>
                            <a:schemeClr val="tx1"/>
                          </a:solidFill>
                          <a:latin typeface="Verdana" panose="020B0604030504040204"/>
                          <a:ea typeface="黑体" panose="02010609060101010101" pitchFamily="49" charset="-122"/>
                        </a:defRPr>
                      </a:lvl4pPr>
                      <a:lvl5pPr marL="1828800" algn="l" defTabSz="914400" rtl="0" eaLnBrk="1" latinLnBrk="0" hangingPunct="1">
                        <a:defRPr sz="1800" kern="1200">
                          <a:solidFill>
                            <a:schemeClr val="tx1"/>
                          </a:solidFill>
                          <a:latin typeface="Verdana" panose="020B0604030504040204"/>
                          <a:ea typeface="黑体" panose="02010609060101010101" pitchFamily="49" charset="-122"/>
                        </a:defRPr>
                      </a:lvl5pPr>
                      <a:lvl6pPr marL="2286000" algn="l" defTabSz="914400" rtl="0" eaLnBrk="1" latinLnBrk="0" hangingPunct="1">
                        <a:defRPr sz="1800" kern="1200">
                          <a:solidFill>
                            <a:schemeClr val="tx1"/>
                          </a:solidFill>
                          <a:latin typeface="Verdana" panose="020B0604030504040204"/>
                          <a:ea typeface="黑体" panose="02010609060101010101" pitchFamily="49" charset="-122"/>
                        </a:defRPr>
                      </a:lvl6pPr>
                      <a:lvl7pPr marL="2743200" algn="l" defTabSz="914400" rtl="0" eaLnBrk="1" latinLnBrk="0" hangingPunct="1">
                        <a:defRPr sz="1800" kern="1200">
                          <a:solidFill>
                            <a:schemeClr val="tx1"/>
                          </a:solidFill>
                          <a:latin typeface="Verdana" panose="020B0604030504040204"/>
                          <a:ea typeface="黑体" panose="02010609060101010101" pitchFamily="49" charset="-122"/>
                        </a:defRPr>
                      </a:lvl7pPr>
                      <a:lvl8pPr marL="3200400" algn="l" defTabSz="914400" rtl="0" eaLnBrk="1" latinLnBrk="0" hangingPunct="1">
                        <a:defRPr sz="1800" kern="1200">
                          <a:solidFill>
                            <a:schemeClr val="tx1"/>
                          </a:solidFill>
                          <a:latin typeface="Verdana" panose="020B0604030504040204"/>
                          <a:ea typeface="黑体" panose="02010609060101010101" pitchFamily="49" charset="-122"/>
                        </a:defRPr>
                      </a:lvl8pPr>
                      <a:lvl9pPr marL="3657600" algn="l" defTabSz="914400" rtl="0" eaLnBrk="1" latinLnBrk="0" hangingPunct="1">
                        <a:defRPr sz="1800" kern="1200">
                          <a:solidFill>
                            <a:schemeClr val="tx1"/>
                          </a:solidFill>
                          <a:latin typeface="Verdana" panose="020B0604030504040204"/>
                          <a:ea typeface="黑体" panose="02010609060101010101" pitchFamily="49" charset="-122"/>
                        </a:defRPr>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dirty="0">
                          <a:ln>
                            <a:noFill/>
                          </a:ln>
                          <a:solidFill>
                            <a:srgbClr val="080808"/>
                          </a:solidFill>
                          <a:effectLst/>
                          <a:latin typeface="Times New Roman" panose="02020603050405020304" pitchFamily="18" charset="0"/>
                          <a:ea typeface="微软雅黑" panose="020B0503020204020204" charset="-122"/>
                          <a:cs typeface="Times New Roman" panose="02020603050405020304" pitchFamily="18" charset="0"/>
                        </a:rPr>
                        <a:t>nor</a:t>
                      </a:r>
                      <a:r>
                        <a:rPr kumimoji="0" lang="zh-CN" altLang="en-US" sz="2400" b="0" i="0" u="none" strike="noStrike" cap="none" normalizeH="0" baseline="0" dirty="0">
                          <a:ln>
                            <a:noFill/>
                          </a:ln>
                          <a:solidFill>
                            <a:srgbClr val="080808"/>
                          </a:solidFill>
                          <a:effectLst/>
                          <a:latin typeface="Times New Roman" panose="02020603050405020304" pitchFamily="18" charset="0"/>
                          <a:ea typeface="微软雅黑" panose="020B0503020204020204" charset="-122"/>
                          <a:cs typeface="Times New Roman" panose="02020603050405020304" pitchFamily="18" charset="0"/>
                        </a:rPr>
                        <a:t>（或非）</a:t>
                      </a:r>
                      <a:endParaRPr kumimoji="0" lang="zh-CN" altLang="en-US" sz="2400" b="0" i="0" u="none" strike="noStrike" cap="none" normalizeH="0" baseline="0" dirty="0">
                        <a:ln>
                          <a:noFill/>
                        </a:ln>
                        <a:solidFill>
                          <a:srgbClr val="080808"/>
                        </a:solidFill>
                        <a:effectLst/>
                        <a:latin typeface="Times New Roman" panose="02020603050405020304" pitchFamily="18" charset="0"/>
                        <a:ea typeface="微软雅黑" panose="020B0503020204020204" charset="-122"/>
                        <a:cs typeface="Times New Roman" panose="02020603050405020304" pitchFamily="18" charset="0"/>
                      </a:endParaRPr>
                    </a:p>
                  </a:txBody>
                  <a:tcPr marL="68580" marR="68580" marT="34290" marB="34290" horzOverflow="overflow">
                    <a:lnL w="12700" cap="flat" cmpd="sng" algn="ctr">
                      <a:solidFill>
                        <a:srgbClr val="080808"/>
                      </a:solidFill>
                      <a:prstDash val="solid"/>
                      <a:round/>
                      <a:headEnd type="none" w="med" len="med"/>
                      <a:tailEnd type="none" w="med" len="med"/>
                    </a:lnL>
                    <a:lnR w="12700" cap="flat" cmpd="sng" algn="ctr">
                      <a:solidFill>
                        <a:srgbClr val="080808"/>
                      </a:solidFill>
                      <a:prstDash val="solid"/>
                      <a:round/>
                      <a:headEnd type="none" w="med" len="med"/>
                      <a:tailEnd type="none" w="med" len="med"/>
                    </a:lnR>
                    <a:lnT w="12700" cap="flat" cmpd="sng" algn="ctr">
                      <a:solidFill>
                        <a:srgbClr val="080808"/>
                      </a:solidFill>
                      <a:prstDash val="solid"/>
                      <a:round/>
                      <a:headEnd type="none" w="med" len="med"/>
                      <a:tailEnd type="none" w="med" len="med"/>
                    </a:lnT>
                    <a:lnB w="28575" cap="flat" cmpd="sng" algn="ctr">
                      <a:solidFill>
                        <a:srgbClr val="080808"/>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Verdana" panose="020B0604030504040204"/>
                          <a:ea typeface="黑体" panose="02010609060101010101" pitchFamily="49" charset="-122"/>
                        </a:defRPr>
                      </a:lvl1pPr>
                      <a:lvl2pPr marL="457200" algn="l" defTabSz="914400" rtl="0" eaLnBrk="1" latinLnBrk="0" hangingPunct="1">
                        <a:defRPr sz="1800" kern="1200">
                          <a:solidFill>
                            <a:schemeClr val="tx1"/>
                          </a:solidFill>
                          <a:latin typeface="Verdana" panose="020B0604030504040204"/>
                          <a:ea typeface="黑体" panose="02010609060101010101" pitchFamily="49" charset="-122"/>
                        </a:defRPr>
                      </a:lvl2pPr>
                      <a:lvl3pPr marL="914400" algn="l" defTabSz="914400" rtl="0" eaLnBrk="1" latinLnBrk="0" hangingPunct="1">
                        <a:defRPr sz="1800" kern="1200">
                          <a:solidFill>
                            <a:schemeClr val="tx1"/>
                          </a:solidFill>
                          <a:latin typeface="Verdana" panose="020B0604030504040204"/>
                          <a:ea typeface="黑体" panose="02010609060101010101" pitchFamily="49" charset="-122"/>
                        </a:defRPr>
                      </a:lvl3pPr>
                      <a:lvl4pPr marL="1371600" algn="l" defTabSz="914400" rtl="0" eaLnBrk="1" latinLnBrk="0" hangingPunct="1">
                        <a:defRPr sz="1800" kern="1200">
                          <a:solidFill>
                            <a:schemeClr val="tx1"/>
                          </a:solidFill>
                          <a:latin typeface="Verdana" panose="020B0604030504040204"/>
                          <a:ea typeface="黑体" panose="02010609060101010101" pitchFamily="49" charset="-122"/>
                        </a:defRPr>
                      </a:lvl4pPr>
                      <a:lvl5pPr marL="1828800" algn="l" defTabSz="914400" rtl="0" eaLnBrk="1" latinLnBrk="0" hangingPunct="1">
                        <a:defRPr sz="1800" kern="1200">
                          <a:solidFill>
                            <a:schemeClr val="tx1"/>
                          </a:solidFill>
                          <a:latin typeface="Verdana" panose="020B0604030504040204"/>
                          <a:ea typeface="黑体" panose="02010609060101010101" pitchFamily="49" charset="-122"/>
                        </a:defRPr>
                      </a:lvl5pPr>
                      <a:lvl6pPr marL="2286000" algn="l" defTabSz="914400" rtl="0" eaLnBrk="1" latinLnBrk="0" hangingPunct="1">
                        <a:defRPr sz="1800" kern="1200">
                          <a:solidFill>
                            <a:schemeClr val="tx1"/>
                          </a:solidFill>
                          <a:latin typeface="Verdana" panose="020B0604030504040204"/>
                          <a:ea typeface="黑体" panose="02010609060101010101" pitchFamily="49" charset="-122"/>
                        </a:defRPr>
                      </a:lvl6pPr>
                      <a:lvl7pPr marL="2743200" algn="l" defTabSz="914400" rtl="0" eaLnBrk="1" latinLnBrk="0" hangingPunct="1">
                        <a:defRPr sz="1800" kern="1200">
                          <a:solidFill>
                            <a:schemeClr val="tx1"/>
                          </a:solidFill>
                          <a:latin typeface="Verdana" panose="020B0604030504040204"/>
                          <a:ea typeface="黑体" panose="02010609060101010101" pitchFamily="49" charset="-122"/>
                        </a:defRPr>
                      </a:lvl7pPr>
                      <a:lvl8pPr marL="3200400" algn="l" defTabSz="914400" rtl="0" eaLnBrk="1" latinLnBrk="0" hangingPunct="1">
                        <a:defRPr sz="1800" kern="1200">
                          <a:solidFill>
                            <a:schemeClr val="tx1"/>
                          </a:solidFill>
                          <a:latin typeface="Verdana" panose="020B0604030504040204"/>
                          <a:ea typeface="黑体" panose="02010609060101010101" pitchFamily="49" charset="-122"/>
                        </a:defRPr>
                      </a:lvl8pPr>
                      <a:lvl9pPr marL="3657600" algn="l" defTabSz="914400" rtl="0" eaLnBrk="1" latinLnBrk="0" hangingPunct="1">
                        <a:defRPr sz="1800" kern="1200">
                          <a:solidFill>
                            <a:schemeClr val="tx1"/>
                          </a:solidFill>
                          <a:latin typeface="Verdana" panose="020B0604030504040204"/>
                          <a:ea typeface="黑体" panose="02010609060101010101" pitchFamily="49" charset="-122"/>
                        </a:defRPr>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dirty="0" err="1">
                          <a:ln>
                            <a:noFill/>
                          </a:ln>
                          <a:solidFill>
                            <a:srgbClr val="080808"/>
                          </a:solidFill>
                          <a:effectLst/>
                          <a:latin typeface="Times New Roman" panose="02020603050405020304" pitchFamily="18" charset="0"/>
                          <a:ea typeface="微软雅黑" panose="020B0503020204020204" charset="-122"/>
                          <a:cs typeface="Times New Roman" panose="02020603050405020304" pitchFamily="18" charset="0"/>
                        </a:rPr>
                        <a:t>xnor</a:t>
                      </a:r>
                      <a:r>
                        <a:rPr kumimoji="0" lang="zh-CN" altLang="en-US" sz="2400" b="0" i="0" u="none" strike="noStrike" cap="none" normalizeH="0" baseline="0" dirty="0">
                          <a:ln>
                            <a:noFill/>
                          </a:ln>
                          <a:solidFill>
                            <a:srgbClr val="080808"/>
                          </a:solidFill>
                          <a:effectLst/>
                          <a:latin typeface="Times New Roman" panose="02020603050405020304" pitchFamily="18" charset="0"/>
                          <a:ea typeface="微软雅黑" panose="020B0503020204020204" charset="-122"/>
                          <a:cs typeface="Times New Roman" panose="02020603050405020304" pitchFamily="18" charset="0"/>
                        </a:rPr>
                        <a:t>（同或）</a:t>
                      </a:r>
                      <a:endParaRPr kumimoji="0" lang="zh-CN" altLang="en-US" sz="2400" b="0" i="0" u="none" strike="noStrike" cap="none" normalizeH="0" baseline="0" dirty="0">
                        <a:ln>
                          <a:noFill/>
                        </a:ln>
                        <a:solidFill>
                          <a:srgbClr val="080808"/>
                        </a:solidFill>
                        <a:effectLst/>
                        <a:latin typeface="Times New Roman" panose="02020603050405020304" pitchFamily="18" charset="0"/>
                        <a:ea typeface="微软雅黑" panose="020B0503020204020204" charset="-122"/>
                        <a:cs typeface="Times New Roman" panose="02020603050405020304" pitchFamily="18" charset="0"/>
                      </a:endParaRPr>
                    </a:p>
                  </a:txBody>
                  <a:tcPr marL="68580" marR="68580" marT="34290" marB="34290" horzOverflow="overflow">
                    <a:lnL w="12700" cap="flat" cmpd="sng" algn="ctr">
                      <a:solidFill>
                        <a:srgbClr val="080808"/>
                      </a:solidFill>
                      <a:prstDash val="solid"/>
                      <a:round/>
                      <a:headEnd type="none" w="med" len="med"/>
                      <a:tailEnd type="none" w="med" len="med"/>
                    </a:lnL>
                    <a:lnR w="28575" cap="flat" cmpd="sng" algn="ctr">
                      <a:solidFill>
                        <a:srgbClr val="080808"/>
                      </a:solidFill>
                      <a:prstDash val="solid"/>
                      <a:round/>
                      <a:headEnd type="none" w="med" len="med"/>
                      <a:tailEnd type="none" w="med" len="med"/>
                    </a:lnR>
                    <a:lnT w="12700" cap="flat" cmpd="sng" algn="ctr">
                      <a:solidFill>
                        <a:srgbClr val="080808"/>
                      </a:solidFill>
                      <a:prstDash val="solid"/>
                      <a:round/>
                      <a:headEnd type="none" w="med" len="med"/>
                      <a:tailEnd type="none" w="med" len="med"/>
                    </a:lnT>
                    <a:lnB w="28575" cap="flat" cmpd="sng" algn="ctr">
                      <a:solidFill>
                        <a:srgbClr val="080808"/>
                      </a:solidFill>
                      <a:prstDash val="solid"/>
                      <a:round/>
                      <a:headEnd type="none" w="med" len="med"/>
                      <a:tailEnd type="none" w="med" len="med"/>
                    </a:lnB>
                    <a:lnTlToBr>
                      <a:noFill/>
                    </a:lnTlToBr>
                    <a:lnBlToTr>
                      <a:noFill/>
                    </a:lnBlToTr>
                    <a:noFill/>
                  </a:tcPr>
                </a:tc>
              </a:tr>
            </a:tbl>
          </a:graphicData>
        </a:graphic>
      </p:graphicFrame>
      <p:sp>
        <p:nvSpPr>
          <p:cNvPr id="12" name="Rectangle 14"/>
          <p:cNvSpPr>
            <a:spLocks noChangeArrowheads="1"/>
          </p:cNvSpPr>
          <p:nvPr/>
        </p:nvSpPr>
        <p:spPr bwMode="auto">
          <a:xfrm>
            <a:off x="1296433" y="4830884"/>
            <a:ext cx="2558714" cy="461665"/>
          </a:xfrm>
          <a:prstGeom prst="rect">
            <a:avLst/>
          </a:prstGeom>
          <a:noFill/>
          <a:ln w="9525">
            <a:noFill/>
            <a:miter lim="800000"/>
          </a:ln>
        </p:spPr>
        <p:txBody>
          <a:bodyPr wrap="none">
            <a:spAutoFit/>
          </a:bodyPr>
          <a:lstStyle/>
          <a:p>
            <a:pPr defTabSz="685800">
              <a:spcBef>
                <a:spcPct val="20000"/>
              </a:spcBef>
            </a:pPr>
            <a:r>
              <a:rPr lang="en-US" altLang="zh-CN" sz="2400" dirty="0">
                <a:solidFill>
                  <a:srgbClr val="000000"/>
                </a:solidFill>
                <a:ea typeface="微软雅黑" panose="020B0503020204020204" charset="-122"/>
                <a:cs typeface="Times New Roman" panose="02020603050405020304" pitchFamily="18" charset="0"/>
              </a:rPr>
              <a:t>and (out, in1, in2); </a:t>
            </a:r>
            <a:endParaRPr lang="en-US" altLang="zh-CN" sz="2400" dirty="0">
              <a:solidFill>
                <a:srgbClr val="000000"/>
              </a:solidFill>
              <a:ea typeface="微软雅黑" panose="020B0503020204020204" charset="-122"/>
              <a:cs typeface="Times New Roman" panose="02020603050405020304" pitchFamily="18" charset="0"/>
            </a:endParaRPr>
          </a:p>
        </p:txBody>
      </p:sp>
      <p:graphicFrame>
        <p:nvGraphicFramePr>
          <p:cNvPr id="4" name="对象 3"/>
          <p:cNvGraphicFramePr>
            <a:graphicFrameLocks noChangeAspect="1"/>
          </p:cNvGraphicFramePr>
          <p:nvPr/>
        </p:nvGraphicFramePr>
        <p:xfrm>
          <a:off x="4434229" y="4627376"/>
          <a:ext cx="3163062" cy="868680"/>
        </p:xfrm>
        <a:graphic>
          <a:graphicData uri="http://schemas.openxmlformats.org/presentationml/2006/ole">
            <mc:AlternateContent xmlns:mc="http://schemas.openxmlformats.org/markup-compatibility/2006">
              <mc:Choice xmlns:v="urn:schemas-microsoft-com:vml" Requires="v">
                <p:oleObj spid="_x0000_s45075" name="Visio" r:id="rId1" imgW="3048000" imgH="838200" progId="Visio.Drawing.11">
                  <p:embed/>
                </p:oleObj>
              </mc:Choice>
              <mc:Fallback>
                <p:oleObj name="Visio" r:id="rId1" imgW="3048000" imgH="838200" progId="Visio.Drawing.11">
                  <p:embed/>
                  <p:pic>
                    <p:nvPicPr>
                      <p:cNvPr id="0" name="对象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4229" y="4627376"/>
                        <a:ext cx="3163062" cy="868680"/>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autoUpdateAnimBg="0"/>
      <p:bldP spid="14" grpId="0" bldLvl="0" animBg="1" autoUpdateAnimBg="0"/>
      <p:bldP spid="9" grpId="0" bldLvl="0" animBg="1"/>
      <p:bldP spid="11" grpId="0"/>
      <p:bldP spid="12"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1861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主题八 </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Verilog</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语言</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初步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946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8.2 </a:t>
            </a:r>
            <a:r>
              <a:rPr kumimoji="0" lang="zh-CN" altLang="en-US" dirty="0">
                <a:solidFill>
                  <a:srgbClr val="000000"/>
                </a:solidFill>
                <a:latin typeface="黑体" panose="02010609060101010101" pitchFamily="49" charset="-122"/>
                <a:ea typeface="黑体" panose="02010609060101010101" pitchFamily="49" charset="-122"/>
              </a:rPr>
              <a:t>实现组合逻辑</a:t>
            </a:r>
            <a:r>
              <a:rPr kumimoji="0" lang="zh-CN" altLang="en-US" dirty="0">
                <a:solidFill>
                  <a:srgbClr val="000000"/>
                </a:solidFill>
                <a:latin typeface="黑体" panose="02010609060101010101" pitchFamily="49" charset="-122"/>
                <a:ea typeface="黑体" panose="02010609060101010101" pitchFamily="49" charset="-122"/>
              </a:rPr>
              <a:t>电路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57162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dirty="0">
                <a:solidFill>
                  <a:srgbClr val="000000"/>
                </a:solidFill>
                <a:latin typeface="黑体" panose="02010609060101010101" pitchFamily="49" charset="-122"/>
                <a:ea typeface="黑体" panose="02010609060101010101" pitchFamily="49" charset="-122"/>
              </a:rPr>
              <a:t>门级</a:t>
            </a:r>
            <a:r>
              <a:rPr kumimoji="0" lang="zh-CN" altLang="en-US" sz="2400" dirty="0">
                <a:solidFill>
                  <a:srgbClr val="000000"/>
                </a:solidFill>
                <a:latin typeface="黑体" panose="02010609060101010101" pitchFamily="49" charset="-122"/>
                <a:ea typeface="黑体" panose="02010609060101010101" pitchFamily="49" charset="-122"/>
              </a:rPr>
              <a:t>建模</a:t>
            </a:r>
            <a:endParaRPr kumimoji="0" lang="zh-CN" altLang="en-US" sz="2400" dirty="0">
              <a:solidFill>
                <a:srgbClr val="000000"/>
              </a:solidFill>
              <a:latin typeface="黑体" panose="02010609060101010101" pitchFamily="49" charset="-122"/>
              <a:ea typeface="黑体" panose="02010609060101010101" pitchFamily="49" charset="-122"/>
            </a:endParaRPr>
          </a:p>
        </p:txBody>
      </p:sp>
      <p:pic>
        <p:nvPicPr>
          <p:cNvPr id="5" name="图片 4"/>
          <p:cNvPicPr>
            <a:picLocks noChangeAspect="1"/>
          </p:cNvPicPr>
          <p:nvPr/>
        </p:nvPicPr>
        <p:blipFill rotWithShape="1">
          <a:blip r:embed="rId2"/>
          <a:srcRect b="9827"/>
          <a:stretch>
            <a:fillRect/>
          </a:stretch>
        </p:blipFill>
        <p:spPr>
          <a:xfrm>
            <a:off x="210185" y="2273935"/>
            <a:ext cx="4834255" cy="3244215"/>
          </a:xfrm>
          <a:prstGeom prst="rect">
            <a:avLst/>
          </a:prstGeom>
        </p:spPr>
      </p:pic>
      <p:pic>
        <p:nvPicPr>
          <p:cNvPr id="6" name="图片 5"/>
          <p:cNvPicPr>
            <a:picLocks noChangeAspect="1"/>
          </p:cNvPicPr>
          <p:nvPr/>
        </p:nvPicPr>
        <p:blipFill>
          <a:blip r:embed="rId3"/>
          <a:srcRect l="3555" r="6347"/>
          <a:stretch>
            <a:fillRect/>
          </a:stretch>
        </p:blipFill>
        <p:spPr>
          <a:xfrm>
            <a:off x="5044440" y="2886075"/>
            <a:ext cx="3975100" cy="23774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autoUpdateAnimBg="0"/>
      <p:bldP spid="14" grpId="0" bldLvl="0" animBg="1"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1861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主题八 </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Verilog</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语言</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初步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946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8.2 </a:t>
            </a:r>
            <a:r>
              <a:rPr kumimoji="0" lang="zh-CN" altLang="en-US" dirty="0">
                <a:solidFill>
                  <a:srgbClr val="000000"/>
                </a:solidFill>
                <a:latin typeface="黑体" panose="02010609060101010101" pitchFamily="49" charset="-122"/>
                <a:ea typeface="黑体" panose="02010609060101010101" pitchFamily="49" charset="-122"/>
              </a:rPr>
              <a:t>实现组合逻辑</a:t>
            </a:r>
            <a:r>
              <a:rPr kumimoji="0" lang="zh-CN" altLang="en-US" dirty="0">
                <a:solidFill>
                  <a:srgbClr val="000000"/>
                </a:solidFill>
                <a:latin typeface="黑体" panose="02010609060101010101" pitchFamily="49" charset="-122"/>
                <a:ea typeface="黑体" panose="02010609060101010101" pitchFamily="49" charset="-122"/>
              </a:rPr>
              <a:t>电路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57162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dirty="0">
                <a:solidFill>
                  <a:srgbClr val="000000"/>
                </a:solidFill>
                <a:latin typeface="黑体" panose="02010609060101010101" pitchFamily="49" charset="-122"/>
                <a:ea typeface="黑体" panose="02010609060101010101" pitchFamily="49" charset="-122"/>
              </a:rPr>
              <a:t>门级</a:t>
            </a:r>
            <a:r>
              <a:rPr kumimoji="0" lang="zh-CN" altLang="en-US" sz="2400" dirty="0">
                <a:solidFill>
                  <a:srgbClr val="000000"/>
                </a:solidFill>
                <a:latin typeface="黑体" panose="02010609060101010101" pitchFamily="49" charset="-122"/>
                <a:ea typeface="黑体" panose="02010609060101010101" pitchFamily="49" charset="-122"/>
              </a:rPr>
              <a:t>建模</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2" name="矩形 1"/>
          <p:cNvSpPr/>
          <p:nvPr/>
        </p:nvSpPr>
        <p:spPr>
          <a:xfrm>
            <a:off x="742272" y="2031796"/>
            <a:ext cx="4586648" cy="4246245"/>
          </a:xfrm>
          <a:prstGeom prst="rect">
            <a:avLst/>
          </a:prstGeom>
        </p:spPr>
        <p:txBody>
          <a:bodyPr wrap="square">
            <a:spAutoFit/>
          </a:bodyPr>
          <a:p>
            <a:pPr algn="just">
              <a:spcAft>
                <a:spcPts val="0"/>
              </a:spcAft>
            </a:pPr>
            <a:r>
              <a:rPr lang="en-US" altLang="zh-CN" sz="1800" b="1" kern="100" dirty="0">
                <a:solidFill>
                  <a:srgbClr val="FF0000"/>
                </a:solidFill>
                <a:cs typeface="Times New Roman" panose="02020603050405020304" pitchFamily="18" charset="0"/>
              </a:rPr>
              <a:t>module decoder_2x4_gates (D, A, B, E);</a:t>
            </a:r>
            <a:endParaRPr lang="en-US" altLang="zh-CN" sz="1800" b="1" kern="100" dirty="0">
              <a:solidFill>
                <a:srgbClr val="FF0000"/>
              </a:solidFill>
              <a:cs typeface="Times New Roman" panose="02020603050405020304" pitchFamily="18" charset="0"/>
            </a:endParaRPr>
          </a:p>
          <a:p>
            <a:pPr algn="just">
              <a:spcAft>
                <a:spcPts val="0"/>
              </a:spcAft>
            </a:pPr>
            <a:r>
              <a:rPr lang="en-US" altLang="zh-CN" sz="1800" b="1" kern="100" dirty="0">
                <a:solidFill>
                  <a:srgbClr val="FF0000"/>
                </a:solidFill>
                <a:cs typeface="Times New Roman" panose="02020603050405020304" pitchFamily="18" charset="0"/>
              </a:rPr>
              <a:t>output  [3:0]  D;</a:t>
            </a:r>
            <a:endParaRPr lang="en-US" altLang="zh-CN" sz="1800" b="1" kern="100" dirty="0">
              <a:solidFill>
                <a:srgbClr val="FF0000"/>
              </a:solidFill>
              <a:cs typeface="Times New Roman" panose="02020603050405020304" pitchFamily="18" charset="0"/>
            </a:endParaRPr>
          </a:p>
          <a:p>
            <a:pPr algn="just">
              <a:spcAft>
                <a:spcPts val="0"/>
              </a:spcAft>
            </a:pPr>
            <a:r>
              <a:rPr lang="en-US" altLang="zh-CN" sz="1800" b="1" dirty="0">
                <a:solidFill>
                  <a:srgbClr val="FF0000"/>
                </a:solidFill>
              </a:rPr>
              <a:t>input  A,B;</a:t>
            </a:r>
            <a:endParaRPr lang="en-US" altLang="zh-CN" sz="1800" b="1" dirty="0">
              <a:solidFill>
                <a:srgbClr val="FF0000"/>
              </a:solidFill>
            </a:endParaRPr>
          </a:p>
          <a:p>
            <a:pPr algn="just">
              <a:spcAft>
                <a:spcPts val="0"/>
              </a:spcAft>
            </a:pPr>
            <a:r>
              <a:rPr lang="en-US" altLang="zh-CN" sz="1800" b="1" dirty="0">
                <a:solidFill>
                  <a:srgbClr val="FF0000"/>
                </a:solidFill>
              </a:rPr>
              <a:t>input E;</a:t>
            </a:r>
            <a:endParaRPr lang="en-US" altLang="zh-CN" sz="1800" b="1" dirty="0">
              <a:solidFill>
                <a:srgbClr val="FF0000"/>
              </a:solidFill>
            </a:endParaRPr>
          </a:p>
          <a:p>
            <a:pPr algn="just">
              <a:spcAft>
                <a:spcPts val="0"/>
              </a:spcAft>
            </a:pPr>
            <a:r>
              <a:rPr lang="en-US" altLang="zh-CN" sz="1800" b="1" dirty="0">
                <a:solidFill>
                  <a:srgbClr val="FF0000"/>
                </a:solidFill>
              </a:rPr>
              <a:t>wire </a:t>
            </a:r>
            <a:r>
              <a:rPr lang="en-US" altLang="zh-CN" sz="1800" b="1" dirty="0" err="1">
                <a:solidFill>
                  <a:srgbClr val="FF0000"/>
                </a:solidFill>
              </a:rPr>
              <a:t>A_not</a:t>
            </a:r>
            <a:r>
              <a:rPr lang="en-US" altLang="zh-CN" sz="1800" b="1" dirty="0">
                <a:solidFill>
                  <a:srgbClr val="FF0000"/>
                </a:solidFill>
              </a:rPr>
              <a:t>, </a:t>
            </a:r>
            <a:r>
              <a:rPr lang="en-US" altLang="zh-CN" sz="1800" b="1" dirty="0" err="1">
                <a:solidFill>
                  <a:srgbClr val="FF0000"/>
                </a:solidFill>
              </a:rPr>
              <a:t>B_not</a:t>
            </a:r>
            <a:r>
              <a:rPr lang="en-US" altLang="zh-CN" sz="1800" b="1" dirty="0">
                <a:solidFill>
                  <a:srgbClr val="FF0000"/>
                </a:solidFill>
              </a:rPr>
              <a:t>, </a:t>
            </a:r>
            <a:r>
              <a:rPr lang="en-US" altLang="zh-CN" sz="1800" b="1" dirty="0" err="1">
                <a:solidFill>
                  <a:srgbClr val="FF0000"/>
                </a:solidFill>
              </a:rPr>
              <a:t>E_not</a:t>
            </a:r>
            <a:r>
              <a:rPr lang="en-US" altLang="zh-CN" sz="1800" b="1" dirty="0">
                <a:solidFill>
                  <a:srgbClr val="FF0000"/>
                </a:solidFill>
              </a:rPr>
              <a:t>;</a:t>
            </a:r>
            <a:endParaRPr lang="en-US" altLang="zh-CN" sz="1800" b="1" dirty="0">
              <a:solidFill>
                <a:srgbClr val="FF0000"/>
              </a:solidFill>
            </a:endParaRPr>
          </a:p>
          <a:p>
            <a:pPr algn="just">
              <a:spcAft>
                <a:spcPts val="0"/>
              </a:spcAft>
            </a:pPr>
            <a:r>
              <a:rPr lang="en-US" altLang="zh-CN" sz="1800" b="1" dirty="0">
                <a:solidFill>
                  <a:srgbClr val="FF0000"/>
                </a:solidFill>
              </a:rPr>
              <a:t>not</a:t>
            </a:r>
            <a:endParaRPr lang="en-US" altLang="zh-CN" sz="1800" b="1" dirty="0">
              <a:solidFill>
                <a:srgbClr val="FF0000"/>
              </a:solidFill>
            </a:endParaRPr>
          </a:p>
          <a:p>
            <a:pPr algn="just">
              <a:spcAft>
                <a:spcPts val="0"/>
              </a:spcAft>
            </a:pPr>
            <a:r>
              <a:rPr lang="en-US" altLang="zh-CN" sz="1800" b="1" dirty="0">
                <a:solidFill>
                  <a:srgbClr val="FF0000"/>
                </a:solidFill>
              </a:rPr>
              <a:t>  G1 (</a:t>
            </a:r>
            <a:r>
              <a:rPr lang="en-US" altLang="zh-CN" sz="1800" b="1" dirty="0" err="1">
                <a:solidFill>
                  <a:srgbClr val="FF0000"/>
                </a:solidFill>
              </a:rPr>
              <a:t>A_not</a:t>
            </a:r>
            <a:r>
              <a:rPr lang="en-US" altLang="zh-CN" sz="1800" b="1" dirty="0">
                <a:solidFill>
                  <a:srgbClr val="FF0000"/>
                </a:solidFill>
              </a:rPr>
              <a:t>, A),</a:t>
            </a:r>
            <a:endParaRPr lang="en-US" altLang="zh-CN" sz="1800" b="1" dirty="0">
              <a:solidFill>
                <a:srgbClr val="FF0000"/>
              </a:solidFill>
            </a:endParaRPr>
          </a:p>
          <a:p>
            <a:pPr algn="just">
              <a:spcAft>
                <a:spcPts val="0"/>
              </a:spcAft>
            </a:pPr>
            <a:r>
              <a:rPr lang="en-US" altLang="zh-CN" sz="1800" b="1" dirty="0">
                <a:solidFill>
                  <a:srgbClr val="FF0000"/>
                </a:solidFill>
              </a:rPr>
              <a:t>  G2 (</a:t>
            </a:r>
            <a:r>
              <a:rPr lang="en-US" altLang="zh-CN" sz="1800" b="1" dirty="0" err="1">
                <a:solidFill>
                  <a:srgbClr val="FF0000"/>
                </a:solidFill>
              </a:rPr>
              <a:t>B_not</a:t>
            </a:r>
            <a:r>
              <a:rPr lang="en-US" altLang="zh-CN" sz="1800" b="1" dirty="0">
                <a:solidFill>
                  <a:srgbClr val="FF0000"/>
                </a:solidFill>
              </a:rPr>
              <a:t>, B),</a:t>
            </a:r>
            <a:endParaRPr lang="en-US" altLang="zh-CN" sz="1800" b="1" dirty="0">
              <a:solidFill>
                <a:srgbClr val="FF0000"/>
              </a:solidFill>
            </a:endParaRPr>
          </a:p>
          <a:p>
            <a:pPr algn="just">
              <a:spcAft>
                <a:spcPts val="0"/>
              </a:spcAft>
            </a:pPr>
            <a:r>
              <a:rPr lang="en-US" altLang="zh-CN" sz="1800" b="1" dirty="0">
                <a:solidFill>
                  <a:srgbClr val="FF0000"/>
                </a:solidFill>
              </a:rPr>
              <a:t>  G3 (</a:t>
            </a:r>
            <a:r>
              <a:rPr lang="en-US" altLang="zh-CN" sz="1800" b="1" dirty="0" err="1">
                <a:solidFill>
                  <a:srgbClr val="FF0000"/>
                </a:solidFill>
              </a:rPr>
              <a:t>E_not</a:t>
            </a:r>
            <a:r>
              <a:rPr lang="en-US" altLang="zh-CN" sz="1800" b="1" dirty="0">
                <a:solidFill>
                  <a:srgbClr val="FF0000"/>
                </a:solidFill>
              </a:rPr>
              <a:t>, E);</a:t>
            </a:r>
            <a:endParaRPr lang="en-US" altLang="zh-CN" sz="1800" b="1" dirty="0">
              <a:solidFill>
                <a:srgbClr val="FF0000"/>
              </a:solidFill>
            </a:endParaRPr>
          </a:p>
          <a:p>
            <a:pPr algn="just">
              <a:spcAft>
                <a:spcPts val="0"/>
              </a:spcAft>
            </a:pPr>
            <a:r>
              <a:rPr lang="en-US" altLang="zh-CN" sz="1800" b="1" dirty="0" err="1">
                <a:solidFill>
                  <a:srgbClr val="FF0000"/>
                </a:solidFill>
              </a:rPr>
              <a:t>nand</a:t>
            </a:r>
            <a:endParaRPr lang="en-US" altLang="zh-CN" sz="1800" b="1" dirty="0">
              <a:solidFill>
                <a:srgbClr val="FF0000"/>
              </a:solidFill>
            </a:endParaRPr>
          </a:p>
          <a:p>
            <a:pPr algn="just">
              <a:spcAft>
                <a:spcPts val="0"/>
              </a:spcAft>
            </a:pPr>
            <a:r>
              <a:rPr lang="en-US" altLang="zh-CN" sz="1800" b="1" dirty="0">
                <a:solidFill>
                  <a:srgbClr val="FF0000"/>
                </a:solidFill>
              </a:rPr>
              <a:t>  G4 (D[0], </a:t>
            </a:r>
            <a:r>
              <a:rPr lang="en-US" altLang="zh-CN" sz="1800" b="1" dirty="0" err="1">
                <a:solidFill>
                  <a:srgbClr val="FF0000"/>
                </a:solidFill>
              </a:rPr>
              <a:t>A_not</a:t>
            </a:r>
            <a:r>
              <a:rPr lang="en-US" altLang="zh-CN" sz="1800" b="1" dirty="0">
                <a:solidFill>
                  <a:srgbClr val="FF0000"/>
                </a:solidFill>
              </a:rPr>
              <a:t>, </a:t>
            </a:r>
            <a:r>
              <a:rPr lang="en-US" altLang="zh-CN" sz="1800" b="1" dirty="0" err="1">
                <a:solidFill>
                  <a:srgbClr val="FF0000"/>
                </a:solidFill>
              </a:rPr>
              <a:t>B_not</a:t>
            </a:r>
            <a:r>
              <a:rPr lang="en-US" altLang="zh-CN" sz="1800" b="1" dirty="0">
                <a:solidFill>
                  <a:srgbClr val="FF0000"/>
                </a:solidFill>
              </a:rPr>
              <a:t>, </a:t>
            </a:r>
            <a:r>
              <a:rPr lang="en-US" altLang="zh-CN" sz="1800" b="1" dirty="0" err="1">
                <a:solidFill>
                  <a:srgbClr val="FF0000"/>
                </a:solidFill>
              </a:rPr>
              <a:t>E_not</a:t>
            </a:r>
            <a:r>
              <a:rPr lang="en-US" altLang="zh-CN" sz="1800" b="1" dirty="0">
                <a:solidFill>
                  <a:srgbClr val="FF0000"/>
                </a:solidFill>
              </a:rPr>
              <a:t>),</a:t>
            </a:r>
            <a:endParaRPr lang="en-US" altLang="zh-CN" sz="1800" b="1" dirty="0">
              <a:solidFill>
                <a:srgbClr val="FF0000"/>
              </a:solidFill>
            </a:endParaRPr>
          </a:p>
          <a:p>
            <a:pPr algn="just">
              <a:spcAft>
                <a:spcPts val="0"/>
              </a:spcAft>
            </a:pPr>
            <a:r>
              <a:rPr lang="en-US" altLang="zh-CN" sz="1800" b="1" dirty="0">
                <a:solidFill>
                  <a:srgbClr val="FF0000"/>
                </a:solidFill>
              </a:rPr>
              <a:t>  G5 (D[1], </a:t>
            </a:r>
            <a:r>
              <a:rPr lang="en-US" altLang="zh-CN" sz="1800" b="1" dirty="0" err="1">
                <a:solidFill>
                  <a:srgbClr val="FF0000"/>
                </a:solidFill>
              </a:rPr>
              <a:t>A_not</a:t>
            </a:r>
            <a:r>
              <a:rPr lang="en-US" altLang="zh-CN" sz="1800" b="1" dirty="0">
                <a:solidFill>
                  <a:srgbClr val="FF0000"/>
                </a:solidFill>
              </a:rPr>
              <a:t>, B, </a:t>
            </a:r>
            <a:r>
              <a:rPr lang="en-US" altLang="zh-CN" sz="1800" b="1" dirty="0" err="1">
                <a:solidFill>
                  <a:srgbClr val="FF0000"/>
                </a:solidFill>
              </a:rPr>
              <a:t>E_not</a:t>
            </a:r>
            <a:r>
              <a:rPr lang="en-US" altLang="zh-CN" sz="1800" b="1" dirty="0">
                <a:solidFill>
                  <a:srgbClr val="FF0000"/>
                </a:solidFill>
              </a:rPr>
              <a:t>),</a:t>
            </a:r>
            <a:endParaRPr lang="en-US" altLang="zh-CN" sz="1800" b="1" dirty="0">
              <a:solidFill>
                <a:srgbClr val="FF0000"/>
              </a:solidFill>
            </a:endParaRPr>
          </a:p>
          <a:p>
            <a:pPr algn="just">
              <a:spcAft>
                <a:spcPts val="0"/>
              </a:spcAft>
            </a:pPr>
            <a:r>
              <a:rPr lang="en-US" altLang="zh-CN" sz="1800" b="1" dirty="0">
                <a:solidFill>
                  <a:srgbClr val="FF0000"/>
                </a:solidFill>
              </a:rPr>
              <a:t>  G6 (D[2], A, </a:t>
            </a:r>
            <a:r>
              <a:rPr lang="en-US" altLang="zh-CN" sz="1800" b="1" dirty="0" err="1">
                <a:solidFill>
                  <a:srgbClr val="FF0000"/>
                </a:solidFill>
              </a:rPr>
              <a:t>B_not</a:t>
            </a:r>
            <a:r>
              <a:rPr lang="en-US" altLang="zh-CN" sz="1800" b="1" dirty="0">
                <a:solidFill>
                  <a:srgbClr val="FF0000"/>
                </a:solidFill>
              </a:rPr>
              <a:t>, </a:t>
            </a:r>
            <a:r>
              <a:rPr lang="en-US" altLang="zh-CN" sz="1800" b="1" dirty="0" err="1">
                <a:solidFill>
                  <a:srgbClr val="FF0000"/>
                </a:solidFill>
              </a:rPr>
              <a:t>E_not</a:t>
            </a:r>
            <a:r>
              <a:rPr lang="en-US" altLang="zh-CN" sz="1800" b="1" dirty="0">
                <a:solidFill>
                  <a:srgbClr val="FF0000"/>
                </a:solidFill>
              </a:rPr>
              <a:t>),</a:t>
            </a:r>
            <a:endParaRPr lang="en-US" altLang="zh-CN" sz="1800" b="1" dirty="0">
              <a:solidFill>
                <a:srgbClr val="FF0000"/>
              </a:solidFill>
            </a:endParaRPr>
          </a:p>
          <a:p>
            <a:pPr algn="just">
              <a:spcAft>
                <a:spcPts val="0"/>
              </a:spcAft>
            </a:pPr>
            <a:r>
              <a:rPr lang="en-US" altLang="zh-CN" sz="1800" b="1" dirty="0">
                <a:solidFill>
                  <a:srgbClr val="FF0000"/>
                </a:solidFill>
              </a:rPr>
              <a:t>  G7 (D[3], A, B, </a:t>
            </a:r>
            <a:r>
              <a:rPr lang="en-US" altLang="zh-CN" sz="1800" b="1" dirty="0" err="1">
                <a:solidFill>
                  <a:srgbClr val="FF0000"/>
                </a:solidFill>
              </a:rPr>
              <a:t>E_not</a:t>
            </a:r>
            <a:r>
              <a:rPr lang="en-US" altLang="zh-CN" sz="1800" b="1" dirty="0">
                <a:solidFill>
                  <a:srgbClr val="FF0000"/>
                </a:solidFill>
              </a:rPr>
              <a:t>);</a:t>
            </a:r>
            <a:endParaRPr lang="en-US" altLang="zh-CN" sz="1800" b="1" dirty="0">
              <a:solidFill>
                <a:srgbClr val="FF0000"/>
              </a:solidFill>
            </a:endParaRPr>
          </a:p>
          <a:p>
            <a:pPr algn="just">
              <a:spcAft>
                <a:spcPts val="0"/>
              </a:spcAft>
            </a:pPr>
            <a:r>
              <a:rPr lang="en-US" altLang="zh-CN" sz="1800" b="1" dirty="0" err="1">
                <a:solidFill>
                  <a:srgbClr val="FF0000"/>
                </a:solidFill>
              </a:rPr>
              <a:t>endmodule</a:t>
            </a:r>
            <a:endParaRPr lang="en-US" altLang="zh-CN" sz="1800" b="1" dirty="0" err="1">
              <a:solidFill>
                <a:srgbClr val="FF0000"/>
              </a:solidFill>
            </a:endParaRPr>
          </a:p>
        </p:txBody>
      </p:sp>
      <p:pic>
        <p:nvPicPr>
          <p:cNvPr id="3" name="图片 2"/>
          <p:cNvPicPr>
            <a:picLocks noChangeAspect="1"/>
          </p:cNvPicPr>
          <p:nvPr/>
        </p:nvPicPr>
        <p:blipFill rotWithShape="1">
          <a:blip r:embed="rId2"/>
          <a:srcRect b="9827"/>
          <a:stretch>
            <a:fillRect/>
          </a:stretch>
        </p:blipFill>
        <p:spPr>
          <a:xfrm>
            <a:off x="4097020" y="2800350"/>
            <a:ext cx="4742180" cy="30238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left)">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wipe(left)">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wipe(left)">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wipe(left)">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wipe(left)">
                                      <p:cBhvr>
                                        <p:cTn id="52" dur="500"/>
                                        <p:tgtEl>
                                          <p:spTgt spid="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
                                            <p:txEl>
                                              <p:pRg st="10" end="10"/>
                                            </p:txEl>
                                          </p:spTgt>
                                        </p:tgtEl>
                                        <p:attrNameLst>
                                          <p:attrName>style.visibility</p:attrName>
                                        </p:attrNameLst>
                                      </p:cBhvr>
                                      <p:to>
                                        <p:strVal val="visible"/>
                                      </p:to>
                                    </p:set>
                                    <p:animEffect transition="in" filter="wipe(left)">
                                      <p:cBhvr>
                                        <p:cTn id="57" dur="500"/>
                                        <p:tgtEl>
                                          <p:spTgt spid="2">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
                                            <p:txEl>
                                              <p:pRg st="11" end="11"/>
                                            </p:txEl>
                                          </p:spTgt>
                                        </p:tgtEl>
                                        <p:attrNameLst>
                                          <p:attrName>style.visibility</p:attrName>
                                        </p:attrNameLst>
                                      </p:cBhvr>
                                      <p:to>
                                        <p:strVal val="visible"/>
                                      </p:to>
                                    </p:set>
                                    <p:animEffect transition="in" filter="wipe(left)">
                                      <p:cBhvr>
                                        <p:cTn id="62" dur="500"/>
                                        <p:tgtEl>
                                          <p:spTgt spid="2">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
                                            <p:txEl>
                                              <p:pRg st="12" end="12"/>
                                            </p:txEl>
                                          </p:spTgt>
                                        </p:tgtEl>
                                        <p:attrNameLst>
                                          <p:attrName>style.visibility</p:attrName>
                                        </p:attrNameLst>
                                      </p:cBhvr>
                                      <p:to>
                                        <p:strVal val="visible"/>
                                      </p:to>
                                    </p:set>
                                    <p:animEffect transition="in" filter="wipe(left)">
                                      <p:cBhvr>
                                        <p:cTn id="67" dur="500"/>
                                        <p:tgtEl>
                                          <p:spTgt spid="2">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
                                            <p:txEl>
                                              <p:pRg st="13" end="13"/>
                                            </p:txEl>
                                          </p:spTgt>
                                        </p:tgtEl>
                                        <p:attrNameLst>
                                          <p:attrName>style.visibility</p:attrName>
                                        </p:attrNameLst>
                                      </p:cBhvr>
                                      <p:to>
                                        <p:strVal val="visible"/>
                                      </p:to>
                                    </p:set>
                                    <p:animEffect transition="in" filter="wipe(left)">
                                      <p:cBhvr>
                                        <p:cTn id="72" dur="500"/>
                                        <p:tgtEl>
                                          <p:spTgt spid="2">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
                                            <p:txEl>
                                              <p:pRg st="14" end="14"/>
                                            </p:txEl>
                                          </p:spTgt>
                                        </p:tgtEl>
                                        <p:attrNameLst>
                                          <p:attrName>style.visibility</p:attrName>
                                        </p:attrNameLst>
                                      </p:cBhvr>
                                      <p:to>
                                        <p:strVal val="visible"/>
                                      </p:to>
                                    </p:set>
                                    <p:animEffect transition="in" filter="wipe(left)">
                                      <p:cBhvr>
                                        <p:cTn id="77" dur="500"/>
                                        <p:tgtEl>
                                          <p:spTgt spid="2">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autoUpdateAnimBg="0"/>
      <p:bldP spid="14" grpId="0" bldLvl="0" animBg="1" autoUpdateAnimBg="0"/>
      <p:bldP spid="2"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1861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主题八 </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Verilog</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语言</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初步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946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8.2 </a:t>
            </a:r>
            <a:r>
              <a:rPr kumimoji="0" lang="zh-CN" altLang="en-US" dirty="0">
                <a:solidFill>
                  <a:srgbClr val="000000"/>
                </a:solidFill>
                <a:latin typeface="黑体" panose="02010609060101010101" pitchFamily="49" charset="-122"/>
                <a:ea typeface="黑体" panose="02010609060101010101" pitchFamily="49" charset="-122"/>
              </a:rPr>
              <a:t>实现组合逻辑</a:t>
            </a:r>
            <a:r>
              <a:rPr kumimoji="0" lang="zh-CN" altLang="en-US" dirty="0">
                <a:solidFill>
                  <a:srgbClr val="000000"/>
                </a:solidFill>
                <a:latin typeface="黑体" panose="02010609060101010101" pitchFamily="49" charset="-122"/>
                <a:ea typeface="黑体" panose="02010609060101010101" pitchFamily="49" charset="-122"/>
              </a:rPr>
              <a:t>电路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57162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(1)</a:t>
            </a:r>
            <a:r>
              <a:rPr kumimoji="0" lang="zh-CN" altLang="en-US" sz="2400" dirty="0">
                <a:solidFill>
                  <a:srgbClr val="000000"/>
                </a:solidFill>
                <a:latin typeface="黑体" panose="02010609060101010101" pitchFamily="49" charset="-122"/>
                <a:ea typeface="黑体" panose="02010609060101010101" pitchFamily="49" charset="-122"/>
              </a:rPr>
              <a:t>门级</a:t>
            </a:r>
            <a:r>
              <a:rPr kumimoji="0" lang="zh-CN" altLang="en-US" sz="2400" dirty="0">
                <a:solidFill>
                  <a:srgbClr val="000000"/>
                </a:solidFill>
                <a:latin typeface="黑体" panose="02010609060101010101" pitchFamily="49" charset="-122"/>
                <a:ea typeface="黑体" panose="02010609060101010101" pitchFamily="49" charset="-122"/>
              </a:rPr>
              <a:t>建模</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2" name="矩形 1"/>
          <p:cNvSpPr/>
          <p:nvPr/>
        </p:nvSpPr>
        <p:spPr>
          <a:xfrm>
            <a:off x="742272" y="2031796"/>
            <a:ext cx="4586648" cy="4246245"/>
          </a:xfrm>
          <a:prstGeom prst="rect">
            <a:avLst/>
          </a:prstGeom>
        </p:spPr>
        <p:txBody>
          <a:bodyPr wrap="square">
            <a:spAutoFit/>
          </a:bodyPr>
          <a:p>
            <a:pPr algn="just">
              <a:spcAft>
                <a:spcPts val="0"/>
              </a:spcAft>
            </a:pPr>
            <a:r>
              <a:rPr lang="en-US" altLang="zh-CN" sz="1800" b="1" kern="100" dirty="0">
                <a:solidFill>
                  <a:srgbClr val="FF0000"/>
                </a:solidFill>
                <a:cs typeface="Times New Roman" panose="02020603050405020304" pitchFamily="18" charset="0"/>
              </a:rPr>
              <a:t>module decoder_2x4_gates (D, A, B, E);</a:t>
            </a:r>
            <a:endParaRPr lang="en-US" altLang="zh-CN" sz="1800" b="1" kern="100" dirty="0">
              <a:solidFill>
                <a:srgbClr val="FF0000"/>
              </a:solidFill>
              <a:cs typeface="Times New Roman" panose="02020603050405020304" pitchFamily="18" charset="0"/>
            </a:endParaRPr>
          </a:p>
          <a:p>
            <a:pPr algn="just">
              <a:spcAft>
                <a:spcPts val="0"/>
              </a:spcAft>
            </a:pPr>
            <a:r>
              <a:rPr lang="en-US" altLang="zh-CN" sz="1800" b="1" kern="100" dirty="0">
                <a:solidFill>
                  <a:srgbClr val="FF0000"/>
                </a:solidFill>
                <a:cs typeface="Times New Roman" panose="02020603050405020304" pitchFamily="18" charset="0"/>
              </a:rPr>
              <a:t>output  [3:0]  D;</a:t>
            </a:r>
            <a:endParaRPr lang="en-US" altLang="zh-CN" sz="1800" b="1" kern="100" dirty="0">
              <a:solidFill>
                <a:srgbClr val="FF0000"/>
              </a:solidFill>
              <a:cs typeface="Times New Roman" panose="02020603050405020304" pitchFamily="18" charset="0"/>
            </a:endParaRPr>
          </a:p>
          <a:p>
            <a:pPr algn="just">
              <a:spcAft>
                <a:spcPts val="0"/>
              </a:spcAft>
            </a:pPr>
            <a:r>
              <a:rPr lang="en-US" altLang="zh-CN" sz="1800" b="1" dirty="0">
                <a:solidFill>
                  <a:srgbClr val="FF0000"/>
                </a:solidFill>
              </a:rPr>
              <a:t>input  A,B;</a:t>
            </a:r>
            <a:endParaRPr lang="en-US" altLang="zh-CN" sz="1800" b="1" dirty="0">
              <a:solidFill>
                <a:srgbClr val="FF0000"/>
              </a:solidFill>
            </a:endParaRPr>
          </a:p>
          <a:p>
            <a:pPr algn="just">
              <a:spcAft>
                <a:spcPts val="0"/>
              </a:spcAft>
            </a:pPr>
            <a:r>
              <a:rPr lang="en-US" altLang="zh-CN" sz="1800" b="1" dirty="0">
                <a:solidFill>
                  <a:srgbClr val="FF0000"/>
                </a:solidFill>
              </a:rPr>
              <a:t>input E;</a:t>
            </a:r>
            <a:endParaRPr lang="en-US" altLang="zh-CN" sz="1800" b="1" dirty="0">
              <a:solidFill>
                <a:srgbClr val="FF0000"/>
              </a:solidFill>
            </a:endParaRPr>
          </a:p>
          <a:p>
            <a:pPr algn="just">
              <a:spcAft>
                <a:spcPts val="0"/>
              </a:spcAft>
            </a:pPr>
            <a:r>
              <a:rPr lang="en-US" altLang="zh-CN" sz="1800" b="1" dirty="0">
                <a:solidFill>
                  <a:srgbClr val="FF0000"/>
                </a:solidFill>
              </a:rPr>
              <a:t>wire </a:t>
            </a:r>
            <a:r>
              <a:rPr lang="en-US" altLang="zh-CN" sz="1800" b="1" dirty="0" err="1">
                <a:solidFill>
                  <a:srgbClr val="FF0000"/>
                </a:solidFill>
              </a:rPr>
              <a:t>A_not</a:t>
            </a:r>
            <a:r>
              <a:rPr lang="en-US" altLang="zh-CN" sz="1800" b="1" dirty="0">
                <a:solidFill>
                  <a:srgbClr val="FF0000"/>
                </a:solidFill>
              </a:rPr>
              <a:t>, </a:t>
            </a:r>
            <a:r>
              <a:rPr lang="en-US" altLang="zh-CN" sz="1800" b="1" dirty="0" err="1">
                <a:solidFill>
                  <a:srgbClr val="FF0000"/>
                </a:solidFill>
              </a:rPr>
              <a:t>B_not</a:t>
            </a:r>
            <a:r>
              <a:rPr lang="en-US" altLang="zh-CN" sz="1800" b="1" dirty="0">
                <a:solidFill>
                  <a:srgbClr val="FF0000"/>
                </a:solidFill>
              </a:rPr>
              <a:t>, </a:t>
            </a:r>
            <a:r>
              <a:rPr lang="en-US" altLang="zh-CN" sz="1800" b="1" dirty="0" err="1">
                <a:solidFill>
                  <a:srgbClr val="FF0000"/>
                </a:solidFill>
              </a:rPr>
              <a:t>E_not</a:t>
            </a:r>
            <a:r>
              <a:rPr lang="en-US" altLang="zh-CN" sz="1800" b="1" dirty="0">
                <a:solidFill>
                  <a:srgbClr val="FF0000"/>
                </a:solidFill>
              </a:rPr>
              <a:t>;</a:t>
            </a:r>
            <a:endParaRPr lang="en-US" altLang="zh-CN" sz="1800" b="1" dirty="0">
              <a:solidFill>
                <a:srgbClr val="FF0000"/>
              </a:solidFill>
            </a:endParaRPr>
          </a:p>
          <a:p>
            <a:pPr algn="just">
              <a:spcAft>
                <a:spcPts val="0"/>
              </a:spcAft>
            </a:pPr>
            <a:r>
              <a:rPr lang="en-US" altLang="zh-CN" sz="1800" b="1" dirty="0">
                <a:solidFill>
                  <a:srgbClr val="FF0000"/>
                </a:solidFill>
              </a:rPr>
              <a:t>not</a:t>
            </a:r>
            <a:endParaRPr lang="en-US" altLang="zh-CN" sz="1800" b="1" dirty="0">
              <a:solidFill>
                <a:srgbClr val="FF0000"/>
              </a:solidFill>
            </a:endParaRPr>
          </a:p>
          <a:p>
            <a:pPr algn="just">
              <a:spcAft>
                <a:spcPts val="0"/>
              </a:spcAft>
            </a:pPr>
            <a:r>
              <a:rPr lang="en-US" altLang="zh-CN" sz="1800" b="1" dirty="0">
                <a:solidFill>
                  <a:srgbClr val="FF0000"/>
                </a:solidFill>
              </a:rPr>
              <a:t>  G1 (</a:t>
            </a:r>
            <a:r>
              <a:rPr lang="en-US" altLang="zh-CN" sz="1800" b="1" dirty="0" err="1">
                <a:solidFill>
                  <a:srgbClr val="FF0000"/>
                </a:solidFill>
              </a:rPr>
              <a:t>A_not</a:t>
            </a:r>
            <a:r>
              <a:rPr lang="en-US" altLang="zh-CN" sz="1800" b="1" dirty="0">
                <a:solidFill>
                  <a:srgbClr val="FF0000"/>
                </a:solidFill>
              </a:rPr>
              <a:t>, A),</a:t>
            </a:r>
            <a:endParaRPr lang="en-US" altLang="zh-CN" sz="1800" b="1" dirty="0">
              <a:solidFill>
                <a:srgbClr val="FF0000"/>
              </a:solidFill>
            </a:endParaRPr>
          </a:p>
          <a:p>
            <a:pPr algn="just">
              <a:spcAft>
                <a:spcPts val="0"/>
              </a:spcAft>
            </a:pPr>
            <a:r>
              <a:rPr lang="en-US" altLang="zh-CN" sz="1800" b="1" dirty="0">
                <a:solidFill>
                  <a:srgbClr val="FF0000"/>
                </a:solidFill>
              </a:rPr>
              <a:t>  G2 (</a:t>
            </a:r>
            <a:r>
              <a:rPr lang="en-US" altLang="zh-CN" sz="1800" b="1" dirty="0" err="1">
                <a:solidFill>
                  <a:srgbClr val="FF0000"/>
                </a:solidFill>
              </a:rPr>
              <a:t>B_not</a:t>
            </a:r>
            <a:r>
              <a:rPr lang="en-US" altLang="zh-CN" sz="1800" b="1" dirty="0">
                <a:solidFill>
                  <a:srgbClr val="FF0000"/>
                </a:solidFill>
              </a:rPr>
              <a:t>, B),</a:t>
            </a:r>
            <a:endParaRPr lang="en-US" altLang="zh-CN" sz="1800" b="1" dirty="0">
              <a:solidFill>
                <a:srgbClr val="FF0000"/>
              </a:solidFill>
            </a:endParaRPr>
          </a:p>
          <a:p>
            <a:pPr algn="just">
              <a:spcAft>
                <a:spcPts val="0"/>
              </a:spcAft>
            </a:pPr>
            <a:r>
              <a:rPr lang="en-US" altLang="zh-CN" sz="1800" b="1" dirty="0">
                <a:solidFill>
                  <a:srgbClr val="FF0000"/>
                </a:solidFill>
              </a:rPr>
              <a:t>  G3 (</a:t>
            </a:r>
            <a:r>
              <a:rPr lang="en-US" altLang="zh-CN" sz="1800" b="1" dirty="0" err="1">
                <a:solidFill>
                  <a:srgbClr val="FF0000"/>
                </a:solidFill>
              </a:rPr>
              <a:t>E_not</a:t>
            </a:r>
            <a:r>
              <a:rPr lang="en-US" altLang="zh-CN" sz="1800" b="1" dirty="0">
                <a:solidFill>
                  <a:srgbClr val="FF0000"/>
                </a:solidFill>
              </a:rPr>
              <a:t>, E);</a:t>
            </a:r>
            <a:endParaRPr lang="en-US" altLang="zh-CN" sz="1800" b="1" dirty="0">
              <a:solidFill>
                <a:srgbClr val="FF0000"/>
              </a:solidFill>
            </a:endParaRPr>
          </a:p>
          <a:p>
            <a:pPr algn="just">
              <a:spcAft>
                <a:spcPts val="0"/>
              </a:spcAft>
            </a:pPr>
            <a:r>
              <a:rPr lang="en-US" altLang="zh-CN" sz="1800" b="1" dirty="0" err="1">
                <a:solidFill>
                  <a:srgbClr val="FF0000"/>
                </a:solidFill>
              </a:rPr>
              <a:t>nand</a:t>
            </a:r>
            <a:endParaRPr lang="en-US" altLang="zh-CN" sz="1800" b="1" dirty="0">
              <a:solidFill>
                <a:srgbClr val="FF0000"/>
              </a:solidFill>
            </a:endParaRPr>
          </a:p>
          <a:p>
            <a:pPr algn="just">
              <a:spcAft>
                <a:spcPts val="0"/>
              </a:spcAft>
            </a:pPr>
            <a:r>
              <a:rPr lang="en-US" altLang="zh-CN" sz="1800" b="1" dirty="0">
                <a:solidFill>
                  <a:srgbClr val="FF0000"/>
                </a:solidFill>
              </a:rPr>
              <a:t>  G4 (D[0], </a:t>
            </a:r>
            <a:r>
              <a:rPr lang="en-US" altLang="zh-CN" sz="1800" b="1" dirty="0" err="1">
                <a:solidFill>
                  <a:srgbClr val="FF0000"/>
                </a:solidFill>
              </a:rPr>
              <a:t>A_not</a:t>
            </a:r>
            <a:r>
              <a:rPr lang="en-US" altLang="zh-CN" sz="1800" b="1" dirty="0">
                <a:solidFill>
                  <a:srgbClr val="FF0000"/>
                </a:solidFill>
              </a:rPr>
              <a:t>, </a:t>
            </a:r>
            <a:r>
              <a:rPr lang="en-US" altLang="zh-CN" sz="1800" b="1" dirty="0" err="1">
                <a:solidFill>
                  <a:srgbClr val="FF0000"/>
                </a:solidFill>
              </a:rPr>
              <a:t>B_not</a:t>
            </a:r>
            <a:r>
              <a:rPr lang="en-US" altLang="zh-CN" sz="1800" b="1" dirty="0">
                <a:solidFill>
                  <a:srgbClr val="FF0000"/>
                </a:solidFill>
              </a:rPr>
              <a:t>, </a:t>
            </a:r>
            <a:r>
              <a:rPr lang="en-US" altLang="zh-CN" sz="1800" b="1" dirty="0" err="1">
                <a:solidFill>
                  <a:srgbClr val="FF0000"/>
                </a:solidFill>
              </a:rPr>
              <a:t>E_not</a:t>
            </a:r>
            <a:r>
              <a:rPr lang="en-US" altLang="zh-CN" sz="1800" b="1" dirty="0">
                <a:solidFill>
                  <a:srgbClr val="FF0000"/>
                </a:solidFill>
              </a:rPr>
              <a:t>),</a:t>
            </a:r>
            <a:endParaRPr lang="en-US" altLang="zh-CN" sz="1800" b="1" dirty="0">
              <a:solidFill>
                <a:srgbClr val="FF0000"/>
              </a:solidFill>
            </a:endParaRPr>
          </a:p>
          <a:p>
            <a:pPr algn="just">
              <a:spcAft>
                <a:spcPts val="0"/>
              </a:spcAft>
            </a:pPr>
            <a:r>
              <a:rPr lang="en-US" altLang="zh-CN" sz="1800" b="1" dirty="0">
                <a:solidFill>
                  <a:srgbClr val="FF0000"/>
                </a:solidFill>
              </a:rPr>
              <a:t>  G5 (D[1], </a:t>
            </a:r>
            <a:r>
              <a:rPr lang="en-US" altLang="zh-CN" sz="1800" b="1" dirty="0" err="1">
                <a:solidFill>
                  <a:srgbClr val="FF0000"/>
                </a:solidFill>
              </a:rPr>
              <a:t>A_not</a:t>
            </a:r>
            <a:r>
              <a:rPr lang="en-US" altLang="zh-CN" sz="1800" b="1" dirty="0">
                <a:solidFill>
                  <a:srgbClr val="FF0000"/>
                </a:solidFill>
              </a:rPr>
              <a:t>, B, </a:t>
            </a:r>
            <a:r>
              <a:rPr lang="en-US" altLang="zh-CN" sz="1800" b="1" dirty="0" err="1">
                <a:solidFill>
                  <a:srgbClr val="FF0000"/>
                </a:solidFill>
              </a:rPr>
              <a:t>E_not</a:t>
            </a:r>
            <a:r>
              <a:rPr lang="en-US" altLang="zh-CN" sz="1800" b="1" dirty="0">
                <a:solidFill>
                  <a:srgbClr val="FF0000"/>
                </a:solidFill>
              </a:rPr>
              <a:t>),</a:t>
            </a:r>
            <a:endParaRPr lang="en-US" altLang="zh-CN" sz="1800" b="1" dirty="0">
              <a:solidFill>
                <a:srgbClr val="FF0000"/>
              </a:solidFill>
            </a:endParaRPr>
          </a:p>
          <a:p>
            <a:pPr algn="just">
              <a:spcAft>
                <a:spcPts val="0"/>
              </a:spcAft>
            </a:pPr>
            <a:r>
              <a:rPr lang="en-US" altLang="zh-CN" sz="1800" b="1" dirty="0">
                <a:solidFill>
                  <a:srgbClr val="FF0000"/>
                </a:solidFill>
              </a:rPr>
              <a:t>  G6 (D[2], A, </a:t>
            </a:r>
            <a:r>
              <a:rPr lang="en-US" altLang="zh-CN" sz="1800" b="1" dirty="0" err="1">
                <a:solidFill>
                  <a:srgbClr val="FF0000"/>
                </a:solidFill>
              </a:rPr>
              <a:t>B_not</a:t>
            </a:r>
            <a:r>
              <a:rPr lang="en-US" altLang="zh-CN" sz="1800" b="1" dirty="0">
                <a:solidFill>
                  <a:srgbClr val="FF0000"/>
                </a:solidFill>
              </a:rPr>
              <a:t>, </a:t>
            </a:r>
            <a:r>
              <a:rPr lang="en-US" altLang="zh-CN" sz="1800" b="1" dirty="0" err="1">
                <a:solidFill>
                  <a:srgbClr val="FF0000"/>
                </a:solidFill>
              </a:rPr>
              <a:t>E_not</a:t>
            </a:r>
            <a:r>
              <a:rPr lang="en-US" altLang="zh-CN" sz="1800" b="1" dirty="0">
                <a:solidFill>
                  <a:srgbClr val="FF0000"/>
                </a:solidFill>
              </a:rPr>
              <a:t>),</a:t>
            </a:r>
            <a:endParaRPr lang="en-US" altLang="zh-CN" sz="1800" b="1" dirty="0">
              <a:solidFill>
                <a:srgbClr val="FF0000"/>
              </a:solidFill>
            </a:endParaRPr>
          </a:p>
          <a:p>
            <a:pPr algn="just">
              <a:spcAft>
                <a:spcPts val="0"/>
              </a:spcAft>
            </a:pPr>
            <a:r>
              <a:rPr lang="en-US" altLang="zh-CN" sz="1800" b="1" dirty="0">
                <a:solidFill>
                  <a:srgbClr val="FF0000"/>
                </a:solidFill>
              </a:rPr>
              <a:t>  G7 (D[3], A, B, </a:t>
            </a:r>
            <a:r>
              <a:rPr lang="en-US" altLang="zh-CN" sz="1800" b="1" dirty="0" err="1">
                <a:solidFill>
                  <a:srgbClr val="FF0000"/>
                </a:solidFill>
              </a:rPr>
              <a:t>E_not</a:t>
            </a:r>
            <a:r>
              <a:rPr lang="en-US" altLang="zh-CN" sz="1800" b="1" dirty="0">
                <a:solidFill>
                  <a:srgbClr val="FF0000"/>
                </a:solidFill>
              </a:rPr>
              <a:t>);</a:t>
            </a:r>
            <a:endParaRPr lang="en-US" altLang="zh-CN" sz="1800" b="1" dirty="0">
              <a:solidFill>
                <a:srgbClr val="FF0000"/>
              </a:solidFill>
            </a:endParaRPr>
          </a:p>
          <a:p>
            <a:pPr algn="just">
              <a:spcAft>
                <a:spcPts val="0"/>
              </a:spcAft>
            </a:pPr>
            <a:r>
              <a:rPr lang="en-US" altLang="zh-CN" sz="1800" b="1" dirty="0" err="1">
                <a:solidFill>
                  <a:srgbClr val="FF0000"/>
                </a:solidFill>
              </a:rPr>
              <a:t>endmodule</a:t>
            </a:r>
            <a:endParaRPr lang="en-US" altLang="zh-CN" sz="1800" b="1" dirty="0" err="1">
              <a:solidFill>
                <a:srgbClr val="FF0000"/>
              </a:solidFill>
            </a:endParaRPr>
          </a:p>
        </p:txBody>
      </p:sp>
      <p:pic>
        <p:nvPicPr>
          <p:cNvPr id="3" name="图片 2"/>
          <p:cNvPicPr>
            <a:picLocks noChangeAspect="1"/>
          </p:cNvPicPr>
          <p:nvPr/>
        </p:nvPicPr>
        <p:blipFill rotWithShape="1">
          <a:blip r:embed="rId2"/>
          <a:srcRect b="9827"/>
          <a:stretch>
            <a:fillRect/>
          </a:stretch>
        </p:blipFill>
        <p:spPr>
          <a:xfrm>
            <a:off x="4097020" y="2800350"/>
            <a:ext cx="4742180" cy="30238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left)">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wipe(left)">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wipe(left)">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wipe(left)">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wipe(left)">
                                      <p:cBhvr>
                                        <p:cTn id="52" dur="500"/>
                                        <p:tgtEl>
                                          <p:spTgt spid="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
                                            <p:txEl>
                                              <p:pRg st="10" end="10"/>
                                            </p:txEl>
                                          </p:spTgt>
                                        </p:tgtEl>
                                        <p:attrNameLst>
                                          <p:attrName>style.visibility</p:attrName>
                                        </p:attrNameLst>
                                      </p:cBhvr>
                                      <p:to>
                                        <p:strVal val="visible"/>
                                      </p:to>
                                    </p:set>
                                    <p:animEffect transition="in" filter="wipe(left)">
                                      <p:cBhvr>
                                        <p:cTn id="57" dur="500"/>
                                        <p:tgtEl>
                                          <p:spTgt spid="2">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
                                            <p:txEl>
                                              <p:pRg st="11" end="11"/>
                                            </p:txEl>
                                          </p:spTgt>
                                        </p:tgtEl>
                                        <p:attrNameLst>
                                          <p:attrName>style.visibility</p:attrName>
                                        </p:attrNameLst>
                                      </p:cBhvr>
                                      <p:to>
                                        <p:strVal val="visible"/>
                                      </p:to>
                                    </p:set>
                                    <p:animEffect transition="in" filter="wipe(left)">
                                      <p:cBhvr>
                                        <p:cTn id="62" dur="500"/>
                                        <p:tgtEl>
                                          <p:spTgt spid="2">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
                                            <p:txEl>
                                              <p:pRg st="12" end="12"/>
                                            </p:txEl>
                                          </p:spTgt>
                                        </p:tgtEl>
                                        <p:attrNameLst>
                                          <p:attrName>style.visibility</p:attrName>
                                        </p:attrNameLst>
                                      </p:cBhvr>
                                      <p:to>
                                        <p:strVal val="visible"/>
                                      </p:to>
                                    </p:set>
                                    <p:animEffect transition="in" filter="wipe(left)">
                                      <p:cBhvr>
                                        <p:cTn id="67" dur="500"/>
                                        <p:tgtEl>
                                          <p:spTgt spid="2">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
                                            <p:txEl>
                                              <p:pRg st="13" end="13"/>
                                            </p:txEl>
                                          </p:spTgt>
                                        </p:tgtEl>
                                        <p:attrNameLst>
                                          <p:attrName>style.visibility</p:attrName>
                                        </p:attrNameLst>
                                      </p:cBhvr>
                                      <p:to>
                                        <p:strVal val="visible"/>
                                      </p:to>
                                    </p:set>
                                    <p:animEffect transition="in" filter="wipe(left)">
                                      <p:cBhvr>
                                        <p:cTn id="72" dur="500"/>
                                        <p:tgtEl>
                                          <p:spTgt spid="2">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
                                            <p:txEl>
                                              <p:pRg st="14" end="14"/>
                                            </p:txEl>
                                          </p:spTgt>
                                        </p:tgtEl>
                                        <p:attrNameLst>
                                          <p:attrName>style.visibility</p:attrName>
                                        </p:attrNameLst>
                                      </p:cBhvr>
                                      <p:to>
                                        <p:strVal val="visible"/>
                                      </p:to>
                                    </p:set>
                                    <p:animEffect transition="in" filter="wipe(left)">
                                      <p:cBhvr>
                                        <p:cTn id="77" dur="500"/>
                                        <p:tgtEl>
                                          <p:spTgt spid="2">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autoUpdateAnimBg="0"/>
      <p:bldP spid="14" grpId="0" bldLvl="0" animBg="1" autoUpdateAnimBg="0"/>
      <p:bldP spid="2"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1861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主题八 </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Verilog</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语言</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初步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946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8.2 </a:t>
            </a:r>
            <a:r>
              <a:rPr kumimoji="0" lang="zh-CN" altLang="en-US" dirty="0">
                <a:solidFill>
                  <a:srgbClr val="000000"/>
                </a:solidFill>
                <a:latin typeface="黑体" panose="02010609060101010101" pitchFamily="49" charset="-122"/>
                <a:ea typeface="黑体" panose="02010609060101010101" pitchFamily="49" charset="-122"/>
              </a:rPr>
              <a:t>实现组合逻辑</a:t>
            </a:r>
            <a:r>
              <a:rPr kumimoji="0" lang="zh-CN" altLang="en-US" dirty="0">
                <a:solidFill>
                  <a:srgbClr val="000000"/>
                </a:solidFill>
                <a:latin typeface="黑体" panose="02010609060101010101" pitchFamily="49" charset="-122"/>
                <a:ea typeface="黑体" panose="02010609060101010101" pitchFamily="49" charset="-122"/>
              </a:rPr>
              <a:t>电路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8" name="Text Box 142"/>
          <p:cNvSpPr txBox="1">
            <a:spLocks noChangeArrowheads="1"/>
          </p:cNvSpPr>
          <p:nvPr>
            <p:custDataLst>
              <p:tags r:id="rId1"/>
            </p:custDataLst>
          </p:nvPr>
        </p:nvSpPr>
        <p:spPr bwMode="auto">
          <a:xfrm>
            <a:off x="742315" y="1571625"/>
            <a:ext cx="766572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sz="2400" dirty="0">
                <a:solidFill>
                  <a:srgbClr val="000000"/>
                </a:solidFill>
                <a:latin typeface="黑体" panose="02010609060101010101" pitchFamily="49" charset="-122"/>
                <a:ea typeface="黑体" panose="02010609060101010101" pitchFamily="49" charset="-122"/>
              </a:rPr>
              <a:t>(2)</a:t>
            </a:r>
            <a:r>
              <a:rPr kumimoji="0" lang="zh-CN" altLang="en-US" sz="2400" dirty="0">
                <a:solidFill>
                  <a:srgbClr val="000000"/>
                </a:solidFill>
                <a:latin typeface="黑体" panose="02010609060101010101" pitchFamily="49" charset="-122"/>
                <a:ea typeface="黑体" panose="02010609060101010101" pitchFamily="49" charset="-122"/>
              </a:rPr>
              <a:t>数据流建模</a:t>
            </a:r>
            <a:endParaRPr kumimoji="0" lang="zh-CN" altLang="en-US" sz="2400" dirty="0">
              <a:solidFill>
                <a:srgbClr val="000000"/>
              </a:solidFill>
              <a:latin typeface="黑体" panose="02010609060101010101" pitchFamily="49" charset="-122"/>
              <a:ea typeface="黑体" panose="02010609060101010101" pitchFamily="49" charset="-122"/>
            </a:endParaRPr>
          </a:p>
        </p:txBody>
      </p:sp>
      <p:sp>
        <p:nvSpPr>
          <p:cNvPr id="12" name="矩形 11"/>
          <p:cNvSpPr/>
          <p:nvPr/>
        </p:nvSpPr>
        <p:spPr>
          <a:xfrm>
            <a:off x="997585" y="2493645"/>
            <a:ext cx="4994275" cy="2861310"/>
          </a:xfrm>
          <a:prstGeom prst="rect">
            <a:avLst/>
          </a:prstGeom>
        </p:spPr>
        <p:txBody>
          <a:bodyPr wrap="square">
            <a:spAutoFit/>
          </a:bodyPr>
          <a:p>
            <a:pPr>
              <a:spcAft>
                <a:spcPts val="0"/>
              </a:spcAft>
            </a:pPr>
            <a:r>
              <a:rPr lang="en-US" altLang="zh-CN" sz="2000" b="1" kern="100" dirty="0">
                <a:solidFill>
                  <a:srgbClr val="FF0000"/>
                </a:solidFill>
                <a:cs typeface="Times New Roman" panose="02020603050405020304" pitchFamily="18" charset="0"/>
              </a:rPr>
              <a:t>module decoder_2x4_df  (</a:t>
            </a:r>
            <a:endParaRPr lang="en-US" altLang="zh-CN" sz="2000" b="1" kern="100" dirty="0">
              <a:solidFill>
                <a:srgbClr val="FF0000"/>
              </a:solidFill>
              <a:cs typeface="Times New Roman" panose="02020603050405020304" pitchFamily="18" charset="0"/>
            </a:endParaRPr>
          </a:p>
          <a:p>
            <a:pPr>
              <a:spcAft>
                <a:spcPts val="0"/>
              </a:spcAft>
            </a:pPr>
            <a:r>
              <a:rPr lang="en-US" altLang="zh-CN" sz="2000" b="1" kern="100" dirty="0">
                <a:solidFill>
                  <a:srgbClr val="FF0000"/>
                </a:solidFill>
                <a:cs typeface="Times New Roman" panose="02020603050405020304" pitchFamily="18" charset="0"/>
              </a:rPr>
              <a:t>    output [3:0] D,</a:t>
            </a:r>
            <a:endParaRPr lang="en-US" altLang="zh-CN" sz="2000" b="1" kern="100" dirty="0">
              <a:solidFill>
                <a:srgbClr val="FF0000"/>
              </a:solidFill>
              <a:cs typeface="Times New Roman" panose="02020603050405020304" pitchFamily="18" charset="0"/>
            </a:endParaRPr>
          </a:p>
          <a:p>
            <a:pPr>
              <a:spcAft>
                <a:spcPts val="0"/>
              </a:spcAft>
            </a:pPr>
            <a:r>
              <a:rPr lang="en-US" altLang="zh-CN" sz="2000" b="1" kern="100" dirty="0">
                <a:solidFill>
                  <a:srgbClr val="FF0000"/>
                </a:solidFill>
                <a:cs typeface="Times New Roman" panose="02020603050405020304" pitchFamily="18" charset="0"/>
              </a:rPr>
              <a:t>    input A, B, enable</a:t>
            </a:r>
            <a:endParaRPr lang="en-US" altLang="zh-CN" sz="2000" b="1" kern="100" dirty="0">
              <a:solidFill>
                <a:srgbClr val="FF0000"/>
              </a:solidFill>
              <a:cs typeface="Times New Roman" panose="02020603050405020304" pitchFamily="18" charset="0"/>
            </a:endParaRPr>
          </a:p>
          <a:p>
            <a:pPr>
              <a:spcAft>
                <a:spcPts val="0"/>
              </a:spcAft>
            </a:pPr>
            <a:r>
              <a:rPr lang="en-US" altLang="zh-CN" sz="2000" b="1" kern="100" dirty="0">
                <a:solidFill>
                  <a:srgbClr val="FF0000"/>
                </a:solidFill>
                <a:cs typeface="Times New Roman" panose="02020603050405020304" pitchFamily="18" charset="0"/>
              </a:rPr>
              <a:t>);</a:t>
            </a:r>
            <a:endParaRPr lang="en-US" altLang="zh-CN" sz="2000" b="1" dirty="0">
              <a:solidFill>
                <a:srgbClr val="FF0000"/>
              </a:solidFill>
              <a:cs typeface="Times New Roman" panose="02020603050405020304" pitchFamily="18" charset="0"/>
            </a:endParaRPr>
          </a:p>
          <a:p>
            <a:pPr>
              <a:spcAft>
                <a:spcPts val="0"/>
              </a:spcAft>
            </a:pPr>
            <a:r>
              <a:rPr lang="en-US" altLang="zh-CN" sz="2000" b="1" dirty="0">
                <a:solidFill>
                  <a:srgbClr val="FF0000"/>
                </a:solidFill>
                <a:cs typeface="Times New Roman" panose="02020603050405020304" pitchFamily="18" charset="0"/>
              </a:rPr>
              <a:t>assign D[0] =  !((!A) &amp;&amp; (!B) &amp;&amp; (!enable)),</a:t>
            </a:r>
            <a:endParaRPr lang="en-US" altLang="zh-CN" sz="2000" b="1" dirty="0">
              <a:solidFill>
                <a:srgbClr val="FF0000"/>
              </a:solidFill>
              <a:cs typeface="Times New Roman" panose="02020603050405020304" pitchFamily="18" charset="0"/>
            </a:endParaRPr>
          </a:p>
          <a:p>
            <a:pPr>
              <a:spcAft>
                <a:spcPts val="0"/>
              </a:spcAft>
            </a:pPr>
            <a:r>
              <a:rPr lang="en-US" altLang="zh-CN" sz="2000" b="1" dirty="0">
                <a:solidFill>
                  <a:srgbClr val="FF0000"/>
                </a:solidFill>
                <a:cs typeface="Times New Roman" panose="02020603050405020304" pitchFamily="18" charset="0"/>
              </a:rPr>
              <a:t>            D[1] =  !((!A) &amp;&amp; B &amp;&amp; (!enable)),</a:t>
            </a:r>
            <a:endParaRPr lang="en-US" altLang="zh-CN" sz="2000" b="1" dirty="0">
              <a:solidFill>
                <a:srgbClr val="FF0000"/>
              </a:solidFill>
              <a:cs typeface="Times New Roman" panose="02020603050405020304" pitchFamily="18" charset="0"/>
            </a:endParaRPr>
          </a:p>
          <a:p>
            <a:pPr>
              <a:spcAft>
                <a:spcPts val="0"/>
              </a:spcAft>
            </a:pPr>
            <a:r>
              <a:rPr lang="en-US" altLang="zh-CN" sz="2000" b="1" dirty="0">
                <a:solidFill>
                  <a:srgbClr val="FF0000"/>
                </a:solidFill>
                <a:cs typeface="Times New Roman" panose="02020603050405020304" pitchFamily="18" charset="0"/>
              </a:rPr>
              <a:t>            D[2] =  !(A &amp;&amp; (!B) &amp;&amp; (!enable)),</a:t>
            </a:r>
            <a:endParaRPr lang="en-US" altLang="zh-CN" sz="2000" b="1" dirty="0">
              <a:solidFill>
                <a:srgbClr val="FF0000"/>
              </a:solidFill>
              <a:cs typeface="Times New Roman" panose="02020603050405020304" pitchFamily="18" charset="0"/>
            </a:endParaRPr>
          </a:p>
          <a:p>
            <a:pPr>
              <a:spcAft>
                <a:spcPts val="0"/>
              </a:spcAft>
            </a:pPr>
            <a:r>
              <a:rPr lang="en-US" altLang="zh-CN" sz="2000" b="1" dirty="0">
                <a:solidFill>
                  <a:srgbClr val="FF0000"/>
                </a:solidFill>
                <a:cs typeface="Times New Roman" panose="02020603050405020304" pitchFamily="18" charset="0"/>
              </a:rPr>
              <a:t>            D[3] =  !(A &amp;&amp; B &amp;&amp; (!enable));</a:t>
            </a:r>
            <a:endParaRPr lang="en-US" altLang="zh-CN" sz="2000" b="1" dirty="0">
              <a:solidFill>
                <a:srgbClr val="FF0000"/>
              </a:solidFill>
              <a:cs typeface="Times New Roman" panose="02020603050405020304" pitchFamily="18" charset="0"/>
            </a:endParaRPr>
          </a:p>
          <a:p>
            <a:pPr>
              <a:spcAft>
                <a:spcPts val="0"/>
              </a:spcAft>
            </a:pPr>
            <a:r>
              <a:rPr lang="en-US" altLang="zh-CN" sz="2000" b="1" dirty="0" err="1">
                <a:solidFill>
                  <a:srgbClr val="FF0000"/>
                </a:solidFill>
                <a:cs typeface="Times New Roman" panose="02020603050405020304" pitchFamily="18" charset="0"/>
              </a:rPr>
              <a:t>endmodule</a:t>
            </a:r>
            <a:endParaRPr lang="en-US" altLang="zh-CN" sz="2000" b="1" dirty="0" err="1">
              <a:solidFill>
                <a:srgbClr val="FF0000"/>
              </a:solidFill>
              <a:cs typeface="Times New Roman" panose="02020603050405020304" pitchFamily="18" charset="0"/>
            </a:endParaRPr>
          </a:p>
        </p:txBody>
      </p:sp>
      <p:pic>
        <p:nvPicPr>
          <p:cNvPr id="7" name="图片 6"/>
          <p:cNvPicPr>
            <a:picLocks noChangeAspect="1"/>
          </p:cNvPicPr>
          <p:nvPr/>
        </p:nvPicPr>
        <p:blipFill>
          <a:blip r:embed="rId2"/>
          <a:stretch>
            <a:fillRect/>
          </a:stretch>
        </p:blipFill>
        <p:spPr>
          <a:xfrm>
            <a:off x="4984115" y="1049655"/>
            <a:ext cx="3923665" cy="24733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autoUpdateAnimBg="0"/>
      <p:bldP spid="14" grpId="0" bldLvl="0" animBg="1" autoUpdateAnimBg="0"/>
      <p:bldP spid="12"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4"/>
          <p:cNvSpPr txBox="1">
            <a:spLocks noChangeArrowheads="1"/>
          </p:cNvSpPr>
          <p:nvPr/>
        </p:nvSpPr>
        <p:spPr bwMode="auto">
          <a:xfrm>
            <a:off x="1423630" y="186152"/>
            <a:ext cx="6173788"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0"/>
              </a:spcBef>
            </a:pPr>
            <a:r>
              <a:rPr kumimoji="0" lang="zh-CN" altLang="en-US" sz="3600" dirty="0">
                <a:solidFill>
                  <a:schemeClr val="accent2">
                    <a:lumMod val="75000"/>
                  </a:schemeClr>
                </a:solidFill>
                <a:latin typeface="黑体" panose="02010609060101010101" pitchFamily="49" charset="-122"/>
                <a:ea typeface="黑体" panose="02010609060101010101" pitchFamily="49" charset="-122"/>
              </a:rPr>
              <a:t>主题八 </a:t>
            </a:r>
            <a:r>
              <a:rPr kumimoji="0" lang="en-US" altLang="zh-CN" sz="3600" dirty="0">
                <a:solidFill>
                  <a:schemeClr val="accent2">
                    <a:lumMod val="75000"/>
                  </a:schemeClr>
                </a:solidFill>
                <a:latin typeface="黑体" panose="02010609060101010101" pitchFamily="49" charset="-122"/>
                <a:ea typeface="黑体" panose="02010609060101010101" pitchFamily="49" charset="-122"/>
              </a:rPr>
              <a:t>Verilog</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语言</a:t>
            </a:r>
            <a:r>
              <a:rPr kumimoji="0" lang="zh-CN" altLang="en-US" sz="3600" dirty="0">
                <a:solidFill>
                  <a:schemeClr val="accent2">
                    <a:lumMod val="75000"/>
                  </a:schemeClr>
                </a:solidFill>
                <a:latin typeface="黑体" panose="02010609060101010101" pitchFamily="49" charset="-122"/>
                <a:ea typeface="黑体" panose="02010609060101010101" pitchFamily="49" charset="-122"/>
              </a:rPr>
              <a:t>初步 </a:t>
            </a:r>
            <a:endParaRPr kumimoji="0" lang="zh-CN" altLang="en-US" sz="3600" dirty="0">
              <a:solidFill>
                <a:schemeClr val="accent2">
                  <a:lumMod val="75000"/>
                </a:schemeClr>
              </a:solidFill>
              <a:latin typeface="黑体" panose="02010609060101010101" pitchFamily="49" charset="-122"/>
              <a:ea typeface="黑体" panose="02010609060101010101" pitchFamily="49" charset="-122"/>
            </a:endParaRPr>
          </a:p>
        </p:txBody>
      </p:sp>
      <p:sp>
        <p:nvSpPr>
          <p:cNvPr id="14" name="Text Box 142"/>
          <p:cNvSpPr txBox="1">
            <a:spLocks noChangeArrowheads="1"/>
          </p:cNvSpPr>
          <p:nvPr/>
        </p:nvSpPr>
        <p:spPr bwMode="auto">
          <a:xfrm>
            <a:off x="518598" y="1049465"/>
            <a:ext cx="71834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spcBef>
                <a:spcPct val="5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ctr">
              <a:spcBef>
                <a:spcPct val="50000"/>
              </a:spcBef>
              <a:defRPr kumimoji="1" sz="2800">
                <a:solidFill>
                  <a:schemeClr val="tx1"/>
                </a:solidFill>
                <a:latin typeface="Times New Roman" panose="02020603050405020304" pitchFamily="18" charset="0"/>
                <a:ea typeface="宋体" panose="02010600030101010101" pitchFamily="2" charset="-122"/>
              </a:defRPr>
            </a:lvl2pPr>
            <a:lvl3pPr marL="11430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3pPr>
            <a:lvl4pPr marL="16002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4pPr>
            <a:lvl5pPr marL="2057400" indent="-228600" algn="ctr">
              <a:spcBef>
                <a:spcPct val="50000"/>
              </a:spcBef>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l">
              <a:spcBef>
                <a:spcPct val="0"/>
              </a:spcBef>
            </a:pPr>
            <a:r>
              <a:rPr kumimoji="0" lang="en-US" altLang="zh-CN" dirty="0">
                <a:solidFill>
                  <a:srgbClr val="000000"/>
                </a:solidFill>
                <a:latin typeface="黑体" panose="02010609060101010101" pitchFamily="49" charset="-122"/>
                <a:ea typeface="黑体" panose="02010609060101010101" pitchFamily="49" charset="-122"/>
              </a:rPr>
              <a:t>8.3 </a:t>
            </a:r>
            <a:r>
              <a:rPr kumimoji="0" lang="zh-CN" altLang="en-US" dirty="0">
                <a:solidFill>
                  <a:srgbClr val="000000"/>
                </a:solidFill>
                <a:latin typeface="黑体" panose="02010609060101010101" pitchFamily="49" charset="-122"/>
                <a:ea typeface="黑体" panose="02010609060101010101" pitchFamily="49" charset="-122"/>
              </a:rPr>
              <a:t>实现</a:t>
            </a:r>
            <a:r>
              <a:rPr kumimoji="0" lang="zh-CN" altLang="en-US" dirty="0">
                <a:solidFill>
                  <a:srgbClr val="000000"/>
                </a:solidFill>
                <a:latin typeface="黑体" panose="02010609060101010101" pitchFamily="49" charset="-122"/>
                <a:ea typeface="黑体" panose="02010609060101010101" pitchFamily="49" charset="-122"/>
              </a:rPr>
              <a:t>触发器 </a:t>
            </a:r>
            <a:endParaRPr kumimoji="0" lang="zh-CN" altLang="en-US" dirty="0">
              <a:solidFill>
                <a:srgbClr val="000000"/>
              </a:solidFill>
              <a:latin typeface="黑体" panose="02010609060101010101" pitchFamily="49" charset="-122"/>
              <a:ea typeface="黑体" panose="02010609060101010101" pitchFamily="49" charset="-122"/>
            </a:endParaRPr>
          </a:p>
        </p:txBody>
      </p:sp>
      <p:sp>
        <p:nvSpPr>
          <p:cNvPr id="5" name="矩形 4"/>
          <p:cNvSpPr/>
          <p:nvPr/>
        </p:nvSpPr>
        <p:spPr>
          <a:xfrm>
            <a:off x="600130" y="1789836"/>
            <a:ext cx="6996955" cy="3476625"/>
          </a:xfrm>
          <a:prstGeom prst="rect">
            <a:avLst/>
          </a:prstGeom>
        </p:spPr>
        <p:txBody>
          <a:bodyPr wrap="square">
            <a:spAutoFit/>
          </a:bodyPr>
          <a:lstStyle/>
          <a:p>
            <a:r>
              <a:rPr lang="en-US" altLang="zh-CN" sz="2000" b="1" dirty="0"/>
              <a:t>module</a:t>
            </a:r>
            <a:r>
              <a:rPr lang="en-US" altLang="zh-CN" sz="2000" dirty="0"/>
              <a:t> </a:t>
            </a:r>
            <a:r>
              <a:rPr lang="en-US" altLang="zh-CN" sz="2000" dirty="0" err="1"/>
              <a:t>dff_rs_async</a:t>
            </a:r>
            <a:r>
              <a:rPr lang="en-US" altLang="zh-CN" sz="2000" dirty="0"/>
              <a:t>(</a:t>
            </a:r>
            <a:r>
              <a:rPr lang="en-US" altLang="zh-CN" sz="2000" dirty="0" err="1"/>
              <a:t>clk,r,s,d,q</a:t>
            </a:r>
            <a:r>
              <a:rPr lang="en-US" altLang="zh-CN" sz="2000" dirty="0"/>
              <a:t>);</a:t>
            </a:r>
            <a:endParaRPr lang="en-US" altLang="zh-CN" sz="2000" dirty="0"/>
          </a:p>
          <a:p>
            <a:r>
              <a:rPr lang="en-US" altLang="zh-CN" sz="2000" b="1" dirty="0"/>
              <a:t>input</a:t>
            </a:r>
            <a:r>
              <a:rPr lang="en-US" altLang="zh-CN" sz="2000" dirty="0"/>
              <a:t> </a:t>
            </a:r>
            <a:r>
              <a:rPr lang="en-US" altLang="zh-CN" sz="2000" dirty="0" err="1"/>
              <a:t>clk,r,s,d</a:t>
            </a:r>
            <a:r>
              <a:rPr lang="en-US" altLang="zh-CN" sz="2000" dirty="0"/>
              <a:t>;</a:t>
            </a:r>
            <a:endParaRPr lang="en-US" altLang="zh-CN" sz="2000" dirty="0"/>
          </a:p>
          <a:p>
            <a:r>
              <a:rPr lang="en-US" altLang="zh-CN" sz="2000" b="1" dirty="0"/>
              <a:t>output</a:t>
            </a:r>
            <a:r>
              <a:rPr lang="en-US" altLang="zh-CN" sz="2000" dirty="0"/>
              <a:t> q;</a:t>
            </a:r>
            <a:endParaRPr lang="en-US" altLang="zh-CN" sz="2000" dirty="0"/>
          </a:p>
          <a:p>
            <a:r>
              <a:rPr lang="en-US" altLang="zh-CN" sz="2000" b="1" dirty="0" err="1"/>
              <a:t>reg</a:t>
            </a:r>
            <a:r>
              <a:rPr lang="en-US" altLang="zh-CN" sz="2000" dirty="0"/>
              <a:t> q;</a:t>
            </a:r>
            <a:endParaRPr lang="en-US" altLang="zh-CN" sz="2000" dirty="0"/>
          </a:p>
          <a:p>
            <a:r>
              <a:rPr lang="en-US" altLang="zh-CN" sz="2000" b="1" dirty="0"/>
              <a:t>always</a:t>
            </a:r>
            <a:r>
              <a:rPr lang="en-US" altLang="zh-CN" sz="2000" dirty="0"/>
              <a:t>@(</a:t>
            </a:r>
            <a:r>
              <a:rPr lang="en-US" altLang="zh-CN" sz="2000" b="1" dirty="0" err="1"/>
              <a:t>posedge</a:t>
            </a:r>
            <a:r>
              <a:rPr lang="en-US" altLang="zh-CN" sz="2000" dirty="0"/>
              <a:t> </a:t>
            </a:r>
            <a:r>
              <a:rPr lang="en-US" altLang="zh-CN" sz="2000" dirty="0" err="1"/>
              <a:t>clk</a:t>
            </a:r>
            <a:r>
              <a:rPr lang="en-US" altLang="zh-CN" sz="2000" dirty="0"/>
              <a:t> or </a:t>
            </a:r>
            <a:r>
              <a:rPr lang="en-US" altLang="zh-CN" sz="2000" b="1" dirty="0" err="1"/>
              <a:t>posedge</a:t>
            </a:r>
            <a:r>
              <a:rPr lang="en-US" altLang="zh-CN" sz="2000" dirty="0"/>
              <a:t> r or </a:t>
            </a:r>
            <a:r>
              <a:rPr lang="en-US" altLang="zh-CN" sz="2000" b="1" dirty="0" err="1"/>
              <a:t>posedge</a:t>
            </a:r>
            <a:r>
              <a:rPr lang="en-US" altLang="zh-CN" sz="2000" dirty="0"/>
              <a:t> s)</a:t>
            </a:r>
            <a:endParaRPr lang="en-US" altLang="zh-CN" sz="2000" dirty="0"/>
          </a:p>
          <a:p>
            <a:r>
              <a:rPr lang="en-US" altLang="zh-CN" sz="2000" b="1" dirty="0"/>
              <a:t>begin</a:t>
            </a:r>
            <a:endParaRPr lang="en-US" altLang="zh-CN" sz="2000" b="1" dirty="0"/>
          </a:p>
          <a:p>
            <a:r>
              <a:rPr lang="en-US" altLang="zh-CN" sz="2000" b="1" dirty="0"/>
              <a:t>if</a:t>
            </a:r>
            <a:r>
              <a:rPr lang="en-US" altLang="zh-CN" sz="2000" dirty="0"/>
              <a:t>(r) q&lt;=1'b0;</a:t>
            </a:r>
            <a:endParaRPr lang="en-US" altLang="zh-CN" sz="2000" dirty="0"/>
          </a:p>
          <a:p>
            <a:r>
              <a:rPr lang="en-US" altLang="zh-CN" sz="2000" b="1" dirty="0"/>
              <a:t>else if</a:t>
            </a:r>
            <a:r>
              <a:rPr lang="en-US" altLang="zh-CN" sz="2000" dirty="0"/>
              <a:t>(s) q&lt;=1'b1;</a:t>
            </a:r>
            <a:endParaRPr lang="en-US" altLang="zh-CN" sz="2000" dirty="0"/>
          </a:p>
          <a:p>
            <a:r>
              <a:rPr lang="en-US" altLang="zh-CN" sz="2000" b="1" dirty="0"/>
              <a:t>else</a:t>
            </a:r>
            <a:r>
              <a:rPr lang="en-US" altLang="zh-CN" sz="2000" dirty="0"/>
              <a:t> q&lt;=d;</a:t>
            </a:r>
            <a:endParaRPr lang="en-US" altLang="zh-CN" sz="2000" dirty="0"/>
          </a:p>
          <a:p>
            <a:r>
              <a:rPr lang="en-US" altLang="zh-CN" sz="2000" b="1" dirty="0"/>
              <a:t>end</a:t>
            </a:r>
            <a:endParaRPr lang="en-US" altLang="zh-CN" sz="2000" b="1" dirty="0"/>
          </a:p>
          <a:p>
            <a:r>
              <a:rPr lang="en-US" altLang="zh-CN" sz="2000" b="1" dirty="0" err="1"/>
              <a:t>endmodule</a:t>
            </a:r>
            <a:endParaRPr lang="en-US" altLang="zh-CN" sz="2000" b="1" dirty="0" err="1"/>
          </a:p>
        </p:txBody>
      </p:sp>
      <p:grpSp>
        <p:nvGrpSpPr>
          <p:cNvPr id="2" name="组合 1"/>
          <p:cNvGrpSpPr/>
          <p:nvPr/>
        </p:nvGrpSpPr>
        <p:grpSpPr>
          <a:xfrm>
            <a:off x="5905999" y="1954035"/>
            <a:ext cx="2957653" cy="3133785"/>
            <a:chOff x="5576747" y="1291808"/>
            <a:chExt cx="2957653" cy="3133785"/>
          </a:xfrm>
        </p:grpSpPr>
        <p:sp>
          <p:nvSpPr>
            <p:cNvPr id="3" name="Rectangle 4"/>
            <p:cNvSpPr>
              <a:spLocks noChangeArrowheads="1"/>
            </p:cNvSpPr>
            <p:nvPr/>
          </p:nvSpPr>
          <p:spPr bwMode="auto">
            <a:xfrm>
              <a:off x="6652210" y="2047875"/>
              <a:ext cx="1020762" cy="1651836"/>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9" name="Text Box 5"/>
            <p:cNvSpPr txBox="1">
              <a:spLocks noChangeArrowheads="1"/>
            </p:cNvSpPr>
            <p:nvPr/>
          </p:nvSpPr>
          <p:spPr bwMode="auto">
            <a:xfrm>
              <a:off x="6679197" y="2312236"/>
              <a:ext cx="5524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algn="ctr">
                <a:spcBef>
                  <a:spcPct val="50000"/>
                </a:spcBef>
              </a:pPr>
              <a:r>
                <a:rPr lang="en-US" altLang="zh-CN" sz="2000" dirty="0"/>
                <a:t>1D</a:t>
              </a:r>
              <a:endParaRPr lang="en-US" altLang="zh-CN" sz="2000" dirty="0"/>
            </a:p>
          </p:txBody>
        </p:sp>
        <p:sp>
          <p:nvSpPr>
            <p:cNvPr id="10" name="Text Box 6"/>
            <p:cNvSpPr txBox="1">
              <a:spLocks noChangeArrowheads="1"/>
            </p:cNvSpPr>
            <p:nvPr/>
          </p:nvSpPr>
          <p:spPr bwMode="auto">
            <a:xfrm>
              <a:off x="6779210" y="2978986"/>
              <a:ext cx="5524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algn="ctr">
                <a:spcBef>
                  <a:spcPct val="50000"/>
                </a:spcBef>
              </a:pPr>
              <a:r>
                <a:rPr lang="en-US" altLang="zh-CN" sz="2000"/>
                <a:t>C1</a:t>
              </a:r>
              <a:endParaRPr lang="en-US" altLang="zh-CN" sz="2000"/>
            </a:p>
          </p:txBody>
        </p:sp>
        <p:sp>
          <p:nvSpPr>
            <p:cNvPr id="11" name="Line 7"/>
            <p:cNvSpPr>
              <a:spLocks noChangeShapeType="1"/>
            </p:cNvSpPr>
            <p:nvPr/>
          </p:nvSpPr>
          <p:spPr bwMode="auto">
            <a:xfrm>
              <a:off x="6647447" y="3061536"/>
              <a:ext cx="174625" cy="13176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endParaRPr lang="zh-CN" altLang="en-US"/>
            </a:p>
          </p:txBody>
        </p:sp>
        <p:sp>
          <p:nvSpPr>
            <p:cNvPr id="4" name="Line 8"/>
            <p:cNvSpPr>
              <a:spLocks noChangeShapeType="1"/>
            </p:cNvSpPr>
            <p:nvPr/>
          </p:nvSpPr>
          <p:spPr bwMode="auto">
            <a:xfrm flipH="1">
              <a:off x="6658560" y="3205999"/>
              <a:ext cx="146050" cy="101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endParaRPr lang="zh-CN" altLang="en-US"/>
            </a:p>
          </p:txBody>
        </p:sp>
        <p:sp>
          <p:nvSpPr>
            <p:cNvPr id="6" name="Line 9"/>
            <p:cNvSpPr>
              <a:spLocks noChangeShapeType="1"/>
            </p:cNvSpPr>
            <p:nvPr/>
          </p:nvSpPr>
          <p:spPr bwMode="auto">
            <a:xfrm flipV="1">
              <a:off x="7674560" y="2466224"/>
              <a:ext cx="477837"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endParaRPr lang="zh-CN" altLang="en-US"/>
            </a:p>
          </p:txBody>
        </p:sp>
        <p:sp>
          <p:nvSpPr>
            <p:cNvPr id="15" name="Line 10"/>
            <p:cNvSpPr>
              <a:spLocks noChangeShapeType="1"/>
            </p:cNvSpPr>
            <p:nvPr/>
          </p:nvSpPr>
          <p:spPr bwMode="auto">
            <a:xfrm>
              <a:off x="7830135" y="3161549"/>
              <a:ext cx="319087"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endParaRPr lang="zh-CN" altLang="en-US"/>
            </a:p>
          </p:txBody>
        </p:sp>
        <p:sp>
          <p:nvSpPr>
            <p:cNvPr id="16" name="Oval 11"/>
            <p:cNvSpPr>
              <a:spLocks noChangeArrowheads="1"/>
            </p:cNvSpPr>
            <p:nvPr/>
          </p:nvSpPr>
          <p:spPr bwMode="auto">
            <a:xfrm>
              <a:off x="7679322" y="3093286"/>
              <a:ext cx="144462" cy="144462"/>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p>
              <a:endParaRPr lang="zh-CN" altLang="en-US"/>
            </a:p>
          </p:txBody>
        </p:sp>
        <p:sp>
          <p:nvSpPr>
            <p:cNvPr id="17" name="Line 12"/>
            <p:cNvSpPr>
              <a:spLocks noChangeShapeType="1"/>
            </p:cNvSpPr>
            <p:nvPr/>
          </p:nvSpPr>
          <p:spPr bwMode="auto">
            <a:xfrm>
              <a:off x="6171197" y="2488449"/>
              <a:ext cx="47942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endParaRPr lang="zh-CN" altLang="en-US"/>
            </a:p>
          </p:txBody>
        </p:sp>
        <p:sp>
          <p:nvSpPr>
            <p:cNvPr id="18" name="Line 13"/>
            <p:cNvSpPr>
              <a:spLocks noChangeShapeType="1"/>
            </p:cNvSpPr>
            <p:nvPr/>
          </p:nvSpPr>
          <p:spPr bwMode="auto">
            <a:xfrm>
              <a:off x="6188660" y="3185361"/>
              <a:ext cx="44926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endParaRPr lang="zh-CN" altLang="en-US"/>
            </a:p>
          </p:txBody>
        </p:sp>
        <p:sp>
          <p:nvSpPr>
            <p:cNvPr id="19" name="Rectangle 37"/>
            <p:cNvSpPr>
              <a:spLocks noChangeArrowheads="1"/>
            </p:cNvSpPr>
            <p:nvPr/>
          </p:nvSpPr>
          <p:spPr bwMode="auto">
            <a:xfrm>
              <a:off x="5576747" y="2955509"/>
              <a:ext cx="4972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algn="ctr"/>
              <a:r>
                <a:rPr kumimoji="0" lang="en-US" altLang="zh-CN" sz="2000" b="1" i="1" dirty="0" err="1">
                  <a:solidFill>
                    <a:srgbClr val="000000"/>
                  </a:solidFill>
                  <a:cs typeface="Times New Roman" panose="02020603050405020304" pitchFamily="18" charset="0"/>
                </a:rPr>
                <a:t>clk</a:t>
              </a:r>
              <a:endParaRPr kumimoji="0" lang="en-US" altLang="zh-CN" sz="2000" b="1" baseline="-25000" dirty="0">
                <a:solidFill>
                  <a:srgbClr val="000000"/>
                </a:solidFill>
                <a:cs typeface="Times New Roman" panose="02020603050405020304" pitchFamily="18" charset="0"/>
              </a:endParaRPr>
            </a:p>
          </p:txBody>
        </p:sp>
        <p:sp>
          <p:nvSpPr>
            <p:cNvPr id="20" name="Rectangle 38"/>
            <p:cNvSpPr>
              <a:spLocks noChangeArrowheads="1"/>
            </p:cNvSpPr>
            <p:nvPr/>
          </p:nvSpPr>
          <p:spPr bwMode="auto">
            <a:xfrm>
              <a:off x="8233624" y="2199859"/>
              <a:ext cx="3007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p>
              <a:pPr algn="ctr"/>
              <a:r>
                <a:rPr kumimoji="0" lang="en-US" altLang="zh-CN" sz="2000" b="1" i="1" dirty="0">
                  <a:solidFill>
                    <a:srgbClr val="000000"/>
                  </a:solidFill>
                  <a:cs typeface="Times New Roman" panose="02020603050405020304" pitchFamily="18" charset="0"/>
                </a:rPr>
                <a:t>q</a:t>
              </a:r>
              <a:endParaRPr kumimoji="0" lang="en-US" altLang="zh-CN" sz="2000" b="1" baseline="-25000" dirty="0">
                <a:solidFill>
                  <a:srgbClr val="000000"/>
                </a:solidFill>
                <a:cs typeface="Times New Roman" panose="02020603050405020304" pitchFamily="18" charset="0"/>
              </a:endParaRPr>
            </a:p>
          </p:txBody>
        </p:sp>
        <p:sp>
          <p:nvSpPr>
            <p:cNvPr id="21" name="Rectangle 37"/>
            <p:cNvSpPr>
              <a:spLocks noChangeArrowheads="1"/>
            </p:cNvSpPr>
            <p:nvPr/>
          </p:nvSpPr>
          <p:spPr bwMode="auto">
            <a:xfrm>
              <a:off x="5784223" y="2282742"/>
              <a:ext cx="31290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algn="ctr"/>
              <a:r>
                <a:rPr kumimoji="0" lang="en-US" altLang="zh-CN" sz="2000" b="1" i="1" dirty="0">
                  <a:solidFill>
                    <a:srgbClr val="000000"/>
                  </a:solidFill>
                  <a:cs typeface="Times New Roman" panose="02020603050405020304" pitchFamily="18" charset="0"/>
                </a:rPr>
                <a:t>d</a:t>
              </a:r>
              <a:endParaRPr kumimoji="0" lang="en-US" altLang="zh-CN" sz="2000" b="1" baseline="-25000" dirty="0">
                <a:solidFill>
                  <a:srgbClr val="000000"/>
                </a:solidFill>
                <a:cs typeface="Times New Roman" panose="02020603050405020304" pitchFamily="18" charset="0"/>
              </a:endParaRPr>
            </a:p>
          </p:txBody>
        </p:sp>
        <p:sp>
          <p:nvSpPr>
            <p:cNvPr id="22" name="Text Box 5"/>
            <p:cNvSpPr txBox="1">
              <a:spLocks noChangeArrowheads="1"/>
            </p:cNvSpPr>
            <p:nvPr/>
          </p:nvSpPr>
          <p:spPr bwMode="auto">
            <a:xfrm>
              <a:off x="6869697" y="3321886"/>
              <a:ext cx="5524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algn="ctr">
                <a:spcBef>
                  <a:spcPct val="50000"/>
                </a:spcBef>
              </a:pPr>
              <a:r>
                <a:rPr lang="en-US" altLang="zh-CN" sz="2000" dirty="0"/>
                <a:t>R</a:t>
              </a:r>
              <a:endParaRPr lang="en-US" altLang="zh-CN" sz="2000" dirty="0"/>
            </a:p>
          </p:txBody>
        </p:sp>
        <p:sp>
          <p:nvSpPr>
            <p:cNvPr id="23" name="Rectangle 37"/>
            <p:cNvSpPr>
              <a:spLocks noChangeArrowheads="1"/>
            </p:cNvSpPr>
            <p:nvPr/>
          </p:nvSpPr>
          <p:spPr bwMode="auto">
            <a:xfrm>
              <a:off x="6993120" y="4025483"/>
              <a:ext cx="2840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algn="ctr"/>
              <a:r>
                <a:rPr kumimoji="0" lang="en-US" altLang="zh-CN" sz="2000" b="1" i="1" dirty="0">
                  <a:solidFill>
                    <a:srgbClr val="000000"/>
                  </a:solidFill>
                  <a:cs typeface="Times New Roman" panose="02020603050405020304" pitchFamily="18" charset="0"/>
                </a:rPr>
                <a:t>r</a:t>
              </a:r>
              <a:endParaRPr kumimoji="0" lang="en-US" altLang="zh-CN" sz="2000" b="1" baseline="-25000" dirty="0">
                <a:solidFill>
                  <a:srgbClr val="000000"/>
                </a:solidFill>
                <a:cs typeface="Times New Roman" panose="02020603050405020304" pitchFamily="18" charset="0"/>
              </a:endParaRPr>
            </a:p>
          </p:txBody>
        </p:sp>
        <p:sp>
          <p:nvSpPr>
            <p:cNvPr id="24" name="Line 10"/>
            <p:cNvSpPr>
              <a:spLocks noChangeShapeType="1"/>
            </p:cNvSpPr>
            <p:nvPr/>
          </p:nvSpPr>
          <p:spPr bwMode="auto">
            <a:xfrm rot="5400000">
              <a:off x="6979235" y="3869575"/>
              <a:ext cx="319087"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endParaRPr lang="zh-CN" altLang="en-US"/>
            </a:p>
          </p:txBody>
        </p:sp>
        <p:sp>
          <p:nvSpPr>
            <p:cNvPr id="25" name="Text Box 5"/>
            <p:cNvSpPr txBox="1">
              <a:spLocks noChangeArrowheads="1"/>
            </p:cNvSpPr>
            <p:nvPr/>
          </p:nvSpPr>
          <p:spPr bwMode="auto">
            <a:xfrm>
              <a:off x="6869697" y="2007436"/>
              <a:ext cx="5524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p>
              <a:pPr algn="ctr">
                <a:spcBef>
                  <a:spcPct val="50000"/>
                </a:spcBef>
              </a:pPr>
              <a:r>
                <a:rPr lang="en-US" altLang="zh-CN" sz="2000" dirty="0"/>
                <a:t>S</a:t>
              </a:r>
              <a:endParaRPr lang="en-US" altLang="zh-CN" sz="2000" dirty="0"/>
            </a:p>
          </p:txBody>
        </p:sp>
        <p:sp>
          <p:nvSpPr>
            <p:cNvPr id="26" name="Rectangle 37"/>
            <p:cNvSpPr>
              <a:spLocks noChangeArrowheads="1"/>
            </p:cNvSpPr>
            <p:nvPr/>
          </p:nvSpPr>
          <p:spPr bwMode="auto">
            <a:xfrm>
              <a:off x="6993120" y="1291808"/>
              <a:ext cx="28405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p>
              <a:pPr algn="ctr"/>
              <a:r>
                <a:rPr kumimoji="0" lang="en-US" altLang="zh-CN" sz="2000" b="1" i="1" dirty="0">
                  <a:solidFill>
                    <a:srgbClr val="000000"/>
                  </a:solidFill>
                  <a:cs typeface="Times New Roman" panose="02020603050405020304" pitchFamily="18" charset="0"/>
                </a:rPr>
                <a:t>s</a:t>
              </a:r>
              <a:endParaRPr kumimoji="0" lang="en-US" altLang="zh-CN" sz="2000" b="1" baseline="-25000" dirty="0">
                <a:solidFill>
                  <a:srgbClr val="000000"/>
                </a:solidFill>
                <a:cs typeface="Times New Roman" panose="02020603050405020304" pitchFamily="18" charset="0"/>
              </a:endParaRPr>
            </a:p>
          </p:txBody>
        </p:sp>
        <p:sp>
          <p:nvSpPr>
            <p:cNvPr id="27" name="Line 10"/>
            <p:cNvSpPr>
              <a:spLocks noChangeShapeType="1"/>
            </p:cNvSpPr>
            <p:nvPr/>
          </p:nvSpPr>
          <p:spPr bwMode="auto">
            <a:xfrm rot="5400000">
              <a:off x="6998285" y="1888376"/>
              <a:ext cx="319087"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left)">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wipe(left)">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wipe(left)">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wipe(left)">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wipe(left)">
                                      <p:cBhvr>
                                        <p:cTn id="42" dur="5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wipe(left)">
                                      <p:cBhvr>
                                        <p:cTn id="47" dur="500"/>
                                        <p:tgtEl>
                                          <p:spTgt spid="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
                                            <p:txEl>
                                              <p:pRg st="9" end="9"/>
                                            </p:txEl>
                                          </p:spTgt>
                                        </p:tgtEl>
                                        <p:attrNameLst>
                                          <p:attrName>style.visibility</p:attrName>
                                        </p:attrNameLst>
                                      </p:cBhvr>
                                      <p:to>
                                        <p:strVal val="visible"/>
                                      </p:to>
                                    </p:set>
                                    <p:animEffect transition="in" filter="wipe(left)">
                                      <p:cBhvr>
                                        <p:cTn id="52" dur="500"/>
                                        <p:tgtEl>
                                          <p:spTgt spid="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
                                            <p:txEl>
                                              <p:pRg st="10" end="10"/>
                                            </p:txEl>
                                          </p:spTgt>
                                        </p:tgtEl>
                                        <p:attrNameLst>
                                          <p:attrName>style.visibility</p:attrName>
                                        </p:attrNameLst>
                                      </p:cBhvr>
                                      <p:to>
                                        <p:strVal val="visible"/>
                                      </p:to>
                                    </p:set>
                                    <p:animEffect transition="in" filter="wipe(left)">
                                      <p:cBhvr>
                                        <p:cTn id="57"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autoUpdateAnimBg="0"/>
      <p:bldP spid="14" grpId="0" bldLvl="0" animBg="1" autoUpdateAnimBg="0"/>
      <p:bldP spid="5" grpId="0" build="p"/>
    </p:bldLst>
  </p:timing>
</p:sld>
</file>

<file path=ppt/tags/tag1.xml><?xml version="1.0" encoding="utf-8"?>
<p:tagLst xmlns:p="http://schemas.openxmlformats.org/presentationml/2006/main">
  <p:tag name="KSO_WM_DIAGRAM_VIRTUALLY_FRAME" val="{&quot;height&quot;:166.85,&quot;left&quot;:56.734488188976364,&quot;top&quot;:108.05,&quot;width&quot;:883.5655118110237}"/>
</p:tagLst>
</file>

<file path=ppt/tags/tag2.xml><?xml version="1.0" encoding="utf-8"?>
<p:tagLst xmlns:p="http://schemas.openxmlformats.org/presentationml/2006/main">
  <p:tag name="KSO_WM_DIAGRAM_VIRTUALLY_FRAME" val="{&quot;height&quot;:166.85,&quot;left&quot;:56.734488188976364,&quot;top&quot;:108.05,&quot;width&quot;:883.5655118110237}"/>
</p:tagLst>
</file>

<file path=ppt/tags/tag3.xml><?xml version="1.0" encoding="utf-8"?>
<p:tagLst xmlns:p="http://schemas.openxmlformats.org/presentationml/2006/main">
  <p:tag name="KSO_WM_DIAGRAM_VIRTUALLY_FRAME" val="{&quot;height&quot;:166.85,&quot;left&quot;:56.734488188976364,&quot;top&quot;:108.05,&quot;width&quot;:883.5655118110237}"/>
</p:tagLst>
</file>

<file path=ppt/tags/tag4.xml><?xml version="1.0" encoding="utf-8"?>
<p:tagLst xmlns:p="http://schemas.openxmlformats.org/presentationml/2006/main">
  <p:tag name="KSO_WM_DIAGRAM_VIRTUALLY_FRAME" val="{&quot;height&quot;:166.85,&quot;left&quot;:56.734488188976364,&quot;top&quot;:108.05,&quot;width&quot;:883.5655118110237}"/>
</p:tagLst>
</file>

<file path=ppt/tags/tag5.xml><?xml version="1.0" encoding="utf-8"?>
<p:tagLst xmlns:p="http://schemas.openxmlformats.org/presentationml/2006/main">
  <p:tag name="KSO_WM_DIAGRAM_VIRTUALLY_FRAME" val="{&quot;height&quot;:226.75,&quot;left&quot;:430.25,&quot;top&quot;:105,&quot;width&quot;:209.75}"/>
</p:tagLst>
</file>

<file path=ppt/tags/tag6.xml><?xml version="1.0" encoding="utf-8"?>
<p:tagLst xmlns:p="http://schemas.openxmlformats.org/presentationml/2006/main">
  <p:tag name="KSO_WM_DIAGRAM_VIRTUALLY_FRAME" val="{&quot;height&quot;:226.75,&quot;left&quot;:430.25,&quot;top&quot;:105,&quot;width&quot;:209.75}"/>
</p:tagLst>
</file>

<file path=ppt/tags/tag7.xml><?xml version="1.0" encoding="utf-8"?>
<p:tagLst xmlns:p="http://schemas.openxmlformats.org/presentationml/2006/main">
  <p:tag name="KSO_WM_DIAGRAM_VIRTUALLY_FRAME" val="{&quot;height&quot;:226.75,&quot;left&quot;:430.25,&quot;top&quot;:105,&quot;width&quot;:209.75}"/>
</p:tagLst>
</file>

<file path=ppt/tags/tag8.xml><?xml version="1.0" encoding="utf-8"?>
<p:tagLst xmlns:p="http://schemas.openxmlformats.org/presentationml/2006/main">
  <p:tag name="KSO_WM_DIAGRAM_VIRTUALLY_FRAME" val="{&quot;height&quot;:226.75,&quot;left&quot;:430.25,&quot;top&quot;:105,&quot;width&quot;:209.75}"/>
</p:tagLst>
</file>

<file path=ppt/tags/tag9.xml><?xml version="1.0" encoding="utf-8"?>
<p:tagLst xmlns:p="http://schemas.openxmlformats.org/presentationml/2006/main">
  <p:tag name="KSO_WM_DIAGRAM_VIRTUALLY_FRAME" val="{&quot;height&quot;:226.75,&quot;left&quot;:430.25,&quot;top&quot;:105,&quot;width&quot;:209.75}"/>
</p:tagLst>
</file>

<file path=ppt/tags/tag10.xml><?xml version="1.0" encoding="utf-8"?>
<p:tagLst xmlns:p="http://schemas.openxmlformats.org/presentationml/2006/main">
  <p:tag name="KSO_WM_DIAGRAM_VIRTUALLY_FRAME" val="{&quot;height&quot;:226.75,&quot;left&quot;:430.25,&quot;top&quot;:105,&quot;width&quot;:209.75}"/>
</p:tagLst>
</file>

<file path=ppt/tags/tag11.xml><?xml version="1.0" encoding="utf-8"?>
<p:tagLst xmlns:p="http://schemas.openxmlformats.org/presentationml/2006/main">
  <p:tag name="KSO_WM_DIAGRAM_VIRTUALLY_FRAME" val="{&quot;height&quot;:226.75,&quot;left&quot;:430.25,&quot;top&quot;:105,&quot;width&quot;:209.75}"/>
</p:tagLst>
</file>

<file path=ppt/tags/tag12.xml><?xml version="1.0" encoding="utf-8"?>
<p:tagLst xmlns:p="http://schemas.openxmlformats.org/presentationml/2006/main">
  <p:tag name="KSO_WM_DIAGRAM_VIRTUALLY_FRAME" val="{&quot;height&quot;:226.75,&quot;left&quot;:430.25,&quot;top&quot;:105,&quot;width&quot;:209.75}"/>
</p:tagLst>
</file>

<file path=ppt/tags/tag13.xml><?xml version="1.0" encoding="utf-8"?>
<p:tagLst xmlns:p="http://schemas.openxmlformats.org/presentationml/2006/main">
  <p:tag name="KSO_WM_DIAGRAM_VIRTUALLY_FRAME" val="{&quot;height&quot;:226.75,&quot;left&quot;:430.25,&quot;top&quot;:105,&quot;width&quot;:209.75}"/>
</p:tagLst>
</file>

<file path=ppt/tags/tag14.xml><?xml version="1.0" encoding="utf-8"?>
<p:tagLst xmlns:p="http://schemas.openxmlformats.org/presentationml/2006/main">
  <p:tag name="KSO_WM_DIAGRAM_VIRTUALLY_FRAME" val="{&quot;height&quot;:226.75,&quot;left&quot;:430.25,&quot;top&quot;:105,&quot;width&quot;:209.75}"/>
</p:tagLst>
</file>

<file path=ppt/tags/tag15.xml><?xml version="1.0" encoding="utf-8"?>
<p:tagLst xmlns:p="http://schemas.openxmlformats.org/presentationml/2006/main">
  <p:tag name="KSO_WM_DIAGRAM_VIRTUALLY_FRAME" val="{&quot;height&quot;:226.75,&quot;left&quot;:430.25,&quot;top&quot;:105,&quot;width&quot;:209.75}"/>
</p:tagLst>
</file>

<file path=ppt/tags/tag16.xml><?xml version="1.0" encoding="utf-8"?>
<p:tagLst xmlns:p="http://schemas.openxmlformats.org/presentationml/2006/main">
  <p:tag name="KSO_WM_DIAGRAM_VIRTUALLY_FRAME" val="{&quot;height&quot;:226.75,&quot;left&quot;:430.25,&quot;top&quot;:105,&quot;width&quot;:209.75}"/>
</p:tagLst>
</file>

<file path=ppt/tags/tag17.xml><?xml version="1.0" encoding="utf-8"?>
<p:tagLst xmlns:p="http://schemas.openxmlformats.org/presentationml/2006/main">
  <p:tag name="KSO_WM_DIAGRAM_VIRTUALLY_FRAME" val="{&quot;height&quot;:226.75,&quot;left&quot;:430.25,&quot;top&quot;:105,&quot;width&quot;:209.75}"/>
</p:tagLst>
</file>

<file path=ppt/tags/tag18.xml><?xml version="1.0" encoding="utf-8"?>
<p:tagLst xmlns:p="http://schemas.openxmlformats.org/presentationml/2006/main">
  <p:tag name="KSO_WM_DIAGRAM_VIRTUALLY_FRAME" val="{&quot;height&quot;:226.75,&quot;left&quot;:430.25,&quot;top&quot;:105,&quot;width&quot;:209.75}"/>
</p:tagLst>
</file>

<file path=ppt/tags/tag19.xml><?xml version="1.0" encoding="utf-8"?>
<p:tagLst xmlns:p="http://schemas.openxmlformats.org/presentationml/2006/main">
  <p:tag name="KSO_WM_DIAGRAM_VIRTUALLY_FRAME" val="{&quot;height&quot;:226.75,&quot;left&quot;:430.25,&quot;top&quot;:105,&quot;width&quot;:209.75}"/>
</p:tagLst>
</file>

<file path=ppt/tags/tag20.xml><?xml version="1.0" encoding="utf-8"?>
<p:tagLst xmlns:p="http://schemas.openxmlformats.org/presentationml/2006/main">
  <p:tag name="KSO_WM_DIAGRAM_VIRTUALLY_FRAME" val="{&quot;height&quot;:226.75,&quot;left&quot;:430.25,&quot;top&quot;:105,&quot;width&quot;:209.75}"/>
</p:tagLst>
</file>

<file path=ppt/tags/tag21.xml><?xml version="1.0" encoding="utf-8"?>
<p:tagLst xmlns:p="http://schemas.openxmlformats.org/presentationml/2006/main">
  <p:tag name="KSO_WM_DIAGRAM_VIRTUALLY_FRAME" val="{&quot;height&quot;:226.75,&quot;left&quot;:430.25,&quot;top&quot;:105,&quot;width&quot;:209.75}"/>
</p:tagLst>
</file>

<file path=ppt/tags/tag22.xml><?xml version="1.0" encoding="utf-8"?>
<p:tagLst xmlns:p="http://schemas.openxmlformats.org/presentationml/2006/main">
  <p:tag name="KSO_WM_DIAGRAM_VIRTUALLY_FRAME" val="{&quot;height&quot;:226.75,&quot;left&quot;:430.25,&quot;top&quot;:105,&quot;width&quot;:209.75}"/>
</p:tagLst>
</file>

<file path=ppt/tags/tag23.xml><?xml version="1.0" encoding="utf-8"?>
<p:tagLst xmlns:p="http://schemas.openxmlformats.org/presentationml/2006/main">
  <p:tag name="KSO_WM_DIAGRAM_VIRTUALLY_FRAME" val="{&quot;height&quot;:226.75,&quot;left&quot;:430.25,&quot;top&quot;:105,&quot;width&quot;:209.75}"/>
</p:tagLst>
</file>

<file path=ppt/tags/tag24.xml><?xml version="1.0" encoding="utf-8"?>
<p:tagLst xmlns:p="http://schemas.openxmlformats.org/presentationml/2006/main">
  <p:tag name="KSO_WM_DIAGRAM_VIRTUALLY_FRAME" val="{&quot;height&quot;:226.75,&quot;left&quot;:430.25,&quot;top&quot;:105,&quot;width&quot;:209.75}"/>
</p:tagLst>
</file>

<file path=ppt/tags/tag25.xml><?xml version="1.0" encoding="utf-8"?>
<p:tagLst xmlns:p="http://schemas.openxmlformats.org/presentationml/2006/main">
  <p:tag name="KSO_WM_DIAGRAM_VIRTUALLY_FRAME" val="{&quot;height&quot;:226.75,&quot;left&quot;:430.25,&quot;top&quot;:105,&quot;width&quot;:209.75}"/>
</p:tagLst>
</file>

<file path=ppt/tags/tag26.xml><?xml version="1.0" encoding="utf-8"?>
<p:tagLst xmlns:p="http://schemas.openxmlformats.org/presentationml/2006/main">
  <p:tag name="KSO_WM_DIAGRAM_VIRTUALLY_FRAME" val="{&quot;height&quot;:226.75,&quot;left&quot;:430.25,&quot;top&quot;:105,&quot;width&quot;:209.75}"/>
</p:tagLst>
</file>

<file path=ppt/tags/tag27.xml><?xml version="1.0" encoding="utf-8"?>
<p:tagLst xmlns:p="http://schemas.openxmlformats.org/presentationml/2006/main">
  <p:tag name="KSO_WM_DIAGRAM_VIRTUALLY_FRAME" val="{&quot;height&quot;:226.75,&quot;left&quot;:430.25,&quot;top&quot;:105,&quot;width&quot;:209.75}"/>
</p:tagLst>
</file>

<file path=ppt/tags/tag28.xml><?xml version="1.0" encoding="utf-8"?>
<p:tagLst xmlns:p="http://schemas.openxmlformats.org/presentationml/2006/main">
  <p:tag name="KSO_WM_DIAGRAM_VIRTUALLY_FRAME" val="{&quot;height&quot;:226.75,&quot;left&quot;:430.25,&quot;top&quot;:105,&quot;width&quot;:209.75}"/>
</p:tagLst>
</file>

<file path=ppt/tags/tag29.xml><?xml version="1.0" encoding="utf-8"?>
<p:tagLst xmlns:p="http://schemas.openxmlformats.org/presentationml/2006/main">
  <p:tag name="KSO_WM_DIAGRAM_VIRTUALLY_FRAME" val="{&quot;height&quot;:226.75,&quot;left&quot;:430.25,&quot;top&quot;:105,&quot;width&quot;:209.75}"/>
</p:tagLst>
</file>

<file path=ppt/tags/tag30.xml><?xml version="1.0" encoding="utf-8"?>
<p:tagLst xmlns:p="http://schemas.openxmlformats.org/presentationml/2006/main">
  <p:tag name="KSO_WM_DIAGRAM_VIRTUALLY_FRAME" val="{&quot;height&quot;:226.75,&quot;left&quot;:430.25,&quot;top&quot;:105,&quot;width&quot;:209.75}"/>
</p:tagLst>
</file>

<file path=ppt/tags/tag31.xml><?xml version="1.0" encoding="utf-8"?>
<p:tagLst xmlns:p="http://schemas.openxmlformats.org/presentationml/2006/main">
  <p:tag name="KSO_WM_DIAGRAM_VIRTUALLY_FRAME" val="{&quot;height&quot;:226.75,&quot;left&quot;:430.25,&quot;top&quot;:105,&quot;width&quot;:209.75}"/>
</p:tagLst>
</file>

<file path=ppt/tags/tag32.xml><?xml version="1.0" encoding="utf-8"?>
<p:tagLst xmlns:p="http://schemas.openxmlformats.org/presentationml/2006/main">
  <p:tag name="KSO_WM_DIAGRAM_VIRTUALLY_FRAME" val="{&quot;height&quot;:226.75,&quot;left&quot;:430.25,&quot;top&quot;:105,&quot;width&quot;:209.75}"/>
</p:tagLst>
</file>

<file path=ppt/tags/tag33.xml><?xml version="1.0" encoding="utf-8"?>
<p:tagLst xmlns:p="http://schemas.openxmlformats.org/presentationml/2006/main">
  <p:tag name="KSO_WM_DIAGRAM_VIRTUALLY_FRAME" val="{&quot;height&quot;:226.75,&quot;left&quot;:430.25,&quot;top&quot;:105,&quot;width&quot;:209.75}"/>
</p:tagLst>
</file>

<file path=ppt/tags/tag34.xml><?xml version="1.0" encoding="utf-8"?>
<p:tagLst xmlns:p="http://schemas.openxmlformats.org/presentationml/2006/main">
  <p:tag name="KSO_WM_DIAGRAM_VIRTUALLY_FRAME" val="{&quot;height&quot;:226.75,&quot;left&quot;:430.25,&quot;top&quot;:105,&quot;width&quot;:209.75}"/>
</p:tagLst>
</file>

<file path=ppt/tags/tag35.xml><?xml version="1.0" encoding="utf-8"?>
<p:tagLst xmlns:p="http://schemas.openxmlformats.org/presentationml/2006/main">
  <p:tag name="KSO_WM_DIAGRAM_VIRTUALLY_FRAME" val="{&quot;height&quot;:226.75,&quot;left&quot;:430.25,&quot;top&quot;:105,&quot;width&quot;:209.75}"/>
</p:tagLst>
</file>

<file path=ppt/tags/tag36.xml><?xml version="1.0" encoding="utf-8"?>
<p:tagLst xmlns:p="http://schemas.openxmlformats.org/presentationml/2006/main">
  <p:tag name="KSO_WM_DIAGRAM_VIRTUALLY_FRAME" val="{&quot;height&quot;:226.75,&quot;left&quot;:430.25,&quot;top&quot;:105,&quot;width&quot;:209.75}"/>
</p:tagLst>
</file>

<file path=ppt/tags/tag37.xml><?xml version="1.0" encoding="utf-8"?>
<p:tagLst xmlns:p="http://schemas.openxmlformats.org/presentationml/2006/main">
  <p:tag name="KSO_WM_DIAGRAM_VIRTUALLY_FRAME" val="{&quot;height&quot;:226.75,&quot;left&quot;:430.25,&quot;top&quot;:105,&quot;width&quot;:209.75}"/>
</p:tagLst>
</file>

<file path=ppt/tags/tag38.xml><?xml version="1.0" encoding="utf-8"?>
<p:tagLst xmlns:p="http://schemas.openxmlformats.org/presentationml/2006/main">
  <p:tag name="KSO_WM_DIAGRAM_VIRTUALLY_FRAME" val="{&quot;height&quot;:226.75,&quot;left&quot;:430.25,&quot;top&quot;:105,&quot;width&quot;:209.75}"/>
</p:tagLst>
</file>

<file path=ppt/tags/tag39.xml><?xml version="1.0" encoding="utf-8"?>
<p:tagLst xmlns:p="http://schemas.openxmlformats.org/presentationml/2006/main">
  <p:tag name="KSO_WM_DIAGRAM_VIRTUALLY_FRAME" val="{&quot;height&quot;:166.85,&quot;left&quot;:56.734488188976364,&quot;top&quot;:108.05,&quot;width&quot;:883.5655118110237}"/>
</p:tagLst>
</file>

<file path=ppt/tags/tag40.xml><?xml version="1.0" encoding="utf-8"?>
<p:tagLst xmlns:p="http://schemas.openxmlformats.org/presentationml/2006/main">
  <p:tag name="KSO_WM_DIAGRAM_VIRTUALLY_FRAME" val="{&quot;height&quot;:330.8,&quot;left&quot;:78.75,&quot;top&quot;:121.75,&quot;width&quot;:558.75}"/>
</p:tagLst>
</file>

<file path=ppt/tags/tag41.xml><?xml version="1.0" encoding="utf-8"?>
<p:tagLst xmlns:p="http://schemas.openxmlformats.org/presentationml/2006/main">
  <p:tag name="KSO_WM_DIAGRAM_VIRTUALLY_FRAME" val="{&quot;height&quot;:330.8,&quot;left&quot;:78.75,&quot;top&quot;:121.75,&quot;width&quot;:558.75}"/>
</p:tagLst>
</file>

<file path=ppt/tags/tag42.xml><?xml version="1.0" encoding="utf-8"?>
<p:tagLst xmlns:p="http://schemas.openxmlformats.org/presentationml/2006/main">
  <p:tag name="KSO_WM_DIAGRAM_VIRTUALLY_FRAME" val="{&quot;height&quot;:330.8,&quot;left&quot;:78.75,&quot;top&quot;:121.75,&quot;width&quot;:558.75}"/>
</p:tagLst>
</file>

<file path=ppt/tags/tag43.xml><?xml version="1.0" encoding="utf-8"?>
<p:tagLst xmlns:p="http://schemas.openxmlformats.org/presentationml/2006/main">
  <p:tag name="KSO_WM_DIAGRAM_VIRTUALLY_FRAME" val="{&quot;height&quot;:330.8,&quot;left&quot;:78.75,&quot;top&quot;:121.75,&quot;width&quot;:558.75}"/>
</p:tagLst>
</file>

<file path=ppt/tags/tag44.xml><?xml version="1.0" encoding="utf-8"?>
<p:tagLst xmlns:p="http://schemas.openxmlformats.org/presentationml/2006/main">
  <p:tag name="KSO_WM_DIAGRAM_VIRTUALLY_FRAME" val="{&quot;height&quot;:330.8,&quot;left&quot;:78.75,&quot;top&quot;:121.75,&quot;width&quot;:558.75}"/>
</p:tagLst>
</file>

<file path=ppt/tags/tag45.xml><?xml version="1.0" encoding="utf-8"?>
<p:tagLst xmlns:p="http://schemas.openxmlformats.org/presentationml/2006/main">
  <p:tag name="KSO_WM_DIAGRAM_VIRTUALLY_FRAME" val="{&quot;height&quot;:330.8,&quot;left&quot;:78.75,&quot;top&quot;:121.75,&quot;width&quot;:558.75}"/>
</p:tagLst>
</file>

<file path=ppt/tags/tag46.xml><?xml version="1.0" encoding="utf-8"?>
<p:tagLst xmlns:p="http://schemas.openxmlformats.org/presentationml/2006/main">
  <p:tag name="KSO_WM_DIAGRAM_VIRTUALLY_FRAME" val="{&quot;height&quot;:330.8,&quot;left&quot;:78.75,&quot;top&quot;:121.75,&quot;width&quot;:558.75}"/>
</p:tagLst>
</file>

<file path=ppt/tags/tag47.xml><?xml version="1.0" encoding="utf-8"?>
<p:tagLst xmlns:p="http://schemas.openxmlformats.org/presentationml/2006/main">
  <p:tag name="KSO_WM_DIAGRAM_VIRTUALLY_FRAME" val="{&quot;height&quot;:330.8,&quot;left&quot;:78.75,&quot;top&quot;:121.75,&quot;width&quot;:558.75}"/>
</p:tagLst>
</file>

<file path=ppt/tags/tag48.xml><?xml version="1.0" encoding="utf-8"?>
<p:tagLst xmlns:p="http://schemas.openxmlformats.org/presentationml/2006/main">
  <p:tag name="KSO_WM_DIAGRAM_VIRTUALLY_FRAME" val="{&quot;height&quot;:330.8,&quot;left&quot;:78.75,&quot;top&quot;:121.75,&quot;width&quot;:558.75}"/>
</p:tagLst>
</file>

<file path=ppt/tags/tag49.xml><?xml version="1.0" encoding="utf-8"?>
<p:tagLst xmlns:p="http://schemas.openxmlformats.org/presentationml/2006/main">
  <p:tag name="KSO_WM_DIAGRAM_VIRTUALLY_FRAME" val="{&quot;height&quot;:330.8,&quot;left&quot;:78.75,&quot;top&quot;:121.75,&quot;width&quot;:558.75}"/>
</p:tagLst>
</file>

<file path=ppt/tags/tag50.xml><?xml version="1.0" encoding="utf-8"?>
<p:tagLst xmlns:p="http://schemas.openxmlformats.org/presentationml/2006/main">
  <p:tag name="KSO_WM_DIAGRAM_VIRTUALLY_FRAME" val="{&quot;height&quot;:330.8,&quot;left&quot;:78.75,&quot;top&quot;:121.75,&quot;width&quot;:558.75}"/>
</p:tagLst>
</file>

<file path=ppt/tags/tag51.xml><?xml version="1.0" encoding="utf-8"?>
<p:tagLst xmlns:p="http://schemas.openxmlformats.org/presentationml/2006/main">
  <p:tag name="KSO_WM_DIAGRAM_VIRTUALLY_FRAME" val="{&quot;height&quot;:330.8,&quot;left&quot;:78.75,&quot;top&quot;:121.75,&quot;width&quot;:558.75}"/>
</p:tagLst>
</file>

<file path=ppt/tags/tag52.xml><?xml version="1.0" encoding="utf-8"?>
<p:tagLst xmlns:p="http://schemas.openxmlformats.org/presentationml/2006/main">
  <p:tag name="KSO_WM_DIAGRAM_VIRTUALLY_FRAME" val="{&quot;height&quot;:330.8,&quot;left&quot;:78.75,&quot;top&quot;:121.75,&quot;width&quot;:558.75}"/>
</p:tagLst>
</file>

<file path=ppt/tags/tag53.xml><?xml version="1.0" encoding="utf-8"?>
<p:tagLst xmlns:p="http://schemas.openxmlformats.org/presentationml/2006/main">
  <p:tag name="KSO_WM_DIAGRAM_VIRTUALLY_FRAME" val="{&quot;height&quot;:330.8,&quot;left&quot;:78.75,&quot;top&quot;:121.75,&quot;width&quot;:558.75}"/>
</p:tagLst>
</file>

<file path=ppt/tags/tag54.xml><?xml version="1.0" encoding="utf-8"?>
<p:tagLst xmlns:p="http://schemas.openxmlformats.org/presentationml/2006/main">
  <p:tag name="KSO_WM_DIAGRAM_VIRTUALLY_FRAME" val="{&quot;height&quot;:330.8,&quot;left&quot;:78.75,&quot;top&quot;:121.75,&quot;width&quot;:558.75}"/>
</p:tagLst>
</file>

<file path=ppt/tags/tag55.xml><?xml version="1.0" encoding="utf-8"?>
<p:tagLst xmlns:p="http://schemas.openxmlformats.org/presentationml/2006/main">
  <p:tag name="KSO_WM_DIAGRAM_VIRTUALLY_FRAME" val="{&quot;height&quot;:330.8,&quot;left&quot;:78.75,&quot;top&quot;:121.75,&quot;width&quot;:558.75}"/>
</p:tagLst>
</file>

<file path=ppt/tags/tag56.xml><?xml version="1.0" encoding="utf-8"?>
<p:tagLst xmlns:p="http://schemas.openxmlformats.org/presentationml/2006/main">
  <p:tag name="KSO_WM_DIAGRAM_VIRTUALLY_FRAME" val="{&quot;height&quot;:330.8,&quot;left&quot;:78.75,&quot;top&quot;:121.75,&quot;width&quot;:558.75}"/>
</p:tagLst>
</file>

<file path=ppt/tags/tag57.xml><?xml version="1.0" encoding="utf-8"?>
<p:tagLst xmlns:p="http://schemas.openxmlformats.org/presentationml/2006/main">
  <p:tag name="KSO_WM_DIAGRAM_VIRTUALLY_FRAME" val="{&quot;height&quot;:166.85,&quot;left&quot;:56.734488188976364,&quot;top&quot;:108.05,&quot;width&quot;:883.5655118110237}"/>
</p:tagLst>
</file>

<file path=ppt/tags/tag58.xml><?xml version="1.0" encoding="utf-8"?>
<p:tagLst xmlns:p="http://schemas.openxmlformats.org/presentationml/2006/main">
  <p:tag name="KSO_WM_DIAGRAM_VIRTUALLY_FRAME" val="{&quot;height&quot;:330.8,&quot;left&quot;:78.75,&quot;top&quot;:121.75,&quot;width&quot;:558.75}"/>
</p:tagLst>
</file>

<file path=ppt/tags/tag59.xml><?xml version="1.0" encoding="utf-8"?>
<p:tagLst xmlns:p="http://schemas.openxmlformats.org/presentationml/2006/main">
  <p:tag name="KSO_WM_DIAGRAM_VIRTUALLY_FRAME" val="{&quot;height&quot;:330.8,&quot;left&quot;:78.75,&quot;top&quot;:121.75,&quot;width&quot;:558.75}"/>
</p:tagLst>
</file>

<file path=ppt/tags/tag60.xml><?xml version="1.0" encoding="utf-8"?>
<p:tagLst xmlns:p="http://schemas.openxmlformats.org/presentationml/2006/main">
  <p:tag name="KSO_WM_DIAGRAM_VIRTUALLY_FRAME" val="{&quot;height&quot;:330.8,&quot;left&quot;:78.75,&quot;top&quot;:121.75,&quot;width&quot;:558.75}"/>
</p:tagLst>
</file>

<file path=ppt/tags/tag61.xml><?xml version="1.0" encoding="utf-8"?>
<p:tagLst xmlns:p="http://schemas.openxmlformats.org/presentationml/2006/main">
  <p:tag name="KSO_WM_DIAGRAM_VIRTUALLY_FRAME" val="{&quot;height&quot;:330.8,&quot;left&quot;:78.75,&quot;top&quot;:121.75,&quot;width&quot;:558.75}"/>
</p:tagLst>
</file>

<file path=ppt/tags/tag62.xml><?xml version="1.0" encoding="utf-8"?>
<p:tagLst xmlns:p="http://schemas.openxmlformats.org/presentationml/2006/main">
  <p:tag name="KSO_WM_DIAGRAM_VIRTUALLY_FRAME" val="{&quot;height&quot;:330.8,&quot;left&quot;:78.75,&quot;top&quot;:121.75,&quot;width&quot;:558.75}"/>
</p:tagLst>
</file>

<file path=ppt/tags/tag63.xml><?xml version="1.0" encoding="utf-8"?>
<p:tagLst xmlns:p="http://schemas.openxmlformats.org/presentationml/2006/main">
  <p:tag name="KSO_WM_DIAGRAM_VIRTUALLY_FRAME" val="{&quot;height&quot;:330.8,&quot;left&quot;:78.75,&quot;top&quot;:121.75,&quot;width&quot;:558.75}"/>
</p:tagLst>
</file>

<file path=ppt/tags/tag64.xml><?xml version="1.0" encoding="utf-8"?>
<p:tagLst xmlns:p="http://schemas.openxmlformats.org/presentationml/2006/main">
  <p:tag name="KSO_WM_DIAGRAM_VIRTUALLY_FRAME" val="{&quot;height&quot;:330.8,&quot;left&quot;:78.75,&quot;top&quot;:121.75,&quot;width&quot;:558.75}"/>
</p:tagLst>
</file>

<file path=ppt/tags/tag65.xml><?xml version="1.0" encoding="utf-8"?>
<p:tagLst xmlns:p="http://schemas.openxmlformats.org/presentationml/2006/main">
  <p:tag name="KSO_WM_DIAGRAM_VIRTUALLY_FRAME" val="{&quot;height&quot;:330.8,&quot;left&quot;:78.75,&quot;top&quot;:121.75,&quot;width&quot;:558.75}"/>
</p:tagLst>
</file>

<file path=ppt/tags/tag66.xml><?xml version="1.0" encoding="utf-8"?>
<p:tagLst xmlns:p="http://schemas.openxmlformats.org/presentationml/2006/main">
  <p:tag name="KSO_WM_DIAGRAM_VIRTUALLY_FRAME" val="{&quot;height&quot;:330.8,&quot;left&quot;:78.75,&quot;top&quot;:121.75,&quot;width&quot;:558.75}"/>
</p:tagLst>
</file>

<file path=ppt/tags/tag67.xml><?xml version="1.0" encoding="utf-8"?>
<p:tagLst xmlns:p="http://schemas.openxmlformats.org/presentationml/2006/main">
  <p:tag name="KSO_WM_DIAGRAM_VIRTUALLY_FRAME" val="{&quot;height&quot;:330.8,&quot;left&quot;:78.75,&quot;top&quot;:121.75,&quot;width&quot;:558.75}"/>
</p:tagLst>
</file>

<file path=ppt/tags/tag68.xml><?xml version="1.0" encoding="utf-8"?>
<p:tagLst xmlns:p="http://schemas.openxmlformats.org/presentationml/2006/main">
  <p:tag name="KSO_WM_DIAGRAM_VIRTUALLY_FRAME" val="{&quot;height&quot;:330.8,&quot;left&quot;:78.75,&quot;top&quot;:121.75,&quot;width&quot;:558.75}"/>
</p:tagLst>
</file>

<file path=ppt/tags/tag69.xml><?xml version="1.0" encoding="utf-8"?>
<p:tagLst xmlns:p="http://schemas.openxmlformats.org/presentationml/2006/main">
  <p:tag name="KSO_WM_DIAGRAM_VIRTUALLY_FRAME" val="{&quot;height&quot;:330.8,&quot;left&quot;:78.75,&quot;top&quot;:121.75,&quot;width&quot;:558.75}"/>
</p:tagLst>
</file>

<file path=ppt/tags/tag70.xml><?xml version="1.0" encoding="utf-8"?>
<p:tagLst xmlns:p="http://schemas.openxmlformats.org/presentationml/2006/main">
  <p:tag name="KSO_WM_DIAGRAM_VIRTUALLY_FRAME" val="{&quot;height&quot;:330.8,&quot;left&quot;:78.75,&quot;top&quot;:121.75,&quot;width&quot;:558.75}"/>
</p:tagLst>
</file>

<file path=ppt/tags/tag71.xml><?xml version="1.0" encoding="utf-8"?>
<p:tagLst xmlns:p="http://schemas.openxmlformats.org/presentationml/2006/main">
  <p:tag name="KSO_WM_DIAGRAM_VIRTUALLY_FRAME" val="{&quot;height&quot;:330.8,&quot;left&quot;:78.75,&quot;top&quot;:121.75,&quot;width&quot;:558.75}"/>
</p:tagLst>
</file>

<file path=ppt/tags/tag72.xml><?xml version="1.0" encoding="utf-8"?>
<p:tagLst xmlns:p="http://schemas.openxmlformats.org/presentationml/2006/main">
  <p:tag name="KSO_WM_DIAGRAM_VIRTUALLY_FRAME" val="{&quot;height&quot;:330.8,&quot;left&quot;:78.75,&quot;top&quot;:121.75,&quot;width&quot;:558.75}"/>
</p:tagLst>
</file>

<file path=ppt/tags/tag73.xml><?xml version="1.0" encoding="utf-8"?>
<p:tagLst xmlns:p="http://schemas.openxmlformats.org/presentationml/2006/main">
  <p:tag name="KSO_WM_DIAGRAM_VIRTUALLY_FRAME" val="{&quot;height&quot;:330.8,&quot;left&quot;:78.75,&quot;top&quot;:121.75,&quot;width&quot;:558.75}"/>
</p:tagLst>
</file>

<file path=ppt/tags/tag74.xml><?xml version="1.0" encoding="utf-8"?>
<p:tagLst xmlns:p="http://schemas.openxmlformats.org/presentationml/2006/main">
  <p:tag name="KSO_WM_DIAGRAM_VIRTUALLY_FRAME" val="{&quot;height&quot;:330.8,&quot;left&quot;:78.75,&quot;top&quot;:121.75,&quot;width&quot;:558.75}"/>
</p:tagLst>
</file>

<file path=ppt/tags/tag75.xml><?xml version="1.0" encoding="utf-8"?>
<p:tagLst xmlns:p="http://schemas.openxmlformats.org/presentationml/2006/main">
  <p:tag name="KSO_WM_DIAGRAM_VIRTUALLY_FRAME" val="{&quot;height&quot;:166.85,&quot;left&quot;:56.734488188976364,&quot;top&quot;:108.05,&quot;width&quot;:883.5655118110237}"/>
</p:tagLst>
</file>

<file path=ppt/tags/tag76.xml><?xml version="1.0" encoding="utf-8"?>
<p:tagLst xmlns:p="http://schemas.openxmlformats.org/presentationml/2006/main">
  <p:tag name="KSO_WM_DIAGRAM_VIRTUALLY_FRAME" val="{&quot;height&quot;:166.85,&quot;left&quot;:56.734488188976364,&quot;top&quot;:108.05,&quot;width&quot;:883.5655118110237}"/>
</p:tagLst>
</file>

<file path=ppt/tags/tag77.xml><?xml version="1.0" encoding="utf-8"?>
<p:tagLst xmlns:p="http://schemas.openxmlformats.org/presentationml/2006/main">
  <p:tag name="KSO_WM_DIAGRAM_VIRTUALLY_FRAME" val="{&quot;height&quot;:166.85,&quot;left&quot;:56.734488188976364,&quot;top&quot;:108.05,&quot;width&quot;:883.5655118110237}"/>
</p:tagLst>
</file>

<file path=ppt/tags/tag78.xml><?xml version="1.0" encoding="utf-8"?>
<p:tagLst xmlns:p="http://schemas.openxmlformats.org/presentationml/2006/main">
  <p:tag name="KSO_WM_DIAGRAM_VIRTUALLY_FRAME" val="{&quot;height&quot;:166.85,&quot;left&quot;:56.734488188976364,&quot;top&quot;:108.05,&quot;width&quot;:883.5655118110237}"/>
</p:tagLst>
</file>

<file path=ppt/tags/tag79.xml><?xml version="1.0" encoding="utf-8"?>
<p:tagLst xmlns:p="http://schemas.openxmlformats.org/presentationml/2006/main">
  <p:tag name="KSO_WM_DIAGRAM_VIRTUALLY_FRAME" val="{&quot;height&quot;:166.85,&quot;left&quot;:56.734488188976364,&quot;top&quot;:108.05,&quot;width&quot;:883.5655118110237}"/>
</p:tagLst>
</file>

<file path=ppt/tags/tag80.xml><?xml version="1.0" encoding="utf-8"?>
<p:tagLst xmlns:p="http://schemas.openxmlformats.org/presentationml/2006/main">
  <p:tag name="KSO_WM_DIAGRAM_VIRTUALLY_FRAME" val="{&quot;height&quot;:166.85,&quot;left&quot;:56.734488188976364,&quot;top&quot;:108.05,&quot;width&quot;:883.5655118110237}"/>
</p:tagLst>
</file>

<file path=ppt/tags/tag81.xml><?xml version="1.0" encoding="utf-8"?>
<p:tagLst xmlns:p="http://schemas.openxmlformats.org/presentationml/2006/main">
  <p:tag name="KSO_WM_DIAGRAM_VIRTUALLY_FRAME" val="{&quot;height&quot;:166.85,&quot;left&quot;:56.734488188976364,&quot;top&quot;:108.05,&quot;width&quot;:883.5655118110237}"/>
</p:tagLst>
</file>

<file path=ppt/tags/tag82.xml><?xml version="1.0" encoding="utf-8"?>
<p:tagLst xmlns:p="http://schemas.openxmlformats.org/presentationml/2006/main">
  <p:tag name="KSO_WM_DIAGRAM_VIRTUALLY_FRAME" val="{&quot;height&quot;:166.85,&quot;left&quot;:56.734488188976364,&quot;top&quot;:108.05,&quot;width&quot;:883.5655118110237}"/>
</p:tagLst>
</file>

<file path=ppt/tags/tag83.xml><?xml version="1.0" encoding="utf-8"?>
<p:tagLst xmlns:p="http://schemas.openxmlformats.org/presentationml/2006/main">
  <p:tag name="KSO_WM_DIAGRAM_VIRTUALLY_FRAME" val="{&quot;height&quot;:166.85,&quot;left&quot;:56.734488188976364,&quot;top&quot;:108.05,&quot;width&quot;:883.5655118110237}"/>
</p:tagLst>
</file>

<file path=ppt/tags/tag84.xml><?xml version="1.0" encoding="utf-8"?>
<p:tagLst xmlns:p="http://schemas.openxmlformats.org/presentationml/2006/main">
  <p:tag name="KSO_WM_DIAGRAM_VIRTUALLY_FRAME" val="{&quot;height&quot;:166.85,&quot;left&quot;:56.734488188976364,&quot;top&quot;:108.05,&quot;width&quot;:883.5655118110237}"/>
</p:tagLst>
</file>

<file path=ppt/tags/tag85.xml><?xml version="1.0" encoding="utf-8"?>
<p:tagLst xmlns:p="http://schemas.openxmlformats.org/presentationml/2006/main">
  <p:tag name="KSO_WM_DIAGRAM_VIRTUALLY_FRAME" val="{&quot;height&quot;:166.85,&quot;left&quot;:56.734488188976364,&quot;top&quot;:108.05,&quot;width&quot;:883.5655118110237}"/>
</p:tagLst>
</file>

<file path=ppt/tags/tag86.xml><?xml version="1.0" encoding="utf-8"?>
<p:tagLst xmlns:p="http://schemas.openxmlformats.org/presentationml/2006/main">
  <p:tag name="KSO_WM_DIAGRAM_VIRTUALLY_FRAME" val="{&quot;height&quot;:166.85,&quot;left&quot;:56.734488188976364,&quot;top&quot;:108.05,&quot;width&quot;:883.5655118110237}"/>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DIAGRAM_VIRTUALLY_FRAME" val="{&quot;height&quot;:166.85,&quot;left&quot;:56.734488188976364,&quot;top&quot;:108.05,&quot;width&quot;:883.5655118110237}"/>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DIAGRAM_VIRTUALLY_FRAME" val="{&quot;height&quot;:166.85,&quot;left&quot;:56.734488188976364,&quot;top&quot;:108.05,&quot;width&quot;:883.5655118110237}"/>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DIAGRAM_VIRTUALLY_FRAME" val="{&quot;height&quot;:166.85,&quot;left&quot;:56.734488188976364,&quot;top&quot;:108.05,&quot;width&quot;:883.5655118110237}"/>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DIAGRAM_VIRTUALLY_FRAME" val="{&quot;height&quot;:166.85,&quot;left&quot;:56.734488188976364,&quot;top&quot;:108.05,&quot;width&quot;:883.5655118110237}"/>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DIAGRAM_VIRTUALLY_FRAME" val="{&quot;height&quot;:166.85,&quot;left&quot;:56.734488188976364,&quot;top&quot;:108.05,&quot;width&quot;:883.5655118110237}"/>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DIAGRAM_VIRTUALLY_FRAME" val="{&quot;height&quot;:166.85,&quot;left&quot;:56.734488188976364,&quot;top&quot;:108.05,&quot;width&quot;:883.5655118110237}"/>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DIAGRAM_VIRTUALLY_FRAME" val="{&quot;height&quot;:166.85,&quot;left&quot;:56.734488188976364,&quot;top&quot;:108.05,&quot;width&quot;:883.5655118110237}"/>
</p:tagLst>
</file>

<file path=ppt/tags/tag136.xml><?xml version="1.0" encoding="utf-8"?>
<p:tagLst xmlns:p="http://schemas.openxmlformats.org/presentationml/2006/main">
  <p:tag name="KSO_WM_DIAGRAM_VIRTUALLY_FRAME" val="{&quot;height&quot;:166.85,&quot;left&quot;:56.734488188976364,&quot;top&quot;:108.05,&quot;width&quot;:883.5655118110237}"/>
</p:tagLst>
</file>

<file path=ppt/tags/tag137.xml><?xml version="1.0" encoding="utf-8"?>
<p:tagLst xmlns:p="http://schemas.openxmlformats.org/presentationml/2006/main">
  <p:tag name="KSO_WM_DIAGRAM_VIRTUALLY_FRAME" val="{&quot;height&quot;:166.85,&quot;left&quot;:56.734488188976364,&quot;top&quot;:108.05,&quot;width&quot;:883.5655118110237}"/>
</p:tagLst>
</file>

<file path=ppt/tags/tag138.xml><?xml version="1.0" encoding="utf-8"?>
<p:tagLst xmlns:p="http://schemas.openxmlformats.org/presentationml/2006/main">
  <p:tag name="KSO_WM_DIAGRAM_VIRTUALLY_FRAME" val="{&quot;height&quot;:166.85,&quot;left&quot;:56.734488188976364,&quot;top&quot;:108.05,&quot;width&quot;:883.5655118110237}"/>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DIAGRAM_VIRTUALLY_FRAME" val="{&quot;height&quot;:166.85,&quot;left&quot;:56.734488188976364,&quot;top&quot;:108.05,&quot;width&quot;:883.5655118110237}"/>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DIAGRAM_VIRTUALLY_FRAME" val="{&quot;height&quot;:166.85,&quot;left&quot;:56.734488188976364,&quot;top&quot;:108.05,&quot;width&quot;:883.5655118110237}"/>
</p:tagLst>
</file>

<file path=ppt/tags/tag198.xml><?xml version="1.0" encoding="utf-8"?>
<p:tagLst xmlns:p="http://schemas.openxmlformats.org/presentationml/2006/main">
  <p:tag name="KSO_WM_DIAGRAM_VIRTUALLY_FRAME" val="{&quot;height&quot;:166.85,&quot;left&quot;:56.734488188976364,&quot;top&quot;:108.05,&quot;width&quot;:883.5655118110237}"/>
</p:tagLst>
</file>

<file path=ppt/tags/tag199.xml><?xml version="1.0" encoding="utf-8"?>
<p:tagLst xmlns:p="http://schemas.openxmlformats.org/presentationml/2006/main">
  <p:tag name="KSO_WM_DIAGRAM_VIRTUALLY_FRAME" val="{&quot;height&quot;:166.85,&quot;left&quot;:56.734488188976364,&quot;top&quot;:108.05,&quot;width&quot;:883.5655118110237}"/>
</p:tagLst>
</file>

<file path=ppt/tags/tag200.xml><?xml version="1.0" encoding="utf-8"?>
<p:tagLst xmlns:p="http://schemas.openxmlformats.org/presentationml/2006/main">
  <p:tag name="KSO_WM_DIAGRAM_VIRTUALLY_FRAME" val="{&quot;height&quot;:166.85,&quot;left&quot;:56.734488188976364,&quot;top&quot;:108.05,&quot;width&quot;:883.5655118110237}"/>
</p:tagLst>
</file>

<file path=ppt/tags/tag201.xml><?xml version="1.0" encoding="utf-8"?>
<p:tagLst xmlns:p="http://schemas.openxmlformats.org/presentationml/2006/main">
  <p:tag name="KSO_WM_DIAGRAM_VIRTUALLY_FRAME" val="{&quot;height&quot;:166.85,&quot;left&quot;:56.734488188976364,&quot;top&quot;:108.05,&quot;width&quot;:883.5655118110237}"/>
</p:tagLst>
</file>

<file path=ppt/tags/tag202.xml><?xml version="1.0" encoding="utf-8"?>
<p:tagLst xmlns:p="http://schemas.openxmlformats.org/presentationml/2006/main">
  <p:tag name="KSO_WM_DIAGRAM_VIRTUALLY_FRAME" val="{&quot;height&quot;:166.85,&quot;left&quot;:56.734488188976364,&quot;top&quot;:108.05,&quot;width&quot;:883.5655118110237}"/>
</p:tagLst>
</file>

<file path=ppt/tags/tag203.xml><?xml version="1.0" encoding="utf-8"?>
<p:tagLst xmlns:p="http://schemas.openxmlformats.org/presentationml/2006/main">
  <p:tag name="KSO_WM_DIAGRAM_VIRTUALLY_FRAME" val="{&quot;height&quot;:166.85,&quot;left&quot;:56.734488188976364,&quot;top&quot;:108.05,&quot;width&quot;:883.5655118110237}"/>
</p:tagLst>
</file>

<file path=ppt/tags/tag204.xml><?xml version="1.0" encoding="utf-8"?>
<p:tagLst xmlns:p="http://schemas.openxmlformats.org/presentationml/2006/main">
  <p:tag name="KSO_WM_DIAGRAM_VIRTUALLY_FRAME" val="{&quot;height&quot;:166.85,&quot;left&quot;:56.734488188976364,&quot;top&quot;:108.05,&quot;width&quot;:883.5655118110237}"/>
</p:tagLst>
</file>

<file path=ppt/tags/tag205.xml><?xml version="1.0" encoding="utf-8"?>
<p:tagLst xmlns:p="http://schemas.openxmlformats.org/presentationml/2006/main">
  <p:tag name="KSO_WM_DIAGRAM_VIRTUALLY_FRAME" val="{&quot;height&quot;:166.85,&quot;left&quot;:56.734488188976364,&quot;top&quot;:108.05,&quot;width&quot;:883.5655118110237}"/>
</p:tagLst>
</file>

<file path=ppt/tags/tag206.xml><?xml version="1.0" encoding="utf-8"?>
<p:tagLst xmlns:p="http://schemas.openxmlformats.org/presentationml/2006/main">
  <p:tag name="KSO_WM_DIAGRAM_VIRTUALLY_FRAME" val="{&quot;height&quot;:166.85,&quot;left&quot;:56.734488188976364,&quot;top&quot;:108.05,&quot;width&quot;:883.5655118110237}"/>
</p:tagLst>
</file>

<file path=ppt/tags/tag207.xml><?xml version="1.0" encoding="utf-8"?>
<p:tagLst xmlns:p="http://schemas.openxmlformats.org/presentationml/2006/main">
  <p:tag name="KSO_WM_DIAGRAM_VIRTUALLY_FRAME" val="{&quot;height&quot;:166.85,&quot;left&quot;:56.734488188976364,&quot;top&quot;:108.05,&quot;width&quot;:883.5655118110237}"/>
</p:tagLst>
</file>

<file path=ppt/tags/tag208.xml><?xml version="1.0" encoding="utf-8"?>
<p:tagLst xmlns:p="http://schemas.openxmlformats.org/presentationml/2006/main">
  <p:tag name="KSO_WM_DIAGRAM_VIRTUALLY_FRAME" val="{&quot;height&quot;:166.85,&quot;left&quot;:56.734488188976364,&quot;top&quot;:108.05,&quot;width&quot;:883.5655118110237}"/>
</p:tagLst>
</file>

<file path=ppt/tags/tag209.xml><?xml version="1.0" encoding="utf-8"?>
<p:tagLst xmlns:p="http://schemas.openxmlformats.org/presentationml/2006/main">
  <p:tag name="KSO_WM_DIAGRAM_VIRTUALLY_FRAME" val="{&quot;height&quot;:166.85,&quot;left&quot;:56.734488188976364,&quot;top&quot;:108.05,&quot;width&quot;:883.5655118110237}"/>
</p:tagLst>
</file>

<file path=ppt/tags/tag210.xml><?xml version="1.0" encoding="utf-8"?>
<p:tagLst xmlns:p="http://schemas.openxmlformats.org/presentationml/2006/main">
  <p:tag name="KSO_WM_DIAGRAM_VIRTUALLY_FRAME" val="{&quot;height&quot;:166.85,&quot;left&quot;:56.734488188976364,&quot;top&quot;:108.05,&quot;width&quot;:883.5655118110237}"/>
</p:tagLst>
</file>

<file path=ppt/tags/tag211.xml><?xml version="1.0" encoding="utf-8"?>
<p:tagLst xmlns:p="http://schemas.openxmlformats.org/presentationml/2006/main">
  <p:tag name="KSO_WM_DIAGRAM_VIRTUALLY_FRAME" val="{&quot;height&quot;:166.85,&quot;left&quot;:56.734488188976364,&quot;top&quot;:108.05,&quot;width&quot;:883.5655118110237}"/>
</p:tagLst>
</file>

<file path=ppt/tags/tag212.xml><?xml version="1.0" encoding="utf-8"?>
<p:tagLst xmlns:p="http://schemas.openxmlformats.org/presentationml/2006/main">
  <p:tag name="KSO_WM_DIAGRAM_VIRTUALLY_FRAME" val="{&quot;height&quot;:166.85,&quot;left&quot;:56.734488188976364,&quot;top&quot;:108.05,&quot;width&quot;:883.5655118110237}"/>
</p:tagLst>
</file>

<file path=ppt/tags/tag213.xml><?xml version="1.0" encoding="utf-8"?>
<p:tagLst xmlns:p="http://schemas.openxmlformats.org/presentationml/2006/main">
  <p:tag name="KSO_WM_DIAGRAM_VIRTUALLY_FRAME" val="{&quot;height&quot;:166.85,&quot;left&quot;:56.734488188976364,&quot;top&quot;:108.05,&quot;width&quot;:883.5655118110237}"/>
</p:tagLst>
</file>

<file path=ppt/tags/tag214.xml><?xml version="1.0" encoding="utf-8"?>
<p:tagLst xmlns:p="http://schemas.openxmlformats.org/presentationml/2006/main">
  <p:tag name="KSO_WM_DIAGRAM_VIRTUALLY_FRAME" val="{&quot;height&quot;:166.85,&quot;left&quot;:56.734488188976364,&quot;top&quot;:108.05,&quot;width&quot;:883.5655118110237}"/>
</p:tagLst>
</file>

<file path=ppt/tags/tag215.xml><?xml version="1.0" encoding="utf-8"?>
<p:tagLst xmlns:p="http://schemas.openxmlformats.org/presentationml/2006/main">
  <p:tag name="KSO_WM_DIAGRAM_VIRTUALLY_FRAME" val="{&quot;height&quot;:166.85,&quot;left&quot;:56.734488188976364,&quot;top&quot;:108.05,&quot;width&quot;:883.5655118110237}"/>
</p:tagLst>
</file>

<file path=ppt/tags/tag216.xml><?xml version="1.0" encoding="utf-8"?>
<p:tagLst xmlns:p="http://schemas.openxmlformats.org/presentationml/2006/main">
  <p:tag name="TABLE_ENDDRAG_ORIGIN_RECT" val="349*383"/>
  <p:tag name="TABLE_ENDDRAG_RECT" val="32*100*349*383"/>
</p:tagLst>
</file>

<file path=ppt/tags/tag217.xml><?xml version="1.0" encoding="utf-8"?>
<p:tagLst xmlns:p="http://schemas.openxmlformats.org/presentationml/2006/main">
  <p:tag name="KSO_WM_DIAGRAM_VIRTUALLY_FRAME" val="{&quot;height&quot;:166.85,&quot;left&quot;:56.734488188976364,&quot;top&quot;:108.05,&quot;width&quot;:883.5655118110237}"/>
</p:tagLst>
</file>

<file path=ppt/tags/tag218.xml><?xml version="1.0" encoding="utf-8"?>
<p:tagLst xmlns:p="http://schemas.openxmlformats.org/presentationml/2006/main">
  <p:tag name="KSO_WM_DIAGRAM_VIRTUALLY_FRAME" val="{&quot;height&quot;:166.85,&quot;left&quot;:56.734488188976364,&quot;top&quot;:108.05,&quot;width&quot;:883.5655118110237}"/>
</p:tagLst>
</file>

<file path=ppt/tags/tag219.xml><?xml version="1.0" encoding="utf-8"?>
<p:tagLst xmlns:p="http://schemas.openxmlformats.org/presentationml/2006/main">
  <p:tag name="KSO_WM_DIAGRAM_VIRTUALLY_FRAME" val="{&quot;height&quot;:166.85,&quot;left&quot;:56.734488188976364,&quot;top&quot;:108.05,&quot;width&quot;:883.5655118110237}"/>
</p:tagLst>
</file>

<file path=ppt/tags/tag220.xml><?xml version="1.0" encoding="utf-8"?>
<p:tagLst xmlns:p="http://schemas.openxmlformats.org/presentationml/2006/main">
  <p:tag name="KSO_WM_DIAGRAM_VIRTUALLY_FRAME" val="{&quot;height&quot;:166.85,&quot;left&quot;:56.734488188976364,&quot;top&quot;:108.05,&quot;width&quot;:883.5655118110237}"/>
</p:tagLst>
</file>

<file path=ppt/tags/tag221.xml><?xml version="1.0" encoding="utf-8"?>
<p:tagLst xmlns:p="http://schemas.openxmlformats.org/presentationml/2006/main">
  <p:tag name="KSO_WM_DIAGRAM_VIRTUALLY_FRAME" val="{&quot;height&quot;:166.85,&quot;left&quot;:56.734488188976364,&quot;top&quot;:108.05,&quot;width&quot;:883.5655118110237}"/>
</p:tagLst>
</file>

<file path=ppt/tags/tag222.xml><?xml version="1.0" encoding="utf-8"?>
<p:tagLst xmlns:p="http://schemas.openxmlformats.org/presentationml/2006/main">
  <p:tag name="KSO_WM_DIAGRAM_VIRTUALLY_FRAME" val="{&quot;height&quot;:166.85,&quot;left&quot;:56.734488188976364,&quot;top&quot;:108.05,&quot;width&quot;:883.5655118110237}"/>
</p:tagLst>
</file>

<file path=ppt/tags/tag223.xml><?xml version="1.0" encoding="utf-8"?>
<p:tagLst xmlns:p="http://schemas.openxmlformats.org/presentationml/2006/main">
  <p:tag name="KSO_WM_DIAGRAM_VIRTUALLY_FRAME" val="{&quot;height&quot;:166.85,&quot;left&quot;:56.734488188976364,&quot;top&quot;:108.05,&quot;width&quot;:883.5655118110237}"/>
</p:tagLst>
</file>

<file path=ppt/tags/tag224.xml><?xml version="1.0" encoding="utf-8"?>
<p:tagLst xmlns:p="http://schemas.openxmlformats.org/presentationml/2006/main">
  <p:tag name="KSO_WM_DIAGRAM_VIRTUALLY_FRAME" val="{&quot;height&quot;:166.85,&quot;left&quot;:56.734488188976364,&quot;top&quot;:108.05,&quot;width&quot;:883.5655118110237}"/>
</p:tagLst>
</file>

<file path=ppt/tags/tag225.xml><?xml version="1.0" encoding="utf-8"?>
<p:tagLst xmlns:p="http://schemas.openxmlformats.org/presentationml/2006/main">
  <p:tag name="KSO_WM_DIAGRAM_VIRTUALLY_FRAME" val="{&quot;height&quot;:166.85,&quot;left&quot;:56.734488188976364,&quot;top&quot;:108.05,&quot;width&quot;:883.5655118110237}"/>
</p:tagLst>
</file>

<file path=ppt/tags/tag226.xml><?xml version="1.0" encoding="utf-8"?>
<p:tagLst xmlns:p="http://schemas.openxmlformats.org/presentationml/2006/main">
  <p:tag name="KSO_WM_DIAGRAM_VIRTUALLY_FRAME" val="{&quot;height&quot;:192.12503937007872,&quot;left&quot;:51.75,&quot;top&quot;:176.25,&quot;width&quot;:636.8750393700788}"/>
</p:tagLst>
</file>

<file path=ppt/tags/tag227.xml><?xml version="1.0" encoding="utf-8"?>
<p:tagLst xmlns:p="http://schemas.openxmlformats.org/presentationml/2006/main">
  <p:tag name="KSO_WM_DIAGRAM_VIRTUALLY_FRAME" val="{&quot;height&quot;:192.12503937007872,&quot;left&quot;:51.75,&quot;top&quot;:176.25,&quot;width&quot;:636.8750393700788}"/>
</p:tagLst>
</file>

<file path=ppt/tags/tag228.xml><?xml version="1.0" encoding="utf-8"?>
<p:tagLst xmlns:p="http://schemas.openxmlformats.org/presentationml/2006/main">
  <p:tag name="KSO_WM_DIAGRAM_VIRTUALLY_FRAME" val="{&quot;height&quot;:192.12503937007872,&quot;left&quot;:51.75,&quot;top&quot;:176.25,&quot;width&quot;:636.8750393700788}"/>
</p:tagLst>
</file>

<file path=ppt/tags/tag229.xml><?xml version="1.0" encoding="utf-8"?>
<p:tagLst xmlns:p="http://schemas.openxmlformats.org/presentationml/2006/main">
  <p:tag name="KSO_WM_DIAGRAM_VIRTUALLY_FRAME" val="{&quot;height&quot;:192.12503937007872,&quot;left&quot;:51.75,&quot;top&quot;:176.25,&quot;width&quot;:636.8750393700788}"/>
</p:tagLst>
</file>

<file path=ppt/tags/tag230.xml><?xml version="1.0" encoding="utf-8"?>
<p:tagLst xmlns:p="http://schemas.openxmlformats.org/presentationml/2006/main">
  <p:tag name="KSO_WM_DIAGRAM_VIRTUALLY_FRAME" val="{&quot;height&quot;:166.85,&quot;left&quot;:56.734488188976364,&quot;top&quot;:108.05,&quot;width&quot;:883.5655118110237}"/>
</p:tagLst>
</file>

<file path=ppt/tags/tag231.xml><?xml version="1.0" encoding="utf-8"?>
<p:tagLst xmlns:p="http://schemas.openxmlformats.org/presentationml/2006/main">
  <p:tag name="KSO_WM_DIAGRAM_VIRTUALLY_FRAME" val="{&quot;height&quot;:166.85,&quot;left&quot;:56.734488188976364,&quot;top&quot;:108.05,&quot;width&quot;:883.5655118110237}"/>
</p:tagLst>
</file>

<file path=ppt/tags/tag232.xml><?xml version="1.0" encoding="utf-8"?>
<p:tagLst xmlns:p="http://schemas.openxmlformats.org/presentationml/2006/main">
  <p:tag name="KSO_WM_DIAGRAM_VIRTUALLY_FRAME" val="{&quot;height&quot;:166.85,&quot;left&quot;:56.734488188976364,&quot;top&quot;:108.05,&quot;width&quot;:883.5655118110237}"/>
</p:tagLst>
</file>

<file path=ppt/tags/tag233.xml><?xml version="1.0" encoding="utf-8"?>
<p:tagLst xmlns:p="http://schemas.openxmlformats.org/presentationml/2006/main">
  <p:tag name="KSO_WM_DIAGRAM_VIRTUALLY_FRAME" val="{&quot;height&quot;:166.85,&quot;left&quot;:56.734488188976364,&quot;top&quot;:108.05,&quot;width&quot;:883.5655118110237}"/>
</p:tagLst>
</file>

<file path=ppt/tags/tag234.xml><?xml version="1.0" encoding="utf-8"?>
<p:tagLst xmlns:p="http://schemas.openxmlformats.org/presentationml/2006/main">
  <p:tag name="KSO_WM_DIAGRAM_VIRTUALLY_FRAME" val="{&quot;height&quot;:166.85,&quot;left&quot;:56.734488188976364,&quot;top&quot;:108.05,&quot;width&quot;:883.5655118110237}"/>
</p:tagLst>
</file>

<file path=ppt/tags/tag235.xml><?xml version="1.0" encoding="utf-8"?>
<p:tagLst xmlns:p="http://schemas.openxmlformats.org/presentationml/2006/main">
  <p:tag name="KSO_WM_DIAGRAM_VIRTUALLY_FRAME" val="{&quot;height&quot;:166.85,&quot;left&quot;:56.734488188976364,&quot;top&quot;:108.05,&quot;width&quot;:883.5655118110237}"/>
</p:tagLst>
</file>

<file path=ppt/tags/tag236.xml><?xml version="1.0" encoding="utf-8"?>
<p:tagLst xmlns:p="http://schemas.openxmlformats.org/presentationml/2006/main">
  <p:tag name="KSO_WM_DIAGRAM_VIRTUALLY_FRAME" val="{&quot;height&quot;:166.85,&quot;left&quot;:56.734488188976364,&quot;top&quot;:108.05,&quot;width&quot;:883.5655118110237}"/>
</p:tagLst>
</file>

<file path=ppt/tags/tag237.xml><?xml version="1.0" encoding="utf-8"?>
<p:tagLst xmlns:p="http://schemas.openxmlformats.org/presentationml/2006/main">
  <p:tag name="KSO_WM_DIAGRAM_VIRTUALLY_FRAME" val="{&quot;height&quot;:166.85,&quot;left&quot;:56.734488188976364,&quot;top&quot;:108.05,&quot;width&quot;:883.5655118110237}"/>
</p:tagLst>
</file>

<file path=ppt/tags/tag238.xml><?xml version="1.0" encoding="utf-8"?>
<p:tagLst xmlns:p="http://schemas.openxmlformats.org/presentationml/2006/main">
  <p:tag name="KSO_WM_DIAGRAM_VIRTUALLY_FRAME" val="{&quot;height&quot;:166.85,&quot;left&quot;:56.734488188976364,&quot;top&quot;:108.05,&quot;width&quot;:883.5655118110237}"/>
</p:tagLst>
</file>

<file path=ppt/tags/tag239.xml><?xml version="1.0" encoding="utf-8"?>
<p:tagLst xmlns:p="http://schemas.openxmlformats.org/presentationml/2006/main">
  <p:tag name="KSO_WM_DIAGRAM_VIRTUALLY_FRAME" val="{&quot;height&quot;:166.85,&quot;left&quot;:56.734488188976364,&quot;top&quot;:108.05,&quot;width&quot;:883.5655118110237}"/>
</p:tagLst>
</file>

<file path=ppt/tags/tag240.xml><?xml version="1.0" encoding="utf-8"?>
<p:tagLst xmlns:p="http://schemas.openxmlformats.org/presentationml/2006/main">
  <p:tag name="KSO_WM_DIAGRAM_VIRTUALLY_FRAME" val="{&quot;height&quot;:166.85,&quot;left&quot;:56.734488188976364,&quot;top&quot;:108.05,&quot;width&quot;:883.5655118110237}"/>
</p:tagLst>
</file>

<file path=ppt/tags/tag241.xml><?xml version="1.0" encoding="utf-8"?>
<p:tagLst xmlns:p="http://schemas.openxmlformats.org/presentationml/2006/main">
  <p:tag name="KSO_WM_DIAGRAM_VIRTUALLY_FRAME" val="{&quot;height&quot;:166.85,&quot;left&quot;:56.734488188976364,&quot;top&quot;:108.05,&quot;width&quot;:883.5655118110237}"/>
</p:tagLst>
</file>

<file path=ppt/tags/tag242.xml><?xml version="1.0" encoding="utf-8"?>
<p:tagLst xmlns:p="http://schemas.openxmlformats.org/presentationml/2006/main">
  <p:tag name="KSO_WM_DIAGRAM_VIRTUALLY_FRAME" val="{&quot;height&quot;:166.85,&quot;left&quot;:56.734488188976364,&quot;top&quot;:108.05,&quot;width&quot;:883.5655118110237}"/>
</p:tagLst>
</file>

<file path=ppt/tags/tag243.xml><?xml version="1.0" encoding="utf-8"?>
<p:tagLst xmlns:p="http://schemas.openxmlformats.org/presentationml/2006/main">
  <p:tag name="KSO_WM_DIAGRAM_VIRTUALLY_FRAME" val="{&quot;height&quot;:166.85,&quot;left&quot;:56.734488188976364,&quot;top&quot;:108.05,&quot;width&quot;:883.5655118110237}"/>
</p:tagLst>
</file>

<file path=ppt/tags/tag244.xml><?xml version="1.0" encoding="utf-8"?>
<p:tagLst xmlns:p="http://schemas.openxmlformats.org/presentationml/2006/main">
  <p:tag name="KSO_WM_DIAGRAM_VIRTUALLY_FRAME" val="{&quot;height&quot;:166.85,&quot;left&quot;:56.734488188976364,&quot;top&quot;:108.05,&quot;width&quot;:883.5655118110237}"/>
</p:tagLst>
</file>

<file path=ppt/tags/tag245.xml><?xml version="1.0" encoding="utf-8"?>
<p:tagLst xmlns:p="http://schemas.openxmlformats.org/presentationml/2006/main">
  <p:tag name="KSO_WM_DIAGRAM_VIRTUALLY_FRAME" val="{&quot;height&quot;:166.85,&quot;left&quot;:56.734488188976364,&quot;top&quot;:108.05,&quot;width&quot;:883.5655118110237}"/>
</p:tagLst>
</file>

<file path=ppt/tags/tag246.xml><?xml version="1.0" encoding="utf-8"?>
<p:tagLst xmlns:p="http://schemas.openxmlformats.org/presentationml/2006/main">
  <p:tag name="KSO_WM_DIAGRAM_VIRTUALLY_FRAME" val="{&quot;height&quot;:166.85,&quot;left&quot;:56.734488188976364,&quot;top&quot;:108.05,&quot;width&quot;:883.5655118110237}"/>
</p:tagLst>
</file>

<file path=ppt/tags/tag247.xml><?xml version="1.0" encoding="utf-8"?>
<p:tagLst xmlns:p="http://schemas.openxmlformats.org/presentationml/2006/main">
  <p:tag name="KSO_WM_DIAGRAM_VIRTUALLY_FRAME" val="{&quot;height&quot;:166.85,&quot;left&quot;:56.734488188976364,&quot;top&quot;:108.05,&quot;width&quot;:883.5655118110237}"/>
</p:tagLst>
</file>

<file path=ppt/tags/tag248.xml><?xml version="1.0" encoding="utf-8"?>
<p:tagLst xmlns:p="http://schemas.openxmlformats.org/presentationml/2006/main">
  <p:tag name="KSO_WM_DIAGRAM_VIRTUALLY_FRAME" val="{&quot;height&quot;:166.85,&quot;left&quot;:56.734488188976364,&quot;top&quot;:108.05,&quot;width&quot;:883.5655118110237}"/>
</p:tagLst>
</file>

<file path=ppt/tags/tag249.xml><?xml version="1.0" encoding="utf-8"?>
<p:tagLst xmlns:p="http://schemas.openxmlformats.org/presentationml/2006/main">
  <p:tag name="KSO_WM_DIAGRAM_VIRTUALLY_FRAME" val="{&quot;height&quot;:166.85,&quot;left&quot;:56.734488188976364,&quot;top&quot;:108.05,&quot;width&quot;:883.5655118110237}"/>
</p:tagLst>
</file>

<file path=ppt/tags/tag250.xml><?xml version="1.0" encoding="utf-8"?>
<p:tagLst xmlns:p="http://schemas.openxmlformats.org/presentationml/2006/main">
  <p:tag name="KSO_WM_DIAGRAM_VIRTUALLY_FRAME" val="{&quot;height&quot;:166.85,&quot;left&quot;:56.734488188976364,&quot;top&quot;:108.05,&quot;width&quot;:883.5655118110237}"/>
</p:tagLst>
</file>

<file path=ppt/tags/tag251.xml><?xml version="1.0" encoding="utf-8"?>
<p:tagLst xmlns:p="http://schemas.openxmlformats.org/presentationml/2006/main">
  <p:tag name="KSO_WM_DIAGRAM_VIRTUALLY_FRAME" val="{&quot;height&quot;:166.85,&quot;left&quot;:56.734488188976364,&quot;top&quot;:108.05,&quot;width&quot;:883.5655118110237}"/>
</p:tagLst>
</file>

<file path=ppt/tags/tag252.xml><?xml version="1.0" encoding="utf-8"?>
<p:tagLst xmlns:p="http://schemas.openxmlformats.org/presentationml/2006/main">
  <p:tag name="KSO_WM_DIAGRAM_VIRTUALLY_FRAME" val="{&quot;height&quot;:166.85,&quot;left&quot;:56.734488188976364,&quot;top&quot;:108.05,&quot;width&quot;:883.5655118110237}"/>
</p:tagLst>
</file>

<file path=ppt/tags/tag253.xml><?xml version="1.0" encoding="utf-8"?>
<p:tagLst xmlns:p="http://schemas.openxmlformats.org/presentationml/2006/main">
  <p:tag name="KSO_WM_DIAGRAM_VIRTUALLY_FRAME" val="{&quot;height&quot;:166.85,&quot;left&quot;:56.734488188976364,&quot;top&quot;:108.05,&quot;width&quot;:883.5655118110237}"/>
</p:tagLst>
</file>

<file path=ppt/tags/tag254.xml><?xml version="1.0" encoding="utf-8"?>
<p:tagLst xmlns:p="http://schemas.openxmlformats.org/presentationml/2006/main">
  <p:tag name="KSO_WM_DIAGRAM_VIRTUALLY_FRAME" val="{&quot;height&quot;:166.85,&quot;left&quot;:56.734488188976364,&quot;top&quot;:108.05,&quot;width&quot;:883.5655118110237}"/>
</p:tagLst>
</file>

<file path=ppt/tags/tag255.xml><?xml version="1.0" encoding="utf-8"?>
<p:tagLst xmlns:p="http://schemas.openxmlformats.org/presentationml/2006/main">
  <p:tag name="KSO_WM_DIAGRAM_VIRTUALLY_FRAME" val="{&quot;height&quot;:166.85,&quot;left&quot;:56.734488188976364,&quot;top&quot;:108.05,&quot;width&quot;:883.5655118110237}"/>
</p:tagLst>
</file>

<file path=ppt/tags/tag256.xml><?xml version="1.0" encoding="utf-8"?>
<p:tagLst xmlns:p="http://schemas.openxmlformats.org/presentationml/2006/main">
  <p:tag name="KSO_WM_DIAGRAM_VIRTUALLY_FRAME" val="{&quot;height&quot;:166.85,&quot;left&quot;:56.734488188976364,&quot;top&quot;:108.05,&quot;width&quot;:883.5655118110237}"/>
</p:tagLst>
</file>

<file path=ppt/tags/tag257.xml><?xml version="1.0" encoding="utf-8"?>
<p:tagLst xmlns:p="http://schemas.openxmlformats.org/presentationml/2006/main">
  <p:tag name="KSO_WM_DIAGRAM_VIRTUALLY_FRAME" val="{&quot;height&quot;:166.85,&quot;left&quot;:56.734488188976364,&quot;top&quot;:108.05,&quot;width&quot;:883.5655118110237}"/>
</p:tagLst>
</file>

<file path=ppt/tags/tag258.xml><?xml version="1.0" encoding="utf-8"?>
<p:tagLst xmlns:p="http://schemas.openxmlformats.org/presentationml/2006/main">
  <p:tag name="KSO_WM_DIAGRAM_VIRTUALLY_FRAME" val="{&quot;height&quot;:166.85,&quot;left&quot;:56.734488188976364,&quot;top&quot;:108.05,&quot;width&quot;:883.5655118110237}"/>
</p:tagLst>
</file>

<file path=ppt/tags/tag259.xml><?xml version="1.0" encoding="utf-8"?>
<p:tagLst xmlns:p="http://schemas.openxmlformats.org/presentationml/2006/main">
  <p:tag name="KSO_WM_DIAGRAM_VIRTUALLY_FRAME" val="{&quot;height&quot;:166.85,&quot;left&quot;:56.734488188976364,&quot;top&quot;:108.05,&quot;width&quot;:883.5655118110237}"/>
</p:tagLst>
</file>

<file path=ppt/tags/tag260.xml><?xml version="1.0" encoding="utf-8"?>
<p:tagLst xmlns:p="http://schemas.openxmlformats.org/presentationml/2006/main">
  <p:tag name="KSO_WM_DIAGRAM_VIRTUALLY_FRAME" val="{&quot;height&quot;:166.85,&quot;left&quot;:56.734488188976364,&quot;top&quot;:108.05,&quot;width&quot;:883.5655118110237}"/>
</p:tagLst>
</file>

<file path=ppt/tags/tag261.xml><?xml version="1.0" encoding="utf-8"?>
<p:tagLst xmlns:p="http://schemas.openxmlformats.org/presentationml/2006/main">
  <p:tag name="KSO_WM_DIAGRAM_VIRTUALLY_FRAME" val="{&quot;height&quot;:166.85,&quot;left&quot;:56.734488188976364,&quot;top&quot;:108.05,&quot;width&quot;:883.5655118110237}"/>
</p:tagLst>
</file>

<file path=ppt/tags/tag262.xml><?xml version="1.0" encoding="utf-8"?>
<p:tagLst xmlns:p="http://schemas.openxmlformats.org/presentationml/2006/main">
  <p:tag name="KSO_WM_DIAGRAM_VIRTUALLY_FRAME" val="{&quot;height&quot;:166.85,&quot;left&quot;:56.734488188976364,&quot;top&quot;:108.05,&quot;width&quot;:883.5655118110237}"/>
</p:tagLst>
</file>

<file path=ppt/tags/tag263.xml><?xml version="1.0" encoding="utf-8"?>
<p:tagLst xmlns:p="http://schemas.openxmlformats.org/presentationml/2006/main">
  <p:tag name="KSO_WM_DIAGRAM_VIRTUALLY_FRAME" val="{&quot;height&quot;:166.85,&quot;left&quot;:56.734488188976364,&quot;top&quot;:108.05,&quot;width&quot;:883.5655118110237}"/>
</p:tagLst>
</file>

<file path=ppt/tags/tag264.xml><?xml version="1.0" encoding="utf-8"?>
<p:tagLst xmlns:p="http://schemas.openxmlformats.org/presentationml/2006/main">
  <p:tag name="KSO_WM_DIAGRAM_VIRTUALLY_FRAME" val="{&quot;height&quot;:166.85,&quot;left&quot;:56.734488188976364,&quot;top&quot;:108.05,&quot;width&quot;:883.5655118110237}"/>
</p:tagLst>
</file>

<file path=ppt/tags/tag265.xml><?xml version="1.0" encoding="utf-8"?>
<p:tagLst xmlns:p="http://schemas.openxmlformats.org/presentationml/2006/main">
  <p:tag name="KSO_WM_DIAGRAM_VIRTUALLY_FRAME" val="{&quot;height&quot;:166.85,&quot;left&quot;:56.734488188976364,&quot;top&quot;:108.05,&quot;width&quot;:883.5655118110237}"/>
</p:tagLst>
</file>

<file path=ppt/tags/tag266.xml><?xml version="1.0" encoding="utf-8"?>
<p:tagLst xmlns:p="http://schemas.openxmlformats.org/presentationml/2006/main">
  <p:tag name="KSO_WM_DIAGRAM_VIRTUALLY_FRAME" val="{&quot;height&quot;:166.85,&quot;left&quot;:56.734488188976364,&quot;top&quot;:108.05,&quot;width&quot;:883.5655118110237}"/>
</p:tagLst>
</file>

<file path=ppt/tags/tag267.xml><?xml version="1.0" encoding="utf-8"?>
<p:tagLst xmlns:p="http://schemas.openxmlformats.org/presentationml/2006/main">
  <p:tag name="KSO_WM_DIAGRAM_VIRTUALLY_FRAME" val="{&quot;height&quot;:166.85,&quot;left&quot;:56.734488188976364,&quot;top&quot;:108.05,&quot;width&quot;:883.5655118110237}"/>
</p:tagLst>
</file>

<file path=ppt/tags/tag268.xml><?xml version="1.0" encoding="utf-8"?>
<p:tagLst xmlns:p="http://schemas.openxmlformats.org/presentationml/2006/main">
  <p:tag name="KSO_WM_DIAGRAM_VIRTUALLY_FRAME" val="{&quot;height&quot;:166.85,&quot;left&quot;:56.734488188976364,&quot;top&quot;:108.05,&quot;width&quot;:883.5655118110237}"/>
</p:tagLst>
</file>

<file path=ppt/tags/tag269.xml><?xml version="1.0" encoding="utf-8"?>
<p:tagLst xmlns:p="http://schemas.openxmlformats.org/presentationml/2006/main">
  <p:tag name="commondata" val="eyJoZGlkIjoiMDg0NTViNmJiYjUwNjU1N2MwMDFjMDJkYjhmZTNlNTEifQ=="/>
</p:tagLst>
</file>

<file path=ppt/theme/theme1.xml><?xml version="1.0" encoding="utf-8"?>
<a:theme xmlns:a="http://schemas.openxmlformats.org/drawingml/2006/main" name="默认设计模板">
  <a:themeElements>
    <a:clrScheme name="">
      <a:dk1>
        <a:srgbClr val="000000"/>
      </a:dk1>
      <a:lt1>
        <a:srgbClr val="99FFCC"/>
      </a:lt1>
      <a:dk2>
        <a:srgbClr val="000000"/>
      </a:dk2>
      <a:lt2>
        <a:srgbClr val="808080"/>
      </a:lt2>
      <a:accent1>
        <a:srgbClr val="FFFFFF"/>
      </a:accent1>
      <a:accent2>
        <a:srgbClr val="0000FF"/>
      </a:accent2>
      <a:accent3>
        <a:srgbClr val="CAFFE2"/>
      </a:accent3>
      <a:accent4>
        <a:srgbClr val="000000"/>
      </a:accent4>
      <a:accent5>
        <a:srgbClr val="FFFFFF"/>
      </a:accent5>
      <a:accent6>
        <a:srgbClr val="0000E7"/>
      </a:accent6>
      <a:hlink>
        <a:srgbClr val="FF0000"/>
      </a:hlink>
      <a:folHlink>
        <a:srgbClr val="FFFF00"/>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8575" cap="flat" cmpd="sng" algn="ctr">
          <a:solidFill>
            <a:schemeClr val="hlink"/>
          </a:solidFill>
          <a:prstDash val="solid"/>
          <a:round/>
          <a:headEnd type="none" w="med" len="med"/>
          <a:tailEnd type="none" w="med" len="med"/>
        </a:ln>
      </a:spPr>
      <a:bodyPr vert="horz" wrap="none" lIns="91440" tIns="45720" rIns="91440" bIns="45720" numCol="1" anchor="ctr" anchorCtr="0" compatLnSpc="1">
        <a:spAutoFit/>
      </a:bodyPr>
      <a:lstStyle>
        <a:defPPr marL="0" marR="0" indent="0" algn="ctr" defTabSz="914400" rtl="0" eaLnBrk="1" fontAlgn="base" latinLnBrk="0" hangingPunct="1">
          <a:lnSpc>
            <a:spcPct val="100000"/>
          </a:lnSpc>
          <a:spcBef>
            <a:spcPct val="5000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28575" cap="flat" cmpd="sng" algn="ctr">
          <a:solidFill>
            <a:schemeClr val="hlink"/>
          </a:solidFill>
          <a:prstDash val="solid"/>
          <a:round/>
          <a:headEnd type="none" w="med" len="med"/>
          <a:tailEnd type="none" w="med" len="med"/>
        </a:ln>
      </a:spPr>
      <a:bodyPr vert="horz" wrap="none" lIns="91440" tIns="45720" rIns="91440" bIns="45720" numCol="1" anchor="ctr" anchorCtr="0" compatLnSpc="1">
        <a:spAutoFit/>
      </a:bodyPr>
      <a:lstStyle>
        <a:defPPr marL="0" marR="0" indent="0" algn="ctr" defTabSz="914400" rtl="0" eaLnBrk="1" fontAlgn="base" latinLnBrk="0" hangingPunct="1">
          <a:lnSpc>
            <a:spcPct val="100000"/>
          </a:lnSpc>
          <a:spcBef>
            <a:spcPct val="50000"/>
          </a:spcBef>
          <a:spcAft>
            <a:spcPct val="0"/>
          </a:spcAft>
          <a:buClrTx/>
          <a:buSzTx/>
          <a:buFontTx/>
          <a:buNone/>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10171</Words>
  <Application>WPS 演示</Application>
  <PresentationFormat>全屏显示(4:3)</PresentationFormat>
  <Paragraphs>2093</Paragraphs>
  <Slides>100</Slides>
  <Notes>3</Notes>
  <HiddenSlides>0</HiddenSlides>
  <MMClips>0</MMClips>
  <ScaleCrop>false</ScaleCrop>
  <HeadingPairs>
    <vt:vector size="10" baseType="variant">
      <vt:variant>
        <vt:lpstr>已用的字体</vt:lpstr>
      </vt:variant>
      <vt:variant>
        <vt:i4>15</vt:i4>
      </vt:variant>
      <vt:variant>
        <vt:lpstr>主题</vt:lpstr>
      </vt:variant>
      <vt:variant>
        <vt:i4>1</vt:i4>
      </vt:variant>
      <vt:variant>
        <vt:lpstr>嵌入 OLE 服务器</vt:lpstr>
      </vt:variant>
      <vt:variant>
        <vt:i4>12</vt:i4>
      </vt:variant>
      <vt:variant>
        <vt:lpstr>幻灯片标题</vt:lpstr>
      </vt:variant>
      <vt:variant>
        <vt:i4>100</vt:i4>
      </vt:variant>
      <vt:variant>
        <vt:lpstr>自定义放映</vt:lpstr>
      </vt:variant>
      <vt:variant>
        <vt:i4>7</vt:i4>
      </vt:variant>
    </vt:vector>
  </HeadingPairs>
  <TitlesOfParts>
    <vt:vector size="135" baseType="lpstr">
      <vt:lpstr>Arial</vt:lpstr>
      <vt:lpstr>宋体</vt:lpstr>
      <vt:lpstr>Wingdings</vt:lpstr>
      <vt:lpstr>Times New Roman</vt:lpstr>
      <vt:lpstr>华文新魏</vt:lpstr>
      <vt:lpstr>隶书</vt:lpstr>
      <vt:lpstr>黑体</vt:lpstr>
      <vt:lpstr>楷体_GB2312</vt:lpstr>
      <vt:lpstr>新宋体</vt:lpstr>
      <vt:lpstr>微软雅黑</vt:lpstr>
      <vt:lpstr>Arial Unicode MS</vt:lpstr>
      <vt:lpstr>华文隶书</vt:lpstr>
      <vt:lpstr>Symbol</vt:lpstr>
      <vt:lpstr>微软雅黑 Light</vt:lpstr>
      <vt:lpstr>Verdana</vt:lpstr>
      <vt:lpstr>默认设计模板</vt:lpstr>
      <vt:lpstr>Equation.DSMT4</vt:lpstr>
      <vt:lpstr>Equation.DSMT4</vt:lpstr>
      <vt:lpstr>Equation.DSMT4</vt:lpstr>
      <vt:lpstr>Visio.Drawing.11</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D和uA的关系图</vt:lpstr>
      <vt:lpstr>舍尾方法</vt:lpstr>
      <vt:lpstr>四舍五入方法</vt:lpstr>
      <vt:lpstr>DAC转换误差</vt:lpstr>
      <vt:lpstr>ADC0801的量化方案</vt:lpstr>
      <vt:lpstr>采样保持电路</vt:lpstr>
      <vt:lpstr>DAC输出推导过程</vt:lpstr>
    </vt:vector>
  </TitlesOfParts>
  <Company>聚星</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数字电路与逻辑设计课件</dc:title>
  <dc:creator>杨恒新</dc:creator>
  <cp:lastModifiedBy>zyb</cp:lastModifiedBy>
  <cp:revision>582</cp:revision>
  <dcterms:created xsi:type="dcterms:W3CDTF">2001-12-30T12:23:00Z</dcterms:created>
  <dcterms:modified xsi:type="dcterms:W3CDTF">2024-12-25T01:31:06Z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A4C77D8376B74D2DBC0D94DC0282470F_12</vt:lpwstr>
  </property>
  <property fmtid="{D5CDD505-2E9C-101B-9397-08002B2CF9AE}" pid="3" name="KSOProductBuildVer">
    <vt:lpwstr>2052-12.1.0.18276</vt:lpwstr>
  </property>
</Properties>
</file>