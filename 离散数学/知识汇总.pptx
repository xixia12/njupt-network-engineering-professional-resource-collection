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176" r:id="rId3"/>
    <p:sldId id="1178" r:id="rId4"/>
    <p:sldId id="1175" r:id="rId5"/>
    <p:sldId id="1174" r:id="rId6"/>
    <p:sldId id="400" r:id="rId7"/>
    <p:sldId id="401" r:id="rId8"/>
    <p:sldId id="1172" r:id="rId9"/>
  </p:sldIdLst>
  <p:sldSz cx="9144000" cy="6858000" type="screen4x3"/>
  <p:notesSz cx="6858000" cy="9144000"/>
  <p:embeddedFontLst>
    <p:embeddedFont>
      <p:font typeface="华文中宋" panose="02010600040101010101" pitchFamily="2" charset="-122"/>
      <p:regular r:id="rId15"/>
    </p:embeddedFont>
    <p:embeddedFont>
      <p:font typeface="Tahoma" panose="020B0604030504040204" pitchFamily="34" charset="0"/>
      <p:regular r:id="rId16"/>
      <p:bold r:id="rId17"/>
    </p:embeddedFont>
  </p:embeddedFont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33"/>
    <a:srgbClr val="FF9900"/>
    <a:srgbClr val="808080"/>
    <a:srgbClr val="CC0066"/>
    <a:srgbClr val="FF3399"/>
    <a:srgbClr val="4D4D4D"/>
    <a:srgbClr val="777777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832"/>
    <p:restoredTop sz="93980"/>
  </p:normalViewPr>
  <p:slideViewPr>
    <p:cSldViewPr snapToObjects="1" showGuides="1">
      <p:cViewPr varScale="1">
        <p:scale>
          <a:sx n="94" d="100"/>
          <a:sy n="94" d="100"/>
        </p:scale>
        <p:origin x="105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7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9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62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62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62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1" hangingPunct="1"/>
            <a:fld id="{9A0DB2DC-4C9A-4742-B13C-FB6460FD3503}" type="slidenum"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>
          <a:xfrm>
            <a:off x="234950" y="193675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集合关系</a:t>
            </a:r>
            <a:endParaRPr lang="zh-CN" altLang="zh-CN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49263" y="404813"/>
            <a:ext cx="8459788" cy="27209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集合的基本概念和计算（交、并、补、对称差、幂集、广义并、广义交，有穷集的计数）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二元关系的基本运算（复合、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逆、限制、像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特殊关系：恒等关系、全域关系、小于等于关系等</a:t>
            </a: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fr-FR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关系的自反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闭包、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对称闭包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关系五个性质判断（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2.4.1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）及证明。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等价关系与划分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偏序关系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哈斯图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个特殊元素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fr-FR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42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charRg st="42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6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charRg st="63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charRg st="88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6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charRg st="106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51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charRg st="151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305675" y="6300788"/>
            <a:ext cx="360363" cy="223838"/>
          </a:xfrm>
          <a:prstGeom prst="actionButtonBackPrevious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810500" y="6300788"/>
            <a:ext cx="360363" cy="223838"/>
          </a:xfrm>
          <a:prstGeom prst="actionButtonForwardNext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8" name="AutoShape 8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315325" y="6308725"/>
            <a:ext cx="360363" cy="223838"/>
          </a:xfrm>
          <a:prstGeom prst="actionButtonEnd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91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802438" y="6300788"/>
            <a:ext cx="360363" cy="223838"/>
          </a:xfrm>
          <a:prstGeom prst="actionButtonBeginning">
            <a:avLst/>
          </a:prstGeom>
          <a:gradFill rotWithShape="1">
            <a:gsLst>
              <a:gs pos="0">
                <a:schemeClr val="hlink">
                  <a:gamma/>
                  <a:shade val="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8198" name="Rectangle 12"/>
          <p:cNvSpPr/>
          <p:nvPr/>
        </p:nvSpPr>
        <p:spPr>
          <a:xfrm>
            <a:off x="288925" y="-1539875"/>
            <a:ext cx="8229600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65125" indent="-365125" rtl="1">
              <a:lnSpc>
                <a:spcPct val="125000"/>
              </a:lnSpc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9" name="Rectangle 13"/>
          <p:cNvSpPr/>
          <p:nvPr/>
        </p:nvSpPr>
        <p:spPr>
          <a:xfrm>
            <a:off x="106363" y="404813"/>
            <a:ext cx="8208962" cy="1246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                   </a:t>
            </a: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8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40,  43,  44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7,    14, 16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33,  35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45,  46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																																																																																																																	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1" hangingPunct="1"/>
            <a:fld id="{9A0DB2DC-4C9A-4742-B13C-FB6460FD3503}" type="slidenum"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>
          <a:xfrm>
            <a:off x="285750" y="131763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图论</a:t>
            </a:r>
            <a:endParaRPr lang="zh-CN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620713" y="1177925"/>
            <a:ext cx="8047037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图的基本概念，完全图、二部图、完全二部图、补图、度数列，可图化数列</a:t>
            </a:r>
            <a:endParaRPr lang="en-US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图握手定理及推论</a:t>
            </a:r>
            <a:endParaRPr lang="en-US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无向图的连通性 </a:t>
            </a:r>
            <a:endParaRPr lang="en-US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图的矩阵表达及运算</a:t>
            </a:r>
            <a:r>
              <a:rPr lang="zh-CN" altLang="fr-FR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fr-FR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☆</a:t>
            </a:r>
            <a:r>
              <a:rPr lang="zh-CN" altLang="fr-FR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endParaRPr lang="en-US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欧拉图与哈密顿图概念及判别方法</a:t>
            </a:r>
            <a:endParaRPr lang="en-US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图应用（最短路径、中国邮递员问题） </a:t>
            </a:r>
            <a:r>
              <a:rPr lang="zh-CN" altLang="fr-FR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☆</a:t>
            </a:r>
            <a:endParaRPr lang="fr-FR" altLang="zh-CN" sz="2800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43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charRg st="5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charRg st="64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0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charRg st="101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9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charRg st="119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305675" y="6300788"/>
            <a:ext cx="360363" cy="223838"/>
          </a:xfrm>
          <a:prstGeom prst="actionButtonBackPrevious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810500" y="6300788"/>
            <a:ext cx="360363" cy="223838"/>
          </a:xfrm>
          <a:prstGeom prst="actionButtonForwardNext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8" name="AutoShape 8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315325" y="6308725"/>
            <a:ext cx="360363" cy="223838"/>
          </a:xfrm>
          <a:prstGeom prst="actionButtonEnd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91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802438" y="6300788"/>
            <a:ext cx="360363" cy="223838"/>
          </a:xfrm>
          <a:prstGeom prst="actionButtonBeginning">
            <a:avLst/>
          </a:prstGeom>
          <a:gradFill rotWithShape="1">
            <a:gsLst>
              <a:gs pos="0">
                <a:schemeClr val="hlink">
                  <a:gamma/>
                  <a:shade val="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0246" name="Rectangle 12"/>
          <p:cNvSpPr/>
          <p:nvPr/>
        </p:nvSpPr>
        <p:spPr>
          <a:xfrm>
            <a:off x="288925" y="-1539875"/>
            <a:ext cx="8229600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65125" indent="-365125" rtl="1">
              <a:lnSpc>
                <a:spcPct val="125000"/>
              </a:lnSpc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7" name="Rectangle 13"/>
          <p:cNvSpPr/>
          <p:nvPr/>
        </p:nvSpPr>
        <p:spPr>
          <a:xfrm>
            <a:off x="106363" y="404813"/>
            <a:ext cx="8208962" cy="114769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                        </a:t>
            </a: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7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12,  15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20, ,21, 30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44, 46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1, 2,  9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12,  14,  21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																																																																																																																	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1" hangingPunct="1"/>
            <a:fld id="{9A0DB2DC-4C9A-4742-B13C-FB6460FD3503}" type="slidenum"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 idx="4294967295"/>
          </p:nvPr>
        </p:nvSpPr>
        <p:spPr>
          <a:xfrm>
            <a:off x="234950" y="44450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数理逻辑</a:t>
            </a:r>
            <a:endParaRPr lang="zh-CN" altLang="zh-CN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69950" y="608013"/>
            <a:ext cx="7404100" cy="27209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命题逻辑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真假命题的判断，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命题逻辑符号化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命题公式的基本概念，成真赋值及成假赋值，极小项、极大项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真值表的计算及命题公式的类型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联结词的完备集概念及转化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求解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主析取范式和主合取范式           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自然推理系统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中构造命题逻辑证明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5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charRg st="54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7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charRg st="7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5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charRg st="85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 eaLnBrk="1" hangingPunct="1"/>
            <a:fld id="{9A0DB2DC-4C9A-4742-B13C-FB6460FD3503}" type="slidenum"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00113" y="1196975"/>
            <a:ext cx="7785100" cy="29559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一阶逻辑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一阶逻辑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公式命题符号化</a:t>
            </a:r>
            <a:endParaRPr kumimoji="0" lang="fr-FR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一阶逻辑公式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自由变元和约束变元，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量词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辖域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一阶逻辑公式推理定律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一阶逻辑公式类型   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前束范式                      </a:t>
            </a:r>
            <a:r>
              <a:rPr kumimoji="0" lang="zh-CN" altLang="fr-F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7350" y="-206375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数理逻辑</a:t>
            </a:r>
            <a:endParaRPr kumimoji="0" lang="zh-CN" altLang="zh-CN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5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charRg st="5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8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charRg st="18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9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charRg st="39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5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charRg st="5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charRg st="85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305675" y="6300788"/>
            <a:ext cx="360363" cy="223838"/>
          </a:xfrm>
          <a:prstGeom prst="actionButtonBackPrevious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810500" y="6300788"/>
            <a:ext cx="360363" cy="223838"/>
          </a:xfrm>
          <a:prstGeom prst="actionButtonForwardNext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88" name="AutoShape 8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315325" y="6308725"/>
            <a:ext cx="360363" cy="223838"/>
          </a:xfrm>
          <a:prstGeom prst="actionButtonEnd">
            <a:avLst/>
          </a:prstGeom>
          <a:gradFill rotWithShape="1">
            <a:gsLst>
              <a:gs pos="0">
                <a:schemeClr val="hlink">
                  <a:gamma/>
                  <a:shade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22891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802438" y="6300788"/>
            <a:ext cx="360363" cy="223838"/>
          </a:xfrm>
          <a:prstGeom prst="actionButtonBeginning">
            <a:avLst/>
          </a:prstGeom>
          <a:gradFill rotWithShape="1">
            <a:gsLst>
              <a:gs pos="0">
                <a:schemeClr val="hlink">
                  <a:gamma/>
                  <a:shade val="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3318" name="Rectangle 12"/>
          <p:cNvSpPr/>
          <p:nvPr/>
        </p:nvSpPr>
        <p:spPr>
          <a:xfrm>
            <a:off x="288925" y="-1539875"/>
            <a:ext cx="8229600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65125" indent="-365125" rtl="1">
              <a:lnSpc>
                <a:spcPct val="125000"/>
              </a:lnSpc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9" name="Rectangle 13"/>
          <p:cNvSpPr/>
          <p:nvPr/>
        </p:nvSpPr>
        <p:spPr>
          <a:xfrm>
            <a:off x="106363" y="404813"/>
            <a:ext cx="8208962" cy="13951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               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14,   19,  21,  22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4,   5,  6,  13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20,  28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17, 18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8,  10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11, 12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19:  9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12,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13,  22</a:t>
            </a: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endParaRPr lang="fr-FR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fr-FR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																																																																																																																	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FFCC66"/>
      </a:dk2>
      <a:lt2>
        <a:srgbClr val="808080"/>
      </a:lt2>
      <a:accent1>
        <a:srgbClr val="FF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8A"/>
      </a:accent6>
      <a:hlink>
        <a:srgbClr val="66FFFF"/>
      </a:hlink>
      <a:folHlink>
        <a:srgbClr val="66FFFF"/>
      </a:folHlink>
    </a:clrScheme>
    <a:fontScheme name="1_默认设计模板">
      <a:majorFont>
        <a:latin typeface="Arial"/>
        <a:ea typeface="华文中宋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66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14">
        <a:dk1>
          <a:srgbClr val="FFFFFF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66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15">
        <a:dk1>
          <a:srgbClr val="FFFFFF"/>
        </a:dk1>
        <a:lt1>
          <a:srgbClr val="FFFFFF"/>
        </a:lt1>
        <a:dk2>
          <a:srgbClr val="FFCC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66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16">
        <a:dk1>
          <a:srgbClr val="FFFFFF"/>
        </a:dk1>
        <a:lt1>
          <a:srgbClr val="FFFFFF"/>
        </a:lt1>
        <a:dk2>
          <a:srgbClr val="FFCC66"/>
        </a:dk2>
        <a:lt2>
          <a:srgbClr val="808080"/>
        </a:lt2>
        <a:accent1>
          <a:srgbClr val="FFFFFF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FFFFFF"/>
        </a:accent5>
        <a:accent6>
          <a:srgbClr val="2D2D8A"/>
        </a:accent6>
        <a:hlink>
          <a:srgbClr val="66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Application>WPS 演示</Application>
  <PresentationFormat>全屏显示(4:3)</PresentationFormat>
  <Paragraphs>94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黑体</vt:lpstr>
      <vt:lpstr>华文中宋</vt:lpstr>
      <vt:lpstr>Tahoma</vt:lpstr>
      <vt:lpstr>Times New Roman</vt:lpstr>
      <vt:lpstr>微软雅黑</vt:lpstr>
      <vt:lpstr>Arial Unicode MS</vt:lpstr>
      <vt:lpstr>1_默认设计模板</vt:lpstr>
      <vt:lpstr> 集合关系</vt:lpstr>
      <vt:lpstr>PowerPoint 演示文稿</vt:lpstr>
      <vt:lpstr> 图论</vt:lpstr>
      <vt:lpstr>PowerPoint 演示文稿</vt:lpstr>
      <vt:lpstr>数理逻辑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dill</dc:creator>
  <cp:lastModifiedBy>陈梦婷</cp:lastModifiedBy>
  <cp:revision>2150</cp:revision>
  <dcterms:created xsi:type="dcterms:W3CDTF">2003-11-21T11:17:00Z</dcterms:created>
  <dcterms:modified xsi:type="dcterms:W3CDTF">2026-01-04T02:17:55Z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9B8FD9C4690B4529B2795FC5E7D41A99_13</vt:lpwstr>
  </property>
  <property fmtid="{D5CDD505-2E9C-101B-9397-08002B2CF9AE}" pid="3" name="KSOProductBuildVer">
    <vt:lpwstr>2052-12.1.0.21915</vt:lpwstr>
  </property>
</Properties>
</file>