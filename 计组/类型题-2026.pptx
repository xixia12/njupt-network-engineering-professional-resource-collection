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1"/>
  </p:notesMasterIdLst>
  <p:sldIdLst>
    <p:sldId id="2375" r:id="rId4"/>
    <p:sldId id="2362" r:id="rId5"/>
    <p:sldId id="2365" r:id="rId6"/>
    <p:sldId id="2344" r:id="rId7"/>
    <p:sldId id="2345" r:id="rId8"/>
    <p:sldId id="2366" r:id="rId9"/>
    <p:sldId id="2370" r:id="rId10"/>
    <p:sldId id="2368" r:id="rId11"/>
    <p:sldId id="1875" r:id="rId12"/>
    <p:sldId id="2369" r:id="rId13"/>
    <p:sldId id="2374" r:id="rId14"/>
    <p:sldId id="2371" r:id="rId15"/>
    <p:sldId id="2372" r:id="rId16"/>
    <p:sldId id="2373" r:id="rId17"/>
    <p:sldId id="2376" r:id="rId18"/>
    <p:sldId id="2377" r:id="rId19"/>
    <p:sldId id="2378" r:id="rId20"/>
    <p:sldId id="2379" r:id="rId22"/>
    <p:sldId id="2367" r:id="rId23"/>
  </p:sldIdLst>
  <p:sldSz cx="12192000" cy="6858000"/>
  <p:notesSz cx="6797675" cy="992632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942" y="1240790"/>
            <a:ext cx="5955792" cy="335013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042"/>
            <a:ext cx="5438140" cy="3908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281"/>
            <a:ext cx="2945659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281"/>
            <a:ext cx="2945659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A24E5-FF45-4B05-9DDD-5C9A1A9270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188087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4896000" y="1476155"/>
            <a:ext cx="5936400" cy="2055445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5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4896000" y="3888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8"/>
            </p:custDataLst>
          </p:nvPr>
        </p:nvSpPr>
        <p:spPr>
          <a:xfrm>
            <a:off x="8209504" y="5504400"/>
            <a:ext cx="25668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5853760" y="5504400"/>
            <a:ext cx="21636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2233477" y="3106297"/>
            <a:ext cx="7725045" cy="1159200"/>
          </a:xfrm>
        </p:spPr>
        <p:txBody>
          <a:bodyPr wrap="square" lIns="90000" tIns="46800" rIns="90000" bIns="46800" anchor="t">
            <a:normAutofit/>
          </a:bodyPr>
          <a:lstStyle>
            <a:lvl1pPr algn="ctr">
              <a:defRPr sz="5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3513000" y="1376507"/>
            <a:ext cx="5166000" cy="1602000"/>
          </a:xfrm>
        </p:spPr>
        <p:txBody>
          <a:bodyPr wrap="none" lIns="90000" tIns="46800" rIns="90000" bIns="46800" anchor="b">
            <a:normAutofit/>
          </a:bodyPr>
          <a:lstStyle>
            <a:lvl1pPr marL="0" indent="0" algn="ctr">
              <a:buNone/>
              <a:defRPr sz="6000" b="1">
                <a:ln w="15875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896000" y="1692000"/>
            <a:ext cx="5936400" cy="1825200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896000" y="3816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9"/>
            </p:custDataLst>
          </p:nvPr>
        </p:nvSpPr>
        <p:spPr>
          <a:xfrm>
            <a:off x="8219870" y="5616000"/>
            <a:ext cx="25668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5793470" y="5616000"/>
            <a:ext cx="21636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E40A1-FA78-4C21-A0DE-B026D3DA90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9F8C4-8F79-40FD-B0C8-D746BD47A5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 flipH="1">
            <a:off x="695960" y="185497"/>
            <a:ext cx="11491926" cy="1032510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image" Target="../media/image1.png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16.xml"/><Relationship Id="rId4" Type="http://schemas.openxmlformats.org/officeDocument/2006/relationships/image" Target="../media/image2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9.xml"/><Relationship Id="rId6" Type="http://schemas.openxmlformats.org/officeDocument/2006/relationships/tags" Target="../tags/tag12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896000" y="1476155"/>
            <a:ext cx="5936400" cy="2055445"/>
          </a:xfrm>
        </p:spPr>
        <p:txBody>
          <a:bodyPr/>
          <a:p>
            <a:r>
              <a:rPr lang="zh-CN" altLang="en-US"/>
              <a:t>计算机组成原理</a:t>
            </a:r>
            <a:br>
              <a:rPr lang="zh-CN" altLang="en-US"/>
            </a:br>
            <a:r>
              <a:rPr lang="zh-CN" altLang="en-US"/>
              <a:t>类型题讲解</a:t>
            </a:r>
            <a:endParaRPr lang="zh-CN" altLang="en-US"/>
          </a:p>
        </p:txBody>
      </p:sp>
      <p:sp>
        <p:nvSpPr>
          <p:cNvPr id="7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96000" y="3888000"/>
            <a:ext cx="5936400" cy="720000"/>
          </a:xfrm>
        </p:spPr>
        <p:txBody>
          <a:bodyPr/>
          <a:p>
            <a:r>
              <a:rPr lang="en-US" altLang="zh-CN"/>
              <a:t> WPS,a click to unlimited possibilities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lorBlock"/>
          <p:cNvSpPr/>
          <p:nvPr>
            <p:custDataLst>
              <p:tags r:id="rId1"/>
            </p:custDataLst>
          </p:nvPr>
        </p:nvSpPr>
        <p:spPr>
          <a:xfrm>
            <a:off x="0" y="0"/>
            <a:ext cx="190500" cy="635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1554" name="文本框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05815" y="1395730"/>
            <a:ext cx="10398760" cy="4364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例：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CPU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有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16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根地址线，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根数据线，现有下列存储芯片：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RAM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RAM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4K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RAM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 1K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ROM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ROM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4K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ROM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。内存按字节编址，要求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RAM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大小为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16K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 ROM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大小为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4K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ROM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RAM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后。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RAM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 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3000H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开始）和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ROM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的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地址范围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endParaRPr lang="zh-CN" altLang="zh-CN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说明选用上述存储芯片类型和数量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执行一条指令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MOV AX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[4B1FH]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</a:rPr>
              <a:t>CPU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</a:rPr>
              <a:t>将访问的内存单元位于哪块芯片？</a:t>
            </a:r>
            <a:endParaRPr lang="zh-CN" altLang="zh-CN" sz="280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7710" y="56070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ym typeface="+mn-ea"/>
              </a:rPr>
              <a:t>类型</a:t>
            </a:r>
            <a:r>
              <a:rPr lang="en-US" altLang="zh-CN" sz="2800" b="1" dirty="0">
                <a:sym typeface="+mn-ea"/>
              </a:rPr>
              <a:t>1</a:t>
            </a:r>
            <a:r>
              <a:rPr lang="zh-CN" altLang="en-US" sz="2800" b="1" dirty="0">
                <a:sym typeface="+mn-ea"/>
              </a:rPr>
              <a:t>：存储器扩展</a:t>
            </a:r>
            <a:endParaRPr lang="zh-CN" altLang="en-US" sz="2800" b="1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44220" y="1263015"/>
            <a:ext cx="10596880" cy="513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lnSpcReduction="10000"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）地址空间分配图：</a:t>
            </a:r>
            <a:endParaRPr lang="zh-CN" altLang="zh-CN" sz="20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系统程序区（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ROM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共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4KB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）：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7000H-7FFFH</a:t>
            </a:r>
            <a:endParaRPr lang="zh-CN" altLang="zh-CN" sz="20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用户程序区（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RAM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共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16KB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）：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3000H-6FFFH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）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选片：</a:t>
            </a:r>
            <a:endParaRPr lang="zh-CN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  ROM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：选择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4K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位芯片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片</a:t>
            </a:r>
            <a:endParaRPr lang="zh-CN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           RAM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选择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4K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位芯片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片，字串联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   第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片：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3000H-3FFFH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      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片：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4000H-4FFFH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	 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片：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5000H-5FFFH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	 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片：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6000H-6FFFH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 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[4B1FH]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      位于第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片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RAM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上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0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960110" y="-199390"/>
            <a:ext cx="2717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91879" y="1399642"/>
            <a:ext cx="11008242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</a:rPr>
              <a:t>例：</a:t>
            </a:r>
            <a:r>
              <a:rPr lang="zh-CN" altLang="zh-CN" sz="2800" dirty="0">
                <a:solidFill>
                  <a:schemeClr val="tx1"/>
                </a:solidFill>
              </a:rPr>
              <a:t>设计某机主存，若主存容量为</a:t>
            </a:r>
            <a:r>
              <a:rPr lang="en-US" altLang="zh-CN" sz="2800" dirty="0">
                <a:solidFill>
                  <a:schemeClr val="tx1"/>
                </a:solidFill>
              </a:rPr>
              <a:t>64K</a:t>
            </a:r>
            <a:r>
              <a:rPr lang="zh-CN" altLang="zh-CN" sz="2800" dirty="0">
                <a:solidFill>
                  <a:schemeClr val="tx1"/>
                </a:solidFill>
              </a:rPr>
              <a:t>字，</a:t>
            </a:r>
            <a:r>
              <a:rPr lang="en-US" altLang="zh-CN" sz="2800" dirty="0">
                <a:solidFill>
                  <a:schemeClr val="tx1"/>
                </a:solidFill>
              </a:rPr>
              <a:t>Cache</a:t>
            </a:r>
            <a:r>
              <a:rPr lang="zh-CN" altLang="zh-CN" sz="2800" dirty="0">
                <a:solidFill>
                  <a:schemeClr val="tx1"/>
                </a:solidFill>
              </a:rPr>
              <a:t>容量为</a:t>
            </a:r>
            <a:r>
              <a:rPr lang="en-US" altLang="zh-CN" sz="2800" dirty="0">
                <a:solidFill>
                  <a:schemeClr val="tx1"/>
                </a:solidFill>
              </a:rPr>
              <a:t>2K</a:t>
            </a:r>
            <a:r>
              <a:rPr lang="zh-CN" altLang="zh-CN" sz="2800" dirty="0">
                <a:solidFill>
                  <a:schemeClr val="tx1"/>
                </a:solidFill>
              </a:rPr>
              <a:t>字，每块由</a:t>
            </a:r>
            <a:r>
              <a:rPr lang="en-US" altLang="zh-CN" sz="2800" dirty="0">
                <a:solidFill>
                  <a:schemeClr val="tx1"/>
                </a:solidFill>
              </a:rPr>
              <a:t>32</a:t>
            </a:r>
            <a:r>
              <a:rPr lang="zh-CN" altLang="zh-CN" sz="2800" dirty="0">
                <a:solidFill>
                  <a:schemeClr val="tx1"/>
                </a:solidFill>
              </a:rPr>
              <a:t>字组成，采用二路组相连映射，访存地址为字地址。</a:t>
            </a:r>
            <a:endParaRPr lang="zh-CN" altLang="zh-CN" sz="280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zh-CN" altLang="zh-CN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zh-CN" sz="2800" dirty="0">
                <a:solidFill>
                  <a:schemeClr val="tx1"/>
                </a:solidFill>
              </a:rPr>
              <a:t>）设计</a:t>
            </a:r>
            <a:r>
              <a:rPr lang="en-US" altLang="zh-CN" sz="2800" dirty="0">
                <a:solidFill>
                  <a:schemeClr val="tx1"/>
                </a:solidFill>
              </a:rPr>
              <a:t>Cache</a:t>
            </a:r>
            <a:r>
              <a:rPr lang="zh-CN" altLang="zh-CN" sz="2800" dirty="0">
                <a:solidFill>
                  <a:schemeClr val="tx1"/>
                </a:solidFill>
              </a:rPr>
              <a:t>地址格式，</a:t>
            </a:r>
            <a:r>
              <a:rPr lang="en-US" altLang="zh-CN" sz="2800" dirty="0">
                <a:solidFill>
                  <a:schemeClr val="tx1"/>
                </a:solidFill>
              </a:rPr>
              <a:t>Cache</a:t>
            </a:r>
            <a:r>
              <a:rPr lang="zh-CN" altLang="zh-CN" sz="2800" dirty="0">
                <a:solidFill>
                  <a:schemeClr val="tx1"/>
                </a:solidFill>
              </a:rPr>
              <a:t>中可装入多少块数据？</a:t>
            </a:r>
            <a:endParaRPr lang="zh-CN" altLang="zh-CN" sz="280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zh-CN" altLang="zh-CN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zh-CN" sz="2800" dirty="0">
                <a:solidFill>
                  <a:schemeClr val="tx1"/>
                </a:solidFill>
              </a:rPr>
              <a:t>）设计主存地址格式；</a:t>
            </a:r>
            <a:endParaRPr lang="zh-CN" altLang="zh-CN" sz="280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zh-CN" altLang="zh-CN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3</a:t>
            </a:r>
            <a:r>
              <a:rPr lang="zh-CN" altLang="zh-CN" sz="2800" dirty="0">
                <a:solidFill>
                  <a:schemeClr val="tx1"/>
                </a:solidFill>
              </a:rPr>
              <a:t>）试问地址为</a:t>
            </a:r>
            <a:r>
              <a:rPr lang="en-US" altLang="zh-CN" sz="2800" dirty="0">
                <a:solidFill>
                  <a:schemeClr val="tx1"/>
                </a:solidFill>
              </a:rPr>
              <a:t>A459H</a:t>
            </a:r>
            <a:r>
              <a:rPr lang="zh-CN" altLang="zh-CN" sz="2800" dirty="0">
                <a:solidFill>
                  <a:schemeClr val="tx1"/>
                </a:solidFill>
              </a:rPr>
              <a:t>的主存单元在缓存中的什么位置（指出组号和标记位）？</a:t>
            </a:r>
            <a:endParaRPr lang="zh-CN" altLang="zh-CN" sz="280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zh-CN" altLang="zh-CN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4</a:t>
            </a:r>
            <a:r>
              <a:rPr lang="zh-CN" altLang="en-US" sz="2800" dirty="0">
                <a:solidFill>
                  <a:schemeClr val="tx1"/>
                </a:solidFill>
              </a:rPr>
              <a:t>）假设</a:t>
            </a:r>
            <a:r>
              <a:rPr lang="en-US" altLang="zh-CN" sz="2800" dirty="0">
                <a:solidFill>
                  <a:schemeClr val="tx1"/>
                </a:solidFill>
              </a:rPr>
              <a:t>Cache</a:t>
            </a:r>
            <a:r>
              <a:rPr lang="zh-CN" altLang="en-US" sz="2800" dirty="0">
                <a:solidFill>
                  <a:schemeClr val="tx1"/>
                </a:solidFill>
              </a:rPr>
              <a:t>的初态为空，</a:t>
            </a:r>
            <a:r>
              <a:rPr lang="en-US" altLang="zh-CN" sz="2800" dirty="0">
                <a:solidFill>
                  <a:schemeClr val="tx1"/>
                </a:solidFill>
              </a:rPr>
              <a:t>CPU</a:t>
            </a:r>
            <a:r>
              <a:rPr lang="zh-CN" altLang="en-US" sz="2800" dirty="0">
                <a:solidFill>
                  <a:schemeClr val="tx1"/>
                </a:solidFill>
              </a:rPr>
              <a:t>执行某段程序，依次从主存1~100号单元读出100个字节，请问</a:t>
            </a:r>
            <a:r>
              <a:rPr lang="en-US" altLang="zh-CN" sz="2800" dirty="0">
                <a:solidFill>
                  <a:schemeClr val="tx1"/>
                </a:solidFill>
              </a:rPr>
              <a:t>Cache</a:t>
            </a:r>
            <a:r>
              <a:rPr lang="zh-CN" altLang="en-US" sz="2800" dirty="0">
                <a:solidFill>
                  <a:schemeClr val="tx1"/>
                </a:solidFill>
              </a:rPr>
              <a:t>的命中率是多少？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类型2</a:t>
            </a:r>
            <a:r>
              <a:rPr lang="zh-CN" altLang="en-US" dirty="0">
                <a:sym typeface="+mn-ea"/>
              </a:rPr>
              <a:t>：主存-cache地址映射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960110" y="-199390"/>
            <a:ext cx="2717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15044" name="Rectangle 5"/>
          <p:cNvSpPr>
            <a:spLocks noChangeArrowheads="1"/>
          </p:cNvSpPr>
          <p:nvPr/>
        </p:nvSpPr>
        <p:spPr bwMode="auto">
          <a:xfrm>
            <a:off x="5948680" y="-199390"/>
            <a:ext cx="2946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34695" y="1258570"/>
            <a:ext cx="1042987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答：</a:t>
            </a:r>
            <a:r>
              <a:rPr lang="zh-CN" alt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块长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32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字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=2^5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字，按字寻址，字块内地址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位；采用二路组相联，即一组内有 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块；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Cache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共分 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2K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字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/32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字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=2^6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块，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2^6/2 = 2^5 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组，组地址 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5 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位；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Cache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地址格式：</a:t>
            </a:r>
            <a:endParaRPr lang="zh-CN" altLang="zh-CN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901994" y="3039617"/>
          <a:ext cx="10515600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/>
                <a:gridCol w="5257800"/>
              </a:tblGrid>
              <a:tr h="33147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</a:pPr>
                      <a:r>
                        <a:rPr lang="zh-CN" altLang="en-US" sz="2800" kern="1200" dirty="0">
                          <a:effectLst/>
                          <a:highlight>
                            <a:srgbClr val="F3F9FA"/>
                          </a:highlight>
                        </a:rPr>
                        <a:t>块</a:t>
                      </a:r>
                      <a:r>
                        <a:rPr lang="zh-CN" sz="2800" kern="1200" dirty="0">
                          <a:effectLst/>
                          <a:highlight>
                            <a:srgbClr val="F3F9FA"/>
                          </a:highlight>
                        </a:rPr>
                        <a:t>地址（</a:t>
                      </a:r>
                      <a:r>
                        <a:rPr lang="en-US" sz="2800" kern="1200" dirty="0">
                          <a:effectLst/>
                          <a:highlight>
                            <a:srgbClr val="F3F9FA"/>
                          </a:highlight>
                        </a:rPr>
                        <a:t>6</a:t>
                      </a:r>
                      <a:r>
                        <a:rPr lang="zh-CN" sz="2800" kern="1200" dirty="0">
                          <a:effectLst/>
                          <a:highlight>
                            <a:srgbClr val="F3F9FA"/>
                          </a:highlight>
                        </a:rPr>
                        <a:t>位）</a:t>
                      </a:r>
                      <a:endParaRPr lang="zh-CN" sz="2800" dirty="0">
                        <a:effectLst/>
                        <a:highlight>
                          <a:srgbClr val="F3F9FA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</a:pPr>
                      <a:r>
                        <a:rPr lang="zh-CN" sz="2800" kern="1200" dirty="0">
                          <a:effectLst/>
                          <a:highlight>
                            <a:srgbClr val="F3F9FA"/>
                          </a:highlight>
                        </a:rPr>
                        <a:t>字块内地址（</a:t>
                      </a:r>
                      <a:r>
                        <a:rPr lang="en-US" sz="2800" kern="1200" dirty="0">
                          <a:effectLst/>
                          <a:highlight>
                            <a:srgbClr val="F3F9FA"/>
                          </a:highlight>
                        </a:rPr>
                        <a:t>5</a:t>
                      </a:r>
                      <a:r>
                        <a:rPr lang="zh-CN" sz="2800" kern="1200" dirty="0">
                          <a:effectLst/>
                          <a:highlight>
                            <a:srgbClr val="F3F9FA"/>
                          </a:highlight>
                        </a:rPr>
                        <a:t>位）</a:t>
                      </a:r>
                      <a:endParaRPr lang="zh-CN" sz="2800" dirty="0">
                        <a:effectLst/>
                        <a:highlight>
                          <a:srgbClr val="F3F9FA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9525" marB="0" anchor="ctr"/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854075" y="3778250"/>
            <a:ext cx="1048067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(2) 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根据主存容量为 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64K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字，得主存字地址 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16 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位。主存地址格式：</a:t>
            </a:r>
            <a:endParaRPr lang="zh-CN" altLang="zh-CN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975417" y="4633755"/>
          <a:ext cx="10515600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3147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</a:pPr>
                      <a:r>
                        <a:rPr lang="zh-CN" sz="2800" kern="1200">
                          <a:effectLst/>
                          <a:highlight>
                            <a:srgbClr val="F3F9FA"/>
                          </a:highlight>
                        </a:rPr>
                        <a:t>主存字块标记（</a:t>
                      </a:r>
                      <a:r>
                        <a:rPr lang="en-US" sz="2800" kern="1200">
                          <a:effectLst/>
                          <a:highlight>
                            <a:srgbClr val="F3F9FA"/>
                          </a:highlight>
                        </a:rPr>
                        <a:t>6</a:t>
                      </a:r>
                      <a:r>
                        <a:rPr lang="zh-CN" sz="2800" kern="1200">
                          <a:effectLst/>
                          <a:highlight>
                            <a:srgbClr val="F3F9FA"/>
                          </a:highlight>
                        </a:rPr>
                        <a:t>位）</a:t>
                      </a:r>
                      <a:endParaRPr lang="zh-CN" sz="2800">
                        <a:effectLst/>
                        <a:highlight>
                          <a:srgbClr val="F3F9FA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</a:pPr>
                      <a:r>
                        <a:rPr lang="zh-CN" sz="2800" kern="1200">
                          <a:effectLst/>
                          <a:highlight>
                            <a:srgbClr val="F3F9FA"/>
                          </a:highlight>
                        </a:rPr>
                        <a:t>组地址（</a:t>
                      </a:r>
                      <a:r>
                        <a:rPr lang="en-US" sz="2800" kern="1200">
                          <a:effectLst/>
                          <a:highlight>
                            <a:srgbClr val="F3F9FA"/>
                          </a:highlight>
                        </a:rPr>
                        <a:t>5</a:t>
                      </a:r>
                      <a:r>
                        <a:rPr lang="zh-CN" sz="2800" kern="1200">
                          <a:effectLst/>
                          <a:highlight>
                            <a:srgbClr val="F3F9FA"/>
                          </a:highlight>
                        </a:rPr>
                        <a:t>位）</a:t>
                      </a:r>
                      <a:endParaRPr lang="zh-CN" sz="2800">
                        <a:effectLst/>
                        <a:highlight>
                          <a:srgbClr val="F3F9FA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</a:pPr>
                      <a:r>
                        <a:rPr lang="zh-CN" sz="2800" kern="1200" dirty="0">
                          <a:effectLst/>
                          <a:highlight>
                            <a:srgbClr val="F3F9FA"/>
                          </a:highlight>
                        </a:rPr>
                        <a:t>字块内地址（</a:t>
                      </a:r>
                      <a:r>
                        <a:rPr lang="en-US" sz="2800" kern="1200" dirty="0">
                          <a:effectLst/>
                          <a:highlight>
                            <a:srgbClr val="F3F9FA"/>
                          </a:highlight>
                        </a:rPr>
                        <a:t>5</a:t>
                      </a:r>
                      <a:r>
                        <a:rPr lang="zh-CN" sz="2800" kern="1200" dirty="0">
                          <a:effectLst/>
                          <a:highlight>
                            <a:srgbClr val="F3F9FA"/>
                          </a:highlight>
                        </a:rPr>
                        <a:t>位）</a:t>
                      </a:r>
                      <a:endParaRPr lang="zh-CN" sz="2800" dirty="0">
                        <a:effectLst/>
                        <a:highlight>
                          <a:srgbClr val="F3F9FA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9525" marB="0"/>
                </a:tc>
              </a:tr>
            </a:tbl>
          </a:graphicData>
        </a:graphic>
      </p:graphicFrame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598805" y="5258435"/>
            <a:ext cx="1067879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/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(3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A459H=1010 0100 0101 1001 B</a:t>
            </a:r>
            <a:endParaRPr lang="zh-CN" altLang="zh-CN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28600" indent="266700" algn="l"/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主存标记位：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1010 01=29H</a:t>
            </a:r>
            <a:endParaRPr lang="zh-CN" altLang="zh-CN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      </a:t>
            </a:r>
            <a:r>
              <a:rPr lang="zh-CN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组号：</a:t>
            </a:r>
            <a:r>
              <a:rPr lang="en-US" altLang="zh-CN" sz="2800" dirty="0">
                <a:solidFill>
                  <a:schemeClr val="tx1"/>
                </a:solidFill>
                <a:cs typeface="Times New Roman" panose="02020603050405020304" pitchFamily="18" charset="0"/>
              </a:rPr>
              <a:t>00 010=02H</a:t>
            </a:r>
            <a:endParaRPr lang="en-US" altLang="zh-CN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zh-CN" altLang="en-US" sz="2800" dirty="0">
                <a:sym typeface="+mn-ea"/>
              </a:rPr>
              <a:t>例：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设机器数字长为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8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位（含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1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位符号位），用补码运算规则计算下列各题。</a:t>
            </a:r>
            <a:endParaRPr lang="zh-CN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  <a:p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1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A=9/64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 B=-13/32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，求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[A</a:t>
            </a:r>
            <a:r>
              <a:rPr lang="en-US" altLang="zh-CN" sz="2800" u="sng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B]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补并还原成真值。</a:t>
            </a:r>
            <a:endParaRPr lang="zh-CN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  <a:p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2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 A=-87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 B=53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，求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[A</a:t>
            </a:r>
            <a:r>
              <a:rPr lang="en-US" altLang="zh-CN" sz="2800" u="sng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B]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补并还原成真值。</a:t>
            </a:r>
            <a:endParaRPr lang="en-US" altLang="zh-CN" sz="2800" dirty="0">
              <a:solidFill>
                <a:schemeClr val="tx1"/>
              </a:solidFill>
              <a:effectLst/>
              <a:cs typeface="Helvetica" panose="020B0604020202020204" pitchFamily="34" charset="0"/>
            </a:endParaRPr>
          </a:p>
          <a:p>
            <a:endParaRPr lang="zh-CN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  <a:p>
            <a:r>
              <a:rPr lang="zh-CN" altLang="zh-CN" sz="2800" b="1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答：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1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[A+B]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补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=1.1011110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 A+B =-17/64</a:t>
            </a:r>
            <a:endParaRPr lang="zh-CN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[A-B]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补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=0.1000110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A-B =35/64</a:t>
            </a:r>
            <a:endParaRPr lang="en-US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  <a:p>
            <a:endParaRPr lang="zh-CN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  <a:p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2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Helvetica" panose="020B0604020202020204" pitchFamily="34" charset="0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[A+B]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补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=1,1011110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A+B =-34</a:t>
            </a:r>
            <a:endParaRPr lang="zh-CN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[A-B]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补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=0,1110100</a:t>
            </a:r>
            <a:r>
              <a:rPr lang="zh-CN" altLang="zh-CN" sz="2800" dirty="0">
                <a:solidFill>
                  <a:schemeClr val="tx1"/>
                </a:solidFill>
                <a:effectLst/>
                <a:cs typeface="宋体" panose="02010600030101010101" pitchFamily="2" charset="-122"/>
              </a:rPr>
              <a:t>，溢出</a:t>
            </a:r>
            <a:endParaRPr lang="zh-CN" altLang="zh-CN" sz="2800" dirty="0">
              <a:solidFill>
                <a:schemeClr val="tx1"/>
              </a:solidFill>
              <a:effectLst/>
              <a:cs typeface="宋体" panose="02010600030101010101" pitchFamily="2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类型3</a:t>
            </a:r>
            <a:r>
              <a:rPr lang="zh-CN" altLang="en-US" dirty="0">
                <a:sym typeface="+mn-ea"/>
              </a:rPr>
              <a:t>：定点数补码计算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95960" y="1452880"/>
            <a:ext cx="10800080" cy="472313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例：</a:t>
            </a:r>
            <a:r>
              <a:rPr lang="zh-CN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考虑一个支持算术右移和逻辑右移的</a:t>
            </a:r>
            <a:r>
              <a:rPr lang="en-US" altLang="zh-CN" sz="2800" kern="100" dirty="0">
                <a:solidFill>
                  <a:schemeClr val="tx1"/>
                </a:solidFill>
                <a:effectLst/>
              </a:rPr>
              <a:t>ALU</a:t>
            </a:r>
            <a:r>
              <a:rPr lang="zh-CN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。给定一个</a:t>
            </a:r>
            <a:r>
              <a:rPr lang="en-US" altLang="zh-CN" sz="2800" kern="100" dirty="0">
                <a:solidFill>
                  <a:schemeClr val="tx1"/>
                </a:solidFill>
                <a:effectLst/>
              </a:rPr>
              <a:t>8</a:t>
            </a:r>
            <a:r>
              <a:rPr lang="zh-CN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位的</a:t>
            </a:r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机器数</a:t>
            </a:r>
            <a:r>
              <a:rPr lang="en-US" altLang="zh-CN" sz="2800" kern="100" dirty="0">
                <a:solidFill>
                  <a:schemeClr val="tx1"/>
                </a:solidFill>
                <a:effectLst/>
              </a:rPr>
              <a:t>11110000</a:t>
            </a:r>
            <a:r>
              <a:rPr lang="zh-CN" altLang="en-US" sz="2800" kern="100" dirty="0">
                <a:solidFill>
                  <a:schemeClr val="tx1"/>
                </a:solidFill>
                <a:effectLst/>
              </a:rPr>
              <a:t>（补码表示）</a:t>
            </a:r>
            <a:r>
              <a:rPr lang="zh-CN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，计算该数进行一次算术右移和一次逻辑右移的结果，并解释两者的区别。</a:t>
            </a:r>
            <a:endParaRPr lang="zh-CN" altLang="zh-CN" sz="2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endParaRPr lang="zh-CN" altLang="zh-CN" sz="2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r>
              <a:rPr lang="zh-CN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答：右移前：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1111 0000  </a:t>
            </a:r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真值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-16</a:t>
            </a:r>
            <a:endParaRPr lang="zh-CN" altLang="zh-CN" sz="2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r>
              <a:rPr lang="zh-CN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</a:t>
            </a:r>
            <a:r>
              <a:rPr lang="zh-CN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算术右移：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1111 1000  </a:t>
            </a:r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真值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-8</a:t>
            </a:r>
            <a:endParaRPr lang="en-US" altLang="zh-CN" sz="2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 </a:t>
            </a:r>
            <a:endParaRPr lang="en-US" altLang="zh-CN" sz="2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 </a:t>
            </a:r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右移前：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1111 0000  </a:t>
            </a:r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真值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240</a:t>
            </a:r>
            <a:endParaRPr lang="en-US" altLang="zh-CN" sz="2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 </a:t>
            </a:r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逻辑右移：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0111 1000  </a:t>
            </a:r>
            <a:r>
              <a:rPr lang="zh-CN" altLang="en-US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真值</a:t>
            </a:r>
            <a:r>
              <a:rPr lang="en-US" altLang="zh-CN" sz="2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120</a:t>
            </a:r>
            <a:endParaRPr lang="en-US" altLang="zh-CN" sz="2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类型4</a:t>
            </a:r>
            <a:r>
              <a:rPr lang="zh-CN" altLang="en-US" dirty="0">
                <a:sym typeface="+mn-ea"/>
              </a:rPr>
              <a:t>：移位运算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92421" y="1525627"/>
            <a:ext cx="10703442" cy="1198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例：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设浮点数格式为：阶码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5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位（含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位阶符），尾数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位（含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位数符）。写出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x=-27/1024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所对应的机器数。要求阶码和尾数均为补码。</a:t>
            </a:r>
            <a:endParaRPr lang="zh-CN" altLang="zh-CN" sz="24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79913" y="2897097"/>
            <a:ext cx="10930270" cy="12915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解：将十进制数转换为二进制：</a:t>
            </a:r>
            <a:endParaRPr lang="zh-CN" altLang="zh-CN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x= -27/1024= -0.0000011011B = 2</a:t>
            </a:r>
            <a:r>
              <a:rPr lang="en-US" altLang="zh-CN" sz="24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-5</a:t>
            </a:r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*(-0.11011B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-101</a:t>
            </a:r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*(-0.11011B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endParaRPr lang="zh-CN" altLang="zh-CN" sz="2400" baseline="300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008054" y="4570888"/>
          <a:ext cx="7552564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0944"/>
                <a:gridCol w="1860396"/>
                <a:gridCol w="2199301"/>
                <a:gridCol w="1801923"/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阶符</a:t>
                      </a:r>
                      <a:r>
                        <a:rPr lang="en-US" sz="2400" kern="100">
                          <a:effectLst/>
                        </a:rPr>
                        <a:t>1</a:t>
                      </a:r>
                      <a:r>
                        <a:rPr lang="zh-CN" sz="2400" kern="100">
                          <a:effectLst/>
                        </a:rPr>
                        <a:t>位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阶码</a:t>
                      </a:r>
                      <a:r>
                        <a:rPr lang="en-US" sz="2400" kern="100" dirty="0">
                          <a:effectLst/>
                        </a:rPr>
                        <a:t>4</a:t>
                      </a:r>
                      <a:r>
                        <a:rPr lang="zh-CN" sz="2400" kern="100" dirty="0">
                          <a:effectLst/>
                        </a:rPr>
                        <a:t>位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数符</a:t>
                      </a:r>
                      <a:r>
                        <a:rPr lang="en-US" sz="2400" kern="100">
                          <a:effectLst/>
                        </a:rPr>
                        <a:t>1</a:t>
                      </a:r>
                      <a:r>
                        <a:rPr lang="zh-CN" sz="2400" kern="100">
                          <a:effectLst/>
                        </a:rPr>
                        <a:t>位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尾数</a:t>
                      </a:r>
                      <a:r>
                        <a:rPr lang="en-US" sz="2400" kern="100" dirty="0">
                          <a:effectLst/>
                        </a:rPr>
                        <a:t>10</a:t>
                      </a:r>
                      <a:r>
                        <a:rPr lang="zh-CN" sz="2400" kern="100" dirty="0">
                          <a:effectLst/>
                        </a:rPr>
                        <a:t>位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852583" y="5318746"/>
            <a:ext cx="6096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[x]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浮</a:t>
            </a:r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1011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1.001 010 000 0</a:t>
            </a:r>
            <a:endParaRPr lang="en-US" altLang="zh-CN" sz="24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类型5</a:t>
            </a:r>
            <a:r>
              <a:rPr lang="zh-CN" altLang="en-US" dirty="0">
                <a:sym typeface="+mn-ea"/>
              </a:rPr>
              <a:t>：浮点数规格化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lorBlock"/>
          <p:cNvSpPr/>
          <p:nvPr>
            <p:custDataLst>
              <p:tags r:id="rId1"/>
            </p:custDataLst>
          </p:nvPr>
        </p:nvSpPr>
        <p:spPr>
          <a:xfrm>
            <a:off x="0" y="0"/>
            <a:ext cx="190500" cy="635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2466" name="文本框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325" y="635000"/>
            <a:ext cx="11007725" cy="551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latin typeface="+mn-lt"/>
                <a:ea typeface="+mn-ea"/>
                <a:sym typeface="+mn-ea"/>
              </a:rPr>
              <a:t>例：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某机存储器容量为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64 K × 16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位， 该机访存指令格式如下：</a:t>
            </a:r>
            <a:endParaRPr lang="en-US" altLang="zh-CN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endParaRPr lang="en-US" altLang="zh-CN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endParaRPr lang="en-US" altLang="zh-CN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endParaRPr lang="en-US" altLang="zh-CN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endParaRPr lang="en-US" altLang="zh-CN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其中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M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为寻址模式：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0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为直接寻址，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1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为基址寻址，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2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为相对寻址，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3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为立即寻址；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I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为间址特征（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I =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1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间址） ；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X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为变址特征（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x =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1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变址） 。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 PC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为程序计数器，设（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PC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=1234H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 R</a:t>
            </a:r>
            <a:r>
              <a:rPr lang="en-US" altLang="zh-CN" b="0" baseline="-2500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B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为基址寄存器，（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 R</a:t>
            </a:r>
            <a:r>
              <a:rPr lang="en-US" altLang="zh-CN" b="0" baseline="-2500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B 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=0037H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Rx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为变址寄存器，（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 Rx 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=1122H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试问：</a:t>
            </a:r>
            <a:endParaRPr lang="zh-CN" altLang="en-US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） 该指令能定义多少种操作？</a:t>
            </a:r>
            <a:endParaRPr lang="zh-CN" altLang="en-US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） 立即寻址操作数的范围。</a:t>
            </a:r>
            <a:endParaRPr lang="zh-CN" altLang="en-US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） 在非间址情况下， 除立即寻址外， 写出每种寻址方式计算有效地址的表达式。</a:t>
            </a:r>
            <a:endParaRPr lang="zh-CN" altLang="en-US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） 设基址寄存器为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14 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位， 在非变址直接基址寻址时， 指令的寻址范围是多少？</a:t>
            </a:r>
            <a:endParaRPr lang="zh-CN" altLang="en-US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  <a:p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5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  <a:sym typeface="微软雅黑" panose="020B0503020204020204" pitchFamily="34" charset="-122"/>
              </a:rPr>
              <a:t>） 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确定指令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1835H</a:t>
            </a:r>
            <a:r>
              <a:rPr lang="zh-CN" altLang="zh-CN" b="0" dirty="0">
                <a:solidFill>
                  <a:schemeClr val="tx1"/>
                </a:solidFill>
                <a:latin typeface="+mn-lt"/>
                <a:ea typeface="+mn-ea"/>
              </a:rPr>
              <a:t>的有效地址，用十六进制表示。</a:t>
            </a:r>
            <a:endParaRPr lang="zh-CN" altLang="zh-CN" b="0" dirty="0">
              <a:solidFill>
                <a:schemeClr val="tx1"/>
              </a:solidFill>
              <a:latin typeface="+mn-lt"/>
              <a:ea typeface="+mn-ea"/>
              <a:sym typeface="微软雅黑" panose="020B0503020204020204" pitchFamily="34" charset="-122"/>
            </a:endParaRPr>
          </a:p>
        </p:txBody>
      </p:sp>
      <p:pic>
        <p:nvPicPr>
          <p:cNvPr id="62468" name="图片 18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461" y="1752114"/>
            <a:ext cx="4370388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类型6</a:t>
            </a:r>
            <a:r>
              <a:rPr lang="zh-CN" altLang="en-US" dirty="0">
                <a:sym typeface="+mn-ea"/>
              </a:rPr>
              <a:t>：指令寻址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79848" y="1351519"/>
            <a:ext cx="10646735" cy="501586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（ 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1 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） 该指令能定义多少种操作？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16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种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</a:t>
            </a:r>
            <a:endParaRPr lang="zh-CN" altLang="en-US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（ 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2 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） 立即寻址操作数的范围。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-128~+127</a:t>
            </a:r>
            <a:endParaRPr lang="zh-CN" altLang="en-US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（ 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3 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） 在非间址情况下， 除立即寻址外， 写出每种寻址方式计算有效地址的表达式。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直接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变址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基址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相对</a:t>
            </a:r>
            <a:endParaRPr lang="zh-CN" altLang="en-US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（ 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4 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） 设基址寄存器为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14 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位， 在非变址直接基址寻址时， 指令的寻址范围是多少？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2</a:t>
            </a:r>
            <a:r>
              <a:rPr lang="en-US" altLang="zh-CN" sz="2000" baseline="30000" dirty="0">
                <a:solidFill>
                  <a:schemeClr val="tx1"/>
                </a:solidFill>
                <a:sym typeface="微软雅黑" panose="020B0503020204020204" pitchFamily="34" charset="-122"/>
              </a:rPr>
              <a:t>14</a:t>
            </a:r>
            <a:endParaRPr lang="zh-CN" altLang="en-US" sz="2000" baseline="30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</a:rPr>
              <a:t> 1835H=0001 1000 0011 0101B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	M=10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，寻址方式为相对寻址，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A=</a:t>
            </a:r>
            <a:r>
              <a:rPr lang="en-US" altLang="zh-CN" sz="2000" dirty="0">
                <a:solidFill>
                  <a:schemeClr val="tx1"/>
                </a:solidFill>
              </a:rPr>
              <a:t>0011 0101=35H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，</a:t>
            </a:r>
            <a:endParaRPr lang="en-US" altLang="zh-CN" sz="2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            EA=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sym typeface="微软雅黑" panose="020B0503020204020204" pitchFamily="34" charset="-122"/>
              </a:rPr>
              <a:t>+A=1234H+35H=1269H</a:t>
            </a:r>
            <a:endParaRPr lang="zh-CN" altLang="en-US" sz="2000" baseline="30000" dirty="0">
              <a:solidFill>
                <a:schemeClr val="tx1"/>
              </a:solidFill>
              <a:sym typeface="微软雅黑" panose="020B0503020204020204" pitchFamily="34" charset="-122"/>
            </a:endParaRPr>
          </a:p>
          <a:p>
            <a:endParaRPr lang="zh-CN" altLang="en-US" sz="2000" baseline="30000" dirty="0">
              <a:solidFill>
                <a:schemeClr val="tx1"/>
              </a:soli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615950" y="1407795"/>
            <a:ext cx="1118997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ym typeface="+mn-ea"/>
              </a:rPr>
              <a:t>例：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某机存储器容量为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64 K 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×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16 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位，主存按字节编址，由两个字节组成，该机访存指令格式如下：</a:t>
            </a:r>
            <a:endParaRPr lang="zh-CN" altLang="zh-CN" sz="20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632460" y="3177540"/>
            <a:ext cx="10751820" cy="3455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r>
              <a:rPr lang="zh-CN" altLang="zh-CN" sz="2000" kern="100" dirty="0">
                <a:solidFill>
                  <a:schemeClr val="tx1"/>
                </a:solidFill>
                <a:effectLst/>
              </a:rPr>
              <a:t>其中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M 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为寻址模式：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0 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为直接寻址，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1 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为基址寻址，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2 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为相对寻址，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3 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为立即寻址， 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4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为间接寻址，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5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为变址寻址。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PC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为程序计数器，设（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PC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）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=1000H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R</a:t>
            </a:r>
            <a:r>
              <a:rPr lang="en-US" altLang="zh-CN" sz="2000" kern="100" baseline="-25000" dirty="0">
                <a:solidFill>
                  <a:schemeClr val="tx1"/>
                </a:solidFill>
                <a:effectLst/>
              </a:rPr>
              <a:t>B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为基址寄存器，（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R</a:t>
            </a:r>
            <a:r>
              <a:rPr lang="en-US" altLang="zh-CN" sz="2000" kern="100" baseline="-25000" dirty="0">
                <a:solidFill>
                  <a:schemeClr val="tx1"/>
                </a:solidFill>
                <a:effectLst/>
              </a:rPr>
              <a:t>B 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）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=4321H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Rx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为变址寄存器，（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 Rx 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）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=5631H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。试问：</a:t>
            </a:r>
            <a:endParaRPr lang="zh-CN" altLang="zh-CN" sz="1600" kern="100" dirty="0">
              <a:solidFill>
                <a:schemeClr val="tx1"/>
              </a:solidFill>
              <a:effectLst/>
            </a:endParaRPr>
          </a:p>
          <a:p>
            <a:pPr algn="just"/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（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1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） 该指令能定义多少种操作？</a:t>
            </a:r>
            <a:endParaRPr lang="zh-CN" altLang="zh-CN" sz="1600" kern="100" dirty="0">
              <a:solidFill>
                <a:schemeClr val="tx1"/>
              </a:solidFill>
              <a:effectLst/>
            </a:endParaRPr>
          </a:p>
          <a:p>
            <a:pPr algn="just"/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（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2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） 立即寻址操作数的范围。</a:t>
            </a:r>
            <a:endParaRPr lang="zh-CN" altLang="zh-CN" sz="1600" kern="100" dirty="0">
              <a:solidFill>
                <a:schemeClr val="tx1"/>
              </a:solidFill>
              <a:effectLst/>
            </a:endParaRPr>
          </a:p>
          <a:p>
            <a:pPr algn="just"/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（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3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） 在非间址情况下，除立即寻址外，写出每种寻址方式计算有效地址的表达式，并确定指令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1235H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的有效地址，用十六进制表示。</a:t>
            </a:r>
            <a:endParaRPr lang="zh-CN" altLang="zh-CN" sz="1600" kern="100" dirty="0">
              <a:solidFill>
                <a:schemeClr val="tx1"/>
              </a:solidFill>
              <a:effectLst/>
            </a:endParaRPr>
          </a:p>
          <a:p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4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r>
              <a:rPr lang="zh-CN" altLang="zh-CN" sz="2000" kern="100" dirty="0">
                <a:solidFill>
                  <a:schemeClr val="tx1"/>
                </a:solidFill>
                <a:effectLst/>
              </a:rPr>
              <a:t> 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转移指令采用相对寻址，若</a:t>
            </a:r>
            <a:r>
              <a:rPr lang="en-US" altLang="zh-CN" sz="2000" kern="100" dirty="0">
                <a:effectLst/>
                <a:cs typeface="Times New Roman" panose="02020603050405020304" pitchFamily="18" charset="0"/>
                <a:sym typeface="+mn-ea"/>
              </a:rPr>
              <a:t>PC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当前存放的是某转移指令所在主存地址，相对位移量字段的内容为</a:t>
            </a:r>
            <a:r>
              <a:rPr lang="en-US" altLang="zh-CN" sz="2000" kern="100" dirty="0">
                <a:solidFill>
                  <a:schemeClr val="tx1"/>
                </a:solidFill>
                <a:effectLst/>
              </a:rPr>
              <a:t>06H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，则该转移指令成功转移后的目标地址是什么？</a:t>
            </a:r>
            <a:endParaRPr lang="zh-CN" altLang="zh-CN" sz="20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672" y="1892944"/>
            <a:ext cx="6001040" cy="1198178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95694" y="1323679"/>
            <a:ext cx="10660912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例：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现有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A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B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C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D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四个中断源，其</a:t>
            </a:r>
            <a:r>
              <a:rPr lang="zh-CN" altLang="en-US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响应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优先级由高向低按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A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B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C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D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顺序排列。</a:t>
            </a: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现要求中断处理次序改为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，写出各中断源的屏蔽字。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若中断服务程序的执行时间为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20µs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，请根据下图所示时间轴给出的中断源请求中断的时刻，画出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CPU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执行程序的轨迹。</a:t>
            </a:r>
            <a:endParaRPr lang="zh-CN" altLang="zh-CN" sz="24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91293" y="2658287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65989" y="2693580"/>
          <a:ext cx="6383125" cy="356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3" imgW="2921000" imgH="1631315" progId="Visio.Drawing.11">
                  <p:embed/>
                </p:oleObj>
              </mc:Choice>
              <mc:Fallback>
                <p:oleObj name="Visio" r:id="rId3" imgW="2921000" imgH="163131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989" y="2693580"/>
                        <a:ext cx="6383125" cy="35654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7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类型7</a:t>
            </a:r>
            <a:r>
              <a:rPr lang="zh-CN" altLang="en-US" dirty="0">
                <a:sym typeface="+mn-ea"/>
              </a:rPr>
              <a:t>：中断屏蔽及程序轨迹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4418" y="602512"/>
          <a:ext cx="4638455" cy="2920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2112"/>
                <a:gridCol w="643270"/>
                <a:gridCol w="927691"/>
                <a:gridCol w="927691"/>
                <a:gridCol w="927691"/>
              </a:tblGrid>
              <a:tr h="486806">
                <a:tc rowSpan="2">
                  <a:txBody>
                    <a:bodyPr/>
                    <a:lstStyle/>
                    <a:p>
                      <a:pPr algn="ctr"/>
                      <a:r>
                        <a:rPr lang="zh-CN" sz="2800" kern="100" dirty="0">
                          <a:effectLst/>
                        </a:rPr>
                        <a:t>中断源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sz="2800" kern="100" dirty="0">
                          <a:effectLst/>
                        </a:rPr>
                        <a:t>屏蔽字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86806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A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B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C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D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68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A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0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0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68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B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68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C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0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>
                          <a:effectLst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0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68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00" dirty="0">
                          <a:effectLst/>
                        </a:rPr>
                        <a:t>D</a:t>
                      </a:r>
                      <a:endParaRPr lang="en-US" altLang="zh-CN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>
                          <a:effectLst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01340" y="2580315"/>
            <a:ext cx="121920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96073" y="3070572"/>
            <a:ext cx="19963786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27525" y="2747963"/>
          <a:ext cx="7769225" cy="43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4" imgW="2921000" imgH="1631315" progId="Visio.Drawing.11">
                  <p:embed/>
                </p:oleObj>
              </mc:Choice>
              <mc:Fallback>
                <p:oleObj name="Visio" r:id="rId4" imgW="2921000" imgH="163131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2747963"/>
                        <a:ext cx="7769225" cy="4337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93776" y="1380458"/>
            <a:ext cx="10844784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ym typeface="+mn-ea"/>
              </a:rPr>
              <a:t>例：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设机器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A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的主频为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8MHz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，机器周期含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4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个时钟周期，且该机的平均指令执行速度是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0.4MIPS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，试求该机的平均指令周期和机器周期，每个指令周期中含几个机器周期？如果机器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B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的主频为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12MHz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，且机器周期也含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4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个时钟周期，试问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B</a:t>
            </a:r>
            <a:r>
              <a:rPr lang="zh-CN" altLang="zh-CN" sz="24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机的平均指令执行速度为多少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MIPS?</a:t>
            </a:r>
            <a:endParaRPr lang="en-US" altLang="zh-CN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57784" y="3082087"/>
            <a:ext cx="11256264" cy="34150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/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解：先通过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机的平均指令执行速度求出其平均指令周期，再通过主频求出时钟周期，然后进一步求出机器周期。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机参数的算法与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机类似。计算如下：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机平均指令周期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=1/0.4MIPS=2.5µs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机时钟周期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=1/8MHz=125ns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机机器周期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=125ns×4=500ns=0.5µs 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机每个指令周期中含机器周期个数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=2.5µs÷0.5µs=5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个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机时钟周期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=1/12MHz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83ns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机机器周期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=83ns×4=332ns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设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机每个指令周期也含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个机器周期，则：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机平均指令周期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=332ns×5=1.66µs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机平均指令执行速度</a:t>
            </a:r>
            <a:r>
              <a:rPr lang="en-US" altLang="zh-CN" sz="18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=1/1.66µs=0.6MIPS    </a:t>
            </a:r>
            <a:endParaRPr lang="zh-CN" altLang="zh-CN" sz="18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结论：主频的提高有利于机器执行速度的提高。</a:t>
            </a:r>
            <a:endParaRPr lang="zh-CN" altLang="zh-CN" sz="18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类型8</a:t>
            </a:r>
            <a:r>
              <a:rPr lang="zh-CN" altLang="en-US" dirty="0">
                <a:sym typeface="+mn-ea"/>
              </a:rPr>
              <a:t>：CPU运行速度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94030" y="1380490"/>
            <a:ext cx="10844530" cy="36347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sz="2800" dirty="0">
                <a:solidFill>
                  <a:schemeClr val="tx1"/>
                </a:solidFill>
                <a:effectLst/>
              </a:rPr>
              <a:t>例：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若某程序编译后生成的目标代码由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A 、B 、C 、D4 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类指令组成,它们在程序中所占比例分别为 40%、20%、15%、25%。已知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A 、B 、C 、D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四类指令的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CPI 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分别为1、2、2、2。现需要对程序进行编译 优化,优化后的程序中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A 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类指令数量减少了一半,而其他指令数量未发生变化。假设运行该程序的计算机 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CPU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主频为500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MHz 。 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回答下列各题。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  <a:p>
            <a:r>
              <a:rPr lang="zh-CN" altLang="en-US" sz="2800" dirty="0">
                <a:solidFill>
                  <a:schemeClr val="tx1"/>
                </a:solidFill>
                <a:effectLst/>
              </a:rPr>
              <a:t>(1)优化前后程序的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CPI 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各为多少?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  <a:p>
            <a:r>
              <a:rPr lang="zh-CN" altLang="en-US" sz="2800" dirty="0">
                <a:solidFill>
                  <a:schemeClr val="tx1"/>
                </a:solidFill>
                <a:effectLst/>
              </a:rPr>
              <a:t>(2)优化前后程序的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MIPS 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各为多少?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  <a:p>
            <a:r>
              <a:rPr lang="zh-CN" altLang="en-US" sz="2800" dirty="0">
                <a:solidFill>
                  <a:schemeClr val="tx1"/>
                </a:solidFill>
                <a:effectLst/>
              </a:rPr>
              <a:t>(3)通过上面的计算结果,你能得出什么结论?</a:t>
            </a:r>
            <a:endParaRPr lang="zh-CN" altLang="en-US" sz="2800" dirty="0">
              <a:solidFill>
                <a:schemeClr val="tx1"/>
              </a:solidFill>
              <a:effectLst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</a:t>
            </a:r>
            <a:r>
              <a:rPr lang="en-US" altLang="zh-CN" dirty="0">
                <a:sym typeface="+mn-ea"/>
              </a:rPr>
              <a:t>9</a:t>
            </a:r>
            <a:r>
              <a:rPr lang="zh-CN" altLang="en-US" dirty="0">
                <a:sym typeface="+mn-ea"/>
              </a:rPr>
              <a:t>：计算机性能指标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69595" y="697865"/>
            <a:ext cx="10791190" cy="5481955"/>
          </a:xfrm>
        </p:spPr>
        <p:txBody>
          <a:bodyPr>
            <a:normAutofit fontScale="97500" lnSpcReduction="20000"/>
          </a:bodyPr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答：优化前：  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    </a:t>
            </a:r>
            <a:r>
              <a:rPr lang="en-US" altLang="zh-CN">
                <a:solidFill>
                  <a:schemeClr val="tx1"/>
                </a:solidFill>
              </a:rPr>
              <a:t>CPI = 1 </a:t>
            </a:r>
            <a:r>
              <a:rPr lang="zh-CN" altLang="en-US">
                <a:solidFill>
                  <a:schemeClr val="tx1"/>
                </a:solidFill>
              </a:rPr>
              <a:t>* </a:t>
            </a:r>
            <a:r>
              <a:rPr lang="en-US" altLang="zh-CN">
                <a:solidFill>
                  <a:schemeClr val="tx1"/>
                </a:solidFill>
              </a:rPr>
              <a:t>0.4 + 2</a:t>
            </a:r>
            <a:r>
              <a:rPr lang="zh-CN" altLang="en-US">
                <a:solidFill>
                  <a:schemeClr val="tx1"/>
                </a:solidFill>
              </a:rPr>
              <a:t>* </a:t>
            </a:r>
            <a:r>
              <a:rPr lang="en-US" altLang="zh-CN">
                <a:solidFill>
                  <a:schemeClr val="tx1"/>
                </a:solidFill>
              </a:rPr>
              <a:t>0.2 + 2 </a:t>
            </a:r>
            <a:r>
              <a:rPr lang="zh-CN" altLang="en-US">
                <a:solidFill>
                  <a:schemeClr val="tx1"/>
                </a:solidFill>
              </a:rPr>
              <a:t>* </a:t>
            </a:r>
            <a:r>
              <a:rPr lang="en-US" altLang="zh-CN">
                <a:solidFill>
                  <a:schemeClr val="tx1"/>
                </a:solidFill>
              </a:rPr>
              <a:t>0.15 + 2 </a:t>
            </a:r>
            <a:r>
              <a:rPr lang="zh-CN" altLang="en-US">
                <a:solidFill>
                  <a:schemeClr val="tx1"/>
                </a:solidFill>
              </a:rPr>
              <a:t>* </a:t>
            </a:r>
            <a:r>
              <a:rPr lang="en-US" altLang="zh-CN">
                <a:solidFill>
                  <a:schemeClr val="tx1"/>
                </a:solidFill>
              </a:rPr>
              <a:t>0.25 = 1.6 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  优化后（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类指令减半，其他不变）：  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    设原指令数 </a:t>
            </a:r>
            <a:r>
              <a:rPr lang="en-US" altLang="zh-CN">
                <a:solidFill>
                  <a:schemeClr val="tx1"/>
                </a:solidFill>
              </a:rPr>
              <a:t>N</a:t>
            </a:r>
            <a:r>
              <a:rPr lang="zh-CN" altLang="en-US">
                <a:solidFill>
                  <a:schemeClr val="tx1"/>
                </a:solidFill>
              </a:rPr>
              <a:t>，优化后总指令数 </a:t>
            </a:r>
            <a:r>
              <a:rPr lang="en-US" altLang="zh-CN">
                <a:solidFill>
                  <a:schemeClr val="tx1"/>
                </a:solidFill>
              </a:rPr>
              <a:t>0.8N 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D4</a:t>
            </a:r>
            <a:r>
              <a:rPr lang="zh-CN" altLang="en-US">
                <a:solidFill>
                  <a:schemeClr val="tx1"/>
                </a:solidFill>
              </a:rPr>
              <a:t>类指令各占</a:t>
            </a:r>
            <a:r>
              <a:rPr lang="en-US" altLang="zh-CN">
                <a:solidFill>
                  <a:schemeClr val="tx1"/>
                </a:solidFill>
              </a:rPr>
              <a:t>0.2N/0.8N=1/4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1/4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3/16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5/16</a:t>
            </a:r>
            <a:r>
              <a:rPr lang="zh-CN" altLang="en-US">
                <a:solidFill>
                  <a:schemeClr val="tx1"/>
                </a:solidFill>
              </a:rPr>
              <a:t> 。  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    </a:t>
            </a:r>
            <a:r>
              <a:rPr lang="en-US" altLang="zh-CN">
                <a:solidFill>
                  <a:schemeClr val="tx1"/>
                </a:solidFill>
              </a:rPr>
              <a:t>CPI =1 </a:t>
            </a:r>
            <a:r>
              <a:rPr lang="zh-CN" altLang="en-US">
                <a:solidFill>
                  <a:schemeClr val="tx1"/>
                </a:solidFill>
              </a:rPr>
              <a:t>* </a:t>
            </a:r>
            <a:r>
              <a:rPr lang="en-US" altLang="zh-CN">
                <a:solidFill>
                  <a:schemeClr val="tx1"/>
                </a:solidFill>
              </a:rPr>
              <a:t>1/4+ 2</a:t>
            </a:r>
            <a:r>
              <a:rPr lang="zh-CN" altLang="en-US">
                <a:solidFill>
                  <a:schemeClr val="tx1"/>
                </a:solidFill>
              </a:rPr>
              <a:t>* </a:t>
            </a:r>
            <a:r>
              <a:rPr lang="en-US" altLang="zh-CN">
                <a:solidFill>
                  <a:schemeClr val="tx1"/>
                </a:solidFill>
              </a:rPr>
              <a:t>1/4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+ 2 </a:t>
            </a:r>
            <a:r>
              <a:rPr lang="zh-CN" altLang="en-US">
                <a:solidFill>
                  <a:schemeClr val="tx1"/>
                </a:solidFill>
              </a:rPr>
              <a:t>*</a:t>
            </a:r>
            <a:r>
              <a:rPr lang="en-US" altLang="zh-CN">
                <a:solidFill>
                  <a:schemeClr val="tx1"/>
                </a:solidFill>
              </a:rPr>
              <a:t>3/16+ 2 </a:t>
            </a:r>
            <a:r>
              <a:rPr lang="zh-CN" altLang="en-US">
                <a:solidFill>
                  <a:schemeClr val="tx1"/>
                </a:solidFill>
              </a:rPr>
              <a:t>*</a:t>
            </a:r>
            <a:r>
              <a:rPr lang="en-US" altLang="zh-CN">
                <a:solidFill>
                  <a:schemeClr val="tx1"/>
                </a:solidFill>
              </a:rPr>
              <a:t>5/16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= 1.75</a:t>
            </a:r>
            <a:r>
              <a:rPr lang="zh-CN" altLang="en-US">
                <a:solidFill>
                  <a:schemeClr val="tx1"/>
                </a:solidFill>
              </a:rPr>
              <a:t> 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）优化前后</a:t>
            </a:r>
            <a:r>
              <a:rPr lang="en-US" altLang="zh-CN">
                <a:solidFill>
                  <a:schemeClr val="tx1"/>
                </a:solidFill>
              </a:rPr>
              <a:t>MIPS</a:t>
            </a:r>
            <a:r>
              <a:rPr lang="zh-CN" altLang="en-US">
                <a:solidFill>
                  <a:schemeClr val="tx1"/>
                </a:solidFill>
              </a:rPr>
              <a:t>（主频</a:t>
            </a:r>
            <a:r>
              <a:rPr lang="en-US" altLang="zh-CN">
                <a:solidFill>
                  <a:schemeClr val="tx1"/>
                </a:solidFill>
              </a:rPr>
              <a:t>500MHz</a:t>
            </a:r>
            <a:r>
              <a:rPr lang="zh-CN" altLang="en-US">
                <a:solidFill>
                  <a:schemeClr val="tx1"/>
                </a:solidFill>
              </a:rPr>
              <a:t>）：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  优化前：</a:t>
            </a:r>
            <a:r>
              <a:rPr lang="en-US" altLang="zh-CN">
                <a:solidFill>
                  <a:schemeClr val="tx1"/>
                </a:solidFill>
              </a:rPr>
              <a:t>MIPS = 500/1.6= 312.5 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  优化后：</a:t>
            </a:r>
            <a:r>
              <a:rPr lang="en-US" altLang="zh-CN">
                <a:solidFill>
                  <a:schemeClr val="tx1"/>
                </a:solidFill>
              </a:rPr>
              <a:t>MIPS = 500/1.75=285.7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）结论：优化后指令数减少，但</a:t>
            </a:r>
            <a:r>
              <a:rPr lang="en-US" altLang="zh-CN">
                <a:solidFill>
                  <a:schemeClr val="tx1"/>
                </a:solidFill>
              </a:rPr>
              <a:t>CPI</a:t>
            </a:r>
            <a:r>
              <a:rPr lang="zh-CN" altLang="en-US">
                <a:solidFill>
                  <a:schemeClr val="tx1"/>
                </a:solidFill>
              </a:rPr>
              <a:t>上升，导致</a:t>
            </a:r>
            <a:r>
              <a:rPr lang="en-US" altLang="zh-CN">
                <a:solidFill>
                  <a:schemeClr val="tx1"/>
                </a:solidFill>
              </a:rPr>
              <a:t>MIPS</a:t>
            </a:r>
            <a:r>
              <a:rPr lang="zh-CN" altLang="en-US">
                <a:solidFill>
                  <a:schemeClr val="tx1"/>
                </a:solidFill>
              </a:rPr>
              <a:t>反而降低。说明性能优化需要综合考虑指令数量和</a:t>
            </a:r>
            <a:r>
              <a:rPr lang="en-US" altLang="zh-CN">
                <a:solidFill>
                  <a:schemeClr val="tx1"/>
                </a:solidFill>
              </a:rPr>
              <a:t>CPI</a:t>
            </a:r>
            <a:r>
              <a:rPr lang="zh-CN" altLang="en-US">
                <a:solidFill>
                  <a:schemeClr val="tx1"/>
                </a:solidFill>
              </a:rPr>
              <a:t>的变化，不能单纯减少某类指令。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95325" y="635000"/>
            <a:ext cx="10277475" cy="344614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采用偶校验的（11,7）海明码，数据位 D7D6D5D4D3D2D1=1001101，完成以下操作：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ClrTx/>
              <a:buSzTx/>
              <a:buFontTx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（1）计算校验位 P4P3P2P1，写出完整的海明码；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ClrTx/>
              <a:buSzTx/>
              <a:buFontTx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（2）若接收端收到的海明码为 10010100101，判断是否出错，若出错请纠错并还原原始数据。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类型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：海明码校验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3900" y="544830"/>
            <a:ext cx="1066038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effectLst/>
                <a:sym typeface="+mn-ea"/>
              </a:rPr>
              <a:t>解：（</a:t>
            </a:r>
            <a:r>
              <a:rPr lang="en-US" altLang="zh-CN" sz="2400" dirty="0">
                <a:effectLst/>
                <a:sym typeface="+mn-ea"/>
              </a:rPr>
              <a:t>1</a:t>
            </a:r>
            <a:r>
              <a:rPr lang="zh-CN" altLang="en-US" sz="2400" dirty="0">
                <a:effectLst/>
                <a:sym typeface="+mn-ea"/>
              </a:rPr>
              <a:t>）（</a:t>
            </a:r>
            <a:r>
              <a:rPr lang="en-US" altLang="zh-CN" sz="2400" dirty="0">
                <a:effectLst/>
                <a:sym typeface="+mn-ea"/>
              </a:rPr>
              <a:t>11,7</a:t>
            </a:r>
            <a:r>
              <a:rPr lang="zh-CN" altLang="en-US" sz="2400" dirty="0">
                <a:effectLst/>
                <a:sym typeface="+mn-ea"/>
              </a:rPr>
              <a:t>）海明码，</a:t>
            </a:r>
            <a:r>
              <a:rPr lang="en-US" altLang="zh-CN" sz="2400" dirty="0">
                <a:effectLst/>
                <a:sym typeface="+mn-ea"/>
              </a:rPr>
              <a:t>r=4</a:t>
            </a:r>
            <a:r>
              <a:rPr lang="zh-CN" altLang="en-US" sz="2400" dirty="0">
                <a:effectLst/>
                <a:sym typeface="+mn-ea"/>
              </a:rPr>
              <a:t>，校验位 </a:t>
            </a:r>
            <a:r>
              <a:rPr lang="en-US" altLang="zh-CN" sz="2400" dirty="0">
                <a:effectLst/>
                <a:sym typeface="+mn-ea"/>
              </a:rPr>
              <a:t>P4P3P2P1 </a:t>
            </a:r>
            <a:r>
              <a:rPr lang="zh-CN" altLang="en-US" sz="2400" dirty="0">
                <a:effectLst/>
                <a:sym typeface="+mn-ea"/>
              </a:rPr>
              <a:t>对应 </a:t>
            </a:r>
            <a:r>
              <a:rPr lang="en-US" altLang="zh-CN" sz="2400" dirty="0">
                <a:effectLst/>
                <a:sym typeface="+mn-ea"/>
              </a:rPr>
              <a:t>H8H4H2H1</a:t>
            </a:r>
            <a:r>
              <a:rPr lang="zh-CN" altLang="en-US" sz="2400" dirty="0">
                <a:effectLst/>
                <a:sym typeface="+mn-ea"/>
              </a:rPr>
              <a:t>，数据位对应 </a:t>
            </a:r>
            <a:r>
              <a:rPr lang="en-US" altLang="zh-CN" sz="2400" dirty="0">
                <a:effectLst/>
                <a:sym typeface="+mn-ea"/>
              </a:rPr>
              <a:t>H11~H9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H7~H5</a:t>
            </a:r>
            <a:r>
              <a:rPr lang="zh-CN" altLang="en-US" sz="2400" dirty="0">
                <a:effectLst/>
                <a:sym typeface="+mn-ea"/>
              </a:rPr>
              <a:t>分组规则：</a:t>
            </a:r>
            <a:r>
              <a:rPr lang="en-US" altLang="zh-CN" sz="2400" dirty="0">
                <a:effectLst/>
                <a:sym typeface="+mn-ea"/>
              </a:rPr>
              <a:t>G1 (P1)</a:t>
            </a:r>
            <a:r>
              <a:rPr lang="zh-CN" altLang="en-US" sz="2400" dirty="0">
                <a:effectLst/>
                <a:sym typeface="+mn-ea"/>
              </a:rPr>
              <a:t>：</a:t>
            </a:r>
            <a:r>
              <a:rPr lang="en-US" altLang="zh-CN" sz="2400" dirty="0">
                <a:effectLst/>
                <a:sym typeface="+mn-ea"/>
              </a:rPr>
              <a:t>H1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H3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H5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H7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H9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H11</a:t>
            </a:r>
            <a:r>
              <a:rPr lang="zh-CN" altLang="en-US" sz="2400" dirty="0">
                <a:effectLst/>
                <a:sym typeface="+mn-ea"/>
              </a:rPr>
              <a:t>，</a:t>
            </a:r>
            <a:r>
              <a:rPr lang="en-US" altLang="zh-CN" sz="2400" dirty="0">
                <a:effectLst/>
                <a:sym typeface="+mn-ea"/>
              </a:rPr>
              <a:t>G2 (P2)</a:t>
            </a:r>
            <a:r>
              <a:rPr lang="zh-CN" altLang="en-US" sz="2400" dirty="0">
                <a:effectLst/>
                <a:sym typeface="+mn-ea"/>
              </a:rPr>
              <a:t>：</a:t>
            </a:r>
            <a:r>
              <a:rPr lang="en-US" altLang="zh-CN" sz="2400" dirty="0">
                <a:effectLst/>
                <a:sym typeface="+mn-ea"/>
              </a:rPr>
              <a:t>H2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H3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H6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H7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H10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H11</a:t>
            </a:r>
            <a:r>
              <a:rPr lang="zh-CN" altLang="en-US" sz="2400" dirty="0">
                <a:effectLst/>
                <a:sym typeface="+mn-ea"/>
              </a:rPr>
              <a:t>，</a:t>
            </a:r>
            <a:r>
              <a:rPr lang="en-US" altLang="zh-CN" sz="2400" dirty="0">
                <a:effectLst/>
                <a:sym typeface="+mn-ea"/>
              </a:rPr>
              <a:t>G3 (P3)</a:t>
            </a:r>
            <a:r>
              <a:rPr lang="zh-CN" altLang="en-US" sz="2400" dirty="0">
                <a:effectLst/>
                <a:sym typeface="+mn-ea"/>
              </a:rPr>
              <a:t>：</a:t>
            </a:r>
            <a:r>
              <a:rPr lang="en-US" altLang="zh-CN" sz="2400" dirty="0">
                <a:effectLst/>
                <a:sym typeface="+mn-ea"/>
              </a:rPr>
              <a:t>H4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H5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H6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H7</a:t>
            </a:r>
            <a:r>
              <a:rPr lang="zh-CN" altLang="en-US" sz="2400" dirty="0">
                <a:effectLst/>
                <a:sym typeface="+mn-ea"/>
              </a:rPr>
              <a:t>，</a:t>
            </a:r>
            <a:r>
              <a:rPr lang="en-US" altLang="zh-CN" sz="2400" dirty="0">
                <a:effectLst/>
                <a:sym typeface="+mn-ea"/>
              </a:rPr>
              <a:t>G4 (P4)</a:t>
            </a:r>
            <a:r>
              <a:rPr lang="zh-CN" altLang="en-US" sz="2400" dirty="0">
                <a:effectLst/>
                <a:sym typeface="+mn-ea"/>
              </a:rPr>
              <a:t>：</a:t>
            </a:r>
            <a:r>
              <a:rPr lang="en-US" altLang="zh-CN" sz="2400" dirty="0">
                <a:effectLst/>
                <a:sym typeface="+mn-ea"/>
              </a:rPr>
              <a:t>H8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H9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H10</a:t>
            </a:r>
            <a:r>
              <a:rPr lang="zh-CN" altLang="en-US" sz="2400" dirty="0">
                <a:effectLst/>
                <a:sym typeface="+mn-ea"/>
              </a:rPr>
              <a:t>、</a:t>
            </a:r>
            <a:r>
              <a:rPr lang="en-US" altLang="zh-CN" sz="2400" dirty="0">
                <a:effectLst/>
                <a:sym typeface="+mn-ea"/>
              </a:rPr>
              <a:t>H11</a:t>
            </a:r>
            <a:r>
              <a:rPr lang="zh-CN" altLang="en-US" sz="2400" dirty="0">
                <a:effectLst/>
                <a:sym typeface="+mn-ea"/>
              </a:rPr>
              <a:t>。偶校验下，校验位计算：</a:t>
            </a:r>
            <a:endParaRPr lang="zh-CN" altLang="en-US" sz="2400" dirty="0">
              <a:effectLst/>
              <a:sym typeface="+mn-ea"/>
            </a:endParaRPr>
          </a:p>
          <a:p>
            <a:r>
              <a:rPr lang="en-US" altLang="zh-CN" sz="2400" dirty="0">
                <a:effectLst/>
                <a:sym typeface="+mn-ea"/>
              </a:rPr>
              <a:t>P1=1⊕0⊕1⊕0⊕1=1</a:t>
            </a:r>
            <a:r>
              <a:rPr lang="zh-CN" altLang="en-US" sz="2400" dirty="0">
                <a:effectLst/>
                <a:sym typeface="+mn-ea"/>
              </a:rPr>
              <a:t>，</a:t>
            </a:r>
            <a:endParaRPr lang="zh-CN" altLang="en-US" sz="2400" dirty="0">
              <a:effectLst/>
              <a:sym typeface="+mn-ea"/>
            </a:endParaRPr>
          </a:p>
          <a:p>
            <a:r>
              <a:rPr lang="en-US" altLang="zh-CN" sz="2400" dirty="0">
                <a:effectLst/>
                <a:sym typeface="+mn-ea"/>
              </a:rPr>
              <a:t>P2=1⊕1⊕1⊕0⊕1=0</a:t>
            </a:r>
            <a:r>
              <a:rPr lang="zh-CN" altLang="en-US" sz="2400" dirty="0">
                <a:effectLst/>
                <a:sym typeface="+mn-ea"/>
              </a:rPr>
              <a:t>，</a:t>
            </a:r>
            <a:endParaRPr lang="zh-CN" altLang="en-US" sz="2400" dirty="0">
              <a:effectLst/>
              <a:sym typeface="+mn-ea"/>
            </a:endParaRPr>
          </a:p>
          <a:p>
            <a:r>
              <a:rPr lang="en-US" altLang="zh-CN" sz="2400" dirty="0">
                <a:effectLst/>
                <a:sym typeface="+mn-ea"/>
              </a:rPr>
              <a:t>P3=0⊕1⊕1=0</a:t>
            </a:r>
            <a:r>
              <a:rPr lang="zh-CN" altLang="en-US" sz="2400" dirty="0">
                <a:effectLst/>
                <a:sym typeface="+mn-ea"/>
              </a:rPr>
              <a:t>，</a:t>
            </a:r>
            <a:endParaRPr lang="zh-CN" altLang="en-US" sz="2400" dirty="0">
              <a:effectLst/>
              <a:sym typeface="+mn-ea"/>
            </a:endParaRPr>
          </a:p>
          <a:p>
            <a:r>
              <a:rPr lang="en-US" altLang="zh-CN" sz="2400" dirty="0">
                <a:effectLst/>
                <a:sym typeface="+mn-ea"/>
              </a:rPr>
              <a:t>P4=0⊕0⊕1=1</a:t>
            </a:r>
            <a:r>
              <a:rPr lang="zh-CN" altLang="en-US" sz="2400" dirty="0">
                <a:effectLst/>
                <a:sym typeface="+mn-ea"/>
              </a:rPr>
              <a:t>。完整海明码：</a:t>
            </a:r>
            <a:r>
              <a:rPr lang="en-US" altLang="zh-CN" sz="2400" dirty="0">
                <a:effectLst/>
                <a:sym typeface="+mn-ea"/>
              </a:rPr>
              <a:t>H11H10H9H8H7H6H5H4H3H2H1=10011100101</a:t>
            </a:r>
            <a:endParaRPr lang="en-US" altLang="zh-CN" sz="24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CN" altLang="en-US" sz="2400" dirty="0">
              <a:effectLst/>
              <a:sym typeface="+mn-ea"/>
            </a:endParaRPr>
          </a:p>
          <a:p>
            <a:pPr lvl="0"/>
            <a:r>
              <a:rPr lang="zh-CN" altLang="en-US" sz="2400" dirty="0">
                <a:effectLst/>
                <a:sym typeface="+mn-ea"/>
              </a:rPr>
              <a:t>（</a:t>
            </a:r>
            <a:r>
              <a:rPr lang="en-US" altLang="zh-CN" sz="2400" dirty="0">
                <a:effectLst/>
                <a:sym typeface="+mn-ea"/>
              </a:rPr>
              <a:t>2</a:t>
            </a:r>
            <a:r>
              <a:rPr lang="zh-CN" altLang="en-US" sz="2400" dirty="0">
                <a:effectLst/>
                <a:sym typeface="+mn-ea"/>
              </a:rPr>
              <a:t>）接收码组 </a:t>
            </a:r>
            <a:r>
              <a:rPr lang="en-US" altLang="zh-CN" sz="2400" dirty="0">
                <a:effectLst/>
                <a:sym typeface="+mn-ea"/>
              </a:rPr>
              <a:t>10010100101</a:t>
            </a:r>
            <a:r>
              <a:rPr lang="zh-CN" altLang="en-US" sz="2400" dirty="0">
                <a:effectLst/>
                <a:sym typeface="+mn-ea"/>
              </a:rPr>
              <a:t>，计算检错码 </a:t>
            </a:r>
            <a:r>
              <a:rPr lang="en-US" altLang="zh-CN" sz="2400" dirty="0">
                <a:effectLst/>
                <a:sym typeface="+mn-ea"/>
              </a:rPr>
              <a:t>G4G3G2G1</a:t>
            </a:r>
            <a:r>
              <a:rPr lang="zh-CN" altLang="en-US" sz="2400" dirty="0">
                <a:effectLst/>
                <a:sym typeface="+mn-ea"/>
              </a:rPr>
              <a:t>：</a:t>
            </a:r>
            <a:r>
              <a:rPr lang="en-US" altLang="zh-CN" sz="2400" dirty="0">
                <a:effectLst/>
                <a:sym typeface="+mn-ea"/>
              </a:rPr>
              <a:t>G1=1⊕1⊕0⊕0⊕0⊕1=1</a:t>
            </a:r>
            <a:r>
              <a:rPr lang="zh-CN" altLang="en-US" sz="2400" dirty="0">
                <a:effectLst/>
                <a:sym typeface="+mn-ea"/>
              </a:rPr>
              <a:t>，</a:t>
            </a:r>
            <a:endParaRPr lang="zh-CN" altLang="en-US" sz="2400" dirty="0">
              <a:effectLst/>
              <a:sym typeface="+mn-ea"/>
            </a:endParaRPr>
          </a:p>
          <a:p>
            <a:pPr lvl="0"/>
            <a:r>
              <a:rPr lang="en-US" altLang="zh-CN" sz="2400" dirty="0">
                <a:effectLst/>
                <a:sym typeface="+mn-ea"/>
              </a:rPr>
              <a:t>G2=0⊕1⊕1⊕0⊕0⊕1=1</a:t>
            </a:r>
            <a:r>
              <a:rPr lang="zh-CN" altLang="en-US" sz="2400" dirty="0">
                <a:effectLst/>
                <a:sym typeface="+mn-ea"/>
              </a:rPr>
              <a:t>，</a:t>
            </a:r>
            <a:endParaRPr lang="zh-CN" altLang="en-US" sz="2400" dirty="0">
              <a:effectLst/>
              <a:sym typeface="+mn-ea"/>
            </a:endParaRPr>
          </a:p>
          <a:p>
            <a:pPr lvl="0"/>
            <a:r>
              <a:rPr lang="en-US" altLang="zh-CN" sz="2400" dirty="0">
                <a:effectLst/>
                <a:sym typeface="+mn-ea"/>
              </a:rPr>
              <a:t>G3=0⊕0⊕1⊕0=1</a:t>
            </a:r>
            <a:r>
              <a:rPr lang="zh-CN" altLang="en-US" sz="2400" dirty="0">
                <a:effectLst/>
                <a:sym typeface="+mn-ea"/>
              </a:rPr>
              <a:t>，</a:t>
            </a:r>
            <a:endParaRPr lang="zh-CN" altLang="en-US" sz="2400" dirty="0">
              <a:effectLst/>
              <a:sym typeface="+mn-ea"/>
            </a:endParaRPr>
          </a:p>
          <a:p>
            <a:pPr lvl="0"/>
            <a:r>
              <a:rPr lang="en-US" altLang="zh-CN" sz="2400" dirty="0">
                <a:effectLst/>
                <a:sym typeface="+mn-ea"/>
              </a:rPr>
              <a:t>G4=1⊕0⊕0⊕1=0</a:t>
            </a:r>
            <a:r>
              <a:rPr lang="zh-CN" altLang="en-US" sz="2400" dirty="0">
                <a:effectLst/>
                <a:sym typeface="+mn-ea"/>
              </a:rPr>
              <a:t>，</a:t>
            </a:r>
            <a:endParaRPr lang="zh-CN" altLang="en-US" sz="2400" dirty="0">
              <a:effectLst/>
              <a:sym typeface="+mn-ea"/>
            </a:endParaRPr>
          </a:p>
          <a:p>
            <a:pPr lvl="0"/>
            <a:r>
              <a:rPr lang="en-US" altLang="zh-CN" sz="2400" dirty="0">
                <a:effectLst/>
                <a:sym typeface="+mn-ea"/>
              </a:rPr>
              <a:t>G4G3G2G1=0111</a:t>
            </a:r>
            <a:r>
              <a:rPr lang="zh-CN" altLang="en-US" sz="2400" dirty="0">
                <a:effectLst/>
                <a:sym typeface="+mn-ea"/>
              </a:rPr>
              <a:t>，对应 </a:t>
            </a:r>
            <a:r>
              <a:rPr lang="en-US" altLang="zh-CN" sz="2400" dirty="0">
                <a:effectLst/>
                <a:sym typeface="+mn-ea"/>
              </a:rPr>
              <a:t>H7 </a:t>
            </a:r>
            <a:r>
              <a:rPr lang="zh-CN" altLang="en-US" sz="2400" dirty="0">
                <a:effectLst/>
                <a:sym typeface="+mn-ea"/>
              </a:rPr>
              <a:t>出错，取反后纠错海明码为 </a:t>
            </a:r>
            <a:r>
              <a:rPr lang="en-US" altLang="zh-CN" sz="2400" dirty="0">
                <a:effectLst/>
                <a:sym typeface="+mn-ea"/>
              </a:rPr>
              <a:t>10011100101</a:t>
            </a:r>
            <a:r>
              <a:rPr lang="zh-CN" altLang="en-US" sz="2400" dirty="0">
                <a:effectLst/>
                <a:sym typeface="+mn-ea"/>
              </a:rPr>
              <a:t>，还原原始数据：</a:t>
            </a:r>
            <a:r>
              <a:rPr lang="en-US" altLang="zh-CN" sz="2400" dirty="0">
                <a:effectLst/>
                <a:sym typeface="+mn-ea"/>
              </a:rPr>
              <a:t>1001101</a:t>
            </a:r>
            <a:r>
              <a:rPr lang="zh-CN" altLang="en-US" sz="2400" dirty="0">
                <a:effectLst/>
                <a:sym typeface="+mn-ea"/>
              </a:rPr>
              <a:t>。</a:t>
            </a:r>
            <a:endParaRPr lang="zh-CN" altLang="en-US" sz="2400" dirty="0">
              <a:effectLst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23013" y="199118"/>
            <a:ext cx="10653823" cy="65855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/>
            <a:r>
              <a:rPr lang="en-US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4.26 </a:t>
            </a:r>
            <a:r>
              <a:rPr lang="zh-CN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按机器补码浮点运算步骤，计算</a:t>
            </a:r>
            <a:r>
              <a:rPr lang="en-US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[x</a:t>
            </a:r>
            <a:r>
              <a:rPr lang="zh-CN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±</a:t>
            </a:r>
            <a:r>
              <a:rPr lang="en-US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y]</a:t>
            </a:r>
            <a:r>
              <a:rPr lang="zh-CN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zh-CN" altLang="en-US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  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x=2</a:t>
            </a:r>
            <a:r>
              <a:rPr lang="en-US" altLang="zh-CN" sz="2000" kern="1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-011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×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0.101 100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y=2</a:t>
            </a:r>
            <a:r>
              <a:rPr lang="en-US" altLang="zh-CN" sz="2000" kern="1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-010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×（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-0.011 100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）；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解：先将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转换成机器数形式：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1524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zh-CN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x=2</a:t>
            </a:r>
            <a:r>
              <a:rPr lang="en-US" altLang="zh-CN" sz="2000" kern="1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-011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×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0.101 100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y=2</a:t>
            </a:r>
            <a:r>
              <a:rPr lang="en-US" altLang="zh-CN" sz="2000" kern="1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-010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×（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-0.011 100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60071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[x]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101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0.101 100, [y]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1.100 100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1524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jx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=1,101, 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jy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=1,110, 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Sx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=0.101 100, [Sy]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=1.100 100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1524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     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）对阶：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7620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[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jx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+[-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jy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= 1,101+ 0,010=1,111 &lt; 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应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jx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向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jy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对齐，则：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jx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+1=1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101+0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001=1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110 = 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jy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[x]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0.010 110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）尾数运算：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  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Sx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+[Sy]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 0.010 110 + 1.100 100=1.111010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6858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Sx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+[-Sy]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=0.010 110 + 0.011100= 0.110 010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3810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3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）结果规格化：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  [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x+y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1.111 010 = 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011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1.010 000 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（尾数左规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次，阶码减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  [x-y]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补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0.110 010, 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已是规格化数。 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       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）舍入：无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（</a:t>
            </a:r>
            <a:r>
              <a:rPr lang="zh-CN" altLang="en-US" sz="2000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在 对阶 和 右规 过程中，可能出现 尾数末位丢失引起误差，需考虑舍入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indent="457200" algn="just"/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5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）溢出：无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（阶码符号采用双符号位时，出现不一致的情况则为溢出）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则：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x+y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=2</a:t>
            </a:r>
            <a:r>
              <a:rPr lang="en-US" altLang="zh-CN" sz="2000" kern="1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-101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×（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-0.110 000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indent="457200" algn="just"/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    x-y =2</a:t>
            </a:r>
            <a:r>
              <a:rPr lang="en-US" altLang="zh-CN" sz="2000" kern="100" baseline="30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-010</a:t>
            </a:r>
            <a:r>
              <a:rPr lang="zh-CN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×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0.110 010</a:t>
            </a:r>
            <a:endParaRPr lang="en-US" altLang="zh-CN" sz="2000" kern="1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2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3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6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6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94"/>
</p:tagLst>
</file>

<file path=ppt/tags/tag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94"/>
</p:tagLst>
</file>

<file path=ppt/tags/tag7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894"/>
  <p:tag name="KSO_WM_TEMPLATE_CATEGORY" val="custom"/>
  <p:tag name="KSO_WM_TEMPLATE_MASTER_TYPE" val="0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&#10;添加文档标题"/>
</p:tagLst>
</file>

<file path=ppt/tags/tag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94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 WPS,a click to unlimited possibilities"/>
</p:tagLst>
</file>

<file path=ppt/tags/tag77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894"/>
  <p:tag name="KSO_WM_TEMPLATE_CATEGORY" val="custom"/>
  <p:tag name="KSO_WM_SLIDE_INDEX" val="1"/>
  <p:tag name="KSO_WM_SLIDE_ID" val="custom20235894_1"/>
  <p:tag name="KSO_WM_TEMPLATE_MASTER_TYPE" val="0"/>
  <p:tag name="KSO_WM_SLIDE_LAYOUT" val="a_b_f"/>
  <p:tag name="KSO_WM_SLIDE_LAYOUT_CNT" val="1_1_2"/>
  <p:tag name="KSO_WM_SLIDE_THEME_ID" val="3332912"/>
  <p:tag name="KSO_WM_SLIDE_THEME_NAME" val="城市线条职场办公商务风"/>
</p:tagLst>
</file>

<file path=ppt/tags/tag78.xml><?xml version="1.0" encoding="utf-8"?>
<p:tagLst xmlns:p="http://schemas.openxmlformats.org/presentationml/2006/main">
  <p:tag name="RAINPROBLEMTYPE" val="ProblemTypeMarker"/>
  <p:tag name="KSO_WM_UNIT_INDEX" val="2"/>
  <p:tag name="KSO_WM_UNIT_TYPE" val="i"/>
  <p:tag name="KSO_WM_UNIT_SUBTYPE" val="h"/>
  <p:tag name="KSO_WM_BEAUTIFY_FLAG" val="#wm#"/>
</p:tagLst>
</file>

<file path=ppt/tags/tag79.xml><?xml version="1.0" encoding="utf-8"?>
<p:tagLst xmlns:p="http://schemas.openxmlformats.org/presentationml/2006/main">
  <p:tag name="RAINPROBLEM" val="ProblemBody"/>
  <p:tag name="KSO_WM_UNIT_INDEX" val="7"/>
  <p:tag name="KSO_WM_UNIT_TYPE" val="f"/>
  <p:tag name="KSO_WM_BEAUTIFY_FLAG" val="#wm#"/>
  <p:tag name="KSO_WM_UNIT_SUBTYPE" val="a"/>
</p:tagLst>
</file>

<file path=ppt/tags/tag80.xml><?xml version="1.0" encoding="utf-8"?>
<p:tagLst xmlns:p="http://schemas.openxmlformats.org/presentationml/2006/main">
  <p:tag name="RAINPROBLEM" val="ShortAnswer"/>
  <p:tag name="PROBLEMSCORE" val="10.0"/>
  <p:tag name="PROBLEMVOICEALLOWED" val="False"/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1.xml><?xml version="1.0" encoding="utf-8"?>
<p:tagLst xmlns:p="http://schemas.openxmlformats.org/presentationml/2006/main">
  <p:tag name="KSO_WM_UNIT_INDEX" val="10"/>
  <p:tag name="KSO_WM_UNIT_TYPE" val="f"/>
  <p:tag name="KSO_WM_BEAUTIFY_FLAG" val="#wm#"/>
  <p:tag name="KSO_WM_UNIT_SUBTYPE" val="a"/>
</p:tagLst>
</file>

<file path=ppt/tags/tag8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3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8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8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7.xml><?xml version="1.0" encoding="utf-8"?>
<p:tagLst xmlns:p="http://schemas.openxmlformats.org/presentationml/2006/main">
  <p:tag name="KSO_WM_UNIT_INDEX" val="2"/>
  <p:tag name="KSO_WM_UNIT_TYPE" val="i"/>
  <p:tag name="KSO_WM_UNIT_SUBTYPE" val="h"/>
  <p:tag name="KSO_WM_BEAUTIFY_FLAG" val="#wm#"/>
</p:tagLst>
</file>

<file path=ppt/tags/tag8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1.xml><?xml version="1.0" encoding="utf-8"?>
<p:tagLst xmlns:p="http://schemas.openxmlformats.org/presentationml/2006/main">
  <p:tag name="KSO_WM_UNIT_INDEX" val="4"/>
  <p:tag name="KSO_WM_UNIT_TYPE" val="β"/>
  <p:tag name="KSO_WM_BEAUTIFY_FLAG" val="#wm#"/>
</p:tagLst>
</file>

<file path=ppt/tags/tag92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9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9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2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RAINPROBLEMTYPE" val="ProblemTypeMarker"/>
  <p:tag name="KSO_WM_UNIT_INDEX" val="2"/>
  <p:tag name="KSO_WM_UNIT_TYPE" val="i"/>
  <p:tag name="KSO_WM_UNIT_SUBTYPE" val="h"/>
  <p:tag name="KSO_WM_BEAUTIFY_FLAG" val="#wm#"/>
</p:tagLst>
</file>

<file path=ppt/tags/tag107.xml><?xml version="1.0" encoding="utf-8"?>
<p:tagLst xmlns:p="http://schemas.openxmlformats.org/presentationml/2006/main">
  <p:tag name="RAINPROBLEM" val="ProblemBody"/>
  <p:tag name="KSO_WM_UNIT_INDEX" val="1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109.xml><?xml version="1.0" encoding="utf-8"?>
<p:tagLst xmlns:p="http://schemas.openxmlformats.org/presentationml/2006/main">
  <p:tag name="KSO_WM_UNIT_INDEX" val="5"/>
  <p:tag name="KSO_WM_UNIT_TYPE" val="a"/>
  <p:tag name="KSO_WM_BEAUTIFY_FLAG" val="#wm#"/>
</p:tagLst>
</file>

<file path=ppt/tags/tag110.xml><?xml version="1.0" encoding="utf-8"?>
<p:tagLst xmlns:p="http://schemas.openxmlformats.org/presentationml/2006/main">
  <p:tag name="RAINPROBLEM" val="ShortAnswer"/>
  <p:tag name="PROBLEMSCORE" val="10.0"/>
  <p:tag name="PROBLEMVOICEALLOWED" val="False"/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3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15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1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8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2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1.xml><?xml version="1.0" encoding="utf-8"?>
<p:tagLst xmlns:p="http://schemas.openxmlformats.org/presentationml/2006/main">
  <p:tag name="KSO_WM_UNIT_INDEX" val="1"/>
  <p:tag name="KSO_WM_UNIT_TYPE" val="β"/>
  <p:tag name="KSO_WM_BEAUTIFY_FLAG" val="#wm#"/>
</p:tagLst>
</file>

<file path=ppt/tags/tag12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2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2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33.xml><?xml version="1.0" encoding="utf-8"?>
<p:tagLst xmlns:p="http://schemas.openxmlformats.org/presentationml/2006/main">
  <p:tag name="RAINPROBLEM" val="ProblemBody"/>
</p:tagLst>
</file>

<file path=ppt/tags/tag13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35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13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5049</Words>
  <Application>WPS 演示</Application>
  <PresentationFormat>宽屏</PresentationFormat>
  <Paragraphs>267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</vt:lpstr>
      <vt:lpstr>Helvetica</vt:lpstr>
      <vt:lpstr>Calibri</vt:lpstr>
      <vt:lpstr>Symbol</vt:lpstr>
      <vt:lpstr>Arial Unicode MS</vt:lpstr>
      <vt:lpstr>Office 主题​​</vt:lpstr>
      <vt:lpstr>城市线条职场办公商务风</vt:lpstr>
      <vt:lpstr>Visio.Drawing.11</vt:lpstr>
      <vt:lpstr>Visio.Drawing.11</vt:lpstr>
      <vt:lpstr>计算机组成原理 典型题讲解</vt:lpstr>
      <vt:lpstr>PowerPoint 演示文稿</vt:lpstr>
      <vt:lpstr>PowerPoint 演示文稿</vt:lpstr>
      <vt:lpstr>类型2：主存-cache地址映射</vt:lpstr>
      <vt:lpstr>PowerPoint 演示文稿</vt:lpstr>
      <vt:lpstr>类型3：定点数补码计算</vt:lpstr>
      <vt:lpstr>类型4：移位运算</vt:lpstr>
      <vt:lpstr>类型5：浮点数规格化</vt:lpstr>
      <vt:lpstr>类型6：指令寻址</vt:lpstr>
      <vt:lpstr>PowerPoint 演示文稿</vt:lpstr>
      <vt:lpstr>PowerPoint 演示文稿</vt:lpstr>
      <vt:lpstr>类型7：中断屏蔽及程序轨迹</vt:lpstr>
      <vt:lpstr>PowerPoint 演示文稿</vt:lpstr>
      <vt:lpstr>类型8：CPU运行速度</vt:lpstr>
      <vt:lpstr>类型9：计算机性能指标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jing</dc:creator>
  <cp:lastModifiedBy>张雷</cp:lastModifiedBy>
  <cp:revision>41</cp:revision>
  <cp:lastPrinted>2024-05-29T01:51:00Z</cp:lastPrinted>
  <dcterms:created xsi:type="dcterms:W3CDTF">2023-06-07T02:06:00Z</dcterms:created>
  <dcterms:modified xsi:type="dcterms:W3CDTF">2026-06-01T04:59:56Z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C059A8E761664D7FB61A094CAFFAA36A_13</vt:lpwstr>
  </property>
  <property fmtid="{D5CDD505-2E9C-101B-9397-08002B2CF9AE}" pid="3" name="KSOProductBuildVer">
    <vt:lpwstr>2052-12.1.0.26375</vt:lpwstr>
  </property>
</Properties>
</file>