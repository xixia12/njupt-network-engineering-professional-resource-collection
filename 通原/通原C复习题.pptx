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9" r:id="rId4"/>
    <p:sldId id="271" r:id="rId5"/>
    <p:sldId id="267" r:id="rId6"/>
    <p:sldId id="260" r:id="rId7"/>
    <p:sldId id="262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459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CE5D0-5B13-4EE4-84FD-C29CE070EC1A}" type="datetimeFigureOut">
              <a:rPr lang="zh-CN" altLang="en-US" smtClean="0"/>
              <a:pPr/>
              <a:t>2023/2/20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A0C1-D67C-4AC4-8B27-35415B4EF3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CE5D0-5B13-4EE4-84FD-C29CE070EC1A}" type="datetimeFigureOut">
              <a:rPr lang="zh-CN" altLang="en-US" smtClean="0"/>
              <a:pPr/>
              <a:t>2023/2/20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A0C1-D67C-4AC4-8B27-35415B4EF3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CE5D0-5B13-4EE4-84FD-C29CE070EC1A}" type="datetimeFigureOut">
              <a:rPr lang="zh-CN" altLang="en-US" smtClean="0"/>
              <a:pPr/>
              <a:t>2023/2/20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A0C1-D67C-4AC4-8B27-35415B4EF3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CE5D0-5B13-4EE4-84FD-C29CE070EC1A}" type="datetimeFigureOut">
              <a:rPr lang="zh-CN" altLang="en-US" smtClean="0"/>
              <a:pPr/>
              <a:t>2023/2/20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A0C1-D67C-4AC4-8B27-35415B4EF3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CE5D0-5B13-4EE4-84FD-C29CE070EC1A}" type="datetimeFigureOut">
              <a:rPr lang="zh-CN" altLang="en-US" smtClean="0"/>
              <a:pPr/>
              <a:t>2023/2/20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A0C1-D67C-4AC4-8B27-35415B4EF3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CE5D0-5B13-4EE4-84FD-C29CE070EC1A}" type="datetimeFigureOut">
              <a:rPr lang="zh-CN" altLang="en-US" smtClean="0"/>
              <a:pPr/>
              <a:t>2023/2/20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A0C1-D67C-4AC4-8B27-35415B4EF3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CE5D0-5B13-4EE4-84FD-C29CE070EC1A}" type="datetimeFigureOut">
              <a:rPr lang="zh-CN" altLang="en-US" smtClean="0"/>
              <a:pPr/>
              <a:t>2023/2/20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A0C1-D67C-4AC4-8B27-35415B4EF3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CE5D0-5B13-4EE4-84FD-C29CE070EC1A}" type="datetimeFigureOut">
              <a:rPr lang="zh-CN" altLang="en-US" smtClean="0"/>
              <a:pPr/>
              <a:t>2023/2/20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A0C1-D67C-4AC4-8B27-35415B4EF3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CE5D0-5B13-4EE4-84FD-C29CE070EC1A}" type="datetimeFigureOut">
              <a:rPr lang="zh-CN" altLang="en-US" smtClean="0"/>
              <a:pPr/>
              <a:t>2023/2/20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A0C1-D67C-4AC4-8B27-35415B4EF3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CE5D0-5B13-4EE4-84FD-C29CE070EC1A}" type="datetimeFigureOut">
              <a:rPr lang="zh-CN" altLang="en-US" smtClean="0"/>
              <a:pPr/>
              <a:t>2023/2/20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A0C1-D67C-4AC4-8B27-35415B4EF3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CE5D0-5B13-4EE4-84FD-C29CE070EC1A}" type="datetimeFigureOut">
              <a:rPr lang="zh-CN" altLang="en-US" smtClean="0"/>
              <a:pPr/>
              <a:t>2023/2/20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FA0C1-D67C-4AC4-8B27-35415B4EF3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19162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27100" y="1223963"/>
            <a:ext cx="3944938" cy="56340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24438" y="1223963"/>
            <a:ext cx="3944937" cy="56340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571A10-0316-40B5-8E9E-135DDD3C2E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CE5D0-5B13-4EE4-84FD-C29CE070EC1A}" type="datetimeFigureOut">
              <a:rPr lang="zh-CN" altLang="en-US" smtClean="0"/>
              <a:pPr/>
              <a:t>2023/2/20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FA0C1-D67C-4AC4-8B27-35415B4EF3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复习题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给出</a:t>
            </a:r>
            <a:r>
              <a:rPr lang="zh-CN" altLang="zh-CN" dirty="0" smtClean="0"/>
              <a:t>两</a:t>
            </a:r>
            <a:r>
              <a:rPr lang="zh-CN" altLang="zh-CN" dirty="0" smtClean="0"/>
              <a:t>个信道的</a:t>
            </a:r>
            <a:r>
              <a:rPr lang="zh-CN" altLang="zh-CN" dirty="0" smtClean="0"/>
              <a:t>传递函数</a:t>
            </a:r>
            <a:r>
              <a:rPr lang="zh-CN" altLang="en-US" dirty="0" smtClean="0"/>
              <a:t>，如何判断其是否存在幅频失真与相频失真？</a:t>
            </a:r>
            <a:r>
              <a:rPr lang="zh-CN" altLang="zh-CN" dirty="0" smtClean="0"/>
              <a:t>相</a:t>
            </a:r>
            <a:r>
              <a:rPr lang="zh-CN" altLang="zh-CN" dirty="0" smtClean="0"/>
              <a:t>频失真对数字信号的传输有什么影响？</a:t>
            </a:r>
          </a:p>
          <a:p>
            <a:pPr eaLnBrk="0" fontAlgn="base" hangingPunct="0">
              <a:buNone/>
            </a:pPr>
            <a:r>
              <a:rPr lang="en-US" altLang="zh-CN" dirty="0" smtClean="0"/>
              <a:t> </a:t>
            </a:r>
            <a:endParaRPr lang="zh-CN" altLang="zh-CN" dirty="0" smtClean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345F535-92F0-4677-BD98-631D5038C677}" type="slidenum">
              <a:rPr lang="en-US" altLang="zh-CN" smtClean="0"/>
              <a:pPr/>
              <a:t>3</a:t>
            </a:fld>
            <a:endParaRPr lang="en-US" altLang="zh-CN" smtClean="0"/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927100" y="548681"/>
            <a:ext cx="7831138" cy="630932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2400" b="0" dirty="0" smtClean="0"/>
              <a:t>设</a:t>
            </a:r>
            <a:r>
              <a:rPr lang="zh-CN" altLang="en-US" sz="2400" b="0" dirty="0" smtClean="0"/>
              <a:t>模拟调制系统信道和接收端模型如图所示。已知信道噪声为</a:t>
            </a:r>
            <a:r>
              <a:rPr lang="en-US" altLang="zh-CN" sz="2400" b="0" dirty="0" smtClean="0"/>
              <a:t>AWGN</a:t>
            </a:r>
            <a:r>
              <a:rPr lang="zh-CN" altLang="en-US" sz="2400" b="0" dirty="0" smtClean="0"/>
              <a:t>，单边功率谱密度为</a:t>
            </a:r>
            <a:r>
              <a:rPr lang="en-US" altLang="zh-CN" sz="2400" b="0" i="1" dirty="0" smtClean="0"/>
              <a:t>n</a:t>
            </a:r>
            <a:r>
              <a:rPr lang="en-US" altLang="zh-CN" sz="2400" b="0" baseline="-25000" dirty="0" smtClean="0"/>
              <a:t>o</a:t>
            </a:r>
            <a:r>
              <a:rPr lang="en-US" altLang="zh-CN" sz="2400" b="0" dirty="0" smtClean="0"/>
              <a:t>=10</a:t>
            </a:r>
            <a:r>
              <a:rPr lang="en-US" altLang="zh-CN" sz="2400" b="0" baseline="30000" dirty="0" smtClean="0"/>
              <a:t>-6</a:t>
            </a:r>
            <a:r>
              <a:rPr lang="en-US" altLang="zh-CN" sz="2400" b="0" dirty="0" smtClean="0"/>
              <a:t>W/Hz</a:t>
            </a:r>
            <a:r>
              <a:rPr lang="zh-CN" altLang="en-US" sz="2400" b="0" dirty="0" smtClean="0"/>
              <a:t>，</a:t>
            </a:r>
            <a:r>
              <a:rPr lang="en-US" altLang="zh-CN" sz="2400" b="0" i="1" dirty="0" err="1" smtClean="0"/>
              <a:t>s</a:t>
            </a:r>
            <a:r>
              <a:rPr lang="en-US" altLang="zh-CN" sz="2400" b="0" i="1" baseline="-25000" dirty="0" err="1" smtClean="0"/>
              <a:t>m</a:t>
            </a:r>
            <a:r>
              <a:rPr lang="en-US" altLang="zh-CN" sz="2400" b="0" dirty="0" smtClean="0"/>
              <a:t>(</a:t>
            </a:r>
            <a:r>
              <a:rPr lang="en-US" altLang="zh-CN" sz="2400" b="0" i="1" dirty="0" smtClean="0"/>
              <a:t>t</a:t>
            </a:r>
            <a:r>
              <a:rPr lang="en-US" altLang="zh-CN" sz="2400" b="0" dirty="0" smtClean="0"/>
              <a:t>)</a:t>
            </a:r>
            <a:r>
              <a:rPr lang="zh-CN" altLang="en-US" sz="2400" b="0" dirty="0" smtClean="0"/>
              <a:t>为已调信号，载波频率</a:t>
            </a:r>
            <a:r>
              <a:rPr lang="en-US" altLang="zh-CN" sz="2400" b="0" i="1" dirty="0" err="1" smtClean="0"/>
              <a:t>f</a:t>
            </a:r>
            <a:r>
              <a:rPr lang="en-US" altLang="zh-CN" sz="2400" b="0" i="1" baseline="-25000" dirty="0" err="1" smtClean="0"/>
              <a:t>c</a:t>
            </a:r>
            <a:r>
              <a:rPr lang="en-US" altLang="zh-CN" sz="2400" b="0" dirty="0" smtClean="0"/>
              <a:t>=1MHz</a:t>
            </a:r>
            <a:r>
              <a:rPr lang="zh-CN" altLang="en-US" sz="2400" b="0" dirty="0" smtClean="0"/>
              <a:t>，对应的调制信号</a:t>
            </a:r>
            <a:r>
              <a:rPr lang="en-US" altLang="zh-CN" sz="2400" b="0" i="1" dirty="0" smtClean="0"/>
              <a:t>m</a:t>
            </a:r>
            <a:r>
              <a:rPr lang="en-US" altLang="zh-CN" sz="2400" b="0" dirty="0" smtClean="0"/>
              <a:t>(</a:t>
            </a:r>
            <a:r>
              <a:rPr lang="en-US" altLang="zh-CN" sz="2400" b="0" i="1" dirty="0" smtClean="0"/>
              <a:t>t</a:t>
            </a:r>
            <a:r>
              <a:rPr lang="en-US" altLang="zh-CN" sz="2400" b="0" dirty="0" smtClean="0"/>
              <a:t>)</a:t>
            </a:r>
            <a:r>
              <a:rPr lang="zh-CN" altLang="en-US" sz="2400" b="0" dirty="0" smtClean="0"/>
              <a:t>的最高频率为</a:t>
            </a:r>
            <a:r>
              <a:rPr lang="en-US" altLang="zh-CN" sz="2400" b="0" i="1" dirty="0" smtClean="0"/>
              <a:t>f</a:t>
            </a:r>
            <a:r>
              <a:rPr lang="en-US" altLang="zh-CN" sz="2400" b="0" i="1" baseline="-25000" dirty="0" smtClean="0"/>
              <a:t>m</a:t>
            </a:r>
            <a:r>
              <a:rPr lang="en-US" altLang="zh-CN" sz="2400" b="0" dirty="0" smtClean="0"/>
              <a:t>=5kHz</a:t>
            </a:r>
            <a:r>
              <a:rPr lang="zh-CN" altLang="en-US" sz="2400" b="0" dirty="0" smtClean="0"/>
              <a:t>。带通滤波器为理想，试分别计算</a:t>
            </a:r>
            <a:r>
              <a:rPr lang="en-US" altLang="zh-CN" sz="2400" b="0" dirty="0" smtClean="0"/>
              <a:t>DSB(</a:t>
            </a:r>
            <a:r>
              <a:rPr lang="en-US" altLang="zh-CN" sz="2400" b="0" i="1" dirty="0" smtClean="0"/>
              <a:t>S</a:t>
            </a:r>
            <a:r>
              <a:rPr lang="en-US" altLang="zh-CN" sz="2400" b="0" i="1" baseline="-25000" dirty="0" smtClean="0"/>
              <a:t>i</a:t>
            </a:r>
            <a:r>
              <a:rPr lang="en-US" altLang="zh-CN" sz="2400" b="0" dirty="0" smtClean="0"/>
              <a:t>= 1kW</a:t>
            </a:r>
            <a:r>
              <a:rPr lang="zh-CN" altLang="en-US" sz="2400" b="0" dirty="0" smtClean="0"/>
              <a:t>，相干解调</a:t>
            </a:r>
            <a:r>
              <a:rPr lang="en-US" altLang="zh-CN" sz="2400" b="0" dirty="0" smtClean="0"/>
              <a:t>)</a:t>
            </a:r>
            <a:r>
              <a:rPr lang="zh-CN" altLang="en-US" sz="2400" b="0" dirty="0" smtClean="0"/>
              <a:t>、</a:t>
            </a:r>
            <a:r>
              <a:rPr lang="en-US" altLang="zh-CN" sz="2400" b="0" dirty="0" smtClean="0"/>
              <a:t>SSB (</a:t>
            </a:r>
            <a:r>
              <a:rPr lang="en-US" altLang="zh-CN" sz="2400" b="0" i="1" dirty="0" smtClean="0"/>
              <a:t>S</a:t>
            </a:r>
            <a:r>
              <a:rPr lang="en-US" altLang="zh-CN" sz="2400" b="0" i="1" baseline="-25000" dirty="0" smtClean="0"/>
              <a:t>i</a:t>
            </a:r>
            <a:r>
              <a:rPr lang="en-US" altLang="zh-CN" sz="2400" b="0" dirty="0" smtClean="0"/>
              <a:t>= 1kW</a:t>
            </a:r>
            <a:r>
              <a:rPr lang="zh-CN" altLang="en-US" sz="2400" b="0" dirty="0" smtClean="0"/>
              <a:t>，相干解调</a:t>
            </a:r>
            <a:r>
              <a:rPr lang="en-US" altLang="zh-CN" sz="2400" b="0" dirty="0" smtClean="0"/>
              <a:t>)</a:t>
            </a:r>
            <a:r>
              <a:rPr lang="zh-CN" altLang="en-US" sz="2400" b="0" dirty="0" smtClean="0"/>
              <a:t>、</a:t>
            </a:r>
            <a:r>
              <a:rPr lang="en-US" altLang="zh-CN" sz="2400" b="0" dirty="0" smtClean="0"/>
              <a:t>AM(</a:t>
            </a:r>
            <a:r>
              <a:rPr lang="zh-CN" altLang="en-US" sz="2400" b="0" dirty="0" smtClean="0"/>
              <a:t>两边带功率</a:t>
            </a:r>
            <a:r>
              <a:rPr lang="en-US" altLang="zh-CN" sz="2400" b="0" i="1" dirty="0" smtClean="0"/>
              <a:t>P</a:t>
            </a:r>
            <a:r>
              <a:rPr lang="en-US" altLang="zh-CN" sz="2400" b="0" i="1" baseline="-25000" dirty="0" smtClean="0"/>
              <a:t>f</a:t>
            </a:r>
            <a:r>
              <a:rPr lang="en-US" altLang="zh-CN" sz="2400" b="0" dirty="0" smtClean="0"/>
              <a:t>= 1kW</a:t>
            </a:r>
            <a:r>
              <a:rPr lang="zh-CN" altLang="en-US" sz="2400" b="0" dirty="0" smtClean="0"/>
              <a:t>， 载波功率</a:t>
            </a:r>
            <a:r>
              <a:rPr lang="en-US" altLang="zh-CN" sz="2400" b="0" i="1" dirty="0" smtClean="0"/>
              <a:t>P</a:t>
            </a:r>
            <a:r>
              <a:rPr lang="en-US" altLang="zh-CN" sz="2400" b="0" i="1" baseline="-25000" dirty="0" smtClean="0"/>
              <a:t>c</a:t>
            </a:r>
            <a:r>
              <a:rPr lang="en-US" altLang="zh-CN" sz="2400" b="0" dirty="0" smtClean="0"/>
              <a:t>= 4kW</a:t>
            </a:r>
            <a:r>
              <a:rPr lang="zh-CN" altLang="en-US" sz="2400" b="0" dirty="0" smtClean="0"/>
              <a:t>，包络检波</a:t>
            </a:r>
            <a:r>
              <a:rPr lang="en-US" altLang="zh-CN" sz="2400" b="0" dirty="0" smtClean="0"/>
              <a:t>)</a:t>
            </a:r>
            <a:r>
              <a:rPr lang="zh-CN" altLang="en-US" sz="2400" b="0" dirty="0" smtClean="0"/>
              <a:t>三种情况下的下列参数：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400" b="0" dirty="0" smtClean="0"/>
          </a:p>
          <a:p>
            <a:pPr eaLnBrk="1" hangingPunct="1">
              <a:buFont typeface="Wingdings" pitchFamily="2" charset="2"/>
              <a:buNone/>
            </a:pPr>
            <a:endParaRPr lang="zh-CN" altLang="en-US" sz="2400" b="0" dirty="0" smtClean="0"/>
          </a:p>
          <a:p>
            <a:pPr eaLnBrk="1" hangingPunct="1">
              <a:buFont typeface="Wingdings" pitchFamily="2" charset="2"/>
              <a:buNone/>
            </a:pPr>
            <a:endParaRPr lang="zh-CN" altLang="en-US" sz="2400" b="0" dirty="0" smtClean="0"/>
          </a:p>
          <a:p>
            <a:pPr eaLnBrk="1" hangingPunct="1">
              <a:buFont typeface="Wingdings" pitchFamily="2" charset="2"/>
              <a:buNone/>
            </a:pPr>
            <a:endParaRPr lang="zh-CN" altLang="en-US" sz="2400" b="0" dirty="0" smtClean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0" dirty="0" smtClean="0"/>
              <a:t>（</a:t>
            </a:r>
            <a:r>
              <a:rPr lang="en-US" altLang="zh-CN" sz="2400" b="0" dirty="0" smtClean="0"/>
              <a:t>1</a:t>
            </a:r>
            <a:r>
              <a:rPr lang="zh-CN" altLang="en-US" sz="2400" b="0" dirty="0" smtClean="0"/>
              <a:t>）带通滤波器的中心频率</a:t>
            </a:r>
            <a:r>
              <a:rPr lang="en-US" altLang="zh-CN" sz="2400" b="0" i="1" dirty="0" smtClean="0"/>
              <a:t>f</a:t>
            </a:r>
            <a:r>
              <a:rPr lang="en-US" altLang="zh-CN" sz="2400" b="0" i="1" baseline="-25000" dirty="0" smtClean="0"/>
              <a:t>0</a:t>
            </a:r>
            <a:r>
              <a:rPr lang="zh-CN" altLang="en-US" sz="2400" b="0" dirty="0" smtClean="0"/>
              <a:t>、带宽</a:t>
            </a:r>
            <a:r>
              <a:rPr lang="en-US" altLang="zh-CN" sz="2400" b="0" dirty="0" smtClean="0"/>
              <a:t>B</a:t>
            </a:r>
            <a:r>
              <a:rPr lang="zh-CN" altLang="en-US" sz="2400" b="0" dirty="0" smtClean="0"/>
              <a:t>；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0" dirty="0" smtClean="0"/>
              <a:t>（</a:t>
            </a:r>
            <a:r>
              <a:rPr lang="en-US" altLang="zh-CN" sz="2400" b="0" dirty="0" smtClean="0"/>
              <a:t>2</a:t>
            </a:r>
            <a:r>
              <a:rPr lang="zh-CN" altLang="en-US" sz="2400" b="0" dirty="0" smtClean="0"/>
              <a:t>）解调器输入信噪比、输出信噪比、调制增益。</a:t>
            </a:r>
          </a:p>
        </p:txBody>
      </p:sp>
      <p:graphicFrame>
        <p:nvGraphicFramePr>
          <p:cNvPr id="60418" name="Object 3"/>
          <p:cNvGraphicFramePr>
            <a:graphicFrameLocks noChangeAspect="1"/>
          </p:cNvGraphicFramePr>
          <p:nvPr>
            <p:ph sz="half" idx="2"/>
          </p:nvPr>
        </p:nvGraphicFramePr>
        <p:xfrm>
          <a:off x="1619672" y="3284984"/>
          <a:ext cx="6030912" cy="1657350"/>
        </p:xfrm>
        <a:graphic>
          <a:graphicData uri="http://schemas.openxmlformats.org/presentationml/2006/ole">
            <p:oleObj spid="_x0000_s1026" name="Visio" r:id="rId3" imgW="2106168" imgH="578815" progId="Visio.Drawing.11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 smtClean="0"/>
              <a:t>若余弦滚降特性的数字基带传输系统中，允许的最大传码率</a:t>
            </a:r>
            <a:r>
              <a:rPr lang="zh-CN" altLang="zh-CN" dirty="0" smtClean="0"/>
              <a:t>为</a:t>
            </a:r>
            <a:r>
              <a:rPr lang="en-US" altLang="zh-CN" dirty="0" smtClean="0"/>
              <a:t>6</a:t>
            </a:r>
            <a:r>
              <a:rPr lang="en-US" altLang="zh-CN" dirty="0" smtClean="0"/>
              <a:t>000</a:t>
            </a:r>
            <a:r>
              <a:rPr lang="zh-CN" altLang="zh-CN" dirty="0" smtClean="0"/>
              <a:t>波特，滚降系数</a:t>
            </a:r>
            <a:r>
              <a:rPr lang="zh-CN" altLang="zh-CN" dirty="0" smtClean="0"/>
              <a:t>为</a:t>
            </a:r>
            <a:r>
              <a:rPr lang="en-US" altLang="zh-CN" dirty="0" smtClean="0"/>
              <a:t>0.5</a:t>
            </a:r>
            <a:r>
              <a:rPr lang="zh-CN" altLang="zh-CN" dirty="0" smtClean="0"/>
              <a:t>。</a:t>
            </a:r>
            <a:r>
              <a:rPr lang="zh-CN" altLang="zh-CN" dirty="0" smtClean="0"/>
              <a:t>（</a:t>
            </a:r>
            <a:r>
              <a:rPr lang="en-US" altLang="zh-CN" dirty="0" smtClean="0"/>
              <a:t>1</a:t>
            </a:r>
            <a:r>
              <a:rPr lang="zh-CN" altLang="zh-CN" dirty="0" smtClean="0"/>
              <a:t>）计算该系统的带宽</a:t>
            </a:r>
            <a:r>
              <a:rPr lang="en-US" altLang="zh-CN" dirty="0" smtClean="0"/>
              <a:t>B</a:t>
            </a:r>
            <a:r>
              <a:rPr lang="zh-CN" altLang="zh-CN" dirty="0" smtClean="0"/>
              <a:t>；（</a:t>
            </a:r>
            <a:r>
              <a:rPr lang="en-US" altLang="zh-CN" dirty="0" smtClean="0"/>
              <a:t>2</a:t>
            </a:r>
            <a:r>
              <a:rPr lang="zh-CN" altLang="zh-CN" dirty="0" smtClean="0"/>
              <a:t>）若要求</a:t>
            </a:r>
            <a:r>
              <a:rPr lang="zh-CN" altLang="zh-CN" dirty="0" smtClean="0"/>
              <a:t>以</a:t>
            </a:r>
            <a:r>
              <a:rPr lang="en-US" altLang="zh-CN" dirty="0" smtClean="0"/>
              <a:t>2000</a:t>
            </a:r>
            <a:r>
              <a:rPr lang="zh-CN" altLang="zh-CN" dirty="0" smtClean="0"/>
              <a:t>波特速率进行数据传输，判断能否实现无码间干扰传输，并计算此时的实际频带利用率。</a:t>
            </a:r>
            <a:endParaRPr lang="zh-CN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 smtClean="0"/>
              <a:t>设语音信号抽样频率为</a:t>
            </a:r>
            <a:r>
              <a:rPr lang="en-US" altLang="zh-CN" dirty="0" smtClean="0"/>
              <a:t>8000Hz</a:t>
            </a:r>
            <a:r>
              <a:rPr lang="zh-CN" altLang="zh-CN" dirty="0" smtClean="0"/>
              <a:t>，抽样值采用</a:t>
            </a:r>
            <a:r>
              <a:rPr lang="en-US" altLang="zh-CN" dirty="0" smtClean="0"/>
              <a:t>A</a:t>
            </a:r>
            <a:r>
              <a:rPr lang="zh-CN" altLang="zh-CN" dirty="0" smtClean="0"/>
              <a:t>律</a:t>
            </a:r>
            <a:r>
              <a:rPr lang="en-US" altLang="zh-CN" dirty="0" smtClean="0"/>
              <a:t>13</a:t>
            </a:r>
            <a:r>
              <a:rPr lang="zh-CN" altLang="zh-CN" dirty="0" smtClean="0"/>
              <a:t>折线</a:t>
            </a:r>
            <a:r>
              <a:rPr lang="en-US" altLang="zh-CN" dirty="0" smtClean="0"/>
              <a:t>PCM</a:t>
            </a:r>
            <a:r>
              <a:rPr lang="zh-CN" altLang="zh-CN" dirty="0" smtClean="0"/>
              <a:t>编码，码元波形</a:t>
            </a:r>
            <a:r>
              <a:rPr lang="zh-CN" altLang="zh-CN" dirty="0" smtClean="0"/>
              <a:t>是</a:t>
            </a:r>
            <a:r>
              <a:rPr lang="zh-CN" altLang="zh-CN" dirty="0" smtClean="0"/>
              <a:t>占空比为</a:t>
            </a:r>
            <a:r>
              <a:rPr lang="en-US" altLang="zh-CN" dirty="0" smtClean="0"/>
              <a:t>0.2</a:t>
            </a:r>
            <a:r>
              <a:rPr lang="zh-CN" altLang="zh-CN" dirty="0" smtClean="0"/>
              <a:t>的矩形脉冲。</a:t>
            </a:r>
            <a:r>
              <a:rPr lang="en-US" altLang="zh-CN" dirty="0" smtClean="0"/>
              <a:t> </a:t>
            </a:r>
          </a:p>
          <a:p>
            <a:pPr>
              <a:buNone/>
            </a:pPr>
            <a:r>
              <a:rPr lang="en-US" altLang="zh-CN" dirty="0" smtClean="0"/>
              <a:t>(</a:t>
            </a:r>
            <a:r>
              <a:rPr lang="en-US" altLang="zh-CN" dirty="0" smtClean="0"/>
              <a:t>1) </a:t>
            </a:r>
            <a:r>
              <a:rPr lang="zh-CN" altLang="zh-CN" dirty="0" smtClean="0"/>
              <a:t>计算一路语音信号的码元速率</a:t>
            </a:r>
            <a:r>
              <a:rPr lang="zh-CN" altLang="zh-CN" dirty="0" smtClean="0"/>
              <a:t>；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(</a:t>
            </a:r>
            <a:r>
              <a:rPr lang="en-US" altLang="zh-CN" dirty="0" smtClean="0"/>
              <a:t>2) </a:t>
            </a:r>
            <a:r>
              <a:rPr lang="zh-CN" altLang="zh-CN" dirty="0" smtClean="0"/>
              <a:t>若对</a:t>
            </a:r>
            <a:r>
              <a:rPr lang="en-US" altLang="zh-CN" dirty="0" smtClean="0"/>
              <a:t>15</a:t>
            </a:r>
            <a:r>
              <a:rPr lang="zh-CN" altLang="zh-CN" dirty="0" smtClean="0"/>
              <a:t>路</a:t>
            </a:r>
            <a:r>
              <a:rPr lang="zh-CN" altLang="zh-CN" dirty="0" smtClean="0"/>
              <a:t>语音信号分别进行以上的</a:t>
            </a:r>
            <a:r>
              <a:rPr lang="en-US" altLang="zh-CN" dirty="0" smtClean="0"/>
              <a:t>PCM</a:t>
            </a:r>
            <a:r>
              <a:rPr lang="zh-CN" altLang="zh-CN" dirty="0" smtClean="0"/>
              <a:t>编码并时分复用传输，求复用信号的</a:t>
            </a:r>
            <a:r>
              <a:rPr lang="zh-CN" altLang="zh-CN" dirty="0" smtClean="0"/>
              <a:t>第</a:t>
            </a:r>
            <a:r>
              <a:rPr lang="zh-CN" altLang="en-US" dirty="0" smtClean="0"/>
              <a:t>最小</a:t>
            </a:r>
            <a:r>
              <a:rPr lang="zh-CN" altLang="zh-CN" dirty="0" smtClean="0"/>
              <a:t>带宽</a:t>
            </a:r>
            <a:r>
              <a:rPr lang="zh-CN" altLang="zh-CN" dirty="0" smtClean="0"/>
              <a:t>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0</a:t>
            </a:r>
            <a:r>
              <a:rPr lang="zh-CN" altLang="zh-CN" dirty="0"/>
              <a:t>、</a:t>
            </a:r>
            <a:r>
              <a:rPr lang="en-US" altLang="zh-CN" dirty="0"/>
              <a:t>1</a:t>
            </a:r>
            <a:r>
              <a:rPr lang="zh-CN" altLang="zh-CN" dirty="0"/>
              <a:t>等概的</a:t>
            </a:r>
            <a:r>
              <a:rPr lang="en-US" altLang="zh-CN" dirty="0"/>
              <a:t>2FSK</a:t>
            </a:r>
            <a:r>
              <a:rPr lang="zh-CN" altLang="zh-CN" dirty="0"/>
              <a:t>通信系统，设发射机输出端信号振幅</a:t>
            </a:r>
            <a:r>
              <a:rPr lang="zh-CN" altLang="zh-CN" dirty="0" smtClean="0"/>
              <a:t>为</a:t>
            </a:r>
            <a:r>
              <a:rPr lang="en-US" altLang="zh-CN" dirty="0" smtClean="0"/>
              <a:t>4V</a:t>
            </a:r>
            <a:r>
              <a:rPr lang="zh-CN" altLang="zh-CN" dirty="0"/>
              <a:t>，信道传输的衰减</a:t>
            </a:r>
            <a:r>
              <a:rPr lang="zh-CN" altLang="zh-CN" dirty="0" smtClean="0"/>
              <a:t>为</a:t>
            </a:r>
            <a:r>
              <a:rPr lang="en-US" altLang="zh-CN" dirty="0" smtClean="0"/>
              <a:t>100dB</a:t>
            </a:r>
            <a:r>
              <a:rPr lang="zh-CN" altLang="zh-CN" dirty="0"/>
              <a:t>，两个载频分别为</a:t>
            </a:r>
            <a:r>
              <a:rPr lang="en-US" altLang="zh-CN" dirty="0" smtClean="0"/>
              <a:t>f1=11.4MHz</a:t>
            </a:r>
            <a:r>
              <a:rPr lang="zh-CN" altLang="zh-CN" dirty="0"/>
              <a:t>，</a:t>
            </a:r>
            <a:r>
              <a:rPr lang="en-US" altLang="zh-CN" dirty="0" smtClean="0"/>
              <a:t>f2=11.8MHz</a:t>
            </a:r>
            <a:r>
              <a:rPr lang="zh-CN" altLang="zh-CN" dirty="0"/>
              <a:t>，系统传码率</a:t>
            </a:r>
            <a:r>
              <a:rPr lang="zh-CN" altLang="zh-CN" dirty="0" smtClean="0"/>
              <a:t>为</a:t>
            </a:r>
            <a:r>
              <a:rPr lang="en-US" altLang="zh-CN" dirty="0" smtClean="0"/>
              <a:t>300KBaud</a:t>
            </a:r>
            <a:r>
              <a:rPr lang="zh-CN" altLang="zh-CN" dirty="0"/>
              <a:t>，接收机解调器输入噪声功率</a:t>
            </a:r>
            <a:r>
              <a:rPr lang="zh-CN" altLang="zh-CN" dirty="0" smtClean="0"/>
              <a:t>为</a:t>
            </a:r>
            <a:r>
              <a:rPr lang="en-US" altLang="zh-CN" dirty="0" smtClean="0"/>
              <a:t>0.1nW</a:t>
            </a:r>
            <a:r>
              <a:rPr lang="zh-CN" altLang="zh-CN" dirty="0"/>
              <a:t>。接收机采用包络检波方案。（</a:t>
            </a:r>
            <a:r>
              <a:rPr lang="en-US" altLang="zh-CN" dirty="0"/>
              <a:t>1</a:t>
            </a:r>
            <a:r>
              <a:rPr lang="zh-CN" altLang="zh-CN" dirty="0"/>
              <a:t>）求接收端带通滤波器的带宽；（</a:t>
            </a:r>
            <a:r>
              <a:rPr lang="en-US" altLang="zh-CN" dirty="0"/>
              <a:t>2</a:t>
            </a:r>
            <a:r>
              <a:rPr lang="zh-CN" altLang="zh-CN" dirty="0"/>
              <a:t>）求该</a:t>
            </a:r>
            <a:r>
              <a:rPr lang="en-US" altLang="zh-CN" dirty="0"/>
              <a:t>2FSK</a:t>
            </a:r>
            <a:r>
              <a:rPr lang="zh-CN" altLang="zh-CN" dirty="0"/>
              <a:t>信号的带宽；（</a:t>
            </a:r>
            <a:r>
              <a:rPr lang="en-US" altLang="zh-CN" dirty="0"/>
              <a:t>3</a:t>
            </a:r>
            <a:r>
              <a:rPr lang="zh-CN" altLang="zh-CN" dirty="0"/>
              <a:t>）求系统误码率。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 smtClean="0"/>
              <a:t>设</a:t>
            </a:r>
            <a:r>
              <a:rPr lang="zh-CN" altLang="zh-CN" dirty="0"/>
              <a:t>发送数据序列</a:t>
            </a:r>
            <a:r>
              <a:rPr lang="zh-CN" altLang="zh-CN" dirty="0" smtClean="0"/>
              <a:t>为</a:t>
            </a:r>
            <a:r>
              <a:rPr lang="en-US" altLang="zh-CN" dirty="0" smtClean="0"/>
              <a:t>10110</a:t>
            </a:r>
            <a:r>
              <a:rPr lang="zh-CN" altLang="zh-CN" dirty="0"/>
              <a:t>，采用</a:t>
            </a:r>
            <a:r>
              <a:rPr lang="en-US" altLang="zh-CN" dirty="0"/>
              <a:t>MSK</a:t>
            </a:r>
            <a:r>
              <a:rPr lang="zh-CN" altLang="zh-CN" dirty="0"/>
              <a:t>方式传输，码元速率为</a:t>
            </a:r>
            <a:r>
              <a:rPr lang="en-US" altLang="zh-CN" dirty="0"/>
              <a:t>1200</a:t>
            </a:r>
            <a:r>
              <a:rPr lang="zh-CN" altLang="zh-CN" dirty="0"/>
              <a:t>波特，载波频率为</a:t>
            </a:r>
            <a:r>
              <a:rPr lang="en-US" altLang="zh-CN" dirty="0"/>
              <a:t>2400Hz</a:t>
            </a:r>
            <a:r>
              <a:rPr lang="zh-CN" altLang="zh-CN" dirty="0"/>
              <a:t>，试确定：（</a:t>
            </a:r>
            <a:r>
              <a:rPr lang="en-US" altLang="zh-CN" dirty="0"/>
              <a:t>1</a:t>
            </a:r>
            <a:r>
              <a:rPr lang="zh-CN" altLang="zh-CN" dirty="0"/>
              <a:t>）</a:t>
            </a:r>
            <a:r>
              <a:rPr lang="en-US" altLang="zh-CN" dirty="0"/>
              <a:t>“0”</a:t>
            </a:r>
            <a:r>
              <a:rPr lang="zh-CN" altLang="zh-CN" dirty="0"/>
              <a:t>和</a:t>
            </a:r>
            <a:r>
              <a:rPr lang="en-US" altLang="zh-CN" dirty="0"/>
              <a:t>“1”</a:t>
            </a:r>
            <a:r>
              <a:rPr lang="zh-CN" altLang="zh-CN" dirty="0"/>
              <a:t>对应的频率；（</a:t>
            </a:r>
            <a:r>
              <a:rPr lang="en-US" altLang="zh-CN" dirty="0"/>
              <a:t>2</a:t>
            </a:r>
            <a:r>
              <a:rPr lang="zh-CN" altLang="zh-CN" dirty="0"/>
              <a:t>）画出</a:t>
            </a:r>
            <a:r>
              <a:rPr lang="en-US" altLang="zh-CN" dirty="0"/>
              <a:t>MSK</a:t>
            </a:r>
            <a:r>
              <a:rPr lang="zh-CN" altLang="zh-CN" dirty="0"/>
              <a:t>信号时间</a:t>
            </a:r>
            <a:r>
              <a:rPr lang="zh-CN" altLang="zh-CN" dirty="0" smtClean="0"/>
              <a:t>波形。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408</Words>
  <Application>Microsoft Office PowerPoint</Application>
  <PresentationFormat>全屏显示(4:3)</PresentationFormat>
  <Paragraphs>17</Paragraphs>
  <Slides>7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9" baseType="lpstr">
      <vt:lpstr>Office 主题</vt:lpstr>
      <vt:lpstr>Microsoft Visio 绘图</vt:lpstr>
      <vt:lpstr>复习题</vt:lpstr>
      <vt:lpstr>幻灯片 2</vt:lpstr>
      <vt:lpstr>幻灯片 3</vt:lpstr>
      <vt:lpstr>幻灯片 4</vt:lpstr>
      <vt:lpstr>幻灯片 5</vt:lpstr>
      <vt:lpstr>幻灯片 6</vt:lpstr>
      <vt:lpstr>幻灯片 7</vt:lpstr>
    </vt:vector>
  </TitlesOfParts>
  <Company>HaseeComputer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复习</dc:title>
  <dc:creator>hasee</dc:creator>
  <cp:lastModifiedBy>hasee</cp:lastModifiedBy>
  <cp:revision>18</cp:revision>
  <dcterms:created xsi:type="dcterms:W3CDTF">2023-02-16T23:52:55Z</dcterms:created>
  <dcterms:modified xsi:type="dcterms:W3CDTF">2023-02-20T12:17:58Z</dcterms:modified>
</cp:coreProperties>
</file>